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34"/>
    <p:sldId id="275" r:id="rId2"/>
    <p:sldId id="2147472007" r:id="rId20"/>
    <p:sldId id="2142533174" r:id="rId4"/>
    <p:sldId id="2147472008" r:id="rId19"/>
    <p:sldId id="257" r:id="rId5"/>
    <p:sldId id="2147472005" r:id="rId22"/>
    <p:sldId id="258" r:id="rId6"/>
    <p:sldId id="2147472009" r:id="rId18"/>
    <p:sldId id="2147472010" r:id="rId15"/>
    <p:sldId id="2147472011" r:id="rId3"/>
    <p:sldId id="2147472012" r:id="rId55"/>
    <p:sldId id="2147472013" r:id="rId56"/>
    <p:sldId id="2147472014" r:id="rId57"/>
    <p:sldId id="2147472015" r:id="rId58"/>
    <p:sldId id="2147472016" r:id="rId59"/>
    <p:sldId id="2147472017" r:id="rId60"/>
    <p:sldId id="2147472018" r:id="rId61"/>
    <p:sldId id="2147472019" r:id="rId62"/>
    <p:sldId id="2147472020" r:id="rId63"/>
    <p:sldId id="2147472021" r:id="rId64"/>
    <p:sldId id="2147472022" r:id="rId65"/>
    <p:sldId id="2147472027" r:id="rId50"/>
    <p:sldId id="2147472028" r:id="rId51"/>
    <p:sldId id="2147472029" r:id="rId52"/>
    <p:sldId id="2147472024" r:id="rId67"/>
    <p:sldId id="2147472025" r:id="rId68"/>
    <p:sldId id="2147472026" r:id="rId69"/>
    <p:sldId id="2142533161" r:id="rId23"/>
    <p:sldId id="2147471994" r:id="rId24"/>
    <p:sldId id="2147471990" r:id="rId8"/>
    <p:sldId id="259" r:id="rId25"/>
    <p:sldId id="2147471956" r:id="rId26"/>
    <p:sldId id="264" r:id="rId27"/>
    <p:sldId id="265" r:id="rId28"/>
    <p:sldId id="267" r:id="rId29"/>
    <p:sldId id="268" r:id="rId30"/>
    <p:sldId id="271" r:id="rId31"/>
    <p:sldId id="272" r:id="rId32"/>
    <p:sldId id="269" r:id="rId33"/>
    <p:sldId id="261" r:id="rId35"/>
    <p:sldId id="263" r:id="rId36"/>
    <p:sldId id="2147471958" r:id="rId37"/>
    <p:sldId id="2147471978" r:id="rId38"/>
    <p:sldId id="2147471967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1.xml"/><Relationship Id="rId4" Type="http://schemas.openxmlformats.org/officeDocument/2006/relationships/slide" Target="slides/slide4.xml"/><Relationship Id="rId5" Type="http://schemas.openxmlformats.org/officeDocument/2006/relationships/slide" Target="slides/slide6.xml"/><Relationship Id="rId6" Type="http://schemas.openxmlformats.org/officeDocument/2006/relationships/slide" Target="slides/slide8.xml"/><Relationship Id="rId8" Type="http://schemas.openxmlformats.org/officeDocument/2006/relationships/slide" Target="slides/slide29.xml"/><Relationship Id="rId15" Type="http://schemas.openxmlformats.org/officeDocument/2006/relationships/slide" Target="slides/slide10.xml"/><Relationship Id="rId18" Type="http://schemas.openxmlformats.org/officeDocument/2006/relationships/slide" Target="slides/slide9.xml"/><Relationship Id="rId19" Type="http://schemas.openxmlformats.org/officeDocument/2006/relationships/slide" Target="slides/slide5.xml"/><Relationship Id="rId20" Type="http://schemas.openxmlformats.org/officeDocument/2006/relationships/slide" Target="slides/slide3.xml"/><Relationship Id="rId22" Type="http://schemas.openxmlformats.org/officeDocument/2006/relationships/slide" Target="slides/slide7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slide" Target="slides/slide33.xml"/><Relationship Id="rId29" Type="http://schemas.openxmlformats.org/officeDocument/2006/relationships/slide" Target="slides/slide34.xml"/><Relationship Id="rId30" Type="http://schemas.openxmlformats.org/officeDocument/2006/relationships/slide" Target="slides/slide35.xml"/><Relationship Id="rId31" Type="http://schemas.openxmlformats.org/officeDocument/2006/relationships/slide" Target="slides/slide36.xml"/><Relationship Id="rId32" Type="http://schemas.openxmlformats.org/officeDocument/2006/relationships/slide" Target="slides/slide37.xml"/><Relationship Id="rId33" Type="http://schemas.openxmlformats.org/officeDocument/2006/relationships/slide" Target="slides/slide38.xml"/><Relationship Id="rId34" Type="http://schemas.openxmlformats.org/officeDocument/2006/relationships/slide" Target="slides/slide1.xml"/><Relationship Id="rId35" Type="http://schemas.openxmlformats.org/officeDocument/2006/relationships/slide" Target="slides/slide39.xml"/><Relationship Id="rId36" Type="http://schemas.openxmlformats.org/officeDocument/2006/relationships/slide" Target="slides/slide40.xml"/><Relationship Id="rId37" Type="http://schemas.openxmlformats.org/officeDocument/2006/relationships/slide" Target="slides/slide41.xml"/><Relationship Id="rId38" Type="http://schemas.openxmlformats.org/officeDocument/2006/relationships/slide" Target="slides/slide42.xml"/><Relationship Id="rId39" Type="http://schemas.openxmlformats.org/officeDocument/2006/relationships/slide" Target="slides/slide43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5" Type="http://schemas.openxmlformats.org/officeDocument/2006/relationships/slide" Target="slides/slide12.xml"/><Relationship Id="rId56" Type="http://schemas.openxmlformats.org/officeDocument/2006/relationships/slide" Target="slides/slide13.xml"/><Relationship Id="rId57" Type="http://schemas.openxmlformats.org/officeDocument/2006/relationships/slide" Target="slides/slide14.xml"/><Relationship Id="rId58" Type="http://schemas.openxmlformats.org/officeDocument/2006/relationships/slide" Target="slides/slide15.xml"/><Relationship Id="rId59" Type="http://schemas.openxmlformats.org/officeDocument/2006/relationships/slide" Target="slides/slide16.xml"/><Relationship Id="rId60" Type="http://schemas.openxmlformats.org/officeDocument/2006/relationships/slide" Target="slides/slide17.xml"/><Relationship Id="rId61" Type="http://schemas.openxmlformats.org/officeDocument/2006/relationships/slide" Target="slides/slide18.xml"/><Relationship Id="rId62" Type="http://schemas.openxmlformats.org/officeDocument/2006/relationships/slide" Target="slides/slide19.xml"/><Relationship Id="rId63" Type="http://schemas.openxmlformats.org/officeDocument/2006/relationships/slide" Target="slides/slide20.xml"/><Relationship Id="rId64" Type="http://schemas.openxmlformats.org/officeDocument/2006/relationships/slide" Target="slides/slide21.xml"/><Relationship Id="rId65" Type="http://schemas.openxmlformats.org/officeDocument/2006/relationships/slide" Target="slides/slide22.xml"/><Relationship Id="rId67" Type="http://schemas.openxmlformats.org/officeDocument/2006/relationships/slide" Target="slides/slide24.xml"/><Relationship Id="rId68" Type="http://schemas.openxmlformats.org/officeDocument/2006/relationships/slide" Target="slides/slide25.xml"/><Relationship Id="rId69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</c:v>
                </c:pt>
              </c:strCache>
            </c:strRef>
          </c:tx>
          <c:spPr>
            <a:solidFill>
              <a:srgbClr val="C8106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Top 100 confinamentos</c:v>
                </c:pt>
                <c:pt idx="1">
                  <c:v>Pareto 80% (265 contas)</c:v>
                </c:pt>
                <c:pt idx="2">
                  <c:v>Confinamento</c:v>
                </c:pt>
                <c:pt idx="3">
                  <c:v>Total Beef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6.5</c:v>
                </c:pt>
                <c:pt idx="1">
                  <c:v>10.5</c:v>
                </c:pt>
                <c:pt idx="2">
                  <c:v>13</c:v>
                </c:pt>
                <c:pt idx="3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8-4AB3-ACA0-7D9616C642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0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Amostra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6B1-45BF-8B8D-F51A52919082}"/>
              </c:ext>
            </c:extLst>
          </c:dPt>
          <c:dPt>
            <c:idx val="1"/>
            <c:bubble3D val="0"/>
            <c:spPr>
              <a:solidFill>
                <a:srgbClr val="0096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B1-45BF-8B8D-F51A52919082}"/>
              </c:ext>
            </c:extLst>
          </c:dPt>
          <c:dPt>
            <c:idx val="2"/>
            <c:bubble3D val="0"/>
            <c:spPr>
              <a:solidFill>
                <a:srgbClr val="C810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B1-45BF-8B8D-F51A52919082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6B1-45BF-8B8D-F51A52919082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6B1-45BF-8B8D-F51A52919082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6B1-45BF-8B8D-F51A52919082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Clientes ativos</c:v>
                </c:pt>
                <c:pt idx="1">
                  <c:v>Não clientes</c:v>
                </c:pt>
                <c:pt idx="2">
                  <c:v>Ex-clientes e detratores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10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6B1-45BF-8B8D-F51A529190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64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de clientes cadastrados no sistema da Trouw Nutrition, de janeiro a outubro de 2026: 2.796 confinadores. A soma dos estados dá 2.797: conferir. A sigla MD da planilha foi lida como MS. AP, CE e PB não têm cadastro. RO, SP e MT somam 1.824 (65%). Cruzamento com o censo dsm-firmenich 2025: MT 2,2 milhões de cabeças, SP 1,4, GO 1,4, MS 0,9, MG 0,8; RO não aparece entre os cinco, o que indica operações menores. Fala: 'Esta é a nossa base hoje. Rondônia concentra mais de um terço dos clientes, com confinamentos menores, o perfil da versão Web. E Goiás, um dos maiores estados em cabeças, ainda tem poucos clientes nossos.' Ponte: 'E quem está decidindo nessas fazendas?'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Ponte: 'E quantos confinamentos como esse existem no Brasil?'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Ponte: 'A pergunta mudou: deixou de ser como defender a base e passou a ser para quem geramos valor. Quem é esse cliente?'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Ponte: 'E onde estão esses confinadores?'</a:t>
            </a:r>
          </a:p>
          <a:p/>
          <a:p>
            <a:r>
              <a:t>Fonte principal: Censo de Confinamento 2025 da dsm-firmenich, divulgado em fevereiro de 2026 (9,25 milhões de cabeças, 2.445 propriedades, 1.095 municípios, 100 maiores com 45% das cabeças; MT 2,2 mi, SP 1,4, GO 1,4, MS 0,9, MG 0,8). 'Outros' = 9,25 menos a soma dos 5 estados. O número de 1.131 propriedades abaixo de 1.000 cabeças vem de reportagem sobre o mesmo censo (CompreRural): confirmar no relatório completo. A faixa do meio (cerca de 1.200; exatamente 1.214) é calculada: 2.445 menos 1.131 menos 100. O censo mapeia propriedades monitoradas, não é a contagem de todos os confinamentos do país. Bioma: não há tabela pública por bioma; o Cerrado é inferência pela concentração no Centro-Oeste, MG e SP. Embrapa (Censos 2006 e 2017): o número de estabelecimentos com confinamento cresceu cerca de 145% e aumentou em todos os biomas.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Bússola Farm, dados 2024/2025: 14.038 confinamentos mapeados e 14.985.249 cabeças de capacidade estática. Faixa 1 (até 1.500 cabeças, unidades até 2,4 ha): 11.194 e 3,5 milhões. Faixa 2 (até 6.900, até 9 ha): 1.664 e 5,5 milhões. Faixa 3 (mais de 7.000, média de 16.000, acima de 10 ha): 356 e 6 milhões. As três faixas somam 13.214 confinamentos; os demais não vêm com faixa. Fala: 'São mais de 11 mil confinamentos pequenos: 85% do total, com só 23% da capacidade. O caso se sustenta com muitas fazendas e custo baixo por cliente.' Ponte: 'E onde estão os nossos clientes hoje?'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sugerida: 'A primeira versão foi desenhada do fim para o começo: automação, integração com balança e vagão, foco nos grandes. Entrei para inverter essa lógica: começar pela rotina do curral, com inputs manuais e um sistema objetivo e flexível para o confinamento pequeno e médio. Menos é mais. Sistema virou commodity: o que manda é o resultado que ajudamos o pecuarista a alcançar.' Ponte: 'E para quem é isso?'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sugerida: 'Vou mostrar por que mudamos a lógica do TN Manager, para quem é a versão Web, o que nos diferencia e o que precisamos decidir hoje.' O bloco 3 é o coração da conversa: o sistema é o meio; suporte, dashboards e equipe técnica são o diferencial. O anexo tem o material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sugerida: 'Para não haver dúvida: o TN Manager Web é para novos clientes, de porte pequeno e médio, e sem automação no momento. Os clientes maiores, que querem automação, continuam com a PecCode: a parceria está consolidada e rodando bem, e vamos mantê-la. O TN Manager com automação será retomado no futuro, trabalhando em paralelo com a versão Web.' Ponte: 'Em resumo, é isso que propomos.'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B8961-162D-413B-A79F-06D8B6E59E1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5056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 verificadas. (1) Embrapa Pecuária Sudeste, 'Transformação digital da pecuária de corte intensiva no Brasil: tecnologias e perfil de adoção' (2023), com dados de 2021 de 184 confinamentos: a adoção mais intensa está ligada a produtores mais jovens, com ensino superior, com mais confiança na gestão e com acesso a consultoria especializada. Um segundo estudo da Embrapa com 185 fazendas confirma: escala, escolaridade, menor idade e consultoria aumentam a chance de usar tecnologia digital. (2) Embrapa, Sebrae e Inpe, pesquisa 'Agricultura digital no Brasil' (2020): 84,1% dos produtores usam pelo menos uma tecnologia digital, só 22,2% usam aplicativos de gestão da propriedade, e 61,4% apontam a conectividade como principal barreira. O número de 90% da versão anterior foi retirado: vinha de uma pesquisa com 119 jovens de vários setores, sem foco em pecuária. Fala: 'Quem assume a fazenda quer número e decisão. A Embrapa mostra que é justamente o produtor mais jovem, com formação e com consultoria, que adota tecnologia no confinamento. E só um em cada cinco produtores usa aplicativo de gestão: o espaço está aberto.' Ponte: 'Então, estamos no caminho certo?'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'Sim, estamos no caminho certo. Os pequenos são a grande maioria dos confinamentos. Os grandes já estão concentrados e disputados. E a nossa própria base mostra o mesmo perfil. A ressalva: em volume, o pequeno pesa menos, então o caso depende de escala de fazendas e fidelização. A pesquisa com 30 fazendas, de 9 a 27 de novembro, vai confirmar isso com números, inclusive a satisfação com o suporte dos fornecedores atuais.' Dado dos 100 maiores: censo dsm-firmenich 2025 (9,25 milhões de cabeças, 2.445 propriedades monitoradas). Ponte: 'E o que entregamos para esse cliente?'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'Todos ganham. O gestor decide com o dado da semana, a equipe do curral lança em minutos, o técnico acompanha várias fazendas à distância e a Trouw fideliza e abre novos clientes. Mas repare: o ganho não está na tela, está no que fazemos com o dado.' Ponte: 'É isso que nos diferencia.'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'O sistema é o meio. Qualquer concorrente entrega um sistema. O nosso diferencial são três entregas em cima dele: suporte excelente, com analista online e técnico no campo; indicadores e dashboards que mostram toda semana o que importa; e uma equipe técnica que ajusta dieta e manejo com base nos dados. O resultado é o que o pecuarista quer: rentabilidade.' Ponte: 'Como isso funciona na rotina da fazenda?'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'Os passos 1 a 3 são registro, e qualquer sistema faz. Os passos 4 e 5 são o serviço da TN: o analista olha os dashboards, compara com o benchmark e o técnico ajusta dieta, trato e manejo. No piloto, eu e o técnico de campo acompanhamos de perto; depois eu atendo até 20 fazendas; a partir do mês 7 entram os analistas online.' Ponte: 'E no dia a dia: papel ou celular? Precisa de internet?'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'No dia a dia: leitura de cocho de manhã, trato registrado por baia, eventos quando acontecem e conferência no fim do dia, em 10 minutos. Lança no celular ou na ficha de papel. No curral não precisa de internet; na sede, uma conexão por dia basta.' A Embrapa, o Sebrae e o Inpe (2020) mostram que 61% dos produtores apontam a conexão como principal barreira: por isso o produto funciona sem sinal no curral. O uso sem sinal no celular será validado com a Dreamer na imersão técnica. Ponte: 'E a concorrência?'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'Todos vendem sistema, e alguns são muito bons, como o Feed Manager da Cargill e o FarmTell da DSM. Mas falham em dois pontos que o confinador sente no bolso e no dia a dia: o custo da implantação, que na Cargill chega a R$ 240 mil, e o suporte depois da venda. Atenção ao FarmTell Beef Smart, a versão simples da DSM para fazendas menores: é o concorrente mais parecido com a nossa versão Web.' Fontes e cuidados: o Feed Manager cobre manejo, nutrição, trato, fábrica de ração e SISBOV; o histórico de versões é publicado pela Integra Software. A DSM reuniu as soluções da Prodap na marca FarmTell (Beef, Views e Beef Smart). A Ponta afirma atender 12 dos 20 maiores confinamentos. A Tecnobeef atende cerca de 170 propriedades (AgFeed). O valor de até R$ 240 mil da Cargill é informação de mercado levantada pela TN; a licença TGC de R$ 10 mil a 40 mil por ano é o que a TN paga; as avaliações de suporte vêm da avaliação interna e de relatos de clientes. A pesquisa com 30 fazendas vai perguntar custo e satisfação com o suporte. A PecCode fica fora porque é parceira. Ponte: 'É aí que vamos vencer.'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'Onde os concorrentes falham, nós vamos vencer: suporte excelente, implantação simples e dashboards com uma equipe técnica que ajusta a fazenda com base nos dados. No longo prazo, o Grupo de Desenvolvimento fecha o ciclo: analistas auditam, validam e interpretam os dados e entregam o relatório de safra e o benchmark. O sistema é o meio; o que fazemos com os dados é o diferencial.' Ponte: 'Com quem começamos?'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'Para o piloto, de até 5 fazendas, escolhemos novos clientes pequenos e médios, com rotina mínima de registro e alguém para lançar todo dia. Quem tem automação continua na PecCode.' Ponte: 'Quanto custa e como cobramos?'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Dados: 20 licenças pagas a parceiros. TGC (Ponta): 6 licenças de R$ 10 mil a 40 mil. PecCode: 14 licenças de R$ 8 mil a 12,8 mil. Orçado R$ 364 mil, pago R$ 64 mil. Média: R$ 18,2 mil por fazenda. Premissa: valores anuais. A economia depende de quantas das 20 fazendas não usam automação: levantar a lista. O modelo de monetização é o item 6.3 do cronograma (18 a 29/01/2027). Fala: 'Hoje pagamos caro por licenças que não escalam para o pequeno. O Web atende os novos clientes sem automação e sem licença para o cliente; o custo vai no pacote de nutrição e serviço. Os maiores com automação seguem com a PecCode.' Ponte: 'Pondo tudo junto, onde somos fortes e onde estamos expostos?'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'As forças novas são justamente o nosso diferencial: suporte, dashboards e comunidade. A fraqueza principal é depender do lançamento manual, e por isso o produto precisa ser muito simples. A ameaça que mais preocupa é a DSM, que já tem uma versão simples para pequenos.' Fonte dos 22%: Embrapa, Sebrae e Inpe (2020). Ponte: 'Como levamos isso ao mercado?'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 conferidas com o cronograma em Excel (Cronograma_TN_Manager_Web_v2.xlsx): estruturação do GTM (6.2) e monetização (6.3) de 18 a 29/01/2027; apresentação final de BP e GTM (7.0) de 01 a 05/02/2027; piloto (8.0) com sugestão de 5 fazendas, tamanho e data definidos no Roadmap (6.1, 05 a 15/01/2027), alinhados à ocupação dos confinamentos. Os meses do go-to-market contam a partir do início do piloto. Capacidade estimada do Rodrigo: cerca de 1 hora por fazenda por semana. Ponte: 'E o que mantém a fazenda com a gente depois do piloto?'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Linhas 2.1 a 7.0 seguem o cronograma em Excel (Cronograma_TN_Manager_Web_v2.xlsx, versão de 09/10/2026): 2.1 business case de 07/09 a 16/10 e 2.1.1 entrevistas e benchmark até 23/10; 2.2.1 e 2.2.2 formulário (rascunho até 23/10 e revisão com Kátia Sato de 26/10 a 06/11); 2.2.3 e 2.2.4 pesquisa com 30 fazendas de 09 a 27/11 e consolidação até 04/12; 3.1 imersão técnica com a Dreamer de 16 a 27/11; 4.1 diagnóstico de 07 a 11/12 e 5.1 PRDs de 14 a 18/12; 6.1 roadmap de 05 a 15/01, 6.2 GTM e 6.3 monetização de 18 a 29/01; 7.0 apresentação final de 01 a 05/02/2027. O piloto (8.0) tem data definida no Roadmap (6.1), com sugestão de 5 fazendas, alinhado à ocupação dos confinamentos; maio é indicativo (início da safra de confinamento). Ponto de atenção do cronograma: a entrega da Dreamer está prevista para o fim de novembro, antes do resultado da pesquisa; até lá, focar em correções. A linha tracejada magenta marca onde as datas passam a ser indicativas. Ponte: 'E a visão até 2030?'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Metas propostas: 20 fazendas em 2027 (capacidade do Rodrigo), 60 em 2028, 120 em 2029 e 200 em 2030. Analistas online na proporção de 1 para cada 20 fazendas. Comunidade: Grupo de Desenvolvimento inspirado no Fazenda Nota 10, com fechamento de safra anual e evento com premiação a partir de 2028. Automação: os clientes maiores seguem com a PecCode; o TN Manager Automação é retomado em 2029, em paralelo com a versão Web. Ponte: 'Para começar, precisamos de algumas decisões hoje.'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sugerido: 'Começamos pelo começo: rotina, dado, análise e resultado. O sistema é o meio; suporte, dashboards e equipe técnica são o diferencial. Com o Grupo de Desenvolvimento e o evento anual, a fazenda fica pela comunidade, e a TN ganha dados e fidelidade.'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39B28D0-9ED5-49CC-BDB0-A90FF861F2E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3435"/>
            <a:ext cx="9144000" cy="40586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NL"/>
          </a:p>
        </p:txBody>
      </p:sp>
      <p:sp>
        <p:nvSpPr>
          <p:cNvPr id="2" name="Footer Placeholder 1"/>
          <p:cNvSpPr>
            <a:spLocks noGrp="1"/>
          </p:cNvSpPr>
          <p:nvPr userDrawn="1"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Tijdelijke aanduiding voor dianummer 5">
            <a:extLst>
              <a:ext uri="{FF2B5EF4-FFF2-40B4-BE49-F238E27FC236}">
                <a16:creationId xmlns:a16="http://schemas.microsoft.com/office/drawing/2014/main" id="{7BD98785-612D-6449-9480-6E8F47899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9106" y="4484368"/>
            <a:ext cx="4572000" cy="65913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0" tIns="251999" rIns="396000" bIns="0" rtlCol="0" anchor="ctr" anchorCtr="0"/>
          <a:lstStyle>
            <a:lvl1pPr algn="r">
              <a:defRPr sz="12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7036F5A-4F41-9642-8812-E040E741FE0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4886" y="303610"/>
            <a:ext cx="1348788" cy="43204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708F81-AA0F-4A51-BBF4-B1B177186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900" cy="2343600"/>
          </a:xfrm>
          <a:blipFill>
            <a:blip r:embed="rId5"/>
            <a:stretch>
              <a:fillRect/>
            </a:stretch>
          </a:blipFill>
        </p:spPr>
        <p:txBody>
          <a:bodyPr lIns="871200" tIns="828000" rIns="3816000" bIns="1080000"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0397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29842" y="465517"/>
            <a:ext cx="5670350" cy="756065"/>
          </a:xfrm>
        </p:spPr>
        <p:txBody>
          <a:bodyPr wrap="squar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29841" y="1491853"/>
            <a:ext cx="7884319" cy="2876747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None/>
              <a:defRPr sz="1350"/>
            </a:lvl1pPr>
            <a:lvl2pPr marL="286200" indent="-28620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2400" indent="-28620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28900" indent="-257175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5400" indent="-257175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97147C5-1F2E-AA4F-935F-91B1D284EF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98116" y="4628529"/>
            <a:ext cx="3545883" cy="524495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84898B21-2385-7249-AE1D-5F0164D150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514160" y="4677984"/>
            <a:ext cx="629840" cy="465516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02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xed head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25EED34-690F-CB41-8188-BB2E7E64F7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98116" y="4628529"/>
            <a:ext cx="3545883" cy="524495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9FD576D2-650F-5142-A42C-138C7D767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9841" y="1491853"/>
            <a:ext cx="7884319" cy="280808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defRPr sz="4950"/>
            </a:lvl1pPr>
          </a:lstStyle>
          <a:p>
            <a:r>
              <a:rPr lang="en-GB"/>
              <a:t>Fixed heading</a:t>
            </a:r>
            <a:br>
              <a:rPr lang="en-GB"/>
            </a:br>
            <a:r>
              <a:rPr lang="en-GB"/>
              <a:t>(statement)</a:t>
            </a:r>
          </a:p>
        </p:txBody>
      </p:sp>
    </p:spTree>
    <p:extLst>
      <p:ext uri="{BB962C8B-B14F-4D97-AF65-F5344CB8AC3E}">
        <p14:creationId xmlns:p14="http://schemas.microsoft.com/office/powerpoint/2010/main" val="26380302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2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13.png"/><Relationship Id="rId9" Type="http://schemas.openxmlformats.org/officeDocument/2006/relationships/image" Target="../media/image18.png"/><Relationship Id="rId10" Type="http://schemas.openxmlformats.org/officeDocument/2006/relationships/notesSlide" Target="../notesSlides/notesSlide4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5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chart" Target="../charts/char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emf"/><Relationship Id="rId3" Type="http://schemas.openxmlformats.org/officeDocument/2006/relationships/image" Target="../media/image3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6.jpeg"/><Relationship Id="rId4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36.jp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v2.0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e TN Manager Web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produto gera valor e para quem: revisão do cliente-alvo, proposta de valor, produto mínimo e roadmap macro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125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Nutreco –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Trouw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Nutrition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do projeto TN Manager: Base Estratégica  |  Outubro de 2026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121331"/>
            <a:ext cx="5943600" cy="1028700"/>
          </a:xfrm>
          <a:prstGeom prst="rect">
            <a:avLst/>
          </a:prstGeom>
        </p:spPr>
      </p:pic>
      <p:pic>
        <p:nvPicPr>
          <p:cNvPr id="8" name="Imagem 7" descr="Confinamento de gado: veja como fazer de maneira eficaz — CompreRural">
            <a:extLst>
              <a:ext uri="{FF2B5EF4-FFF2-40B4-BE49-F238E27FC236}">
                <a16:creationId xmlns:a16="http://schemas.microsoft.com/office/drawing/2014/main" id="{C6E60F84-3DD4-EA92-19AE-D3EA16319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783" y="3058900"/>
            <a:ext cx="4441371" cy="19735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finamento de gado: veja como fazer de maneira eficaz — CompreRural">
            <a:extLst>
              <a:ext uri="{FF2B5EF4-FFF2-40B4-BE49-F238E27FC236}">
                <a16:creationId xmlns:a16="http://schemas.microsoft.com/office/drawing/2014/main" id="{948B6E11-E154-9C44-5943-13AA267552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2" b="4112"/>
          <a:stretch/>
        </p:blipFill>
        <p:spPr bwMode="auto">
          <a:xfrm flipH="1">
            <a:off x="14" y="1581845"/>
            <a:ext cx="9143985" cy="356022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EB397809-47F3-012B-A513-6B52402C3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9106" y="4484368"/>
            <a:ext cx="4572000" cy="65913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49EA813-F4B8-2D42-B9BF-DD66E13A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900" cy="2343600"/>
          </a:xfrm>
        </p:spPr>
        <p:txBody>
          <a:bodyPr anchor="ctr">
            <a:normAutofit/>
          </a:bodyPr>
          <a:lstStyle/>
          <a:p>
            <a:r>
              <a:rPr lang="pt-BR" sz="825"/>
              <a:t> </a:t>
            </a:r>
            <a:endParaRPr lang="en-NL" sz="825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D481DD-CA22-7E8E-A0F2-65705D288393}"/>
              </a:ext>
            </a:extLst>
          </p:cNvPr>
          <p:cNvSpPr txBox="1"/>
          <p:nvPr/>
        </p:nvSpPr>
        <p:spPr>
          <a:xfrm>
            <a:off x="521550" y="290764"/>
            <a:ext cx="377048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TN Manager Web</a:t>
            </a:r>
          </a:p>
          <a:p>
            <a:r>
              <a:rPr lang="en-CA" sz="1350" i="1" dirty="0"/>
              <a:t>Desenvolvimento Interno Personalizado</a:t>
            </a:r>
          </a:p>
          <a:p>
            <a:endParaRPr lang="en-CA" sz="1350" dirty="0"/>
          </a:p>
          <a:p>
            <a:r>
              <a:rPr lang="en-CA" sz="1350" b="1" dirty="0"/>
              <a:t>Trouw Nutrition Brasil</a:t>
            </a:r>
          </a:p>
          <a:p>
            <a:r>
              <a:rPr lang="en-CA" sz="1350" dirty="0"/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68309355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blocos, do contexto às decisões de hoje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170432"/>
            <a:ext cx="402336" cy="40233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15568" y="11430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proposta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5568" y="1399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Resumo, nossa história e o cliente-alvo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15568" y="1636776"/>
            <a:ext cx="6473952" cy="914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16642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15568" y="19202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Bússola Farm, nossa base de clientes e a nova geração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115568" y="2157984"/>
            <a:ext cx="6473952" cy="914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48640" y="2212848"/>
            <a:ext cx="402336" cy="402336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4864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15568" y="21854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 diferencial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15568" y="24414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Suporte, dashboards e equipe técnica: como funciona na prática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15568" y="2679192"/>
            <a:ext cx="6473952" cy="914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48640" y="2734056"/>
            <a:ext cx="402336" cy="40233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15568" y="270662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15568" y="296265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Cargill, DSM, Ponta e Tecnobeef: onde vamos vencer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15568" y="3200400"/>
            <a:ext cx="6473952" cy="914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548640" y="3255264"/>
            <a:ext cx="402336" cy="40233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48640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15568" y="322783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15568" y="348386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Custos, SWOT, go-to-market e Grupo de Desenvolvimento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115568" y="3721608"/>
            <a:ext cx="6473952" cy="914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548640" y="3776472"/>
            <a:ext cx="402336" cy="40233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48640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115568" y="37490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 decisões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115568" y="400507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cronograma de 4 anos e o que aprovar hoje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521550" y="143730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CA" sz="2400" dirty="0"/>
              <a:t>Resumo Executivo</a:t>
            </a:r>
            <a:br>
              <a:rPr lang="en-CA" sz="2400" dirty="0"/>
            </a:br>
            <a:r>
              <a:rPr lang="en-US" sz="1350" b="0" i="1" dirty="0"/>
              <a:t>Conheça o TN Manager Web, </a:t>
            </a:r>
            <a:r>
              <a:rPr lang="en-US" sz="1350" b="0" i="1" dirty="0" err="1"/>
              <a:t>uma</a:t>
            </a:r>
            <a:r>
              <a:rPr lang="en-US" sz="1350" b="0" i="1" dirty="0"/>
              <a:t> nova </a:t>
            </a:r>
            <a:r>
              <a:rPr lang="en-US" sz="1350" b="0" i="1" dirty="0" err="1"/>
              <a:t>versão</a:t>
            </a:r>
            <a:r>
              <a:rPr lang="en-US" sz="1350" b="0" i="1" dirty="0"/>
              <a:t> do TN Manager que </a:t>
            </a:r>
            <a:r>
              <a:rPr lang="en-US" sz="1350" b="0" i="1" dirty="0" err="1"/>
              <a:t>tem</a:t>
            </a:r>
            <a:r>
              <a:rPr lang="en-US" sz="1350" b="0" i="1" dirty="0"/>
              <a:t> iniciativa estratégica totalmente alinhada à nossa visão de longo prazo de crescimento orgânico e transformação digital.</a:t>
            </a:r>
          </a:p>
          <a:p>
            <a:pPr>
              <a:lnSpc>
                <a:spcPct val="100000"/>
              </a:lnSpc>
            </a:pPr>
            <a:endParaRPr lang="en-CA" sz="2400" b="0" i="1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FEE3EA-3D4A-DD54-6A99-1DD5E326C4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1550" y="2654710"/>
            <a:ext cx="7884319" cy="1821679"/>
          </a:xfrm>
        </p:spPr>
        <p:txBody>
          <a:bodyPr/>
          <a:lstStyle/>
          <a:p>
            <a:r>
              <a:rPr lang="en-US" dirty="0"/>
              <a:t>O mercado e a concorrência estão acelerando no digital. O confinamento representa 19% da nossa Unidade de Negócios Beef.</a:t>
            </a:r>
          </a:p>
          <a:p>
            <a:r>
              <a:rPr lang="en-US" dirty="0"/>
              <a:t>Proposta: um TN Manager Web simples para novos clientes pequenos e médios, com suporte, dashboards e equipe técnica como diferencial, para fidelizar e abrir novos clientes.</a:t>
            </a: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A9C8DE9B-0182-9F12-A971-BD522072C4A3}"/>
              </a:ext>
            </a:extLst>
          </p:cNvPr>
          <p:cNvSpPr/>
          <p:nvPr/>
        </p:nvSpPr>
        <p:spPr>
          <a:xfrm>
            <a:off x="521550" y="1154220"/>
            <a:ext cx="7884319" cy="1125875"/>
          </a:xfrm>
          <a:prstGeom prst="rect">
            <a:avLst/>
          </a:prstGeom>
          <a:solidFill>
            <a:srgbClr val="0195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AB97EAB9-B9D3-2C9B-E5C2-6D2E1CAC77D5}"/>
              </a:ext>
            </a:extLst>
          </p:cNvPr>
          <p:cNvSpPr txBox="1"/>
          <p:nvPr/>
        </p:nvSpPr>
        <p:spPr>
          <a:xfrm>
            <a:off x="1894825" y="1221600"/>
            <a:ext cx="6248567" cy="9721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O TN Manager colocará a Trouw Nutrition Brasil na vanguarda da inovação no mercado de Corte, reforçando nossa tradição em oferecer produtos premium e serviços de excelência, ao mesmo tempo que impulsiona nossa agenda de </a:t>
            </a:r>
            <a:r>
              <a:rPr lang="en-US" sz="1200" dirty="0" err="1">
                <a:solidFill>
                  <a:schemeClr val="bg1"/>
                </a:solidFill>
              </a:rPr>
              <a:t>Transformação</a:t>
            </a:r>
            <a:r>
              <a:rPr lang="en-US" sz="1200" dirty="0">
                <a:solidFill>
                  <a:schemeClr val="bg1"/>
                </a:solidFill>
              </a:rPr>
              <a:t> Digital. </a:t>
            </a:r>
            <a:r>
              <a:rPr lang="en-US" sz="1200" dirty="0" err="1">
                <a:solidFill>
                  <a:schemeClr val="bg1"/>
                </a:solidFill>
              </a:rPr>
              <a:t>Além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fornecer</a:t>
            </a:r>
            <a:r>
              <a:rPr lang="en-US" sz="1200" dirty="0">
                <a:solidFill>
                  <a:schemeClr val="bg1"/>
                </a:solidFill>
              </a:rPr>
              <a:t> dados e </a:t>
            </a:r>
            <a:r>
              <a:rPr lang="en-US" sz="1200" dirty="0" err="1">
                <a:solidFill>
                  <a:schemeClr val="bg1"/>
                </a:solidFill>
              </a:rPr>
              <a:t>métricas</a:t>
            </a:r>
            <a:r>
              <a:rPr lang="en-US" sz="1200" dirty="0">
                <a:solidFill>
                  <a:schemeClr val="bg1"/>
                </a:solidFill>
              </a:rPr>
              <a:t> para </a:t>
            </a:r>
            <a:r>
              <a:rPr lang="en-US" sz="1200" dirty="0" err="1">
                <a:solidFill>
                  <a:schemeClr val="bg1"/>
                </a:solidFill>
              </a:rPr>
              <a:t>tomada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decisões</a:t>
            </a:r>
            <a:r>
              <a:rPr lang="en-US" sz="1200" dirty="0">
                <a:solidFill>
                  <a:schemeClr val="bg1"/>
                </a:solidFill>
              </a:rPr>
              <a:t> e </a:t>
            </a:r>
            <a:r>
              <a:rPr lang="en-US" sz="1200" dirty="0" err="1">
                <a:solidFill>
                  <a:schemeClr val="bg1"/>
                </a:solidFill>
              </a:rPr>
              <a:t>suporte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técnico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qualidade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ectangle 22">
            <a:extLst>
              <a:ext uri="{FF2B5EF4-FFF2-40B4-BE49-F238E27FC236}">
                <a16:creationId xmlns:a16="http://schemas.microsoft.com/office/drawing/2014/main" id="{4BD2E2A4-A5A8-FB8A-00E5-7DB8A880E464}"/>
              </a:ext>
            </a:extLst>
          </p:cNvPr>
          <p:cNvSpPr/>
          <p:nvPr/>
        </p:nvSpPr>
        <p:spPr>
          <a:xfrm>
            <a:off x="521550" y="1154220"/>
            <a:ext cx="1103282" cy="1125875"/>
          </a:xfrm>
          <a:prstGeom prst="rect">
            <a:avLst/>
          </a:prstGeom>
          <a:solidFill>
            <a:srgbClr val="246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9FEEAC2A-8F6F-33F1-31DC-45CF7E394C48}"/>
              </a:ext>
            </a:extLst>
          </p:cNvPr>
          <p:cNvGrpSpPr/>
          <p:nvPr/>
        </p:nvGrpSpPr>
        <p:grpSpPr>
          <a:xfrm>
            <a:off x="791580" y="1435871"/>
            <a:ext cx="562571" cy="562571"/>
            <a:chOff x="4119563" y="2171701"/>
            <a:chExt cx="346075" cy="346075"/>
          </a:xfrm>
        </p:grpSpPr>
        <p:sp>
          <p:nvSpPr>
            <p:cNvPr id="7" name="Freeform 307">
              <a:extLst>
                <a:ext uri="{FF2B5EF4-FFF2-40B4-BE49-F238E27FC236}">
                  <a16:creationId xmlns:a16="http://schemas.microsoft.com/office/drawing/2014/main" id="{522FD061-F040-8E76-4307-F7CF91D9D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538" y="2352676"/>
              <a:ext cx="165100" cy="165100"/>
            </a:xfrm>
            <a:custGeom>
              <a:avLst/>
              <a:gdLst>
                <a:gd name="T0" fmla="*/ 33 w 104"/>
                <a:gd name="T1" fmla="*/ 95 h 104"/>
                <a:gd name="T2" fmla="*/ 0 w 104"/>
                <a:gd name="T3" fmla="*/ 104 h 104"/>
                <a:gd name="T4" fmla="*/ 9 w 104"/>
                <a:gd name="T5" fmla="*/ 71 h 104"/>
                <a:gd name="T6" fmla="*/ 80 w 104"/>
                <a:gd name="T7" fmla="*/ 0 h 104"/>
                <a:gd name="T8" fmla="*/ 104 w 104"/>
                <a:gd name="T9" fmla="*/ 23 h 104"/>
                <a:gd name="T10" fmla="*/ 33 w 104"/>
                <a:gd name="T11" fmla="*/ 9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104">
                  <a:moveTo>
                    <a:pt x="33" y="95"/>
                  </a:moveTo>
                  <a:lnTo>
                    <a:pt x="0" y="104"/>
                  </a:lnTo>
                  <a:lnTo>
                    <a:pt x="9" y="71"/>
                  </a:lnTo>
                  <a:lnTo>
                    <a:pt x="80" y="0"/>
                  </a:lnTo>
                  <a:lnTo>
                    <a:pt x="104" y="23"/>
                  </a:lnTo>
                  <a:lnTo>
                    <a:pt x="33" y="95"/>
                  </a:lnTo>
                  <a:close/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9" name="Line 308">
              <a:extLst>
                <a:ext uri="{FF2B5EF4-FFF2-40B4-BE49-F238E27FC236}">
                  <a16:creationId xmlns:a16="http://schemas.microsoft.com/office/drawing/2014/main" id="{069A3C55-6DD6-04FF-ECB3-363712CED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8963" y="2382838"/>
              <a:ext cx="36513" cy="36513"/>
            </a:xfrm>
            <a:prstGeom prst="line">
              <a:avLst/>
            </a:pr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" name="Line 309">
              <a:extLst>
                <a:ext uri="{FF2B5EF4-FFF2-40B4-BE49-F238E27FC236}">
                  <a16:creationId xmlns:a16="http://schemas.microsoft.com/office/drawing/2014/main" id="{ACEFF4E0-BE2A-72D5-3F62-2367F0A88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4825" y="2465388"/>
              <a:ext cx="38100" cy="3810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1" name="Line 310">
              <a:extLst>
                <a:ext uri="{FF2B5EF4-FFF2-40B4-BE49-F238E27FC236}">
                  <a16:creationId xmlns:a16="http://schemas.microsoft.com/office/drawing/2014/main" id="{67C6C67A-3B0A-ED2C-C25D-F507AA69C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150" y="2322513"/>
              <a:ext cx="60325" cy="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" name="Line 311">
              <a:extLst>
                <a:ext uri="{FF2B5EF4-FFF2-40B4-BE49-F238E27FC236}">
                  <a16:creationId xmlns:a16="http://schemas.microsoft.com/office/drawing/2014/main" id="{EC9255DD-75C5-87A2-45B4-8219D21A4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150" y="2382838"/>
              <a:ext cx="60325" cy="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3" name="Freeform 312">
              <a:extLst>
                <a:ext uri="{FF2B5EF4-FFF2-40B4-BE49-F238E27FC236}">
                  <a16:creationId xmlns:a16="http://schemas.microsoft.com/office/drawing/2014/main" id="{438BC57C-66BF-790A-EBC2-A11496D2E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600" y="2292351"/>
              <a:ext cx="60325" cy="36513"/>
            </a:xfrm>
            <a:custGeom>
              <a:avLst/>
              <a:gdLst>
                <a:gd name="T0" fmla="*/ 38 w 38"/>
                <a:gd name="T1" fmla="*/ 0 h 23"/>
                <a:gd name="T2" fmla="*/ 14 w 38"/>
                <a:gd name="T3" fmla="*/ 23 h 23"/>
                <a:gd name="T4" fmla="*/ 0 w 38"/>
                <a:gd name="T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38" y="0"/>
                  </a:moveTo>
                  <a:lnTo>
                    <a:pt x="14" y="23"/>
                  </a:lnTo>
                  <a:lnTo>
                    <a:pt x="0" y="9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4" name="Freeform 313">
              <a:extLst>
                <a:ext uri="{FF2B5EF4-FFF2-40B4-BE49-F238E27FC236}">
                  <a16:creationId xmlns:a16="http://schemas.microsoft.com/office/drawing/2014/main" id="{40071169-1B90-2E5C-B3F8-9C6736840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600" y="2352676"/>
              <a:ext cx="60325" cy="36513"/>
            </a:xfrm>
            <a:custGeom>
              <a:avLst/>
              <a:gdLst>
                <a:gd name="T0" fmla="*/ 38 w 38"/>
                <a:gd name="T1" fmla="*/ 0 h 23"/>
                <a:gd name="T2" fmla="*/ 14 w 38"/>
                <a:gd name="T3" fmla="*/ 23 h 23"/>
                <a:gd name="T4" fmla="*/ 0 w 38"/>
                <a:gd name="T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38" y="0"/>
                  </a:moveTo>
                  <a:lnTo>
                    <a:pt x="14" y="23"/>
                  </a:lnTo>
                  <a:lnTo>
                    <a:pt x="0" y="9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5" name="Freeform 314">
              <a:extLst>
                <a:ext uri="{FF2B5EF4-FFF2-40B4-BE49-F238E27FC236}">
                  <a16:creationId xmlns:a16="http://schemas.microsoft.com/office/drawing/2014/main" id="{7445F3E2-D41E-B5AF-99DD-1A524DF82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563" y="2171701"/>
              <a:ext cx="241300" cy="315913"/>
            </a:xfrm>
            <a:custGeom>
              <a:avLst/>
              <a:gdLst>
                <a:gd name="T0" fmla="*/ 81 w 152"/>
                <a:gd name="T1" fmla="*/ 199 h 199"/>
                <a:gd name="T2" fmla="*/ 0 w 152"/>
                <a:gd name="T3" fmla="*/ 199 h 199"/>
                <a:gd name="T4" fmla="*/ 0 w 152"/>
                <a:gd name="T5" fmla="*/ 0 h 199"/>
                <a:gd name="T6" fmla="*/ 105 w 152"/>
                <a:gd name="T7" fmla="*/ 0 h 199"/>
                <a:gd name="T8" fmla="*/ 152 w 152"/>
                <a:gd name="T9" fmla="*/ 47 h 199"/>
                <a:gd name="T10" fmla="*/ 152 w 152"/>
                <a:gd name="T11" fmla="*/ 11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99">
                  <a:moveTo>
                    <a:pt x="81" y="199"/>
                  </a:moveTo>
                  <a:lnTo>
                    <a:pt x="0" y="199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52" y="47"/>
                  </a:lnTo>
                  <a:lnTo>
                    <a:pt x="152" y="118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6" name="Freeform 315">
              <a:extLst>
                <a:ext uri="{FF2B5EF4-FFF2-40B4-BE49-F238E27FC236}">
                  <a16:creationId xmlns:a16="http://schemas.microsoft.com/office/drawing/2014/main" id="{3B6C4BF5-8B76-8B82-C592-0D03E6B71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250" y="2171701"/>
              <a:ext cx="74613" cy="74613"/>
            </a:xfrm>
            <a:custGeom>
              <a:avLst/>
              <a:gdLst>
                <a:gd name="T0" fmla="*/ 0 w 47"/>
                <a:gd name="T1" fmla="*/ 0 h 47"/>
                <a:gd name="T2" fmla="*/ 0 w 47"/>
                <a:gd name="T3" fmla="*/ 47 h 47"/>
                <a:gd name="T4" fmla="*/ 47 w 47"/>
                <a:gd name="T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47">
                  <a:moveTo>
                    <a:pt x="0" y="0"/>
                  </a:moveTo>
                  <a:lnTo>
                    <a:pt x="0" y="47"/>
                  </a:lnTo>
                  <a:lnTo>
                    <a:pt x="47" y="47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spc="150">
                <a:solidFill>
                  <a:srgbClr val="C8106E"/>
                </a:solidFill>
                <a:latin typeface="Calibri"/>
              </a:rPr>
              <a:t>CAPÍTULO 1  ·  CONTEXTO E PROPOSTA</a:t>
            </a:r>
          </a:p>
        </p:txBody>
      </p:sp>
    </p:spTree>
    <p:extLst>
      <p:ext uri="{BB962C8B-B14F-4D97-AF65-F5344CB8AC3E}">
        <p14:creationId xmlns:p14="http://schemas.microsoft.com/office/powerpoint/2010/main" val="27953696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história: da automação para o resultado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v1.0 começou pelo fim. A versão Web começa pela rotina do curral e termina no resultado do pecuarista.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Probeef (95% dos confinamentos analisados usam software de gestão); Embrapa (2018): 106 softwares para pecuária de corte, vistos como complexos e caros.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 ·  CONTEXTO E PROPOSTA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15214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v1.0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447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começou pelo fim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03120" y="1115568"/>
            <a:ext cx="1755648" cy="713232"/>
          </a:xfrm>
          <a:prstGeom prst="homePlate">
            <a:avLst/>
          </a:prstGeom>
          <a:solidFill>
            <a:srgbClr val="9AA3A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194560" y="11155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hardware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49040" y="1115568"/>
            <a:ext cx="1755648" cy="713232"/>
          </a:xfrm>
          <a:prstGeom prst="chevron">
            <a:avLst/>
          </a:prstGeom>
          <a:solidFill>
            <a:srgbClr val="9AA3A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059936" y="11155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94960" y="1115568"/>
            <a:ext cx="1755648" cy="713232"/>
          </a:xfrm>
          <a:prstGeom prst="chevron">
            <a:avLst/>
          </a:prstGeom>
          <a:solidFill>
            <a:srgbClr val="9AA3A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705856" y="11155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confinamentos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40880" y="1115568"/>
            <a:ext cx="1755648" cy="713232"/>
          </a:xfrm>
          <a:prstGeom prst="chevron">
            <a:avLst/>
          </a:prstGeom>
          <a:solidFill>
            <a:srgbClr val="9AA3A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351776" y="11155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longa e cara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2002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229514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começa pelo começo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103120" y="1965960"/>
            <a:ext cx="1426464" cy="713232"/>
          </a:xfrm>
          <a:prstGeom prst="homePlate">
            <a:avLst/>
          </a:prstGeom>
          <a:solidFill>
            <a:srgbClr val="26668F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2194560" y="19659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do curral e inputs manuais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19856" y="1965960"/>
            <a:ext cx="1426464" cy="713232"/>
          </a:xfrm>
          <a:prstGeom prst="chevron">
            <a:avLst/>
          </a:prstGeom>
          <a:solidFill>
            <a:srgbClr val="1B3A8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730752" y="19659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objetivo e flexível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36592" y="1965960"/>
            <a:ext cx="1426464" cy="713232"/>
          </a:xfrm>
          <a:prstGeom prst="chevron">
            <a:avLst/>
          </a:prstGeom>
          <a:solidFill>
            <a:srgbClr val="1B3A8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047488" y="19659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técnica TN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53328" y="1965960"/>
            <a:ext cx="1426464" cy="713232"/>
          </a:xfrm>
          <a:prstGeom prst="chevron">
            <a:avLst/>
          </a:prstGeom>
          <a:solidFill>
            <a:srgbClr val="C8106E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364224" y="19659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do pecuarista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70064" y="1965960"/>
            <a:ext cx="1426464" cy="713232"/>
          </a:xfrm>
          <a:prstGeom prst="chevron">
            <a:avLst/>
          </a:prstGeom>
          <a:solidFill>
            <a:srgbClr val="E3E7E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680960" y="19659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Automação: PecCode hoje, TN no futuro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2880360"/>
            <a:ext cx="1554480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2880360"/>
            <a:ext cx="1554480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66928" y="300837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66928" y="3319272"/>
            <a:ext cx="1335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manuais com poucos campos: 10 minutos por dia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103120" y="2880360"/>
            <a:ext cx="1554480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103120" y="2880360"/>
            <a:ext cx="1554480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212848" y="300837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2212848" y="3319272"/>
            <a:ext cx="1335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os indicadores que mudam a decisão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749040" y="2880360"/>
            <a:ext cx="1554480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3749040" y="2880360"/>
            <a:ext cx="1554480" cy="548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3858768" y="300837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3858768" y="3319272"/>
            <a:ext cx="1335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ou papel, com ou sem internet no curral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40680" y="2880360"/>
            <a:ext cx="3246120" cy="14173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5623560" y="29900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É MAIS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62356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virou commodity. O que manda é o resultado que ajudamos o pecuarista a alcançar.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</a:t>
            </a: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24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</a:t>
            </a: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 Customer?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</a:t>
            </a:r>
            <a:r>
              <a:rPr lang="en-US" sz="1300" i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primeiro o TN Manager Web: uma versão simples, de lançamento manual, testada com 3 a 5 fazendas piloto. Cada nova versão só avança quando a anterior provar uso e valor.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92026" y="1342231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92026" y="13422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32106" y="132394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32106" y="1616551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clientes: confinamentos pequenos e médios, com capacidade estática de 200 a 2.000 cabeças, sem automação no momento e com gestão moderada, que fazem anotações em papel, planilhas ou sistema simples.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2026" y="2393791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92026" y="23937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32106" y="237550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FERRAMENTA ENTREGA?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532106" y="2668111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entradas 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(GMD,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lotação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IMS,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semanais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2026" y="3445351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92026" y="34453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32106" y="342706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NOS DIFERENCIA DA CONCORRÊNCIA?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532106" y="3712997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ferramenta: software de gestão virou item de prateleira. O diferencial é a entrega técnica: a TN acompanha toda a engorda, analisa os números toda semana, compara com o benchmark e transforma dados em decisão para o confinador. Sem custo de licença.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spc="150">
                <a:solidFill>
                  <a:srgbClr val="C8106E"/>
                </a:solidFill>
                <a:latin typeface="Calibri"/>
              </a:rPr>
              <a:t>CAPÍTULO 1  ·  CONTEXTO E PROPOSTA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atende quem: três frentes, sem conflito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para novos clientes pequenos e médios. Quem precisa de automação segue com a PecCode.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33472" cy="2468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457200" y="1143000"/>
            <a:ext cx="2633472" cy="56692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85216" y="11978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85216" y="13898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5216" y="18196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5216" y="20025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clientes: confinamentos pequenos e médios, de 200 a 2.000 cabeças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85216" y="240487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" y="25877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manual, sem automação no momento, com analista TN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5216" y="29900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5216" y="317296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mercado e fidelizar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46120" y="1143000"/>
            <a:ext cx="2633472" cy="2468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246120" y="1143000"/>
            <a:ext cx="2633472" cy="56692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74136" y="11978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374136" y="13898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PecCode (parceria)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374136" y="18196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374136" y="20025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maiores que querem automação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374136" y="240487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374136" y="25877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Balança, vagão e integrações. Parceria consolidada e rodando bem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374136" y="29900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374136" y="317296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hoje quem precisa de automação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035040" y="1143000"/>
            <a:ext cx="2633472" cy="2468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035040" y="1143000"/>
            <a:ext cx="2633472" cy="56692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163056" y="11978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163056" y="13898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Automação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163056" y="18196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163056" y="20025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maiores e fazendas Web que crescerem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163056" y="240487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63056" y="25877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Retomado no futuro, trabalhando em paralelo com a versão Web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163056" y="29900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163056" y="317296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a oferta digital da TN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57200" y="3749040"/>
            <a:ext cx="8229600" cy="56692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1792" y="37490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simples: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automação, TN Manager Web. Com automação, PecCode hoje e TN Manager Automação no futuro, lado a lado com a versão Web.</a:t>
            </a:r>
            <a:endParaRPr lang="en-US" sz="1150" dirty="0"/>
          </a:p>
        </p:txBody>
      </p:sp>
      <p:sp>
        <p:nvSpPr>
          <p:cNvPr id="38" name="TextBox 37"/>
          <p:cNvSpPr txBox="1"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spc="150">
                <a:solidFill>
                  <a:srgbClr val="C8106E"/>
                </a:solidFill>
                <a:latin typeface="Calibri"/>
              </a:rPr>
              <a:t>CAPÍTULO 1  ·  CONTEXTO E PROPOSTA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da v1.0 para a v2.0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deixa de ser como defender a base e passa a ser onde o produto gera valor e para quem.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232090"/>
              </p:ext>
            </p:extLst>
          </p:nvPr>
        </p:nvGraphicFramePr>
        <p:xfrm>
          <a:off x="457200" y="1188720"/>
          <a:ext cx="8229600" cy="296265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 (outubro de 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66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 (outubro de 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Cliente-alvo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Confinamentos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partir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2.000)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cabeças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estática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com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Novos clientes pequenos e médios (200 a 2.000 cabeças), sem automação no momento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 hardware, terminal offline e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Manager Web: lançamento manual, poucos indicadores, evolução por versões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da decisão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Premissas internas e base de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fazendas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Entrevistas internas, benchmark externo e discovery com 30 ou mais fazendas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clientes no ano 1 e 200 no ano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 5 fazendas piloto, com critério de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avanço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(5, 20 e 50 fazendas)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de sucesso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Profit e participação de mercado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Primeiro: fazendas usando toda semana e satisfeitas. Depois: Sales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spc="150">
                <a:solidFill>
                  <a:srgbClr val="C8106E"/>
                </a:solidFill>
                <a:latin typeface="Calibri"/>
              </a:rPr>
              <a:t>CAPÍTULO 1  ·  CONTEXTO E PROPOSTA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Bússola Farm: 14.038 confinamentos mapeados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são pequenos, mas somam só 23% da capacidade estática: muitas fazendas, pouco volume cada.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Bússola Farm, dados 2024/2025. Percentuais sobre os 13.214 confinamentos com faixa informada.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 ·  MERCADO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14.038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73736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mapeados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0" y="1051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14.985.249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7220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de capacidade estática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572768"/>
            <a:ext cx="8229600" cy="71323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57200" y="1572768"/>
            <a:ext cx="64008" cy="71323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" y="1664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1: pequenos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1792" y="19568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1.500 cabeças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697480" y="1645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11.194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2697480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023360" y="1645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mi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023360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40680" y="1700784"/>
            <a:ext cx="1936242" cy="21031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513832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dos confinamentos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40680" y="1965960"/>
            <a:ext cx="525780" cy="210312"/>
          </a:xfrm>
          <a:prstGeom prst="rect">
            <a:avLst/>
          </a:prstGeom>
          <a:solidFill>
            <a:srgbClr val="9AA3AC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021324" y="19568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da capacidade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359152"/>
            <a:ext cx="8229600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57200" y="2359152"/>
            <a:ext cx="64008" cy="713232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21792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2: médios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1792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6.900 cabeças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697480" y="24323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1.664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2697480" y="2816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023360" y="24323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 mi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4023360" y="2816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40680" y="2487168"/>
            <a:ext cx="288036" cy="210312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783580" y="24780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dos confinamentos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40680" y="2752344"/>
            <a:ext cx="845820" cy="210312"/>
          </a:xfrm>
          <a:prstGeom prst="rect">
            <a:avLst/>
          </a:prstGeom>
          <a:solidFill>
            <a:srgbClr val="9AA3AC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341364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da capacidade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3145536"/>
            <a:ext cx="8229600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457200" y="3145536"/>
            <a:ext cx="64008" cy="71323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621792" y="3236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3: grandes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21792" y="3529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7.000 (média de 16 mil)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2697480" y="32186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</a:t>
            </a:r>
            <a:endParaRPr lang="en-US" sz="2400" dirty="0"/>
          </a:p>
        </p:txBody>
      </p:sp>
      <p:sp>
        <p:nvSpPr>
          <p:cNvPr id="41" name="Text 38"/>
          <p:cNvSpPr/>
          <p:nvPr/>
        </p:nvSpPr>
        <p:spPr>
          <a:xfrm>
            <a:off x="2697480" y="36027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023360" y="32186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 mi</a:t>
            </a:r>
            <a:endParaRPr lang="en-US" sz="2400" dirty="0"/>
          </a:p>
        </p:txBody>
      </p:sp>
      <p:sp>
        <p:nvSpPr>
          <p:cNvPr id="43" name="Text 40"/>
          <p:cNvSpPr/>
          <p:nvPr/>
        </p:nvSpPr>
        <p:spPr>
          <a:xfrm>
            <a:off x="4023360" y="36027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440680" y="3273552"/>
            <a:ext cx="61722" cy="21031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5557266" y="32644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dos confinamentos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440680" y="3538728"/>
            <a:ext cx="914400" cy="210312"/>
          </a:xfrm>
          <a:prstGeom prst="rect">
            <a:avLst/>
          </a:prstGeom>
          <a:solidFill>
            <a:srgbClr val="9AA3AC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6409944" y="352958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da capacidade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57200" y="4005072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457200" y="40050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do TN Manager Web: Faixa 1 e início da Faixa 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base: 2.796 confinadores cadastrados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no sistema da Trouw, de janeiro a outubro de 2026. RO, SP e MT somam 65%.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clientes cadastrados no sistema Trouw Nutrition (jan a out/2026); cabeças por estado: censo dsm-firmenich 2025. Mapa: @svg-maps/brazil (CC BY 4.0).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 ·  MERCADO</a:t>
            </a:r>
            <a:endParaRPr lang="en-US" sz="800" dirty="0"/>
          </a:p>
        </p:txBody>
      </p:sp>
      <p:pic>
        <p:nvPicPr>
          <p:cNvPr id="8" name="Image 1" descr="/tmp/claude-0/-home-user-projetos-rodrigo-agro/75ea8577-07ab-56ed-800f-dbd18240b1a3/scratchpad/build/mapa-bras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5840"/>
            <a:ext cx="3520440" cy="366975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38724" y="2333070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D7263D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038724" y="233307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</a:t>
            </a:r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1.022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416656" y="3401262"/>
            <a:ext cx="59436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D7263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2416656" y="340126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</a:t>
            </a:r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736689" y="2521439"/>
            <a:ext cx="59436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D7263D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736689" y="2521439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</a:t>
            </a:r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831672" y="3013522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2831672" y="301352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1875467" y="3224864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875467" y="322486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086085" y="2494358"/>
            <a:ext cx="512064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3086085" y="249435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195194" y="3638357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2195194" y="3638357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319242" y="2875691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2319242" y="2875691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05038" y="2204338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505038" y="2204338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047600" y="1804053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2047600" y="1804053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1021331" y="1804053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1021331" y="1804053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490957" y="2279571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2490957" y="2279571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2295696" y="3897365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2295696" y="3897365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2120953" y="4151779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2120953" y="4151779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1350821" y="1187832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1350821" y="118783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2736599" y="1850571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40" name="Text 36"/>
          <p:cNvSpPr/>
          <p:nvPr/>
        </p:nvSpPr>
        <p:spPr>
          <a:xfrm>
            <a:off x="2736599" y="1850571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2979527" y="2067655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2979527" y="2067655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3758482" y="1998799"/>
            <a:ext cx="283166" cy="914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44" name="Shape 40"/>
          <p:cNvSpPr/>
          <p:nvPr/>
        </p:nvSpPr>
        <p:spPr>
          <a:xfrm>
            <a:off x="3731050" y="1971367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45" name="Shape 41"/>
          <p:cNvSpPr/>
          <p:nvPr/>
        </p:nvSpPr>
        <p:spPr>
          <a:xfrm>
            <a:off x="4101084" y="1893643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46" name="Text 42"/>
          <p:cNvSpPr/>
          <p:nvPr/>
        </p:nvSpPr>
        <p:spPr>
          <a:xfrm>
            <a:off x="4101084" y="1893643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3641326" y="2221627"/>
            <a:ext cx="400322" cy="33205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48" name="Shape 44"/>
          <p:cNvSpPr/>
          <p:nvPr/>
        </p:nvSpPr>
        <p:spPr>
          <a:xfrm>
            <a:off x="3613894" y="2194195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49" name="Shape 45"/>
          <p:cNvSpPr/>
          <p:nvPr/>
        </p:nvSpPr>
        <p:spPr>
          <a:xfrm>
            <a:off x="4133088" y="2149675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4133088" y="2149675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3763077" y="2328446"/>
            <a:ext cx="278571" cy="182418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52" name="Shape 48"/>
          <p:cNvSpPr/>
          <p:nvPr/>
        </p:nvSpPr>
        <p:spPr>
          <a:xfrm>
            <a:off x="3735645" y="2301014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53" name="Shape 49"/>
          <p:cNvSpPr/>
          <p:nvPr/>
        </p:nvSpPr>
        <p:spPr>
          <a:xfrm>
            <a:off x="4133088" y="2405707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4133088" y="2405707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3689567" y="2424928"/>
            <a:ext cx="352081" cy="341968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56" name="Shape 52"/>
          <p:cNvSpPr/>
          <p:nvPr/>
        </p:nvSpPr>
        <p:spPr>
          <a:xfrm>
            <a:off x="3662135" y="2397496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57" name="Shape 53"/>
          <p:cNvSpPr/>
          <p:nvPr/>
        </p:nvSpPr>
        <p:spPr>
          <a:xfrm>
            <a:off x="4133088" y="2661739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58" name="Text 54"/>
          <p:cNvSpPr/>
          <p:nvPr/>
        </p:nvSpPr>
        <p:spPr>
          <a:xfrm>
            <a:off x="4133088" y="2661739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2762652" y="2899871"/>
            <a:ext cx="1278996" cy="123056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60" name="Shape 56"/>
          <p:cNvSpPr/>
          <p:nvPr/>
        </p:nvSpPr>
        <p:spPr>
          <a:xfrm>
            <a:off x="2735220" y="2872439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61" name="Shape 57"/>
          <p:cNvSpPr/>
          <p:nvPr/>
        </p:nvSpPr>
        <p:spPr>
          <a:xfrm>
            <a:off x="4133088" y="2917771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62" name="Text 58"/>
          <p:cNvSpPr/>
          <p:nvPr/>
        </p:nvSpPr>
        <p:spPr>
          <a:xfrm>
            <a:off x="4133088" y="2917771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Shape 59"/>
          <p:cNvSpPr/>
          <p:nvPr/>
        </p:nvSpPr>
        <p:spPr>
          <a:xfrm>
            <a:off x="3400695" y="3255935"/>
            <a:ext cx="640953" cy="23024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64" name="Shape 60"/>
          <p:cNvSpPr/>
          <p:nvPr/>
        </p:nvSpPr>
        <p:spPr>
          <a:xfrm>
            <a:off x="3373263" y="3228503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65" name="Shape 61"/>
          <p:cNvSpPr/>
          <p:nvPr/>
        </p:nvSpPr>
        <p:spPr>
          <a:xfrm>
            <a:off x="4101084" y="3173803"/>
            <a:ext cx="448056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66" name="Text 62"/>
          <p:cNvSpPr/>
          <p:nvPr/>
        </p:nvSpPr>
        <p:spPr>
          <a:xfrm>
            <a:off x="4101084" y="3173803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3222663" y="3505180"/>
            <a:ext cx="818985" cy="29811"/>
          </a:xfrm>
          <a:prstGeom prst="line">
            <a:avLst/>
          </a:prstGeom>
          <a:noFill/>
          <a:ln w="9525">
            <a:solidFill>
              <a:srgbClr val="8A939C"/>
            </a:solidFill>
            <a:prstDash val="solid"/>
          </a:ln>
        </p:spPr>
        <p:txBody>
          <a:bodyPr/>
          <a:p/>
        </p:txBody>
      </p:sp>
      <p:sp>
        <p:nvSpPr>
          <p:cNvPr id="68" name="Shape 64"/>
          <p:cNvSpPr/>
          <p:nvPr/>
        </p:nvSpPr>
        <p:spPr>
          <a:xfrm>
            <a:off x="3195231" y="3477748"/>
            <a:ext cx="54864" cy="54864"/>
          </a:xfrm>
          <a:prstGeom prst="ellipse">
            <a:avLst/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69" name="Shape 65"/>
          <p:cNvSpPr/>
          <p:nvPr/>
        </p:nvSpPr>
        <p:spPr>
          <a:xfrm>
            <a:off x="4133088" y="3429835"/>
            <a:ext cx="384048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B8C2CC"/>
            </a:solidFill>
            <a:prstDash val="solid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4133088" y="3429835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 </a:t>
            </a:r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1" name="Shape 67"/>
          <p:cNvSpPr/>
          <p:nvPr/>
        </p:nvSpPr>
        <p:spPr>
          <a:xfrm>
            <a:off x="411480" y="3840480"/>
            <a:ext cx="219456" cy="11887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685800" y="38130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300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>
            <a:off x="411480" y="3995928"/>
            <a:ext cx="219456" cy="118872"/>
          </a:xfrm>
          <a:prstGeom prst="rect">
            <a:avLst/>
          </a:prstGeom>
          <a:solidFill>
            <a:srgbClr val="4A79BF"/>
          </a:solidFill>
          <a:ln/>
        </p:spPr>
        <p:txBody>
          <a:bodyPr/>
          <a:p/>
        </p:txBody>
      </p:sp>
      <p:sp>
        <p:nvSpPr>
          <p:cNvPr id="74" name="Text 70"/>
          <p:cNvSpPr/>
          <p:nvPr/>
        </p:nvSpPr>
        <p:spPr>
          <a:xfrm>
            <a:off x="685800" y="39684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a 300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411480" y="4151376"/>
            <a:ext cx="219456" cy="118872"/>
          </a:xfrm>
          <a:prstGeom prst="rect">
            <a:avLst/>
          </a:prstGeom>
          <a:solidFill>
            <a:srgbClr val="9DBBDF"/>
          </a:solidFill>
          <a:ln/>
        </p:spPr>
        <p:txBody>
          <a:bodyPr/>
          <a:p/>
        </p:txBody>
      </p:sp>
      <p:sp>
        <p:nvSpPr>
          <p:cNvPr id="76" name="Text 72"/>
          <p:cNvSpPr/>
          <p:nvPr/>
        </p:nvSpPr>
        <p:spPr>
          <a:xfrm>
            <a:off x="685800" y="41239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 100</a:t>
            </a:r>
            <a:endParaRPr lang="en-US" sz="850" dirty="0"/>
          </a:p>
        </p:txBody>
      </p:sp>
      <p:sp>
        <p:nvSpPr>
          <p:cNvPr id="77" name="Shape 73"/>
          <p:cNvSpPr/>
          <p:nvPr/>
        </p:nvSpPr>
        <p:spPr>
          <a:xfrm>
            <a:off x="411480" y="4306824"/>
            <a:ext cx="219456" cy="118872"/>
          </a:xfrm>
          <a:prstGeom prst="rect">
            <a:avLst/>
          </a:prstGeom>
          <a:solidFill>
            <a:srgbClr val="DCE7F3"/>
          </a:solidFill>
          <a:ln/>
        </p:spPr>
        <p:txBody>
          <a:bodyPr/>
          <a:p/>
        </p:txBody>
      </p:sp>
      <p:sp>
        <p:nvSpPr>
          <p:cNvPr id="78" name="Text 74"/>
          <p:cNvSpPr/>
          <p:nvPr/>
        </p:nvSpPr>
        <p:spPr>
          <a:xfrm>
            <a:off x="685800" y="4279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20</a:t>
            </a:r>
            <a:endParaRPr lang="en-US" sz="850" dirty="0"/>
          </a:p>
        </p:txBody>
      </p:sp>
      <p:sp>
        <p:nvSpPr>
          <p:cNvPr id="79" name="Shape 75"/>
          <p:cNvSpPr/>
          <p:nvPr/>
        </p:nvSpPr>
        <p:spPr>
          <a:xfrm>
            <a:off x="411480" y="4462272"/>
            <a:ext cx="219456" cy="118872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685800" y="4434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</a:t>
            </a:r>
            <a:endParaRPr lang="en-US" sz="850" dirty="0"/>
          </a:p>
        </p:txBody>
      </p:sp>
      <p:sp>
        <p:nvSpPr>
          <p:cNvPr id="81" name="Shape 77"/>
          <p:cNvSpPr/>
          <p:nvPr/>
        </p:nvSpPr>
        <p:spPr>
          <a:xfrm>
            <a:off x="4846320" y="1078992"/>
            <a:ext cx="3840480" cy="65836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2" name="Text 78"/>
          <p:cNvSpPr/>
          <p:nvPr/>
        </p:nvSpPr>
        <p:spPr>
          <a:xfrm>
            <a:off x="4983480" y="10789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2.796</a:t>
            </a:r>
            <a:endParaRPr lang="en-US" sz="3000" dirty="0"/>
          </a:p>
        </p:txBody>
      </p:sp>
      <p:sp>
        <p:nvSpPr>
          <p:cNvPr id="83" name="Text 79"/>
          <p:cNvSpPr/>
          <p:nvPr/>
        </p:nvSpPr>
        <p:spPr>
          <a:xfrm>
            <a:off x="6446520" y="107899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confinadores cadastrados no sistema da Trouw</a:t>
            </a:r>
            <a:endParaRPr lang="en-US" sz="1100" dirty="0"/>
          </a:p>
        </p:txBody>
      </p:sp>
      <p:sp>
        <p:nvSpPr>
          <p:cNvPr id="84" name="Text 80"/>
          <p:cNvSpPr/>
          <p:nvPr/>
        </p:nvSpPr>
        <p:spPr>
          <a:xfrm>
            <a:off x="4846320" y="18288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estados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4846320" y="20756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1050" dirty="0"/>
          </a:p>
        </p:txBody>
      </p:sp>
      <p:sp>
        <p:nvSpPr>
          <p:cNvPr id="86" name="Shape 82"/>
          <p:cNvSpPr/>
          <p:nvPr/>
        </p:nvSpPr>
        <p:spPr>
          <a:xfrm>
            <a:off x="5623560" y="2103120"/>
            <a:ext cx="2103120" cy="14630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7" name="Text 83"/>
          <p:cNvSpPr/>
          <p:nvPr/>
        </p:nvSpPr>
        <p:spPr>
          <a:xfrm>
            <a:off x="7772400" y="2075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1.022</a:t>
            </a:r>
            <a:endParaRPr lang="en-US" sz="1050" dirty="0"/>
          </a:p>
        </p:txBody>
      </p:sp>
      <p:sp>
        <p:nvSpPr>
          <p:cNvPr id="88" name="Text 84"/>
          <p:cNvSpPr/>
          <p:nvPr/>
        </p:nvSpPr>
        <p:spPr>
          <a:xfrm>
            <a:off x="4846320" y="23042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050" dirty="0"/>
          </a:p>
        </p:txBody>
      </p:sp>
      <p:sp>
        <p:nvSpPr>
          <p:cNvPr id="89" name="Shape 85"/>
          <p:cNvSpPr/>
          <p:nvPr/>
        </p:nvSpPr>
        <p:spPr>
          <a:xfrm>
            <a:off x="5623560" y="2331720"/>
            <a:ext cx="948668" cy="14630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6617948" y="23042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</a:t>
            </a:r>
            <a:endParaRPr lang="en-US" sz="1050" dirty="0"/>
          </a:p>
        </p:txBody>
      </p:sp>
      <p:sp>
        <p:nvSpPr>
          <p:cNvPr id="91" name="Text 87"/>
          <p:cNvSpPr/>
          <p:nvPr/>
        </p:nvSpPr>
        <p:spPr>
          <a:xfrm>
            <a:off x="4846320" y="25328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050" dirty="0"/>
          </a:p>
        </p:txBody>
      </p:sp>
      <p:sp>
        <p:nvSpPr>
          <p:cNvPr id="92" name="Shape 88"/>
          <p:cNvSpPr/>
          <p:nvPr/>
        </p:nvSpPr>
        <p:spPr>
          <a:xfrm>
            <a:off x="5623560" y="2560320"/>
            <a:ext cx="701726" cy="14630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3" name="Text 89"/>
          <p:cNvSpPr/>
          <p:nvPr/>
        </p:nvSpPr>
        <p:spPr>
          <a:xfrm>
            <a:off x="6371006" y="25328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</a:t>
            </a:r>
            <a:endParaRPr lang="en-US" sz="1050" dirty="0"/>
          </a:p>
        </p:txBody>
      </p:sp>
      <p:sp>
        <p:nvSpPr>
          <p:cNvPr id="94" name="Text 90"/>
          <p:cNvSpPr/>
          <p:nvPr/>
        </p:nvSpPr>
        <p:spPr>
          <a:xfrm>
            <a:off x="4846320" y="27614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050" dirty="0"/>
          </a:p>
        </p:txBody>
      </p:sp>
      <p:sp>
        <p:nvSpPr>
          <p:cNvPr id="95" name="Shape 91"/>
          <p:cNvSpPr/>
          <p:nvPr/>
        </p:nvSpPr>
        <p:spPr>
          <a:xfrm>
            <a:off x="5623560" y="2788920"/>
            <a:ext cx="411569" cy="146304"/>
          </a:xfrm>
          <a:prstGeom prst="rect">
            <a:avLst/>
          </a:prstGeom>
          <a:solidFill>
            <a:srgbClr val="4A79BF"/>
          </a:solidFill>
          <a:ln/>
        </p:spPr>
        <p:txBody>
          <a:bodyPr/>
          <a:p/>
        </p:txBody>
      </p:sp>
      <p:sp>
        <p:nvSpPr>
          <p:cNvPr id="96" name="Text 92"/>
          <p:cNvSpPr/>
          <p:nvPr/>
        </p:nvSpPr>
        <p:spPr>
          <a:xfrm>
            <a:off x="6080849" y="2761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97" name="Text 93"/>
          <p:cNvSpPr/>
          <p:nvPr/>
        </p:nvSpPr>
        <p:spPr>
          <a:xfrm>
            <a:off x="4846320" y="29900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50" dirty="0"/>
          </a:p>
        </p:txBody>
      </p:sp>
      <p:sp>
        <p:nvSpPr>
          <p:cNvPr id="98" name="Shape 94"/>
          <p:cNvSpPr/>
          <p:nvPr/>
        </p:nvSpPr>
        <p:spPr>
          <a:xfrm>
            <a:off x="5623560" y="3017520"/>
            <a:ext cx="331313" cy="146304"/>
          </a:xfrm>
          <a:prstGeom prst="rect">
            <a:avLst/>
          </a:prstGeom>
          <a:solidFill>
            <a:srgbClr val="4A79BF"/>
          </a:solidFill>
          <a:ln/>
        </p:spPr>
        <p:txBody>
          <a:bodyPr/>
          <a:p/>
        </p:txBody>
      </p:sp>
      <p:sp>
        <p:nvSpPr>
          <p:cNvPr id="99" name="Text 95"/>
          <p:cNvSpPr/>
          <p:nvPr/>
        </p:nvSpPr>
        <p:spPr>
          <a:xfrm>
            <a:off x="6000593" y="2990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050" dirty="0"/>
          </a:p>
        </p:txBody>
      </p:sp>
      <p:sp>
        <p:nvSpPr>
          <p:cNvPr id="100" name="Text 96"/>
          <p:cNvSpPr/>
          <p:nvPr/>
        </p:nvSpPr>
        <p:spPr>
          <a:xfrm>
            <a:off x="4846320" y="32186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050" dirty="0"/>
          </a:p>
        </p:txBody>
      </p:sp>
      <p:sp>
        <p:nvSpPr>
          <p:cNvPr id="101" name="Shape 97"/>
          <p:cNvSpPr/>
          <p:nvPr/>
        </p:nvSpPr>
        <p:spPr>
          <a:xfrm>
            <a:off x="5623560" y="3246120"/>
            <a:ext cx="240768" cy="146304"/>
          </a:xfrm>
          <a:prstGeom prst="rect">
            <a:avLst/>
          </a:prstGeom>
          <a:solidFill>
            <a:srgbClr val="4A79BF"/>
          </a:solidFill>
          <a:ln/>
        </p:spPr>
        <p:txBody>
          <a:bodyPr/>
          <a:p/>
        </p:txBody>
      </p:sp>
      <p:sp>
        <p:nvSpPr>
          <p:cNvPr id="102" name="Text 98"/>
          <p:cNvSpPr/>
          <p:nvPr/>
        </p:nvSpPr>
        <p:spPr>
          <a:xfrm>
            <a:off x="5910048" y="3218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050" dirty="0"/>
          </a:p>
        </p:txBody>
      </p:sp>
      <p:sp>
        <p:nvSpPr>
          <p:cNvPr id="103" name="Text 99"/>
          <p:cNvSpPr/>
          <p:nvPr/>
        </p:nvSpPr>
        <p:spPr>
          <a:xfrm>
            <a:off x="4846320" y="34472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18</a:t>
            </a:r>
            <a:endParaRPr lang="en-US" sz="1050" dirty="0"/>
          </a:p>
        </p:txBody>
      </p:sp>
      <p:sp>
        <p:nvSpPr>
          <p:cNvPr id="104" name="Shape 100"/>
          <p:cNvSpPr/>
          <p:nvPr/>
        </p:nvSpPr>
        <p:spPr>
          <a:xfrm>
            <a:off x="5623560" y="3474720"/>
            <a:ext cx="1018634" cy="146304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p/>
        </p:txBody>
      </p:sp>
      <p:sp>
        <p:nvSpPr>
          <p:cNvPr id="105" name="Text 101"/>
          <p:cNvSpPr/>
          <p:nvPr/>
        </p:nvSpPr>
        <p:spPr>
          <a:xfrm>
            <a:off x="6687914" y="34472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</a:t>
            </a:r>
            <a:endParaRPr lang="en-US" sz="1050" dirty="0"/>
          </a:p>
        </p:txBody>
      </p:sp>
      <p:sp>
        <p:nvSpPr>
          <p:cNvPr id="106" name="Shape 102"/>
          <p:cNvSpPr/>
          <p:nvPr/>
        </p:nvSpPr>
        <p:spPr>
          <a:xfrm>
            <a:off x="4846320" y="3730752"/>
            <a:ext cx="3840480" cy="62179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107" name="Shape 103"/>
          <p:cNvSpPr/>
          <p:nvPr/>
        </p:nvSpPr>
        <p:spPr>
          <a:xfrm>
            <a:off x="4846320" y="3730752"/>
            <a:ext cx="54864" cy="62179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08" name="Text 104"/>
          <p:cNvSpPr/>
          <p:nvPr/>
        </p:nvSpPr>
        <p:spPr>
          <a:xfrm>
            <a:off x="4983480" y="373075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tem 37% da base, com operações menores: perfil da Web. GO está entre os 3 estados com mais cabeças e tem só 93 clientes: espaço para crescer.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nova geração quer dados para decidir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assume o confinamento busca praticidade, números e gestão de empresa.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Embrapa Pecuária Sudeste, Transformação digital da pecuária de corte intensiva no Brasil (2023), 184 confinamentos; Embrapa, Sebrae e Inpe, Agricultura digital no Brasil (2020).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 ·  MERCADO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2633472" cy="148132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1704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jovens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4360" y="16459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curso superior e consultoria são os que mais usam tecnologia digital no confinamento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Embrapa, 184 confinamentos (2023)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46120" y="1097280"/>
            <a:ext cx="2633472" cy="148132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383280" y="11704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383280" y="16459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produtores usam aplicativo de gestão, embora 84% já usem alguma tecnologia digital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83280" y="228600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Embrapa, Sebrae e Inpe (2020)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1097280"/>
            <a:ext cx="2633472" cy="148132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2200" y="11704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172200" y="16459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apontam a conexão no campo como a principal barreira à tecnologia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72200" y="228600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Embrapa, Sebrae e Inpe (2020)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27432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nova geração quer e como o TN Manager Web responde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035808"/>
            <a:ext cx="1984248" cy="126187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57200" y="3035808"/>
            <a:ext cx="1984248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316382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Praticidade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6928" y="3474720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por dia, no celular ou no papel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532888" y="3035808"/>
            <a:ext cx="1984248" cy="126187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2532888" y="3035808"/>
            <a:ext cx="1984248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642616" y="316382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642616" y="3474720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semanal e benchmark com fazendas parecidas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08576" y="3035808"/>
            <a:ext cx="1984248" cy="126187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608576" y="3035808"/>
            <a:ext cx="1984248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718304" y="316382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718304" y="3474720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TN junto, toda semana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684264" y="3035808"/>
            <a:ext cx="1984248" cy="126187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84264" y="3035808"/>
            <a:ext cx="1984248" cy="548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793992" y="316382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empresa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793992" y="3474720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de safra e evolução ano a ano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no caminho certo? Sim.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sinais confirmam o foco no confinamento pequeno e médio, com uma ressalva.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Bússola Farm 2024/2025; censo de confinamento dsm-firmenich 2025; base de clientes Trouw Nutrition (jan a out/2026).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 ·  MERCADO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2633472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57200" y="1097280"/>
            <a:ext cx="64008" cy="141732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0080" y="1152144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40080" y="166420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confinamentos mapeados são pequenos, com até 1.500 cabeças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225856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Bússola Farm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1097280"/>
            <a:ext cx="2633472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246120" y="1097280"/>
            <a:ext cx="64008" cy="14173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429000" y="1152144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429000" y="166420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cabeças estão nos 100 maiores confinamentos, um mercado já disputado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429000" y="225856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dsm-firmenich 2025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35040" y="1097280"/>
            <a:ext cx="2633472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035040" y="1097280"/>
            <a:ext cx="64008" cy="141732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17920" y="1152144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217920" y="166420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nossa base está em Rondônia, com operações menores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17920" y="225856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clientes TN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21792" y="2651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Ressalva: </a:t>
            </a:r>
            <a:pPr indent="0" marL="0">
              <a:buNone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pequenos somam só 23% da capacidade. O caso depende de muitas fazendas, custo baixo por cliente e fidelização.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310128"/>
            <a:ext cx="8229600" cy="100584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21792" y="33832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COM 30 FAZENDAS: 09 A 27/11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1792" y="362102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confirmar com números: as dores da rotina, o sistema usado hoje, quanto custa, a satisfação com o suporte do fornecedor atual e a disposição de usar e recomendar o TN Manager Web.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valor: quem ganha o quê com 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públicos, quatro ganhos. Hipóteses que a pesquisa com 30 fazendas vai validar.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 ·  SOLUÇÃO E DIFERENCIAL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15568"/>
            <a:ext cx="3977640" cy="15361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1115568"/>
            <a:ext cx="64008" cy="153619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" y="1252728"/>
            <a:ext cx="438912" cy="43891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35331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2527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do confinamento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58368" y="180136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desempenho por lote, sem montar planilha</a:t>
            </a:r>
            <a:endParaRPr lang="en-US" sz="12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 o dado da semana, não do mês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1115568"/>
            <a:ext cx="3977640" cy="15361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709160" y="1115568"/>
            <a:ext cx="64008" cy="1536192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892040" y="1252728"/>
            <a:ext cx="438912" cy="438912"/>
          </a:xfrm>
          <a:prstGeom prst="ellipse">
            <a:avLst/>
          </a:prstGeom>
          <a:solidFill>
            <a:srgbClr val="26668F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35331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0680" y="12527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TN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10328" y="180136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várias fazendas à distância</a:t>
            </a:r>
            <a:endParaRPr lang="en-US" sz="12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ajuste de dieta com dado real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2743200"/>
            <a:ext cx="3977640" cy="15361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457200" y="2743200"/>
            <a:ext cx="64008" cy="1536192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0080" y="2880360"/>
            <a:ext cx="438912" cy="438912"/>
          </a:xfrm>
          <a:prstGeom prst="ellipse">
            <a:avLst/>
          </a:prstGeom>
          <a:solidFill>
            <a:srgbClr val="0096B4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98094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do curral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8368" y="3429000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trato e leitura de cocho em poucos minutos</a:t>
            </a:r>
            <a:endParaRPr lang="en-US" sz="12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simples, no celular ou no papel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709160" y="2743200"/>
            <a:ext cx="3977640" cy="15361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709160" y="2743200"/>
            <a:ext cx="64008" cy="153619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4892040" y="2880360"/>
            <a:ext cx="438912" cy="438912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2980944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4068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Trouw Nutrition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910328" y="3429000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Fidelizar clientes em nutrição</a:t>
            </a:r>
            <a:endParaRPr lang="en-US" sz="12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 para novos clientes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767328" y="2194560"/>
            <a:ext cx="1609344" cy="749808"/>
          </a:xfrm>
          <a:prstGeom prst="ellipse">
            <a:avLst/>
          </a:prstGeom>
          <a:solidFill>
            <a:srgbClr val="1B3A8C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3767328" y="2194560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diferencial: o que fazemos com os dados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é o meio. O resultado vem do suporte, dos indicadores e da equipe técnica.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 ·  SOLUÇÃO E DIFERENCIAL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15568"/>
            <a:ext cx="1737360" cy="2103120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66928" y="1234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1572768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 prateleira: todo concorrente tem um. É o meio, não o fim.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2075688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42032" y="1115568"/>
            <a:ext cx="1984248" cy="21031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2542032" y="1115568"/>
            <a:ext cx="1984248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2651760" y="124358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excelente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51760" y="1737360"/>
            <a:ext cx="1764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online que responde rápido e técnico TN no campo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17720" y="1115568"/>
            <a:ext cx="1984248" cy="21031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4617720" y="1115568"/>
            <a:ext cx="1984248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4727448" y="124358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 dashboards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27448" y="1737360"/>
            <a:ext cx="1764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Consumo, ganho de peso, custo da arroba e dias de cocho, toda semana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693408" y="1115568"/>
            <a:ext cx="1984248" cy="21031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6693408" y="1115568"/>
            <a:ext cx="1984248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803136" y="124358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técnica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803136" y="1737360"/>
            <a:ext cx="1764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de dieta e manejo baseados nos dados da fazenda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" y="3566160"/>
            <a:ext cx="8229600" cy="7772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640080" y="36393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da fazenda: mais ganho, menor custo por arroba e decisão no tempo certo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na rotina da fazenda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fazenda registra (passos 1 a 3). A TN transforma em decisão (passos 4 e 5), toda semana.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 ·  SOLUÇÃO E DIFERENCIAL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10912" y="1078992"/>
            <a:ext cx="3813048" cy="2286000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120640" y="1133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TÉCNICA TN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133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FAZENDA REGISTRA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9536" y="1481328"/>
            <a:ext cx="566928" cy="566928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59536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1148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2688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Currais, lotes e dieta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1682496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578608" y="1481328"/>
            <a:ext cx="566928" cy="566928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2578608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2130552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130552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dia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130552" y="2688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e leitura de cocho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1682496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297680" y="1481328"/>
            <a:ext cx="566928" cy="566928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4297680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3849624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849624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ocorre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849624" y="2688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pesagens, saídas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682496"/>
            <a:ext cx="182880" cy="1828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044184" y="1389888"/>
            <a:ext cx="731520" cy="73152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9" name="Text 23"/>
          <p:cNvSpPr/>
          <p:nvPr/>
        </p:nvSpPr>
        <p:spPr>
          <a:xfrm>
            <a:off x="6044184" y="1389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5678424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5678424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semana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678424" y="2688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benchmark com o analista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1682496"/>
            <a:ext cx="182880" cy="18288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763256" y="1389888"/>
            <a:ext cx="731520" cy="73152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5" name="Text 28"/>
          <p:cNvSpPr/>
          <p:nvPr/>
        </p:nvSpPr>
        <p:spPr>
          <a:xfrm>
            <a:off x="7763256" y="1389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6" name="Text 29"/>
          <p:cNvSpPr/>
          <p:nvPr/>
        </p:nvSpPr>
        <p:spPr>
          <a:xfrm>
            <a:off x="7397496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7397496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técnico TN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397496" y="2688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Dieta, trato e manejo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2651760" y="3456432"/>
            <a:ext cx="5669280" cy="914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2651760" y="3273552"/>
            <a:ext cx="914" cy="182880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41" name="Shape 34"/>
          <p:cNvSpPr/>
          <p:nvPr/>
        </p:nvSpPr>
        <p:spPr>
          <a:xfrm>
            <a:off x="8321040" y="3364992"/>
            <a:ext cx="914" cy="91440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42" name="Text 35"/>
          <p:cNvSpPr/>
          <p:nvPr/>
        </p:nvSpPr>
        <p:spPr>
          <a:xfrm>
            <a:off x="3840480" y="3355848"/>
            <a:ext cx="329184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semanal: o ajuste volta para o trato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457200" y="3657600"/>
            <a:ext cx="2651760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4" name="Shape 37"/>
          <p:cNvSpPr/>
          <p:nvPr/>
        </p:nvSpPr>
        <p:spPr>
          <a:xfrm>
            <a:off x="457200" y="3657600"/>
            <a:ext cx="2651760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45" name="Text 38"/>
          <p:cNvSpPr/>
          <p:nvPr/>
        </p:nvSpPr>
        <p:spPr>
          <a:xfrm>
            <a:off x="566928" y="378561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566928" y="40416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técnico de campo, até 5 fazendas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3246120" y="3657600"/>
            <a:ext cx="2651760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8" name="Shape 41"/>
          <p:cNvSpPr/>
          <p:nvPr/>
        </p:nvSpPr>
        <p:spPr>
          <a:xfrm>
            <a:off x="3246120" y="3657600"/>
            <a:ext cx="2651760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9" name="Text 42"/>
          <p:cNvSpPr/>
          <p:nvPr/>
        </p:nvSpPr>
        <p:spPr>
          <a:xfrm>
            <a:off x="3355848" y="378561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 a 6</a:t>
            </a:r>
            <a:endParaRPr lang="en-US" sz="1150" dirty="0"/>
          </a:p>
        </p:txBody>
      </p:sp>
      <p:sp>
        <p:nvSpPr>
          <p:cNvPr id="50" name="Text 43"/>
          <p:cNvSpPr/>
          <p:nvPr/>
        </p:nvSpPr>
        <p:spPr>
          <a:xfrm>
            <a:off x="3355848" y="40416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analisa até 20 fazendas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6035040" y="3657600"/>
            <a:ext cx="2651760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2" name="Shape 45"/>
          <p:cNvSpPr/>
          <p:nvPr/>
        </p:nvSpPr>
        <p:spPr>
          <a:xfrm>
            <a:off x="6035040" y="3657600"/>
            <a:ext cx="2651760" cy="548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53" name="Text 46"/>
          <p:cNvSpPr/>
          <p:nvPr/>
        </p:nvSpPr>
        <p:spPr>
          <a:xfrm>
            <a:off x="6144768" y="378561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mês 7</a:t>
            </a:r>
            <a:endParaRPr lang="en-US" sz="1150" dirty="0"/>
          </a:p>
        </p:txBody>
      </p:sp>
      <p:sp>
        <p:nvSpPr>
          <p:cNvPr id="54" name="Text 47"/>
          <p:cNvSpPr/>
          <p:nvPr/>
        </p:nvSpPr>
        <p:spPr>
          <a:xfrm>
            <a:off x="6144768" y="40416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online: 1 para 20 fazendas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o dia a dia e a arquitetura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curral à recomendação, com ou sem internet no curral.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 ·  SOLUÇÃO E DIFERENCIAL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78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 na fazenda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" y="1472184"/>
            <a:ext cx="164592" cy="16459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57784" y="1636776"/>
            <a:ext cx="914" cy="384048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4173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" y="1645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cocho antes do 1º trato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" y="2020824"/>
            <a:ext cx="164592" cy="16459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57784" y="2185416"/>
            <a:ext cx="914" cy="384048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49808" y="19659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dia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9808" y="2194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fornecido por baia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" y="2569464"/>
            <a:ext cx="164592" cy="16459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57784" y="2734056"/>
            <a:ext cx="914" cy="384048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49808" y="25146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ocorre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" y="2743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pesagens e saídas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" y="3118104"/>
            <a:ext cx="164592" cy="16459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57784" y="3282696"/>
            <a:ext cx="914" cy="384048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49808" y="30632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dia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9808" y="3291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 confere e envia: 10 minutos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" y="3666744"/>
            <a:ext cx="164592" cy="164592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49808" y="36118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semana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49808" y="3840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 análise do analista TN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023360" y="1078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proposta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023360" y="1417320"/>
            <a:ext cx="1691640" cy="65836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527048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462272" y="14813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462272" y="17099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curral; sem sinal, envia depois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023360" y="2167128"/>
            <a:ext cx="1691640" cy="65836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276856"/>
            <a:ext cx="274320" cy="2743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462272" y="22311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papel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462272" y="2459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Digitada na sede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5989320" y="1417320"/>
            <a:ext cx="1188720" cy="140817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527048"/>
            <a:ext cx="274320" cy="2743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428232" y="14813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6428232" y="1709928"/>
            <a:ext cx="685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cálculos: consumo, ganho, custo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7452360" y="1417320"/>
            <a:ext cx="1280160" cy="65836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527048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891272" y="14813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7891272" y="17099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7452360" y="2167128"/>
            <a:ext cx="1280160" cy="65836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2276856"/>
            <a:ext cx="274320" cy="2743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891272" y="22311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TN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7891272" y="24597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e recomenda</a:t>
            </a:r>
            <a:endParaRPr lang="en-US" sz="95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1655064"/>
            <a:ext cx="182880" cy="182880"/>
          </a:xfrm>
          <a:prstGeom prst="rect">
            <a:avLst/>
          </a:prstGeom>
        </p:spPr>
      </p:pic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2404872"/>
            <a:ext cx="182880" cy="182880"/>
          </a:xfrm>
          <a:prstGeom prst="rect">
            <a:avLst/>
          </a:prstGeom>
        </p:spPr>
      </p:pic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1655064"/>
            <a:ext cx="182880" cy="182880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8092440" y="2075688"/>
            <a:ext cx="914" cy="91440"/>
          </a:xfrm>
          <a:prstGeom prst="line">
            <a:avLst/>
          </a:prstGeom>
          <a:noFill/>
          <a:ln w="15875">
            <a:solidFill>
              <a:srgbClr val="7A858F"/>
            </a:solidFill>
            <a:prstDash val="solid"/>
          </a:ln>
        </p:spPr>
        <p:txBody>
          <a:bodyPr/>
          <a:p/>
        </p:txBody>
      </p:sp>
      <p:sp>
        <p:nvSpPr>
          <p:cNvPr id="52" name="Shape 41"/>
          <p:cNvSpPr/>
          <p:nvPr/>
        </p:nvSpPr>
        <p:spPr>
          <a:xfrm>
            <a:off x="8092440" y="2825496"/>
            <a:ext cx="914" cy="137160"/>
          </a:xfrm>
          <a:prstGeom prst="line">
            <a:avLst/>
          </a:prstGeom>
          <a:noFill/>
          <a:ln w="15875">
            <a:solidFill>
              <a:srgbClr val="C8106E"/>
            </a:solidFill>
            <a:prstDash val="solid"/>
          </a:ln>
        </p:spPr>
        <p:txBody>
          <a:bodyPr/>
          <a:p/>
        </p:txBody>
      </p:sp>
      <p:sp>
        <p:nvSpPr>
          <p:cNvPr id="53" name="Shape 42"/>
          <p:cNvSpPr/>
          <p:nvPr/>
        </p:nvSpPr>
        <p:spPr>
          <a:xfrm>
            <a:off x="4846320" y="2962656"/>
            <a:ext cx="3246120" cy="914"/>
          </a:xfrm>
          <a:prstGeom prst="line">
            <a:avLst/>
          </a:prstGeom>
          <a:noFill/>
          <a:ln w="15875">
            <a:solidFill>
              <a:srgbClr val="C8106E"/>
            </a:solidFill>
            <a:prstDash val="solid"/>
          </a:ln>
        </p:spPr>
        <p:txBody>
          <a:bodyPr/>
          <a:p/>
        </p:txBody>
      </p:sp>
      <p:sp>
        <p:nvSpPr>
          <p:cNvPr id="54" name="Shape 43"/>
          <p:cNvSpPr/>
          <p:nvPr/>
        </p:nvSpPr>
        <p:spPr>
          <a:xfrm>
            <a:off x="4846320" y="2825496"/>
            <a:ext cx="914" cy="137160"/>
          </a:xfrm>
          <a:prstGeom prst="line">
            <a:avLst/>
          </a:prstGeom>
          <a:noFill/>
          <a:ln w="15875">
            <a:solidFill>
              <a:srgbClr val="C8106E"/>
            </a:solidFill>
            <a:prstDash val="solid"/>
          </a:ln>
        </p:spPr>
        <p:txBody>
          <a:bodyPr/>
          <a:p/>
        </p:txBody>
      </p:sp>
      <p:sp>
        <p:nvSpPr>
          <p:cNvPr id="55" name="Text 44"/>
          <p:cNvSpPr/>
          <p:nvPr/>
        </p:nvSpPr>
        <p:spPr>
          <a:xfrm>
            <a:off x="5120640" y="2990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volta ao gestor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4023360" y="3291840"/>
            <a:ext cx="4709160" cy="10515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3088" y="3383280"/>
            <a:ext cx="274320" cy="274320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4498848" y="3364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internet?</a:t>
            </a:r>
            <a:endParaRPr lang="en-US" sz="1300" dirty="0"/>
          </a:p>
        </p:txBody>
      </p:sp>
      <p:sp>
        <p:nvSpPr>
          <p:cNvPr id="59" name="Text 47"/>
          <p:cNvSpPr/>
          <p:nvPr/>
        </p:nvSpPr>
        <p:spPr>
          <a:xfrm>
            <a:off x="4160520" y="36576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curral, não: papel ou celular que envia depois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sede, sim: uma conexão por dia basta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sem sinal no celular: validar com a Dreamer (16 a 27/11)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Concorrência: falham em custo e suporte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vendem sistema. A pesquisa com 30 fazendas vai medir custo e satisfação com o suporte de cada um.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Cargill e Integra Software (Feed Manager); AgFeed e dsm-firmenich (FarmTell); Ponta Agro (TGC); AgFeed (Tecnobeef); Baguete (JetBov). Valor Cargill: informação de mercado levantada pela TN. Licença TGC: valores pagos pela TN. Suporte: avaliação interna e relato de clientes.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 ·  CONCORRÊNCIA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45920" y="1078992"/>
            <a:ext cx="1837944" cy="31089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737360" y="107899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forte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20440" y="1078992"/>
            <a:ext cx="1837944" cy="31089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11880" y="107899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fraco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394960" y="1078992"/>
            <a:ext cx="1472184" cy="31089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486400" y="1078992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03720" y="1078992"/>
            <a:ext cx="1746504" cy="31089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995160" y="1078992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1426464"/>
            <a:ext cx="8229600" cy="53035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30352" y="14264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700784" y="1426464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completa e automatizada (Feed Manager, CattleView)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575304" y="1426464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Feita para quem já tem automação e estrutura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49824" y="1426464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R$ 240 mil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958584" y="1426464"/>
            <a:ext cx="1655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Falho; sistema mantido por terceira (Integra)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1993392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30352" y="1993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(FarmTell)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700784" y="1993392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com consultoria; versão simples para pequenos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575304" y="1993392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em transição; muitos produtos separados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49824" y="1993392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divulgado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958584" y="1993392"/>
            <a:ext cx="1655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consultores de alto nível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2560320"/>
            <a:ext cx="8229600" cy="53035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30352" y="25603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Ponta (TGC)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700784" y="2560320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nos grandes confinamentos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575304" y="2560320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 e caro para o pequeno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49824" y="256032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 mil a 40 mil por ano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958584" y="2560320"/>
            <a:ext cx="1655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Pós-venda decepcionou clientes TN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57200" y="3127248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530352" y="31272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Tecnobeef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700784" y="3127248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Nasceu de confinador (grupo Campanelli)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575304" y="3127248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sistema para o cliente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49824" y="3127248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aplica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958584" y="3127248"/>
            <a:ext cx="1655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de nutrição, sem dados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57200" y="3694176"/>
            <a:ext cx="8229600" cy="53035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30352" y="369417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JetBov e outros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700784" y="3694176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 e simples, para pequenos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575304" y="3694176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sistema: sem nutrição e sem técnico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449824" y="3694176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 baixa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958584" y="3694176"/>
            <a:ext cx="1655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Remoto, sem técnico no campo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vamos vencer: suporte e inteligência de dados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é o meio. O que fazemos com os dados da fazenda é o diferencial.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avaliação interna TN e relatos de clientes sobre o suporte dos fornecedores atuais, a confirmar na pesquisa com 30 fazendas; licenças pagas pela TN.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 ·  CONCORRÊNCIA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078992"/>
            <a:ext cx="3017520" cy="310896"/>
          </a:xfrm>
          <a:prstGeom prst="rect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48640" y="1078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concorrentes falham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40480" y="1078992"/>
            <a:ext cx="4846320" cy="31089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931920" y="10789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TN vai vencer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463040"/>
            <a:ext cx="3017520" cy="621792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66928" y="15270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fraco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venda, o cliente fica sozinho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682496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840480" y="1463040"/>
            <a:ext cx="4846320" cy="62179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3840480" y="1463040"/>
            <a:ext cx="54864" cy="62179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005072" y="1527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excelente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005072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online que responde rápido e técnico TN no campo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2157984"/>
            <a:ext cx="3017520" cy="621792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66928" y="22219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cara e longa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66928" y="2478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R$ 240 mil e meses para começar</a:t>
            </a:r>
            <a:endParaRPr lang="en-US" sz="10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377440"/>
            <a:ext cx="182880" cy="18288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840480" y="2157984"/>
            <a:ext cx="4846320" cy="62179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3840480" y="2157984"/>
            <a:ext cx="54864" cy="62179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4005072" y="22219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simples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005072" y="2478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em dias, sem licença para o cliente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57200" y="2852928"/>
            <a:ext cx="3017520" cy="621792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566928" y="29169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parado no sistema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66928" y="3172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transforma o número em decisão</a:t>
            </a:r>
            <a:endParaRPr lang="en-US" sz="10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072384"/>
            <a:ext cx="182880" cy="18288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3840480" y="2852928"/>
            <a:ext cx="4846320" cy="62179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3840480" y="2852928"/>
            <a:ext cx="54864" cy="62179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4005072" y="29169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equipe técnica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4005072" y="3172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criativos e ajustes baseados nos dados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57200" y="36027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DESENVOLVIMENTO: DO SISTEMA AO RESULTADO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457200" y="3822192"/>
            <a:ext cx="2167128" cy="566928"/>
          </a:xfrm>
          <a:prstGeom prst="homePlate">
            <a:avLst/>
          </a:prstGeom>
          <a:solidFill>
            <a:srgbClr val="9AA3A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2"/>
          <p:cNvSpPr/>
          <p:nvPr/>
        </p:nvSpPr>
        <p:spPr>
          <a:xfrm>
            <a:off x="566928" y="38221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meio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2514600" y="3822192"/>
            <a:ext cx="2167128" cy="566928"/>
          </a:xfrm>
          <a:prstGeom prst="chevron">
            <a:avLst/>
          </a:prstGeom>
          <a:solidFill>
            <a:srgbClr val="26668F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4"/>
          <p:cNvSpPr/>
          <p:nvPr/>
        </p:nvSpPr>
        <p:spPr>
          <a:xfrm>
            <a:off x="2843784" y="38221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fazenda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lançados no dia a dia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4572000" y="3822192"/>
            <a:ext cx="2167128" cy="566928"/>
          </a:xfrm>
          <a:prstGeom prst="chevron">
            <a:avLst/>
          </a:prstGeom>
          <a:solidFill>
            <a:srgbClr val="1B3A8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Text 36"/>
          <p:cNvSpPr/>
          <p:nvPr/>
        </p:nvSpPr>
        <p:spPr>
          <a:xfrm>
            <a:off x="4901184" y="38221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auditam, validam e interpretam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6629400" y="3822192"/>
            <a:ext cx="2167128" cy="566928"/>
          </a:xfrm>
          <a:prstGeom prst="chevron">
            <a:avLst/>
          </a:prstGeom>
          <a:solidFill>
            <a:srgbClr val="C8106E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38"/>
          <p:cNvSpPr/>
          <p:nvPr/>
        </p:nvSpPr>
        <p:spPr>
          <a:xfrm>
            <a:off x="6958584" y="38221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safra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benchmark: o resultado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cliente-alvo para o piloto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para escolher as primeiras fazendas: novos clientes pequenos e médios, sem automação.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15568"/>
            <a:ext cx="2633472" cy="43891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94360" y="111556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2633472" cy="23774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1682496"/>
            <a:ext cx="2432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 ativo, com ciclo regular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hoje em caderno, planilha ou sistema simples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para lançar os dados todo dia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com visita ou contato frequente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115568"/>
            <a:ext cx="2633472" cy="438912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383280" y="111556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Desejáveis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46120" y="1554480"/>
            <a:ext cx="2633472" cy="23774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337560" y="1682496"/>
            <a:ext cx="2432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Pesagem na entrada e na saída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cocho diária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na sede da fazenda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que dá retorno a cada 15 dias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115568"/>
            <a:ext cx="2633472" cy="43891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72200" y="111556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perfil inicial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1554480"/>
            <a:ext cx="2633472" cy="23774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126480" y="1682496"/>
            <a:ext cx="2432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com automação (seguem na PecCode)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rotina mínima de registro</a:t>
            </a:r>
            <a:endParaRPr lang="en-US" sz="120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 a pasto, leite e outras espécies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05072"/>
            <a:ext cx="8229600" cy="384048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94360" y="40050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Porte: </a:t>
            </a:r>
            <a:pPr indent="0" marL="0">
              <a:buNone/>
            </a:pPr>
            <a:r>
              <a:rPr lang="en-US" sz="12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v1.0 mirava 2.000 cabeças ou mais. A versão Web mira de 200 a 2.000 cabeças.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Custo-benefício e cobrança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Pagamos 20 licenças hoje. O Web atende novos clientes sem automação; a PecCode segue com os maiores.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pagamos hoje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161288" cy="29260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48640" y="1371600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645920" y="1371600"/>
            <a:ext cx="704088" cy="29260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737360" y="1371600"/>
            <a:ext cx="521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77440" y="1371600"/>
            <a:ext cx="1161288" cy="29260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468880" y="1371600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66160" y="1371600"/>
            <a:ext cx="1069848" cy="29260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657600" y="1371600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 ano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1691640"/>
            <a:ext cx="4178808" cy="29260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30352" y="1691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TGC (Ponta)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719072" y="1691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450592" y="1691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 a 40 mil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39312" y="1691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 a 240 mil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020824"/>
            <a:ext cx="4178808" cy="29260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30352" y="20208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PecCode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719072" y="20208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450592" y="20208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 a 12,8 mil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39312" y="2020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 a 179 mil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2350008"/>
            <a:ext cx="4178808" cy="292608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30352" y="2350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719072" y="23500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450592" y="2350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39312" y="2350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R$ 172 a 419 mil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2761488"/>
            <a:ext cx="987552" cy="7315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457200" y="2761488"/>
            <a:ext cx="987552" cy="457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12064" y="2852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R$ 364 mil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12064" y="31638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orçados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513332" y="2761488"/>
            <a:ext cx="987552" cy="7315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513332" y="2761488"/>
            <a:ext cx="987552" cy="4572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568196" y="2852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 mil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568196" y="31638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569464" y="2761488"/>
            <a:ext cx="987552" cy="7315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2569464" y="2761488"/>
            <a:ext cx="987552" cy="4572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624328" y="2852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R$ 300 mil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2624328" y="31638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pagar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625596" y="2761488"/>
            <a:ext cx="987552" cy="7315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3625596" y="2761488"/>
            <a:ext cx="987552" cy="457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680460" y="2852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R$ 18,2 mil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3680460" y="31638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fazenda/ano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57200" y="3602736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licença média supera o resultado que muitos confinamentos pequenos geram para a TN.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937760" y="1078992"/>
            <a:ext cx="3749040" cy="31089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5029200" y="10789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com o TN Manager Web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4937760" y="1389888"/>
            <a:ext cx="3749040" cy="10241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5029200" y="1444752"/>
            <a:ext cx="3584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 sem automação: TN Manager Web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 atuais sem automação podem migrar e deixar de pagar de R$ 8 mil a 40 mil por ano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quando o custo anual do Web ficar abaixo das licenças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4937760" y="2487168"/>
            <a:ext cx="3749040" cy="548640"/>
          </a:xfrm>
          <a:prstGeom prst="rect">
            <a:avLst/>
          </a:prstGeom>
          <a:solidFill>
            <a:srgbClr val="E3F3F7"/>
          </a:solidFill>
          <a:ln/>
        </p:spPr>
        <p:txBody>
          <a:bodyPr/>
          <a:p/>
        </p:txBody>
      </p:sp>
      <p:sp>
        <p:nvSpPr>
          <p:cNvPr id="53" name="Shape 50"/>
          <p:cNvSpPr/>
          <p:nvPr/>
        </p:nvSpPr>
        <p:spPr>
          <a:xfrm>
            <a:off x="4937760" y="2487168"/>
            <a:ext cx="54864" cy="548640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5074920" y="24871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PecCode, parceria consolidada: </a:t>
            </a:r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com automação seguem com ela. TN Manager Automação volta no futuro.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4937760" y="3108960"/>
            <a:ext cx="3749040" cy="31089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5029200" y="31089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do cliente (proposta)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4937760" y="3419856"/>
            <a:ext cx="3749040" cy="914400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5029200" y="3474720"/>
            <a:ext cx="3584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licença para o cliente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no pacote de nutrição e serviço técnico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nutrição TN: mensalidade de serviço</a:t>
            </a:r>
            <a:endParaRPr lang="en-US" sz="10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final: 18 a 29/01/2027 (item 6.3)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SWOT: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magenta são novos em relação à v1.0.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069080" cy="16276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1051560"/>
            <a:ext cx="64008" cy="162763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94360" y="1143000"/>
            <a:ext cx="347472" cy="34747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24128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1554480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excelente, com analista online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criativos para decidir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tempo: relatório pronto toda semana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e comunidade (Grupo)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próprios, sem custo de licença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forte e equipe técnica de campo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17720" y="1051560"/>
            <a:ext cx="4069080" cy="16276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617720" y="1051560"/>
            <a:ext cx="64008" cy="1627632"/>
          </a:xfrm>
          <a:prstGeom prst="rect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754880" y="1143000"/>
            <a:ext cx="347472" cy="347472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75488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184648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Fraquezas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82312" y="1554480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disciplina de lançamento manual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análise pequeno no início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sem casos de sucesso próprios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cobrança a definir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743200"/>
            <a:ext cx="4069080" cy="16276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57200" y="2743200"/>
            <a:ext cx="64008" cy="1627632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94360" y="2834640"/>
            <a:ext cx="347472" cy="347472"/>
          </a:xfrm>
          <a:prstGeom prst="ellipse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943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24128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1792" y="3246120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11.194 confinamentos pequenos (Bússola Farm)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com suporte fraco e implantação cara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geração quer dados e gestão de empresa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22% dos produtores usam app de gestão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ex-clientes e abrir não clientes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17720" y="2743200"/>
            <a:ext cx="4069080" cy="16276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4617720" y="2743200"/>
            <a:ext cx="64008" cy="162763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4754880" y="2834640"/>
            <a:ext cx="347472" cy="347472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75488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184648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782312" y="3246120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 e DSM vendem sistema com a nutrição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já tem versão simples (Beef Smart)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 ao lançamento manual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da software house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embutir o custo no preço do produto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piloto, 20 fazendas e analistas online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Rodrigo valida o modelo antes de contratar. O gatilho para crescer é resultado, não data.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2606040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1097280"/>
            <a:ext cx="2606040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85216" y="12070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(ITEM 8.0)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5216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fazendas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5216" y="1755648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técnico de campo de perto; início definido no Roadmap (6.1)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173736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73552" y="1097280"/>
            <a:ext cx="2606040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3273552" y="1097280"/>
            <a:ext cx="2606040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3401568" y="12070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 A 6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401568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20 fazendas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01568" y="1755648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analisa toda semana, com relatório comentado e auditoria mensal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1737360"/>
            <a:ext cx="164592" cy="16459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089904" y="1097280"/>
            <a:ext cx="2606040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089904" y="1097280"/>
            <a:ext cx="2606040" cy="548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6217920" y="12070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MÊS 7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217920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analista para 20 fazendas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217920" y="1755648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online cobram, auditam, validam e interpretam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2724912"/>
            <a:ext cx="8229600" cy="29260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548640" y="27249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fazendas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2468880" y="272491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 de 200 a 2.000 cabeças, sem automação, indicados por técnicos e RTVs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57200" y="3044952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548640" y="3044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recebem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2468880" y="304495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Sistema, relatório semanal comentado, visita do técnico e auditoria mensal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7200" y="3364992"/>
            <a:ext cx="8229600" cy="29260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548640" y="3364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para analistas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2468880" y="336499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fazendas ativas e G2 aprovado: adesão, uso e recomendação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457200" y="3685032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548640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 preço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2468880" y="368503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e monetização de 18 a 29/01/2027 (6.2 e 6.3); aprovação de 01 a 05/02 (7.0)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457200" y="4005072"/>
            <a:ext cx="8229600" cy="29260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7" name="Text 32"/>
          <p:cNvSpPr/>
          <p:nvPr/>
        </p:nvSpPr>
        <p:spPr>
          <a:xfrm>
            <a:off x="548640" y="4005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piloto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2468880" y="400507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abertura da safra de confinamento, alinhado à ocupação das fazendas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alinhado ao cronograma do projeto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fev/2027, datas do cronograma (itens 2.1 a 7.0). Depois, datas indicativas, fechadas no Roadmap (6.1).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 ·  PLANO E DECISÕES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246120" y="1051560"/>
            <a:ext cx="1360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06290" y="1051560"/>
            <a:ext cx="40805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46120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586163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586163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926205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6205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266248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66248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606290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06290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946333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946333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286375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286375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626417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26417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966460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966460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306503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306503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646545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646545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986588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986588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326630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326630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7666673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666673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06715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8006715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8346758" y="1234440"/>
            <a:ext cx="3400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8346758" y="1417320"/>
            <a:ext cx="914" cy="253288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4606290" y="1051560"/>
            <a:ext cx="914" cy="2898648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5004140" y="1417320"/>
            <a:ext cx="914" cy="2532888"/>
          </a:xfrm>
          <a:prstGeom prst="line">
            <a:avLst/>
          </a:prstGeom>
          <a:noFill/>
          <a:ln w="952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457200" y="1463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Business case e benchmark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2423160" y="14630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314128" y="1490472"/>
            <a:ext cx="523665" cy="173736"/>
          </a:xfrm>
          <a:prstGeom prst="roundRect">
            <a:avLst>
              <a:gd name="adj" fmla="val 21053"/>
            </a:avLst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874370" y="1481328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07/09 a 23/10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57200" y="17099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Formulário com Kátia Sato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2423160" y="17099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Kátia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3790188" y="1737360"/>
            <a:ext cx="204026" cy="173736"/>
          </a:xfrm>
          <a:prstGeom prst="roundRect">
            <a:avLst>
              <a:gd name="adj" fmla="val 21053"/>
            </a:avLst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4030790" y="1728216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 a 06/11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57200" y="1956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Pesquisa com 30 fazendas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2423160" y="195681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RTVs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4018016" y="1984248"/>
            <a:ext cx="292437" cy="173736"/>
          </a:xfrm>
          <a:prstGeom prst="roundRect">
            <a:avLst>
              <a:gd name="adj" fmla="val 21053"/>
            </a:avLst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4347029" y="1975104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09/11 a 04/12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57200" y="22037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Imersão técnica Dreamer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2423160" y="220370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Dreamer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096226" y="2231136"/>
            <a:ext cx="136017" cy="173736"/>
          </a:xfrm>
          <a:prstGeom prst="roundRect">
            <a:avLst>
              <a:gd name="adj" fmla="val 26891"/>
            </a:avLst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4268819" y="2221992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 27/11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457200" y="2450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e 5.1 Diagnóstico e PRDs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2423160" y="245059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Matheus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334256" y="2478024"/>
            <a:ext cx="129216" cy="173736"/>
          </a:xfrm>
          <a:prstGeom prst="roundRect">
            <a:avLst>
              <a:gd name="adj" fmla="val 28306"/>
            </a:avLst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4500048" y="246888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 18/12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457200" y="2697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a 6.3 Roadmap, GTM e preço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2423160" y="26974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liderança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4657296" y="2724912"/>
            <a:ext cx="268634" cy="173736"/>
          </a:xfrm>
          <a:prstGeom prst="roundRect">
            <a:avLst>
              <a:gd name="adj" fmla="val 21053"/>
            </a:avLst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4962506" y="2715768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a 29/01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457200" y="29443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Apresentação final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2423160" y="294436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4946333" y="2971800"/>
            <a:ext cx="73152" cy="173736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5056061" y="2962656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 05/02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457200" y="31912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Piloto, até 5 fazendas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2423160" y="31912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técnicos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5966460" y="3218688"/>
            <a:ext cx="680085" cy="173736"/>
          </a:xfrm>
          <a:prstGeom prst="roundRect">
            <a:avLst>
              <a:gd name="adj" fmla="val 21053"/>
            </a:avLst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5966460" y="3209544"/>
            <a:ext cx="68008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a jun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57200" y="3438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atende até 20 fazendas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2423160" y="343814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6646545" y="3465576"/>
            <a:ext cx="1360170" cy="173736"/>
          </a:xfrm>
          <a:prstGeom prst="roundRect">
            <a:avLst>
              <a:gd name="adj" fmla="val 21053"/>
            </a:avLst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6646545" y="3456432"/>
            <a:ext cx="13601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 out</a:t>
            </a:r>
            <a:endParaRPr lang="en-US" sz="850" dirty="0"/>
          </a:p>
        </p:txBody>
      </p:sp>
      <p:sp>
        <p:nvSpPr>
          <p:cNvPr id="78" name="Text 75"/>
          <p:cNvSpPr/>
          <p:nvPr/>
        </p:nvSpPr>
        <p:spPr>
          <a:xfrm>
            <a:off x="457200" y="3685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online e safra</a:t>
            </a:r>
            <a:endParaRPr lang="en-US" sz="950" dirty="0"/>
          </a:p>
        </p:txBody>
      </p:sp>
      <p:sp>
        <p:nvSpPr>
          <p:cNvPr id="79" name="Text 76"/>
          <p:cNvSpPr/>
          <p:nvPr/>
        </p:nvSpPr>
        <p:spPr>
          <a:xfrm>
            <a:off x="2423160" y="368503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aprova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8006715" y="3712464"/>
            <a:ext cx="680085" cy="173736"/>
          </a:xfrm>
          <a:prstGeom prst="roundRect">
            <a:avLst>
              <a:gd name="adj" fmla="val 21053"/>
            </a:avLst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8006715" y="3703320"/>
            <a:ext cx="68008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e dez</a:t>
            </a:r>
            <a:endParaRPr lang="en-US" sz="850" dirty="0"/>
          </a:p>
        </p:txBody>
      </p:sp>
      <p:sp>
        <p:nvSpPr>
          <p:cNvPr id="82" name="Text 79"/>
          <p:cNvSpPr/>
          <p:nvPr/>
        </p:nvSpPr>
        <p:spPr>
          <a:xfrm>
            <a:off x="457200" y="3959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4297223" y="397764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3382823" y="4169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G0: escopo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4912700" y="397764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912700" y="4169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6555105" y="397764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6097905" y="4169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G1: piloto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7915275" y="397764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7458075" y="4169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G2: escala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4 anos: 2027 a 2030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piloto à comunidade de confinadores TN. Metas propostas, revistas a cada gate.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 ·  PLANO E DECISÕES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74520" y="1051560"/>
            <a:ext cx="1645920" cy="47548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874520" y="1051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74520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 20 fazendas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75304" y="1051560"/>
            <a:ext cx="1645920" cy="47548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575304" y="1051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75304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 1º evento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276088" y="1051560"/>
            <a:ext cx="1645920" cy="47548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276088" y="1051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76088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 fidelidade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976872" y="1051560"/>
            <a:ext cx="1645920" cy="475488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976872" y="1051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976872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dados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1600200"/>
            <a:ext cx="1371600" cy="4572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16002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874520" y="160020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929384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estável e piloto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575304" y="160020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630168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sem sinal e integração NOA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276088" y="160020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330952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benchmark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976872" y="160020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031736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Pegada de carbono e recomendação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1031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1874520" y="21031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929384" y="21031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analisa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575304" y="21031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630168" y="21031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online (1 para 20)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276088" y="21031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5330952" y="21031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análise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976872" y="21031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031736" y="21031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na oferta comercial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57200" y="2606040"/>
            <a:ext cx="1371600" cy="4572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" y="2606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1874520" y="260604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1929384" y="2606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piloto; 1ª safra fechada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3575304" y="260604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3630168" y="2606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lançado; 1º evento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276088" y="260604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5330952" y="2606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anual e benchmark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976872" y="260604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7031736" y="2606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nacional TN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57200" y="3108960"/>
            <a:ext cx="1371600" cy="36576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548640" y="310896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1874520" y="310896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1929384" y="3108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3575304" y="310896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3630168" y="3108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5276088" y="310896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5330952" y="3108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6976872" y="310896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7031736" y="3108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457200" y="3520440"/>
            <a:ext cx="1371600" cy="36576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548640" y="352044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1874520" y="352044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1929384" y="352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(Rodrigo)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3575304" y="352044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3630168" y="352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5276088" y="352044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6" name="Text 63"/>
          <p:cNvSpPr/>
          <p:nvPr/>
        </p:nvSpPr>
        <p:spPr>
          <a:xfrm>
            <a:off x="5330952" y="352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6976872" y="3520440"/>
            <a:ext cx="1645920" cy="365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8" name="Text 65"/>
          <p:cNvSpPr/>
          <p:nvPr/>
        </p:nvSpPr>
        <p:spPr>
          <a:xfrm>
            <a:off x="7031736" y="352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69" name="Shape 66"/>
          <p:cNvSpPr/>
          <p:nvPr/>
        </p:nvSpPr>
        <p:spPr>
          <a:xfrm>
            <a:off x="457200" y="3931920"/>
            <a:ext cx="1371600" cy="4572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548640" y="39319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150" dirty="0"/>
          </a:p>
        </p:txBody>
      </p:sp>
      <p:sp>
        <p:nvSpPr>
          <p:cNvPr id="71" name="Shape 68"/>
          <p:cNvSpPr/>
          <p:nvPr/>
        </p:nvSpPr>
        <p:spPr>
          <a:xfrm>
            <a:off x="1874520" y="39319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2" name="Text 69"/>
          <p:cNvSpPr/>
          <p:nvPr/>
        </p:nvSpPr>
        <p:spPr>
          <a:xfrm>
            <a:off x="1929384" y="39319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com a PecCode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3575304" y="39319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4" name="Text 71"/>
          <p:cNvSpPr/>
          <p:nvPr/>
        </p:nvSpPr>
        <p:spPr>
          <a:xfrm>
            <a:off x="3630168" y="39319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a retomada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5276088" y="39319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5330952" y="39319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Automação retomado</a:t>
            </a:r>
            <a:endParaRPr lang="en-US" sz="1050" dirty="0"/>
          </a:p>
        </p:txBody>
      </p:sp>
      <p:sp>
        <p:nvSpPr>
          <p:cNvPr id="77" name="Shape 74"/>
          <p:cNvSpPr/>
          <p:nvPr/>
        </p:nvSpPr>
        <p:spPr>
          <a:xfrm>
            <a:off x="6976872" y="3931920"/>
            <a:ext cx="1645920" cy="4572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8" name="Text 75"/>
          <p:cNvSpPr/>
          <p:nvPr/>
        </p:nvSpPr>
        <p:spPr>
          <a:xfrm>
            <a:off x="7031736" y="39319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 Automação lado a lado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 ·  PLANO E DECISÕES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próximos passos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aprovar hoje para seguir com a pesquisa e a imersão técnica.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PARA HOJE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545336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264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novos clientes de 200 a 2.000 cabeças, sem automação; maiores seguem na PecCode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20824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190195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alinhado ao cronograma, com gates G0 a G2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414016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496312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3774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Rodrigo atende 20 fazendas; analistas online após o G2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2889504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971800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28529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técnica e orçamento com a Dreamer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57200" y="3364992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447288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" y="33284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Desenvolvimento e evento anual como pilares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57200" y="3840480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922776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14400" y="38039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 um patrocinador na diretoria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4846320" y="1143000"/>
            <a:ext cx="3886200" cy="3246120"/>
          </a:xfrm>
          <a:prstGeom prst="rect">
            <a:avLst/>
          </a:prstGeom>
          <a:solidFill>
            <a:srgbClr val="12295F"/>
          </a:solidFill>
          <a:ln/>
        </p:spPr>
        <p:txBody>
          <a:bodyPr/>
          <a:p/>
        </p:txBody>
      </p:sp>
      <p:sp>
        <p:nvSpPr>
          <p:cNvPr id="26" name="Text 18"/>
          <p:cNvSpPr/>
          <p:nvPr/>
        </p:nvSpPr>
        <p:spPr>
          <a:xfrm>
            <a:off x="50292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SEMANAS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5029200" y="1508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23/10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217920" y="1508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e benchmark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029200" y="19110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23/10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217920" y="19110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 do formulário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5029200" y="23134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26/10 a 06/11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217920" y="2313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com Kátia Sato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029200" y="27157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a 27/11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17920" y="2715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com 30 fazendas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029200" y="3118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 27/11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217920" y="31181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técnica Dreamer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029200" y="3520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 18/12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217920" y="35204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PRDs (G0)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029200" y="39227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 05/02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217920" y="39227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final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29F80C5-4778-80CD-FEEC-246E45CEA5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514160" y="4677984"/>
            <a:ext cx="629840" cy="465516"/>
          </a:xfrm>
        </p:spPr>
        <p:txBody>
          <a:bodyPr/>
          <a:lstStyle/>
          <a:p>
            <a:pPr>
              <a:spcAft>
                <a:spcPts val="450"/>
              </a:spcAft>
            </a:pPr>
            <a:fld id="{82366C92-DFCE-40A6-8CC1-5A4741E3726D}" type="slidenum">
              <a:rPr lang="en-GB" smtClean="0"/>
              <a:pPr>
                <a:spcAft>
                  <a:spcPts val="450"/>
                </a:spcAft>
              </a:pPr>
              <a:t>22</a:t>
            </a:fld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7E2689-CE38-45AB-9EF8-2B100F274755}"/>
              </a:ext>
            </a:extLst>
          </p:cNvPr>
          <p:cNvSpPr txBox="1"/>
          <p:nvPr/>
        </p:nvSpPr>
        <p:spPr>
          <a:xfrm>
            <a:off x="629841" y="465517"/>
            <a:ext cx="5670351" cy="75371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4950" b="1">
                <a:solidFill>
                  <a:schemeClr val="tx2"/>
                </a:solidFill>
              </a:rPr>
              <a:t>Obrigado</a:t>
            </a:r>
          </a:p>
        </p:txBody>
      </p:sp>
      <p:pic>
        <p:nvPicPr>
          <p:cNvPr id="3" name="Picture 2" descr="Confinamento de gado: veja como fazer de maneira eficaz — CompreRural">
            <a:extLst>
              <a:ext uri="{FF2B5EF4-FFF2-40B4-BE49-F238E27FC236}">
                <a16:creationId xmlns:a16="http://schemas.microsoft.com/office/drawing/2014/main" id="{6802C605-735F-7CBF-AF55-9AA80A2795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3" r="-1" b="-1"/>
          <a:stretch/>
        </p:blipFill>
        <p:spPr bwMode="auto">
          <a:xfrm flipH="1">
            <a:off x="629841" y="1362104"/>
            <a:ext cx="5670351" cy="32644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287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usar se a diretoria perguntar: Raio-X do confinamento, problema de negócio, mapa de valor, perfil do piloto, objetivos, produto mínimo, pesquisa com 30 fazendas, critérios de avanço, riscos e stakeholders.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Raio-X do confinamento no Brasil (2025)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cresce rápido e se concentra nos grandes, mas a maioria das fazendas ainda é pequena.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dsm-firmenich, Censo de Confinamento 2025 (fev/2026) e 2024; Embrapa Pecuária Sudeste (2023; 2024); Embrapa, Censos Agropecuários 2006 e 2017.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54864" cy="9144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21792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9,25 mi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1792" y="16459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confinadas em 2025, alta de 16% sobre 2024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212848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57200" y="2212848"/>
            <a:ext cx="54864" cy="91440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21792" y="2286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21792" y="26700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mapeadas em 1.095 municípios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3236976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457200" y="3236976"/>
            <a:ext cx="54864" cy="91440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21792" y="33101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21792" y="36941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cabeças estão nos 100 maiores confinamentos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97480" y="1115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por porte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566160" y="1389888"/>
            <a:ext cx="1371600" cy="7315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356616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maiores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66160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das cabeças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108960" y="2176272"/>
            <a:ext cx="2286000" cy="73152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310896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1.200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10896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cabeças ou mais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697480" y="2962656"/>
            <a:ext cx="3108960" cy="73152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2697480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1.131 propriedades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697480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1.000 cabeças (46%)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697480" y="3822192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C5D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269748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do TN Manager Web: 200 a 2.000 cabeças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03504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confinadas por estado (milhões)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0350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583680" y="1444752"/>
            <a:ext cx="1470074" cy="21945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8099474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03504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583680" y="1810512"/>
            <a:ext cx="935502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7564902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03504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583680" y="2176272"/>
            <a:ext cx="935502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756490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035040" y="2514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583680" y="2542032"/>
            <a:ext cx="601394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7230794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03504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583680" y="2907792"/>
            <a:ext cx="534572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7163972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03504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583680" y="3273552"/>
            <a:ext cx="1703949" cy="219456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8333349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035040" y="3675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estados somam 72%. Centro-Oeste e o bioma Cerrado concentram a maior parte.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negócio da v1.0 continua válido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de 2023 justificam o projeto. A v2.0 revisa a forma de resolver o problema.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Business Case Feedlot App v1.0 (out/2023) e OGP Brazil 2023. Atualizar no diagnóstico.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Profit Beef 2022 (R$ milhões)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417320"/>
          <a:ext cx="49377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577840" y="1188720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5577840" y="1188720"/>
            <a:ext cx="54864" cy="132588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5733288" y="1298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733288" y="17830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Sales Profit Beef vem de confinamento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178040" y="1188720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7178040" y="1188720"/>
            <a:ext cx="54864" cy="132588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7333488" y="1298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mil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333488" y="17830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perdidas em 7 clientes, a maior parte para a Cargill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77840" y="2670048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5577840" y="2670048"/>
            <a:ext cx="54864" cy="132588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5733288" y="27797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 mil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5733288" y="3264408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em risco de perda em 2023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178040" y="2670048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7178040" y="2670048"/>
            <a:ext cx="54864" cy="1325880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7333488" y="27797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9,6%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7333488" y="3264408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market share em premix, mineral e concentrado para confinamento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 err="1"/>
              <a:t>Objetivos</a:t>
            </a:r>
            <a:r>
              <a:rPr lang="en-US" sz="2400" dirty="0"/>
              <a:t> do </a:t>
            </a:r>
            <a:r>
              <a:rPr lang="en-US" sz="2400" dirty="0" err="1"/>
              <a:t>Projeto</a:t>
            </a:r>
            <a:br>
              <a:rPr lang="en-CA" sz="2400" dirty="0"/>
            </a:br>
            <a:r>
              <a:rPr lang="en-US" sz="1350" b="0" i="1" dirty="0"/>
              <a:t>Com o </a:t>
            </a:r>
            <a:r>
              <a:rPr lang="en-US" sz="1350" b="0" i="1" dirty="0" err="1"/>
              <a:t>desenvolvimento</a:t>
            </a:r>
            <a:r>
              <a:rPr lang="en-US" sz="1350" b="0" i="1" dirty="0"/>
              <a:t> do TN Manager, </a:t>
            </a:r>
            <a:r>
              <a:rPr lang="en-US" sz="1350" b="0" i="1" dirty="0" err="1"/>
              <a:t>vamos</a:t>
            </a:r>
            <a:r>
              <a:rPr lang="en-US" sz="1350" b="0" i="1" dirty="0"/>
              <a:t> </a:t>
            </a:r>
            <a:r>
              <a:rPr lang="en-US" sz="1350" b="0" i="1" dirty="0" err="1"/>
              <a:t>entregar</a:t>
            </a:r>
            <a:r>
              <a:rPr lang="en-US" sz="1350" b="0" i="1" dirty="0"/>
              <a:t> 4 </a:t>
            </a:r>
            <a:r>
              <a:rPr lang="en-US" sz="1350" b="0" i="1" dirty="0" err="1"/>
              <a:t>benefícios</a:t>
            </a:r>
            <a:r>
              <a:rPr lang="en-US" sz="1350" b="0" i="1" dirty="0"/>
              <a:t> </a:t>
            </a:r>
            <a:r>
              <a:rPr lang="en-US" sz="1350" b="0" i="1" dirty="0" err="1"/>
              <a:t>principais</a:t>
            </a:r>
            <a:r>
              <a:rPr lang="en-US" sz="1350" b="0" i="1" dirty="0"/>
              <a:t> </a:t>
            </a:r>
            <a:r>
              <a:rPr lang="en-US" sz="1350" b="0" i="1" dirty="0" err="1"/>
              <a:t>ao</a:t>
            </a:r>
            <a:r>
              <a:rPr lang="en-US" sz="1350" b="0" i="1" dirty="0"/>
              <a:t> </a:t>
            </a:r>
            <a:r>
              <a:rPr lang="en-US" sz="1350" b="0" i="1" dirty="0" err="1"/>
              <a:t>negócio</a:t>
            </a:r>
            <a:r>
              <a:rPr lang="en-US" sz="1350" b="0" i="1" dirty="0"/>
              <a:t> da TNB.</a:t>
            </a:r>
            <a:endParaRPr lang="en-CA" sz="2400" b="0" i="1" dirty="0"/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1F76DCD9-4EB6-3B83-BAFD-95D6CE4EB64A}"/>
              </a:ext>
            </a:extLst>
          </p:cNvPr>
          <p:cNvSpPr>
            <a:spLocks noChangeShapeType="1"/>
          </p:cNvSpPr>
          <p:nvPr/>
        </p:nvSpPr>
        <p:spPr bwMode="auto">
          <a:xfrm rot="18900000">
            <a:off x="4435830" y="2138883"/>
            <a:ext cx="0" cy="0"/>
          </a:xfrm>
          <a:prstGeom prst="line">
            <a:avLst/>
          </a:prstGeom>
          <a:noFill/>
          <a:ln w="15875" cap="flat">
            <a:solidFill>
              <a:srgbClr val="231F2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kern="0">
              <a:solidFill>
                <a:prstClr val="black"/>
              </a:solidFill>
            </a:endParaRP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1C154973-36B7-8247-5FCF-61ABE8ADD461}"/>
              </a:ext>
            </a:extLst>
          </p:cNvPr>
          <p:cNvGrpSpPr/>
          <p:nvPr/>
        </p:nvGrpSpPr>
        <p:grpSpPr>
          <a:xfrm>
            <a:off x="2713445" y="1165688"/>
            <a:ext cx="3444771" cy="3448386"/>
            <a:chOff x="3657600" y="1181940"/>
            <a:chExt cx="4876800" cy="4881918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E4B2645B-87BD-3850-112A-9912D20BE8CE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4112160" y="1181940"/>
              <a:ext cx="2466836" cy="3409445"/>
            </a:xfrm>
            <a:custGeom>
              <a:avLst/>
              <a:gdLst>
                <a:gd name="T0" fmla="*/ 233 w 467"/>
                <a:gd name="T1" fmla="*/ 0 h 646"/>
                <a:gd name="T2" fmla="*/ 0 w 467"/>
                <a:gd name="T3" fmla="*/ 232 h 646"/>
                <a:gd name="T4" fmla="*/ 10 w 467"/>
                <a:gd name="T5" fmla="*/ 299 h 646"/>
                <a:gd name="T6" fmla="*/ 73 w 467"/>
                <a:gd name="T7" fmla="*/ 400 h 646"/>
                <a:gd name="T8" fmla="*/ 73 w 467"/>
                <a:gd name="T9" fmla="*/ 401 h 646"/>
                <a:gd name="T10" fmla="*/ 119 w 467"/>
                <a:gd name="T11" fmla="*/ 522 h 646"/>
                <a:gd name="T12" fmla="*/ 79 w 467"/>
                <a:gd name="T13" fmla="*/ 636 h 646"/>
                <a:gd name="T14" fmla="*/ 84 w 467"/>
                <a:gd name="T15" fmla="*/ 646 h 646"/>
                <a:gd name="T16" fmla="*/ 169 w 467"/>
                <a:gd name="T17" fmla="*/ 586 h 646"/>
                <a:gd name="T18" fmla="*/ 178 w 467"/>
                <a:gd name="T19" fmla="*/ 522 h 646"/>
                <a:gd name="T20" fmla="*/ 169 w 467"/>
                <a:gd name="T21" fmla="*/ 456 h 646"/>
                <a:gd name="T22" fmla="*/ 98 w 467"/>
                <a:gd name="T23" fmla="*/ 342 h 646"/>
                <a:gd name="T24" fmla="*/ 59 w 467"/>
                <a:gd name="T25" fmla="*/ 232 h 646"/>
                <a:gd name="T26" fmla="*/ 233 w 467"/>
                <a:gd name="T27" fmla="*/ 59 h 646"/>
                <a:gd name="T28" fmla="*/ 408 w 467"/>
                <a:gd name="T29" fmla="*/ 232 h 646"/>
                <a:gd name="T30" fmla="*/ 361 w 467"/>
                <a:gd name="T31" fmla="*/ 351 h 646"/>
                <a:gd name="T32" fmla="*/ 457 w 467"/>
                <a:gd name="T33" fmla="*/ 299 h 646"/>
                <a:gd name="T34" fmla="*/ 467 w 467"/>
                <a:gd name="T35" fmla="*/ 232 h 646"/>
                <a:gd name="T36" fmla="*/ 233 w 467"/>
                <a:gd name="T37" fmla="*/ 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7" h="646">
                  <a:moveTo>
                    <a:pt x="233" y="0"/>
                  </a:moveTo>
                  <a:cubicBezTo>
                    <a:pt x="105" y="0"/>
                    <a:pt x="0" y="104"/>
                    <a:pt x="0" y="232"/>
                  </a:cubicBezTo>
                  <a:cubicBezTo>
                    <a:pt x="0" y="255"/>
                    <a:pt x="3" y="278"/>
                    <a:pt x="10" y="299"/>
                  </a:cubicBezTo>
                  <a:cubicBezTo>
                    <a:pt x="21" y="338"/>
                    <a:pt x="43" y="373"/>
                    <a:pt x="73" y="400"/>
                  </a:cubicBezTo>
                  <a:cubicBezTo>
                    <a:pt x="73" y="401"/>
                    <a:pt x="73" y="401"/>
                    <a:pt x="73" y="401"/>
                  </a:cubicBezTo>
                  <a:cubicBezTo>
                    <a:pt x="102" y="432"/>
                    <a:pt x="119" y="476"/>
                    <a:pt x="119" y="522"/>
                  </a:cubicBezTo>
                  <a:cubicBezTo>
                    <a:pt x="119" y="565"/>
                    <a:pt x="105" y="605"/>
                    <a:pt x="79" y="636"/>
                  </a:cubicBezTo>
                  <a:cubicBezTo>
                    <a:pt x="84" y="646"/>
                    <a:pt x="84" y="646"/>
                    <a:pt x="84" y="646"/>
                  </a:cubicBezTo>
                  <a:cubicBezTo>
                    <a:pt x="110" y="624"/>
                    <a:pt x="136" y="596"/>
                    <a:pt x="169" y="586"/>
                  </a:cubicBezTo>
                  <a:cubicBezTo>
                    <a:pt x="175" y="566"/>
                    <a:pt x="178" y="544"/>
                    <a:pt x="178" y="522"/>
                  </a:cubicBezTo>
                  <a:cubicBezTo>
                    <a:pt x="178" y="499"/>
                    <a:pt x="175" y="477"/>
                    <a:pt x="169" y="456"/>
                  </a:cubicBezTo>
                  <a:cubicBezTo>
                    <a:pt x="156" y="413"/>
                    <a:pt x="131" y="370"/>
                    <a:pt x="98" y="342"/>
                  </a:cubicBezTo>
                  <a:cubicBezTo>
                    <a:pt x="74" y="312"/>
                    <a:pt x="59" y="274"/>
                    <a:pt x="59" y="232"/>
                  </a:cubicBezTo>
                  <a:cubicBezTo>
                    <a:pt x="59" y="136"/>
                    <a:pt x="137" y="59"/>
                    <a:pt x="233" y="59"/>
                  </a:cubicBezTo>
                  <a:cubicBezTo>
                    <a:pt x="330" y="59"/>
                    <a:pt x="408" y="136"/>
                    <a:pt x="408" y="232"/>
                  </a:cubicBezTo>
                  <a:cubicBezTo>
                    <a:pt x="408" y="278"/>
                    <a:pt x="390" y="320"/>
                    <a:pt x="361" y="351"/>
                  </a:cubicBezTo>
                  <a:cubicBezTo>
                    <a:pt x="361" y="351"/>
                    <a:pt x="422" y="309"/>
                    <a:pt x="457" y="299"/>
                  </a:cubicBezTo>
                  <a:cubicBezTo>
                    <a:pt x="463" y="278"/>
                    <a:pt x="467" y="255"/>
                    <a:pt x="467" y="232"/>
                  </a:cubicBezTo>
                  <a:cubicBezTo>
                    <a:pt x="467" y="104"/>
                    <a:pt x="362" y="0"/>
                    <a:pt x="233" y="0"/>
                  </a:cubicBezTo>
                  <a:close/>
                </a:path>
              </a:pathLst>
            </a:custGeom>
            <a:solidFill>
              <a:srgbClr val="246C97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prstClr val="black"/>
                </a:solidFill>
              </a:endParaRPr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9DED8CB3-40C8-F77B-1ACC-64D9AC6241CE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5603572" y="2692294"/>
              <a:ext cx="2466836" cy="3371564"/>
            </a:xfrm>
            <a:custGeom>
              <a:avLst/>
              <a:gdLst>
                <a:gd name="T0" fmla="*/ 458 w 467"/>
                <a:gd name="T1" fmla="*/ 343 h 639"/>
                <a:gd name="T2" fmla="*/ 448 w 467"/>
                <a:gd name="T3" fmla="*/ 340 h 639"/>
                <a:gd name="T4" fmla="*/ 458 w 467"/>
                <a:gd name="T5" fmla="*/ 343 h 639"/>
                <a:gd name="T6" fmla="*/ 399 w 467"/>
                <a:gd name="T7" fmla="*/ 243 h 639"/>
                <a:gd name="T8" fmla="*/ 399 w 467"/>
                <a:gd name="T9" fmla="*/ 243 h 639"/>
                <a:gd name="T10" fmla="*/ 348 w 467"/>
                <a:gd name="T11" fmla="*/ 119 h 639"/>
                <a:gd name="T12" fmla="*/ 394 w 467"/>
                <a:gd name="T13" fmla="*/ 2 h 639"/>
                <a:gd name="T14" fmla="*/ 391 w 467"/>
                <a:gd name="T15" fmla="*/ 0 h 639"/>
                <a:gd name="T16" fmla="*/ 299 w 467"/>
                <a:gd name="T17" fmla="*/ 52 h 639"/>
                <a:gd name="T18" fmla="*/ 289 w 467"/>
                <a:gd name="T19" fmla="*/ 119 h 639"/>
                <a:gd name="T20" fmla="*/ 298 w 467"/>
                <a:gd name="T21" fmla="*/ 183 h 639"/>
                <a:gd name="T22" fmla="*/ 346 w 467"/>
                <a:gd name="T23" fmla="*/ 271 h 639"/>
                <a:gd name="T24" fmla="*/ 346 w 467"/>
                <a:gd name="T25" fmla="*/ 271 h 639"/>
                <a:gd name="T26" fmla="*/ 346 w 467"/>
                <a:gd name="T27" fmla="*/ 272 h 639"/>
                <a:gd name="T28" fmla="*/ 368 w 467"/>
                <a:gd name="T29" fmla="*/ 294 h 639"/>
                <a:gd name="T30" fmla="*/ 408 w 467"/>
                <a:gd name="T31" fmla="*/ 407 h 639"/>
                <a:gd name="T32" fmla="*/ 233 w 467"/>
                <a:gd name="T33" fmla="*/ 580 h 639"/>
                <a:gd name="T34" fmla="*/ 59 w 467"/>
                <a:gd name="T35" fmla="*/ 407 h 639"/>
                <a:gd name="T36" fmla="*/ 110 w 467"/>
                <a:gd name="T37" fmla="*/ 284 h 639"/>
                <a:gd name="T38" fmla="*/ 109 w 467"/>
                <a:gd name="T39" fmla="*/ 282 h 639"/>
                <a:gd name="T40" fmla="*/ 9 w 467"/>
                <a:gd name="T41" fmla="*/ 342 h 639"/>
                <a:gd name="T42" fmla="*/ 0 w 467"/>
                <a:gd name="T43" fmla="*/ 407 h 639"/>
                <a:gd name="T44" fmla="*/ 233 w 467"/>
                <a:gd name="T45" fmla="*/ 639 h 639"/>
                <a:gd name="T46" fmla="*/ 467 w 467"/>
                <a:gd name="T47" fmla="*/ 407 h 639"/>
                <a:gd name="T48" fmla="*/ 458 w 467"/>
                <a:gd name="T49" fmla="*/ 343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7" h="639">
                  <a:moveTo>
                    <a:pt x="458" y="343"/>
                  </a:moveTo>
                  <a:cubicBezTo>
                    <a:pt x="455" y="342"/>
                    <a:pt x="452" y="341"/>
                    <a:pt x="448" y="340"/>
                  </a:cubicBezTo>
                  <a:cubicBezTo>
                    <a:pt x="452" y="341"/>
                    <a:pt x="455" y="342"/>
                    <a:pt x="458" y="343"/>
                  </a:cubicBezTo>
                  <a:cubicBezTo>
                    <a:pt x="447" y="305"/>
                    <a:pt x="426" y="271"/>
                    <a:pt x="399" y="243"/>
                  </a:cubicBezTo>
                  <a:cubicBezTo>
                    <a:pt x="399" y="243"/>
                    <a:pt x="399" y="243"/>
                    <a:pt x="399" y="243"/>
                  </a:cubicBezTo>
                  <a:cubicBezTo>
                    <a:pt x="367" y="212"/>
                    <a:pt x="348" y="168"/>
                    <a:pt x="348" y="119"/>
                  </a:cubicBezTo>
                  <a:cubicBezTo>
                    <a:pt x="348" y="74"/>
                    <a:pt x="365" y="33"/>
                    <a:pt x="394" y="2"/>
                  </a:cubicBezTo>
                  <a:cubicBezTo>
                    <a:pt x="391" y="0"/>
                    <a:pt x="391" y="0"/>
                    <a:pt x="391" y="0"/>
                  </a:cubicBezTo>
                  <a:cubicBezTo>
                    <a:pt x="365" y="24"/>
                    <a:pt x="333" y="42"/>
                    <a:pt x="299" y="52"/>
                  </a:cubicBezTo>
                  <a:cubicBezTo>
                    <a:pt x="292" y="74"/>
                    <a:pt x="289" y="96"/>
                    <a:pt x="289" y="119"/>
                  </a:cubicBezTo>
                  <a:cubicBezTo>
                    <a:pt x="289" y="141"/>
                    <a:pt x="292" y="163"/>
                    <a:pt x="298" y="183"/>
                  </a:cubicBezTo>
                  <a:cubicBezTo>
                    <a:pt x="307" y="216"/>
                    <a:pt x="324" y="246"/>
                    <a:pt x="346" y="271"/>
                  </a:cubicBezTo>
                  <a:cubicBezTo>
                    <a:pt x="346" y="271"/>
                    <a:pt x="346" y="271"/>
                    <a:pt x="346" y="271"/>
                  </a:cubicBezTo>
                  <a:cubicBezTo>
                    <a:pt x="346" y="271"/>
                    <a:pt x="346" y="271"/>
                    <a:pt x="346" y="272"/>
                  </a:cubicBezTo>
                  <a:cubicBezTo>
                    <a:pt x="353" y="279"/>
                    <a:pt x="360" y="287"/>
                    <a:pt x="368" y="294"/>
                  </a:cubicBezTo>
                  <a:cubicBezTo>
                    <a:pt x="393" y="324"/>
                    <a:pt x="408" y="364"/>
                    <a:pt x="408" y="407"/>
                  </a:cubicBezTo>
                  <a:cubicBezTo>
                    <a:pt x="408" y="503"/>
                    <a:pt x="330" y="580"/>
                    <a:pt x="233" y="580"/>
                  </a:cubicBezTo>
                  <a:cubicBezTo>
                    <a:pt x="137" y="580"/>
                    <a:pt x="59" y="503"/>
                    <a:pt x="59" y="407"/>
                  </a:cubicBezTo>
                  <a:cubicBezTo>
                    <a:pt x="59" y="359"/>
                    <a:pt x="78" y="315"/>
                    <a:pt x="110" y="284"/>
                  </a:cubicBezTo>
                  <a:cubicBezTo>
                    <a:pt x="109" y="282"/>
                    <a:pt x="109" y="282"/>
                    <a:pt x="109" y="282"/>
                  </a:cubicBezTo>
                  <a:cubicBezTo>
                    <a:pt x="82" y="310"/>
                    <a:pt x="47" y="331"/>
                    <a:pt x="9" y="342"/>
                  </a:cubicBezTo>
                  <a:cubicBezTo>
                    <a:pt x="3" y="363"/>
                    <a:pt x="0" y="384"/>
                    <a:pt x="0" y="407"/>
                  </a:cubicBezTo>
                  <a:cubicBezTo>
                    <a:pt x="0" y="535"/>
                    <a:pt x="105" y="639"/>
                    <a:pt x="233" y="639"/>
                  </a:cubicBezTo>
                  <a:cubicBezTo>
                    <a:pt x="362" y="639"/>
                    <a:pt x="467" y="535"/>
                    <a:pt x="467" y="407"/>
                  </a:cubicBezTo>
                  <a:cubicBezTo>
                    <a:pt x="467" y="385"/>
                    <a:pt x="464" y="363"/>
                    <a:pt x="458" y="343"/>
                  </a:cubicBezTo>
                  <a:close/>
                </a:path>
              </a:pathLst>
            </a:custGeom>
            <a:solidFill>
              <a:srgbClr val="26B2CE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prstClr val="black"/>
                </a:solidFill>
              </a:endParaRPr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3608DDDE-1DAB-807F-54E3-9F12BB05DB14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5169521" y="1642599"/>
              <a:ext cx="3364879" cy="2453465"/>
            </a:xfrm>
            <a:custGeom>
              <a:avLst/>
              <a:gdLst>
                <a:gd name="T0" fmla="*/ 403 w 637"/>
                <a:gd name="T1" fmla="*/ 0 h 465"/>
                <a:gd name="T2" fmla="*/ 338 w 637"/>
                <a:gd name="T3" fmla="*/ 9 h 465"/>
                <a:gd name="T4" fmla="*/ 242 w 637"/>
                <a:gd name="T5" fmla="*/ 61 h 465"/>
                <a:gd name="T6" fmla="*/ 114 w 637"/>
                <a:gd name="T7" fmla="*/ 116 h 465"/>
                <a:gd name="T8" fmla="*/ 0 w 637"/>
                <a:gd name="T9" fmla="*/ 74 h 465"/>
                <a:gd name="T10" fmla="*/ 50 w 637"/>
                <a:gd name="T11" fmla="*/ 166 h 465"/>
                <a:gd name="T12" fmla="*/ 114 w 637"/>
                <a:gd name="T13" fmla="*/ 175 h 465"/>
                <a:gd name="T14" fmla="*/ 180 w 637"/>
                <a:gd name="T15" fmla="*/ 165 h 465"/>
                <a:gd name="T16" fmla="*/ 274 w 637"/>
                <a:gd name="T17" fmla="*/ 116 h 465"/>
                <a:gd name="T18" fmla="*/ 285 w 637"/>
                <a:gd name="T19" fmla="*/ 105 h 465"/>
                <a:gd name="T20" fmla="*/ 403 w 637"/>
                <a:gd name="T21" fmla="*/ 59 h 465"/>
                <a:gd name="T22" fmla="*/ 578 w 637"/>
                <a:gd name="T23" fmla="*/ 232 h 465"/>
                <a:gd name="T24" fmla="*/ 403 w 637"/>
                <a:gd name="T25" fmla="*/ 406 h 465"/>
                <a:gd name="T26" fmla="*/ 281 w 637"/>
                <a:gd name="T27" fmla="*/ 356 h 465"/>
                <a:gd name="T28" fmla="*/ 280 w 637"/>
                <a:gd name="T29" fmla="*/ 356 h 465"/>
                <a:gd name="T30" fmla="*/ 280 w 637"/>
                <a:gd name="T31" fmla="*/ 356 h 465"/>
                <a:gd name="T32" fmla="*/ 339 w 637"/>
                <a:gd name="T33" fmla="*/ 456 h 465"/>
                <a:gd name="T34" fmla="*/ 403 w 637"/>
                <a:gd name="T35" fmla="*/ 465 h 465"/>
                <a:gd name="T36" fmla="*/ 637 w 637"/>
                <a:gd name="T37" fmla="*/ 232 h 465"/>
                <a:gd name="T38" fmla="*/ 403 w 637"/>
                <a:gd name="T39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37" h="465">
                  <a:moveTo>
                    <a:pt x="403" y="0"/>
                  </a:moveTo>
                  <a:cubicBezTo>
                    <a:pt x="381" y="0"/>
                    <a:pt x="359" y="3"/>
                    <a:pt x="338" y="9"/>
                  </a:cubicBezTo>
                  <a:cubicBezTo>
                    <a:pt x="303" y="19"/>
                    <a:pt x="242" y="61"/>
                    <a:pt x="242" y="61"/>
                  </a:cubicBezTo>
                  <a:cubicBezTo>
                    <a:pt x="210" y="95"/>
                    <a:pt x="165" y="116"/>
                    <a:pt x="114" y="116"/>
                  </a:cubicBezTo>
                  <a:cubicBezTo>
                    <a:pt x="71" y="116"/>
                    <a:pt x="31" y="100"/>
                    <a:pt x="0" y="74"/>
                  </a:cubicBezTo>
                  <a:cubicBezTo>
                    <a:pt x="23" y="100"/>
                    <a:pt x="40" y="133"/>
                    <a:pt x="50" y="166"/>
                  </a:cubicBezTo>
                  <a:cubicBezTo>
                    <a:pt x="70" y="171"/>
                    <a:pt x="92" y="175"/>
                    <a:pt x="114" y="175"/>
                  </a:cubicBezTo>
                  <a:cubicBezTo>
                    <a:pt x="137" y="175"/>
                    <a:pt x="159" y="171"/>
                    <a:pt x="180" y="165"/>
                  </a:cubicBezTo>
                  <a:cubicBezTo>
                    <a:pt x="214" y="155"/>
                    <a:pt x="248" y="139"/>
                    <a:pt x="274" y="116"/>
                  </a:cubicBezTo>
                  <a:cubicBezTo>
                    <a:pt x="278" y="112"/>
                    <a:pt x="282" y="108"/>
                    <a:pt x="285" y="105"/>
                  </a:cubicBezTo>
                  <a:cubicBezTo>
                    <a:pt x="316" y="76"/>
                    <a:pt x="358" y="59"/>
                    <a:pt x="403" y="59"/>
                  </a:cubicBezTo>
                  <a:cubicBezTo>
                    <a:pt x="500" y="59"/>
                    <a:pt x="578" y="136"/>
                    <a:pt x="578" y="232"/>
                  </a:cubicBezTo>
                  <a:cubicBezTo>
                    <a:pt x="578" y="328"/>
                    <a:pt x="500" y="406"/>
                    <a:pt x="403" y="406"/>
                  </a:cubicBezTo>
                  <a:cubicBezTo>
                    <a:pt x="355" y="406"/>
                    <a:pt x="312" y="387"/>
                    <a:pt x="281" y="356"/>
                  </a:cubicBezTo>
                  <a:cubicBezTo>
                    <a:pt x="280" y="356"/>
                    <a:pt x="280" y="356"/>
                    <a:pt x="280" y="356"/>
                  </a:cubicBezTo>
                  <a:cubicBezTo>
                    <a:pt x="280" y="356"/>
                    <a:pt x="280" y="356"/>
                    <a:pt x="280" y="356"/>
                  </a:cubicBezTo>
                  <a:cubicBezTo>
                    <a:pt x="307" y="384"/>
                    <a:pt x="328" y="418"/>
                    <a:pt x="339" y="456"/>
                  </a:cubicBezTo>
                  <a:cubicBezTo>
                    <a:pt x="359" y="462"/>
                    <a:pt x="381" y="465"/>
                    <a:pt x="403" y="465"/>
                  </a:cubicBezTo>
                  <a:cubicBezTo>
                    <a:pt x="532" y="465"/>
                    <a:pt x="637" y="360"/>
                    <a:pt x="637" y="232"/>
                  </a:cubicBezTo>
                  <a:cubicBezTo>
                    <a:pt x="637" y="104"/>
                    <a:pt x="532" y="0"/>
                    <a:pt x="403" y="0"/>
                  </a:cubicBezTo>
                  <a:close/>
                </a:path>
              </a:pathLst>
            </a:custGeom>
            <a:solidFill>
              <a:srgbClr val="71CBD0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prstClr val="black"/>
                </a:solidFill>
              </a:endParaRPr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53A938DD-516C-3B07-0158-3BE54D666378}"/>
                </a:ext>
              </a:extLst>
            </p:cNvPr>
            <p:cNvSpPr>
              <a:spLocks noEditPoints="1"/>
            </p:cNvSpPr>
            <p:nvPr/>
          </p:nvSpPr>
          <p:spPr bwMode="auto">
            <a:xfrm rot="18900000">
              <a:off x="3657600" y="3161588"/>
              <a:ext cx="3338137" cy="2453465"/>
            </a:xfrm>
            <a:custGeom>
              <a:avLst/>
              <a:gdLst>
                <a:gd name="T0" fmla="*/ 586 w 632"/>
                <a:gd name="T1" fmla="*/ 304 h 465"/>
                <a:gd name="T2" fmla="*/ 584 w 632"/>
                <a:gd name="T3" fmla="*/ 297 h 465"/>
                <a:gd name="T4" fmla="*/ 519 w 632"/>
                <a:gd name="T5" fmla="*/ 288 h 465"/>
                <a:gd name="T6" fmla="*/ 453 w 632"/>
                <a:gd name="T7" fmla="*/ 298 h 465"/>
                <a:gd name="T8" fmla="*/ 340 w 632"/>
                <a:gd name="T9" fmla="*/ 373 h 465"/>
                <a:gd name="T10" fmla="*/ 234 w 632"/>
                <a:gd name="T11" fmla="*/ 406 h 465"/>
                <a:gd name="T12" fmla="*/ 59 w 632"/>
                <a:gd name="T13" fmla="*/ 233 h 465"/>
                <a:gd name="T14" fmla="*/ 234 w 632"/>
                <a:gd name="T15" fmla="*/ 59 h 465"/>
                <a:gd name="T16" fmla="*/ 357 w 632"/>
                <a:gd name="T17" fmla="*/ 110 h 465"/>
                <a:gd name="T18" fmla="*/ 357 w 632"/>
                <a:gd name="T19" fmla="*/ 110 h 465"/>
                <a:gd name="T20" fmla="*/ 357 w 632"/>
                <a:gd name="T21" fmla="*/ 110 h 465"/>
                <a:gd name="T22" fmla="*/ 296 w 632"/>
                <a:gd name="T23" fmla="*/ 10 h 465"/>
                <a:gd name="T24" fmla="*/ 295 w 632"/>
                <a:gd name="T25" fmla="*/ 9 h 465"/>
                <a:gd name="T26" fmla="*/ 234 w 632"/>
                <a:gd name="T27" fmla="*/ 0 h 465"/>
                <a:gd name="T28" fmla="*/ 0 w 632"/>
                <a:gd name="T29" fmla="*/ 233 h 465"/>
                <a:gd name="T30" fmla="*/ 234 w 632"/>
                <a:gd name="T31" fmla="*/ 465 h 465"/>
                <a:gd name="T32" fmla="*/ 299 w 632"/>
                <a:gd name="T33" fmla="*/ 456 h 465"/>
                <a:gd name="T34" fmla="*/ 300 w 632"/>
                <a:gd name="T35" fmla="*/ 455 h 465"/>
                <a:gd name="T36" fmla="*/ 396 w 632"/>
                <a:gd name="T37" fmla="*/ 396 h 465"/>
                <a:gd name="T38" fmla="*/ 395 w 632"/>
                <a:gd name="T39" fmla="*/ 396 h 465"/>
                <a:gd name="T40" fmla="*/ 396 w 632"/>
                <a:gd name="T41" fmla="*/ 398 h 465"/>
                <a:gd name="T42" fmla="*/ 519 w 632"/>
                <a:gd name="T43" fmla="*/ 347 h 465"/>
                <a:gd name="T44" fmla="*/ 632 w 632"/>
                <a:gd name="T45" fmla="*/ 385 h 465"/>
                <a:gd name="T46" fmla="*/ 632 w 632"/>
                <a:gd name="T47" fmla="*/ 385 h 465"/>
                <a:gd name="T48" fmla="*/ 586 w 632"/>
                <a:gd name="T49" fmla="*/ 304 h 465"/>
                <a:gd name="T50" fmla="*/ 406 w 632"/>
                <a:gd name="T51" fmla="*/ 385 h 465"/>
                <a:gd name="T52" fmla="*/ 399 w 632"/>
                <a:gd name="T53" fmla="*/ 392 h 465"/>
                <a:gd name="T54" fmla="*/ 406 w 632"/>
                <a:gd name="T55" fmla="*/ 385 h 465"/>
                <a:gd name="T56" fmla="*/ 449 w 632"/>
                <a:gd name="T57" fmla="*/ 312 h 465"/>
                <a:gd name="T58" fmla="*/ 447 w 632"/>
                <a:gd name="T59" fmla="*/ 316 h 465"/>
                <a:gd name="T60" fmla="*/ 449 w 632"/>
                <a:gd name="T61" fmla="*/ 312 h 465"/>
                <a:gd name="T62" fmla="*/ 444 w 632"/>
                <a:gd name="T63" fmla="*/ 325 h 465"/>
                <a:gd name="T64" fmla="*/ 441 w 632"/>
                <a:gd name="T65" fmla="*/ 330 h 465"/>
                <a:gd name="T66" fmla="*/ 444 w 632"/>
                <a:gd name="T67" fmla="*/ 325 h 465"/>
                <a:gd name="T68" fmla="*/ 437 w 632"/>
                <a:gd name="T69" fmla="*/ 338 h 465"/>
                <a:gd name="T70" fmla="*/ 435 w 632"/>
                <a:gd name="T71" fmla="*/ 343 h 465"/>
                <a:gd name="T72" fmla="*/ 437 w 632"/>
                <a:gd name="T73" fmla="*/ 338 h 465"/>
                <a:gd name="T74" fmla="*/ 431 w 632"/>
                <a:gd name="T75" fmla="*/ 351 h 465"/>
                <a:gd name="T76" fmla="*/ 427 w 632"/>
                <a:gd name="T77" fmla="*/ 356 h 465"/>
                <a:gd name="T78" fmla="*/ 431 w 632"/>
                <a:gd name="T79" fmla="*/ 351 h 465"/>
                <a:gd name="T80" fmla="*/ 423 w 632"/>
                <a:gd name="T81" fmla="*/ 363 h 465"/>
                <a:gd name="T82" fmla="*/ 419 w 632"/>
                <a:gd name="T83" fmla="*/ 369 h 465"/>
                <a:gd name="T84" fmla="*/ 423 w 632"/>
                <a:gd name="T85" fmla="*/ 363 h 465"/>
                <a:gd name="T86" fmla="*/ 415 w 632"/>
                <a:gd name="T87" fmla="*/ 374 h 465"/>
                <a:gd name="T88" fmla="*/ 409 w 632"/>
                <a:gd name="T89" fmla="*/ 381 h 465"/>
                <a:gd name="T90" fmla="*/ 415 w 632"/>
                <a:gd name="T91" fmla="*/ 374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32" h="465">
                  <a:moveTo>
                    <a:pt x="586" y="304"/>
                  </a:moveTo>
                  <a:cubicBezTo>
                    <a:pt x="585" y="302"/>
                    <a:pt x="584" y="299"/>
                    <a:pt x="584" y="297"/>
                  </a:cubicBezTo>
                  <a:cubicBezTo>
                    <a:pt x="563" y="291"/>
                    <a:pt x="542" y="288"/>
                    <a:pt x="519" y="288"/>
                  </a:cubicBezTo>
                  <a:cubicBezTo>
                    <a:pt x="496" y="288"/>
                    <a:pt x="474" y="292"/>
                    <a:pt x="453" y="298"/>
                  </a:cubicBezTo>
                  <a:cubicBezTo>
                    <a:pt x="408" y="311"/>
                    <a:pt x="369" y="337"/>
                    <a:pt x="340" y="373"/>
                  </a:cubicBezTo>
                  <a:cubicBezTo>
                    <a:pt x="310" y="394"/>
                    <a:pt x="273" y="406"/>
                    <a:pt x="234" y="406"/>
                  </a:cubicBezTo>
                  <a:cubicBezTo>
                    <a:pt x="137" y="406"/>
                    <a:pt x="59" y="329"/>
                    <a:pt x="59" y="233"/>
                  </a:cubicBezTo>
                  <a:cubicBezTo>
                    <a:pt x="59" y="137"/>
                    <a:pt x="137" y="59"/>
                    <a:pt x="234" y="59"/>
                  </a:cubicBezTo>
                  <a:cubicBezTo>
                    <a:pt x="282" y="59"/>
                    <a:pt x="325" y="79"/>
                    <a:pt x="357" y="110"/>
                  </a:cubicBezTo>
                  <a:cubicBezTo>
                    <a:pt x="357" y="110"/>
                    <a:pt x="357" y="110"/>
                    <a:pt x="357" y="110"/>
                  </a:cubicBezTo>
                  <a:cubicBezTo>
                    <a:pt x="357" y="110"/>
                    <a:pt x="357" y="110"/>
                    <a:pt x="357" y="110"/>
                  </a:cubicBezTo>
                  <a:cubicBezTo>
                    <a:pt x="329" y="83"/>
                    <a:pt x="307" y="48"/>
                    <a:pt x="296" y="10"/>
                  </a:cubicBezTo>
                  <a:cubicBezTo>
                    <a:pt x="295" y="9"/>
                    <a:pt x="295" y="9"/>
                    <a:pt x="295" y="9"/>
                  </a:cubicBezTo>
                  <a:cubicBezTo>
                    <a:pt x="276" y="3"/>
                    <a:pt x="255" y="0"/>
                    <a:pt x="234" y="0"/>
                  </a:cubicBezTo>
                  <a:cubicBezTo>
                    <a:pt x="105" y="0"/>
                    <a:pt x="0" y="105"/>
                    <a:pt x="0" y="233"/>
                  </a:cubicBezTo>
                  <a:cubicBezTo>
                    <a:pt x="0" y="361"/>
                    <a:pt x="105" y="465"/>
                    <a:pt x="234" y="465"/>
                  </a:cubicBezTo>
                  <a:cubicBezTo>
                    <a:pt x="256" y="465"/>
                    <a:pt x="279" y="462"/>
                    <a:pt x="299" y="456"/>
                  </a:cubicBezTo>
                  <a:cubicBezTo>
                    <a:pt x="300" y="455"/>
                    <a:pt x="300" y="455"/>
                    <a:pt x="300" y="455"/>
                  </a:cubicBezTo>
                  <a:cubicBezTo>
                    <a:pt x="337" y="443"/>
                    <a:pt x="370" y="423"/>
                    <a:pt x="396" y="396"/>
                  </a:cubicBezTo>
                  <a:cubicBezTo>
                    <a:pt x="396" y="396"/>
                    <a:pt x="396" y="396"/>
                    <a:pt x="395" y="396"/>
                  </a:cubicBezTo>
                  <a:cubicBezTo>
                    <a:pt x="396" y="398"/>
                    <a:pt x="396" y="398"/>
                    <a:pt x="396" y="398"/>
                  </a:cubicBezTo>
                  <a:cubicBezTo>
                    <a:pt x="428" y="367"/>
                    <a:pt x="471" y="347"/>
                    <a:pt x="519" y="347"/>
                  </a:cubicBezTo>
                  <a:cubicBezTo>
                    <a:pt x="561" y="347"/>
                    <a:pt x="601" y="360"/>
                    <a:pt x="632" y="385"/>
                  </a:cubicBezTo>
                  <a:cubicBezTo>
                    <a:pt x="632" y="385"/>
                    <a:pt x="632" y="385"/>
                    <a:pt x="632" y="385"/>
                  </a:cubicBezTo>
                  <a:cubicBezTo>
                    <a:pt x="611" y="361"/>
                    <a:pt x="596" y="334"/>
                    <a:pt x="586" y="304"/>
                  </a:cubicBezTo>
                  <a:close/>
                  <a:moveTo>
                    <a:pt x="406" y="385"/>
                  </a:moveTo>
                  <a:cubicBezTo>
                    <a:pt x="403" y="388"/>
                    <a:pt x="401" y="390"/>
                    <a:pt x="399" y="392"/>
                  </a:cubicBezTo>
                  <a:cubicBezTo>
                    <a:pt x="401" y="390"/>
                    <a:pt x="403" y="388"/>
                    <a:pt x="406" y="385"/>
                  </a:cubicBezTo>
                  <a:close/>
                  <a:moveTo>
                    <a:pt x="449" y="312"/>
                  </a:moveTo>
                  <a:cubicBezTo>
                    <a:pt x="448" y="313"/>
                    <a:pt x="448" y="314"/>
                    <a:pt x="447" y="316"/>
                  </a:cubicBezTo>
                  <a:cubicBezTo>
                    <a:pt x="448" y="314"/>
                    <a:pt x="448" y="313"/>
                    <a:pt x="449" y="312"/>
                  </a:cubicBezTo>
                  <a:close/>
                  <a:moveTo>
                    <a:pt x="444" y="325"/>
                  </a:moveTo>
                  <a:cubicBezTo>
                    <a:pt x="443" y="327"/>
                    <a:pt x="442" y="328"/>
                    <a:pt x="441" y="330"/>
                  </a:cubicBezTo>
                  <a:cubicBezTo>
                    <a:pt x="442" y="328"/>
                    <a:pt x="443" y="327"/>
                    <a:pt x="444" y="325"/>
                  </a:cubicBezTo>
                  <a:close/>
                  <a:moveTo>
                    <a:pt x="437" y="338"/>
                  </a:moveTo>
                  <a:cubicBezTo>
                    <a:pt x="437" y="340"/>
                    <a:pt x="436" y="342"/>
                    <a:pt x="435" y="343"/>
                  </a:cubicBezTo>
                  <a:cubicBezTo>
                    <a:pt x="436" y="342"/>
                    <a:pt x="437" y="340"/>
                    <a:pt x="437" y="338"/>
                  </a:cubicBezTo>
                  <a:close/>
                  <a:moveTo>
                    <a:pt x="431" y="351"/>
                  </a:moveTo>
                  <a:cubicBezTo>
                    <a:pt x="429" y="353"/>
                    <a:pt x="428" y="354"/>
                    <a:pt x="427" y="356"/>
                  </a:cubicBezTo>
                  <a:cubicBezTo>
                    <a:pt x="428" y="354"/>
                    <a:pt x="429" y="353"/>
                    <a:pt x="431" y="351"/>
                  </a:cubicBezTo>
                  <a:close/>
                  <a:moveTo>
                    <a:pt x="423" y="363"/>
                  </a:moveTo>
                  <a:cubicBezTo>
                    <a:pt x="422" y="365"/>
                    <a:pt x="420" y="367"/>
                    <a:pt x="419" y="369"/>
                  </a:cubicBezTo>
                  <a:cubicBezTo>
                    <a:pt x="420" y="367"/>
                    <a:pt x="422" y="365"/>
                    <a:pt x="423" y="363"/>
                  </a:cubicBezTo>
                  <a:close/>
                  <a:moveTo>
                    <a:pt x="415" y="374"/>
                  </a:moveTo>
                  <a:cubicBezTo>
                    <a:pt x="413" y="376"/>
                    <a:pt x="411" y="379"/>
                    <a:pt x="409" y="381"/>
                  </a:cubicBezTo>
                  <a:cubicBezTo>
                    <a:pt x="411" y="379"/>
                    <a:pt x="413" y="376"/>
                    <a:pt x="415" y="374"/>
                  </a:cubicBezTo>
                  <a:close/>
                </a:path>
              </a:pathLst>
            </a:custGeom>
            <a:solidFill>
              <a:srgbClr val="0195BC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EF314C"/>
                </a:solidFill>
              </a:endParaRPr>
            </a:p>
          </p:txBody>
        </p:sp>
      </p:grpSp>
      <p:sp>
        <p:nvSpPr>
          <p:cNvPr id="13" name="TextBox 20">
            <a:extLst>
              <a:ext uri="{FF2B5EF4-FFF2-40B4-BE49-F238E27FC236}">
                <a16:creationId xmlns:a16="http://schemas.microsoft.com/office/drawing/2014/main" id="{0DE32EE3-1DE7-18F8-8B09-B288B95BF772}"/>
              </a:ext>
            </a:extLst>
          </p:cNvPr>
          <p:cNvSpPr txBox="1"/>
          <p:nvPr/>
        </p:nvSpPr>
        <p:spPr>
          <a:xfrm>
            <a:off x="6374424" y="1889497"/>
            <a:ext cx="2458845" cy="8716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62626"/>
                </a:solidFill>
              </a:rPr>
              <a:t>Implantar o aplicativo em quantos clientes quisermos (o limite será a equipe técnica, e não o custo de licenças)</a:t>
            </a: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C3B57313-899D-7C53-C62A-2F48715CAE51}"/>
              </a:ext>
            </a:extLst>
          </p:cNvPr>
          <p:cNvSpPr txBox="1"/>
          <p:nvPr/>
        </p:nvSpPr>
        <p:spPr>
          <a:xfrm>
            <a:off x="6388712" y="1347861"/>
            <a:ext cx="259228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71CBD0"/>
                </a:solidFill>
                <a:latin typeface="+mj-lt"/>
              </a:rPr>
              <a:t>Desenvolver uma solução de baixo custo e alta escalabilidade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006762DB-7025-9349-7673-D65734645A85}"/>
              </a:ext>
            </a:extLst>
          </p:cNvPr>
          <p:cNvSpPr txBox="1"/>
          <p:nvPr/>
        </p:nvSpPr>
        <p:spPr>
          <a:xfrm>
            <a:off x="6408204" y="3867545"/>
            <a:ext cx="1978120" cy="650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62626"/>
                </a:solidFill>
              </a:rPr>
              <a:t>Nossos clientes reclamam do suporte fraco prestado </a:t>
            </a:r>
            <a:r>
              <a:rPr lang="en-US" sz="1200" dirty="0" err="1">
                <a:solidFill>
                  <a:srgbClr val="262626"/>
                </a:solidFill>
              </a:rPr>
              <a:t>pelo</a:t>
            </a:r>
            <a:r>
              <a:rPr lang="en-US" sz="1200" dirty="0">
                <a:solidFill>
                  <a:srgbClr val="262626"/>
                </a:solidFill>
              </a:rPr>
              <a:t> TGC e </a:t>
            </a:r>
            <a:r>
              <a:rPr lang="en-US" sz="1200" dirty="0" err="1">
                <a:solidFill>
                  <a:srgbClr val="262626"/>
                </a:solidFill>
              </a:rPr>
              <a:t>concorrentes</a:t>
            </a:r>
            <a:r>
              <a:rPr lang="en-US" sz="1200" dirty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0D20618E-2F69-5DBF-DC5A-BD6C1AF8CCD2}"/>
              </a:ext>
            </a:extLst>
          </p:cNvPr>
          <p:cNvSpPr txBox="1"/>
          <p:nvPr/>
        </p:nvSpPr>
        <p:spPr>
          <a:xfrm>
            <a:off x="6408205" y="3229445"/>
            <a:ext cx="259228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500" b="1" dirty="0">
                <a:solidFill>
                  <a:srgbClr val="26B2CE"/>
                </a:solidFill>
                <a:latin typeface="+mj-lt"/>
              </a:rPr>
              <a:t>Eliminar dependência de fornecedor mediano</a:t>
            </a:r>
          </a:p>
        </p:txBody>
      </p:sp>
      <p:sp>
        <p:nvSpPr>
          <p:cNvPr id="17" name="TextBox 27">
            <a:extLst>
              <a:ext uri="{FF2B5EF4-FFF2-40B4-BE49-F238E27FC236}">
                <a16:creationId xmlns:a16="http://schemas.microsoft.com/office/drawing/2014/main" id="{65AB0A70-C072-8358-3AC8-1C95A7B8F884}"/>
              </a:ext>
            </a:extLst>
          </p:cNvPr>
          <p:cNvSpPr txBox="1"/>
          <p:nvPr/>
        </p:nvSpPr>
        <p:spPr>
          <a:xfrm>
            <a:off x="569978" y="2072733"/>
            <a:ext cx="1978120" cy="4284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200">
                <a:solidFill>
                  <a:srgbClr val="262626"/>
                </a:solidFill>
              </a:rPr>
              <a:t>Aumentar a fidelização e evitar a perda de clientes atuais.</a:t>
            </a:r>
          </a:p>
        </p:txBody>
      </p:sp>
      <p:sp>
        <p:nvSpPr>
          <p:cNvPr id="18" name="TextBox 28">
            <a:extLst>
              <a:ext uri="{FF2B5EF4-FFF2-40B4-BE49-F238E27FC236}">
                <a16:creationId xmlns:a16="http://schemas.microsoft.com/office/drawing/2014/main" id="{7EA496D5-2865-7AB8-CF40-A0BCEAD74FB0}"/>
              </a:ext>
            </a:extLst>
          </p:cNvPr>
          <p:cNvSpPr txBox="1"/>
          <p:nvPr/>
        </p:nvSpPr>
        <p:spPr>
          <a:xfrm>
            <a:off x="305526" y="1599642"/>
            <a:ext cx="223682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246C97"/>
                </a:solidFill>
                <a:latin typeface="+mj-lt"/>
              </a:rPr>
              <a:t>Defender nossa base atual de clientes</a:t>
            </a:r>
          </a:p>
        </p:txBody>
      </p:sp>
      <p:sp>
        <p:nvSpPr>
          <p:cNvPr id="19" name="TextBox 29">
            <a:extLst>
              <a:ext uri="{FF2B5EF4-FFF2-40B4-BE49-F238E27FC236}">
                <a16:creationId xmlns:a16="http://schemas.microsoft.com/office/drawing/2014/main" id="{87DFAB21-AA01-672C-1D5A-ABD8C49B1B00}"/>
              </a:ext>
            </a:extLst>
          </p:cNvPr>
          <p:cNvSpPr txBox="1"/>
          <p:nvPr/>
        </p:nvSpPr>
        <p:spPr>
          <a:xfrm>
            <a:off x="564235" y="3541781"/>
            <a:ext cx="1978120" cy="13148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262626"/>
                </a:solidFill>
              </a:rPr>
              <a:t>Já temos produtos premium e serviços técnicos. Com o Feedlot App, conseguiremos entrar nos clientes de confinamento mais importantes do mercado.</a:t>
            </a:r>
          </a:p>
        </p:txBody>
      </p:sp>
      <p:sp>
        <p:nvSpPr>
          <p:cNvPr id="20" name="TextBox 30">
            <a:extLst>
              <a:ext uri="{FF2B5EF4-FFF2-40B4-BE49-F238E27FC236}">
                <a16:creationId xmlns:a16="http://schemas.microsoft.com/office/drawing/2014/main" id="{2C52DD92-2745-AB80-0615-62A45B3FCD48}"/>
              </a:ext>
            </a:extLst>
          </p:cNvPr>
          <p:cNvSpPr txBox="1"/>
          <p:nvPr/>
        </p:nvSpPr>
        <p:spPr>
          <a:xfrm>
            <a:off x="616122" y="3229445"/>
            <a:ext cx="1926233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0195BC"/>
                </a:solidFill>
                <a:latin typeface="+mj-lt"/>
              </a:rPr>
              <a:t>Prospectar novos clientes</a:t>
            </a:r>
          </a:p>
        </p:txBody>
      </p:sp>
      <p:cxnSp>
        <p:nvCxnSpPr>
          <p:cNvPr id="22" name="Straight Connector 34">
            <a:extLst>
              <a:ext uri="{FF2B5EF4-FFF2-40B4-BE49-F238E27FC236}">
                <a16:creationId xmlns:a16="http://schemas.microsoft.com/office/drawing/2014/main" id="{94BF73D8-0424-58C7-23B6-3CC7C8F0CA34}"/>
              </a:ext>
            </a:extLst>
          </p:cNvPr>
          <p:cNvCxnSpPr>
            <a:cxnSpLocks/>
          </p:cNvCxnSpPr>
          <p:nvPr/>
        </p:nvCxnSpPr>
        <p:spPr>
          <a:xfrm>
            <a:off x="6408205" y="2875594"/>
            <a:ext cx="187810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7">
            <a:extLst>
              <a:ext uri="{FF2B5EF4-FFF2-40B4-BE49-F238E27FC236}">
                <a16:creationId xmlns:a16="http://schemas.microsoft.com/office/drawing/2014/main" id="{D20B563F-0D01-910A-1D9F-97DCCC1161B8}"/>
              </a:ext>
            </a:extLst>
          </p:cNvPr>
          <p:cNvCxnSpPr>
            <a:cxnSpLocks/>
          </p:cNvCxnSpPr>
          <p:nvPr/>
        </p:nvCxnSpPr>
        <p:spPr>
          <a:xfrm>
            <a:off x="664248" y="2875594"/>
            <a:ext cx="187810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hield variant with white and black borders - Free shapes icons">
            <a:extLst>
              <a:ext uri="{FF2B5EF4-FFF2-40B4-BE49-F238E27FC236}">
                <a16:creationId xmlns:a16="http://schemas.microsoft.com/office/drawing/2014/main" id="{C1EA4ECB-8456-58D9-9368-181B11F08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874" y="1882845"/>
            <a:ext cx="499439" cy="49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ttack - Free gaming icons">
            <a:extLst>
              <a:ext uri="{FF2B5EF4-FFF2-40B4-BE49-F238E27FC236}">
                <a16:creationId xmlns:a16="http://schemas.microsoft.com/office/drawing/2014/main" id="{49F54663-4F8E-A609-6967-4E8B8F2F3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499" y="3402032"/>
            <a:ext cx="509938" cy="50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alability Icon - Free PNG &amp; SVG 1988846 - Noun Project">
            <a:extLst>
              <a:ext uri="{FF2B5EF4-FFF2-40B4-BE49-F238E27FC236}">
                <a16:creationId xmlns:a16="http://schemas.microsoft.com/office/drawing/2014/main" id="{249122A5-1823-7A1B-0802-DA6E241C6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520" y="1882845"/>
            <a:ext cx="499439" cy="49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pendencies - Free networking icons">
            <a:extLst>
              <a:ext uri="{FF2B5EF4-FFF2-40B4-BE49-F238E27FC236}">
                <a16:creationId xmlns:a16="http://schemas.microsoft.com/office/drawing/2014/main" id="{8DAD9F1F-F22A-86FD-B87B-5E653447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099" y="3340064"/>
            <a:ext cx="629546" cy="629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0060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versões, dois papéis na estratégia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TN Manager Web abre a porta e prepara o cliente para migrar à versão completa.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8840" y="1143000"/>
            <a:ext cx="3200400" cy="365760"/>
          </a:xfrm>
          <a:prstGeom prst="rect">
            <a:avLst/>
          </a:prstGeom>
          <a:solidFill>
            <a:srgbClr val="2666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(escopo da v1.0)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1143000"/>
            <a:ext cx="3200400" cy="365760"/>
          </a:xfrm>
          <a:prstGeom prst="rect">
            <a:avLst/>
          </a:prstGeom>
          <a:solidFill>
            <a:srgbClr val="C810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 (proposta v2.0)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16002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40280" y="1600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confinamentos com balança, vagão e equipe estruturada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600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com registro manual (hipótese)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20574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dados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40280" y="20574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hardware e coleta automática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0574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48640" y="25146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240280" y="25146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e terminal offline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77840" y="25146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Navegador, no computador ou no celular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29718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240280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completa, integrações e módulos adicionais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77840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essenciais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4290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48640" y="34290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 suporte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240280" y="34290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implantação com equipe dedicada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577840" y="34290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TN que já atende a fazenda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38862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na estratégia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240280" y="3886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contas A+ e B+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77840" y="3886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ferramenta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escalável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prospecção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mínimo: o que entra no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MoSCoW. Só a primeira coluna é obrigatória para o piloto.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965960" cy="56692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66928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0.1, piloto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755648"/>
            <a:ext cx="1965960" cy="254203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12064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fazenda, currais e lotes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diário de trato por curral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cocho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pesagens, saídas, mortes e enfermaria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Painel: consumo de matéria seca, GMD, dias de cocho e mortalidade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em PDF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32888" y="1188720"/>
            <a:ext cx="1965960" cy="56692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642616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Deveria 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42616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32888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2587752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dietas com correção de matéria seca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lote e por arroba produzida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simples de consumo fora do previsto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08576" y="1188720"/>
            <a:ext cx="1965960" cy="566928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718304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Poderia ter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18304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0.3 em diante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08576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663440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de planilha existente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lotes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anônimo entre fazendas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84264" y="1188720"/>
            <a:ext cx="1965960" cy="566928"/>
          </a:xfrm>
          <a:prstGeom prst="rect">
            <a:avLst/>
          </a:prstGeom>
          <a:solidFill>
            <a:srgbClr val="7A8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793992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terá agora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93992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para a versão completa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684264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739128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balança, vagão e hardware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nativo offline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 e sustentabilidade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Recria, leite e outras espécies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pesquisa: três frentes antes de construir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2.1, 2.1.1 e 2.2 do cronograma, nas semanas 2 e 3.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06040" cy="65836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6692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3533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interna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1556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stakeholders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58521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8521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entendimento e apoio entre quem pode acelerar ou travar o projeto na Trouw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521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8521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Beef, gerência comercial, técnicos, RTVs, TI e marketing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8521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8521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semiestruturada de 30 a 45 minutos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8521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8521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aderência e lista de objeções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246120" y="1143000"/>
            <a:ext cx="2606040" cy="65836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335584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135331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0448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externo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90448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concorrentes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4612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/>
          <p:nvPr/>
        </p:nvSpPr>
        <p:spPr>
          <a:xfrm>
            <a:off x="337413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37413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 e fracos dos sistemas do mercado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37413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37413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que usam vários sistemas e consultores com sistema próprio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337413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37413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demonstração guiada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337413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337413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funcionalidades, dores e soluções já testadas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035040" y="1143000"/>
            <a:ext cx="2606040" cy="65836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0"/>
          <p:cNvSpPr/>
          <p:nvPr/>
        </p:nvSpPr>
        <p:spPr>
          <a:xfrm>
            <a:off x="614476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1353312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69340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com clientes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669340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Incluindo detratores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03504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4"/>
          <p:cNvSpPr/>
          <p:nvPr/>
        </p:nvSpPr>
        <p:spPr>
          <a:xfrm>
            <a:off x="616305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16305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real de valor e dores antes de construir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616305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616305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ex-clientes e não clientes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616305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16305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estruturado e entrevista curta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616305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16305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cliente validado e ranking de dores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no mínimo 30 fazendas, com detratores na amostra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proposta para evitar uma amostra feita só de clientes satisfeitos.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143000"/>
          <a:ext cx="3108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4630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463040" y="2578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4041648"/>
            <a:ext cx="118872" cy="11887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76072" y="3995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ativos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371600" y="4041648"/>
            <a:ext cx="118872" cy="118872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1536192" y="39959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clientes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286000" y="4041648"/>
            <a:ext cx="118872" cy="11887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2450592" y="3995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Ex-clientes e detratores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840480" y="1143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do formulário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840480" y="1508760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3931920" y="1600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279392" y="160020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operação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279392" y="18562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Porte, ciclo, equipe e quem lança os dados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291072" y="1508760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6382512" y="1600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729984" y="160020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 hoje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729984" y="18562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Papel, planilha ou software, e quanto tempo gasta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840480" y="2404872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3931920" y="24963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4279392" y="249631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na rotina de dados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279392" y="2752344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das cinco maiores dificuldades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91072" y="2404872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5"/>
          <p:cNvSpPr/>
          <p:nvPr/>
        </p:nvSpPr>
        <p:spPr>
          <a:xfrm>
            <a:off x="6382512" y="24963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6729984" y="249631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já usados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729984" y="2752344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 e por que parou de usar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840480" y="3300984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9"/>
          <p:cNvSpPr/>
          <p:nvPr/>
        </p:nvSpPr>
        <p:spPr>
          <a:xfrm>
            <a:off x="3931920" y="33924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4279392" y="3392424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percebido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279392" y="36484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Disposição a usar e a recomendar, de 0 a 10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291072" y="3300984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3"/>
          <p:cNvSpPr/>
          <p:nvPr/>
        </p:nvSpPr>
        <p:spPr>
          <a:xfrm>
            <a:off x="6382512" y="33924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4"/>
          <p:cNvSpPr/>
          <p:nvPr/>
        </p:nvSpPr>
        <p:spPr>
          <a:xfrm>
            <a:off x="6729984" y="3392424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fornecedores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729984" y="36484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do suporte digital na escolha da nutrição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avanço entre fases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propostas para discussão. Nenhuma fase avança só pelo calendário.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88950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para avançar (proposta)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  Escopo do produto mínimo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ou mais fazendas respondidas; perfil de cliente e cinco dores principais confirmados; patrocinador interno definido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81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 Piloto validado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 em pelo menos 70% dos dias, por 8 semanas; até 10 minutos por dia; gestor usa o relatório semanal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6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 Escala aprovada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das fazendas ativas após 90 dias; nota de recomendação média de 8 ou mais; 20 fazendas atendidas pelo Rodrigo com auditoria mensal. Gatilho para contratar analistas (1 para cada 20 fazendas)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96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  Integração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 a fase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 menos 5 fazendas pedindo integração com balança ou vagão; custo por fazenda abaixo da licença paga hoje (média de R$ 18,2 mil por ano)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principais e como reduzir cada um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maiores riscos da v2.0 estão na adoção pelo campo.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71600"/>
            <a:ext cx="292608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 ao lançamento manual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9728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097280" y="19568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campos por tela, meta de 10 minutos por dia e o técnico TN como apoio nas primeiras semanas.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71600"/>
            <a:ext cx="292608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do discovery enviesada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30352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303520" y="19568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mínima de ex-clientes e não clientes. Resultado só orienta decisão com 30 respostas válidas.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71800"/>
            <a:ext cx="292608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2953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de versão inferior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9728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097280" y="35570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o TN Manager Web como degrau, com caminho claro de migração para a versão completa.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663440" y="27889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663440" y="27889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71800"/>
            <a:ext cx="292608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2953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do time técnico TN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0352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5303520" y="35570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atende até 20 fazendas nos 6 primeiros meses, com auditoria mensal; depois, 1 analista dedicado para cada 20 fazendas (G2).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interna: mapa inicial de stakeholders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de partida (hipótese). As entrevistas confirmam ou movem cada grupo.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" y="1170432"/>
            <a:ext cx="2414016" cy="1499616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932688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SATISFEITO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19272" y="1170432"/>
            <a:ext cx="2414016" cy="1499616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401568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DE PERTO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50392" y="2724912"/>
            <a:ext cx="2414016" cy="149961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32688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19272" y="2724912"/>
            <a:ext cx="2414016" cy="1499616"/>
          </a:xfrm>
          <a:prstGeom prst="rect">
            <a:avLst/>
          </a:prstGeom>
          <a:solidFill>
            <a:srgbClr val="E8F4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401568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INFORMADO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94176" y="1548994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3913632" y="153070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Beef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85462" y="1922069"/>
            <a:ext cx="182880" cy="18288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604918" y="1903781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comercial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015338" y="1673352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2234794" y="16550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447288" y="2232965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3666744" y="221467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e Digital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484218" y="2979115"/>
            <a:ext cx="182880" cy="18288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703674" y="296082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e RTVs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187952" y="3227832"/>
            <a:ext cx="182880" cy="182880"/>
          </a:xfrm>
          <a:prstGeom prst="ellipse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407408" y="32095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house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509114" y="3476549"/>
            <a:ext cx="182880" cy="182880"/>
          </a:xfrm>
          <a:prstGeom prst="ellipse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2728570" y="3458261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82880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Influência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" y="43068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e envolvimento no projeto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35040" y="1143000"/>
            <a:ext cx="2651760" cy="310896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6199632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perguntar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72200" y="160020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entende que é o TN Manager hoje?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problema de negócio ele precisa resolver?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faria você apoiar ou frear o projeto?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estar convencido para ele avançar?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 sucesso em 12 meses?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do cliente-alvo: onde o TN Manager Web entra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v1.0 mirou o quadrante mais disputado. A v2.0 propõe começar onde há dor e pouca oferta simples.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88136" y="1179576"/>
            <a:ext cx="2670048" cy="1481328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234440" y="1325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234440" y="1325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344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porte, registro manual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947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dor e alto volume de produto. Segunda onda do TN Manager Web.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31336" y="1179576"/>
            <a:ext cx="2670048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1325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977640" y="1325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9776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porte, automatizado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77640" y="1947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da v1.0. Disputado por Cargill e DSM/Prodap. Território do TN Manager completo.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88136" y="2734056"/>
            <a:ext cx="2670048" cy="148132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1234440" y="288036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234440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344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porte, registro manual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34440" y="35021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fazendas e menos software simples disponível. Ponto de entrada sugerido para o piloto.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31336" y="2734056"/>
            <a:ext cx="2670048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3977640" y="288036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7A8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3977640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9776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porte, automatizado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977640" y="35021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 alguma ferramenta. Avaliar troca ou integração em versão futura.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20040" y="1143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20040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040" y="3474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5156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ou planilha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79476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Balança, vagão e software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5156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de gestão de dados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12280" y="1143000"/>
            <a:ext cx="1920240" cy="310896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6967728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mudar o foco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67728" y="1627632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tem balança e vagão compara o TN Manager com sistemas maduros e equipes de campo maiores.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registra no papel compara com o caderno. Um produto simples já entrega ganho visível.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discovery confirma porte mínimo e tamanho de cada quadrante.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valor: canvas para 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esquerdo: o que entregamos. Lado direito: o que o confinamento precisa. Hipóteses para o discovery.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VALOR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783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1783080" cy="2743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4864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 serviço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064" y="1700784"/>
            <a:ext cx="1673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com lançamento manual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com poucos indicadores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automático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do técnico TN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31720" y="137160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666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2331720" y="1371600"/>
            <a:ext cx="1965960" cy="27432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242316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Aliviadores de dor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386584" y="170078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padronizados e curtos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de licença para o cliente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de quem já visita a fazenda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331720" y="28803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2331720" y="2880360"/>
            <a:ext cx="1965960" cy="274320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24231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Criadores de ganho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386584" y="320954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pronto para o dono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de ajuste de dieta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lotes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46320" y="137160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4846320" y="1371600"/>
            <a:ext cx="1965960" cy="27432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93776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01184" y="170078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espalhados em caderno e planilha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digitação e retrabalho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caro, complexo ou sem suporte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46320" y="28803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30C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4846320" y="2880360"/>
            <a:ext cx="1965960" cy="274320"/>
          </a:xfrm>
          <a:prstGeom prst="rect">
            <a:avLst/>
          </a:prstGeom>
          <a:solidFill>
            <a:srgbClr val="A30C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49377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esperados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901184" y="320954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desempenho do lote na semana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fazendas parecidas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técnico olhando os números junto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03720" y="1371600"/>
            <a:ext cx="1783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29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6903720" y="1371600"/>
            <a:ext cx="1783080" cy="274320"/>
          </a:xfrm>
          <a:prstGeom prst="rect">
            <a:avLst/>
          </a:prstGeom>
          <a:solidFill>
            <a:srgbClr val="1229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699516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do cliente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958584" y="1700784"/>
            <a:ext cx="1673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o trato diário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custo por lote e por arroba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entradas, saídas e mortes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contas ao dono ou sócio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325112" y="2578608"/>
            <a:ext cx="502920" cy="502920"/>
          </a:xfrm>
          <a:prstGeom prst="ellipse">
            <a:avLst/>
          </a:prstGeom>
          <a:solidFill>
            <a:srgbClr val="C5D3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325112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Escopo e Descrição do Projeto</a:t>
            </a:r>
            <a:br>
              <a:rPr lang="en-CA" sz="2400" dirty="0"/>
            </a:br>
            <a:r>
              <a:rPr lang="en-US" sz="1350" b="0" i="1" dirty="0"/>
              <a:t>O que está incluído neste projeto e, portanto, nos custos de investimento e no cálculo do ROI.</a:t>
            </a:r>
            <a:endParaRPr lang="en-CA" sz="2400" b="0" i="1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1C4FEAC-BFE9-9936-0DEB-32AB6A7DB426}"/>
              </a:ext>
            </a:extLst>
          </p:cNvPr>
          <p:cNvSpPr/>
          <p:nvPr/>
        </p:nvSpPr>
        <p:spPr>
          <a:xfrm>
            <a:off x="0" y="1744232"/>
            <a:ext cx="4425802" cy="2102362"/>
          </a:xfrm>
          <a:prstGeom prst="rect">
            <a:avLst/>
          </a:prstGeom>
          <a:solidFill>
            <a:srgbClr val="0195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6B0D241-57FA-8BF8-1F89-AF51AFA631B7}"/>
              </a:ext>
            </a:extLst>
          </p:cNvPr>
          <p:cNvSpPr/>
          <p:nvPr/>
        </p:nvSpPr>
        <p:spPr>
          <a:xfrm>
            <a:off x="4425802" y="1744232"/>
            <a:ext cx="4718198" cy="2097952"/>
          </a:xfrm>
          <a:prstGeom prst="rect">
            <a:avLst/>
          </a:prstGeom>
          <a:solidFill>
            <a:srgbClr val="246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6" name="Group 16">
            <a:extLst>
              <a:ext uri="{FF2B5EF4-FFF2-40B4-BE49-F238E27FC236}">
                <a16:creationId xmlns:a16="http://schemas.microsoft.com/office/drawing/2014/main" id="{147D7F80-D61F-16B1-585B-8C9096DC2367}"/>
              </a:ext>
            </a:extLst>
          </p:cNvPr>
          <p:cNvGrpSpPr/>
          <p:nvPr/>
        </p:nvGrpSpPr>
        <p:grpSpPr>
          <a:xfrm>
            <a:off x="3005826" y="1545637"/>
            <a:ext cx="2901953" cy="2516981"/>
            <a:chOff x="4162425" y="1835149"/>
            <a:chExt cx="3869270" cy="3355975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B2977A67-8290-D44C-F14B-14E20264A50A}"/>
                </a:ext>
              </a:extLst>
            </p:cNvPr>
            <p:cNvSpPr/>
            <p:nvPr/>
          </p:nvSpPr>
          <p:spPr>
            <a:xfrm>
              <a:off x="4162425" y="1835149"/>
              <a:ext cx="1935695" cy="3355975"/>
            </a:xfrm>
            <a:prstGeom prst="rect">
              <a:avLst/>
            </a:prstGeom>
            <a:solidFill>
              <a:srgbClr val="262626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01BC83C4-AB27-3565-1219-F8F759FF64D7}"/>
                </a:ext>
              </a:extLst>
            </p:cNvPr>
            <p:cNvSpPr/>
            <p:nvPr/>
          </p:nvSpPr>
          <p:spPr>
            <a:xfrm>
              <a:off x="6096000" y="1835149"/>
              <a:ext cx="1935695" cy="3355975"/>
            </a:xfrm>
            <a:prstGeom prst="rect">
              <a:avLst/>
            </a:prstGeom>
            <a:solidFill>
              <a:srgbClr val="262626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0" name="Title 4">
            <a:extLst>
              <a:ext uri="{FF2B5EF4-FFF2-40B4-BE49-F238E27FC236}">
                <a16:creationId xmlns:a16="http://schemas.microsoft.com/office/drawing/2014/main" id="{50BEDB88-DCFE-42E0-1AC0-84B2901D6CEB}"/>
              </a:ext>
            </a:extLst>
          </p:cNvPr>
          <p:cNvSpPr txBox="1">
            <a:spLocks/>
          </p:cNvSpPr>
          <p:nvPr/>
        </p:nvSpPr>
        <p:spPr>
          <a:xfrm>
            <a:off x="3120524" y="3144276"/>
            <a:ext cx="1222374" cy="2492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No Escopo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62A7E422-C076-0351-1B6A-4327F95A8625}"/>
              </a:ext>
            </a:extLst>
          </p:cNvPr>
          <p:cNvSpPr/>
          <p:nvPr/>
        </p:nvSpPr>
        <p:spPr>
          <a:xfrm>
            <a:off x="3371746" y="2226413"/>
            <a:ext cx="719930" cy="71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F425D2BD-C878-E7D8-DFEB-589DFA5139A8}"/>
              </a:ext>
            </a:extLst>
          </p:cNvPr>
          <p:cNvSpPr txBox="1">
            <a:spLocks/>
          </p:cNvSpPr>
          <p:nvPr/>
        </p:nvSpPr>
        <p:spPr>
          <a:xfrm>
            <a:off x="4570706" y="3146232"/>
            <a:ext cx="1222374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Fora do Escopo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52899E-A96C-1253-CEE1-48D0C2683A61}"/>
              </a:ext>
            </a:extLst>
          </p:cNvPr>
          <p:cNvSpPr/>
          <p:nvPr/>
        </p:nvSpPr>
        <p:spPr>
          <a:xfrm>
            <a:off x="4821928" y="2228369"/>
            <a:ext cx="719930" cy="71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41B97859-F92A-F433-4938-019E44FF3A35}"/>
              </a:ext>
            </a:extLst>
          </p:cNvPr>
          <p:cNvSpPr txBox="1"/>
          <p:nvPr/>
        </p:nvSpPr>
        <p:spPr>
          <a:xfrm>
            <a:off x="143509" y="1902377"/>
            <a:ext cx="2879888" cy="18362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Desenvolvimento completo do aplicativo para confinamento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Equipe adicional para implantação e suporte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Campanhas de Marketing / Comunicação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Todas as funcionalidades descritas neste documento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09DBE4F7-BAD1-E359-1BAE-091AFDA3F252}"/>
              </a:ext>
            </a:extLst>
          </p:cNvPr>
          <p:cNvSpPr txBox="1"/>
          <p:nvPr/>
        </p:nvSpPr>
        <p:spPr>
          <a:xfrm>
            <a:off x="6143942" y="1877310"/>
            <a:ext cx="2879888" cy="18362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Desenvolvimento para CORTE extensivo, Leite ou outras espécies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026" name="Picture 2" descr="yes - no - tick and cross icon on transparent background. 21013497 PNG">
            <a:extLst>
              <a:ext uri="{FF2B5EF4-FFF2-40B4-BE49-F238E27FC236}">
                <a16:creationId xmlns:a16="http://schemas.microsoft.com/office/drawing/2014/main" id="{D3703575-90C5-264C-9629-F61129EEFC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211"/>
          <a:stretch/>
        </p:blipFill>
        <p:spPr bwMode="auto">
          <a:xfrm>
            <a:off x="3524432" y="2209230"/>
            <a:ext cx="411394" cy="7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yes - no - tick and cross icon on transparent background. 21013497 PNG">
            <a:extLst>
              <a:ext uri="{FF2B5EF4-FFF2-40B4-BE49-F238E27FC236}">
                <a16:creationId xmlns:a16="http://schemas.microsoft.com/office/drawing/2014/main" id="{DFE1A444-3452-30A8-F9B3-C984DADEC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17"/>
          <a:stretch/>
        </p:blipFill>
        <p:spPr bwMode="auto">
          <a:xfrm>
            <a:off x="4949215" y="2209230"/>
            <a:ext cx="435152" cy="7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186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FA9E84-6933-866E-9740-F1E0400C37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4741695-FE94-C58F-C66F-FA9D5E4EA7E9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Prospecção de Novos Clientes</a:t>
            </a:r>
            <a:br>
              <a:rPr lang="en-CA" sz="2400" dirty="0"/>
            </a:br>
            <a:r>
              <a:rPr lang="en-US" sz="1350" b="0" i="1" dirty="0"/>
              <a:t>Abordamos 28 prospects com os quais ainda não conseguimos avançar de forma significativa…</a:t>
            </a:r>
            <a:endParaRPr lang="en-CA" sz="2400" b="0" i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6A64F14-B6A5-E891-AFCA-0CDA7045E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2" y="774900"/>
            <a:ext cx="5133975" cy="41338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3B5D19C-A3CA-70AD-7881-9593AA2D1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433" y="850184"/>
            <a:ext cx="3438442" cy="2066723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5F7C463-C261-7E9F-24A4-0FB810FA7CFE}"/>
              </a:ext>
            </a:extLst>
          </p:cNvPr>
          <p:cNvGraphicFramePr>
            <a:graphicFrameLocks noGrp="1"/>
          </p:cNvGraphicFramePr>
          <p:nvPr/>
        </p:nvGraphicFramePr>
        <p:xfrm>
          <a:off x="5511433" y="3464642"/>
          <a:ext cx="3438441" cy="1141095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2480755">
                  <a:extLst>
                    <a:ext uri="{9D8B030D-6E8A-4147-A177-3AD203B41FA5}">
                      <a16:colId xmlns:a16="http://schemas.microsoft.com/office/drawing/2014/main" val="604473642"/>
                    </a:ext>
                  </a:extLst>
                </a:gridCol>
                <a:gridCol w="957686">
                  <a:extLst>
                    <a:ext uri="{9D8B030D-6E8A-4147-A177-3AD203B41FA5}">
                      <a16:colId xmlns:a16="http://schemas.microsoft.com/office/drawing/2014/main" val="1869619365"/>
                    </a:ext>
                  </a:extLst>
                </a:gridCol>
              </a:tblGrid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Cabeças de Gado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400,000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353093704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Consumo Diário / Animal </a:t>
                      </a:r>
                      <a:r>
                        <a:rPr lang="en-US" sz="700" i="1" u="none" strike="noStrike" dirty="0">
                          <a:effectLst/>
                        </a:rPr>
                        <a:t>(</a:t>
                      </a:r>
                      <a:r>
                        <a:rPr lang="en-US" sz="700" i="1" u="none" strike="noStrike" dirty="0" err="1">
                          <a:effectLst/>
                        </a:rPr>
                        <a:t>Bellpeso</a:t>
                      </a:r>
                      <a:r>
                        <a:rPr lang="en-US" sz="700" i="1" u="none" strike="noStrike" dirty="0">
                          <a:effectLst/>
                        </a:rPr>
                        <a:t> Super 2000 </a:t>
                      </a:r>
                      <a:r>
                        <a:rPr lang="en-US" sz="700" i="1" u="none" strike="noStrike" dirty="0" err="1">
                          <a:effectLst/>
                        </a:rPr>
                        <a:t>Avance</a:t>
                      </a:r>
                      <a:r>
                        <a:rPr lang="en-US" sz="700" i="1" u="none" strike="noStrike" dirty="0">
                          <a:effectLst/>
                        </a:rPr>
                        <a:t>)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100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698322057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Volume Total </a:t>
                      </a:r>
                      <a:r>
                        <a:rPr lang="pt-BR" sz="700" i="1" u="none" strike="noStrike" dirty="0">
                          <a:effectLst/>
                        </a:rPr>
                        <a:t>(</a:t>
                      </a:r>
                      <a:r>
                        <a:rPr lang="pt-BR" sz="700" i="1" u="none" strike="noStrike" dirty="0" err="1">
                          <a:effectLst/>
                        </a:rPr>
                        <a:t>Bellpeso</a:t>
                      </a:r>
                      <a:r>
                        <a:rPr lang="pt-BR" sz="700" i="1" u="none" strike="noStrike" dirty="0">
                          <a:effectLst/>
                        </a:rPr>
                        <a:t> Super 2000 Avance)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3,600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147563399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SP/Ton </a:t>
                      </a:r>
                      <a:r>
                        <a:rPr lang="pt-BR" sz="600" i="1" u="none" strike="noStrike" dirty="0">
                          <a:effectLst/>
                        </a:rPr>
                        <a:t>(</a:t>
                      </a:r>
                      <a:r>
                        <a:rPr lang="pt-BR" sz="600" i="1" u="none" strike="noStrike" dirty="0" err="1">
                          <a:effectLst/>
                        </a:rPr>
                        <a:t>Bellpeso</a:t>
                      </a:r>
                      <a:r>
                        <a:rPr lang="pt-BR" sz="600" i="1" u="none" strike="noStrike" dirty="0">
                          <a:effectLst/>
                        </a:rPr>
                        <a:t> Super 2000 Avance)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1,300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722811295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Sales Profit Potencial (28 Clientes)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 R$  4,680,000.00 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602195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382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Conclusão</a:t>
            </a:r>
          </a:p>
          <a:p>
            <a:pPr>
              <a:lnSpc>
                <a:spcPct val="100000"/>
              </a:lnSpc>
            </a:pPr>
            <a:r>
              <a:rPr lang="en-US" sz="1350" b="0" i="1" dirty="0"/>
              <a:t>Cinco conclusões sustentam a aprovação deste projeto.</a:t>
            </a:r>
            <a:endParaRPr lang="en-CA" sz="2400" b="0" i="1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2A25C0B-CDE2-46E4-6226-A99BBA96BC8F}"/>
              </a:ext>
            </a:extLst>
          </p:cNvPr>
          <p:cNvSpPr/>
          <p:nvPr/>
        </p:nvSpPr>
        <p:spPr>
          <a:xfrm>
            <a:off x="296736" y="2093785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O projeto está alinhado às nossas Prioridades Estratégicas de Crescimento Orgânico (Receita).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2DF898B-8045-D307-C5F6-7E7C24910433}"/>
              </a:ext>
            </a:extLst>
          </p:cNvPr>
          <p:cNvSpPr/>
          <p:nvPr/>
        </p:nvSpPr>
        <p:spPr>
          <a:xfrm>
            <a:off x="2083623" y="2093785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Aumentar o Market Share de 9,8% para X%, trazendo X </a:t>
            </a:r>
            <a:r>
              <a:rPr lang="en-US" sz="1125" dirty="0" err="1">
                <a:solidFill>
                  <a:schemeClr val="bg2">
                    <a:lumMod val="10000"/>
                  </a:schemeClr>
                </a:solidFill>
              </a:rPr>
              <a:t>milhões de</a:t>
            </a: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 R$ adicionais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9BAE7BC-4D8C-21E1-471B-7FC55C53B4E6}"/>
              </a:ext>
            </a:extLst>
          </p:cNvPr>
          <p:cNvSpPr/>
          <p:nvPr/>
        </p:nvSpPr>
        <p:spPr>
          <a:xfrm>
            <a:off x="3850749" y="2093785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É o movimento certo, considerando as tendências dos clientes e os movimentos dos concorrentes.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13F4F04-4365-B53B-D98F-8826FF3A88F5}"/>
              </a:ext>
            </a:extLst>
          </p:cNvPr>
          <p:cNvSpPr/>
          <p:nvPr/>
        </p:nvSpPr>
        <p:spPr>
          <a:xfrm>
            <a:off x="5594013" y="2106189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A análise SWOT indica que o desenvolvimento interno tem mais vantagens do que desvantagens.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E875A9F-5557-5B56-ED7B-BD675CA5F89B}"/>
              </a:ext>
            </a:extLst>
          </p:cNvPr>
          <p:cNvSpPr/>
          <p:nvPr/>
        </p:nvSpPr>
        <p:spPr>
          <a:xfrm>
            <a:off x="7272300" y="2105382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Em 5 anos, vamos investir R$ 3 milhões para capturar R$ 15 milhões em Sales Profit adicional.</a:t>
            </a:r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2246C32-42C8-BD0E-C682-86C1BC2C007A}"/>
              </a:ext>
            </a:extLst>
          </p:cNvPr>
          <p:cNvSpPr/>
          <p:nvPr/>
        </p:nvSpPr>
        <p:spPr>
          <a:xfrm rot="16200000">
            <a:off x="6787966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DA5EE5D7-7915-2D80-262A-75EDA6928FB2}"/>
              </a:ext>
            </a:extLst>
          </p:cNvPr>
          <p:cNvSpPr/>
          <p:nvPr/>
        </p:nvSpPr>
        <p:spPr>
          <a:xfrm>
            <a:off x="7360839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1" name="Oval 3">
            <a:extLst>
              <a:ext uri="{FF2B5EF4-FFF2-40B4-BE49-F238E27FC236}">
                <a16:creationId xmlns:a16="http://schemas.microsoft.com/office/drawing/2014/main" id="{DCF6A255-DEBF-46A4-E765-AC00AEECCBA8}"/>
              </a:ext>
            </a:extLst>
          </p:cNvPr>
          <p:cNvSpPr/>
          <p:nvPr/>
        </p:nvSpPr>
        <p:spPr>
          <a:xfrm>
            <a:off x="7422978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2" name="TextBox 307">
            <a:extLst>
              <a:ext uri="{FF2B5EF4-FFF2-40B4-BE49-F238E27FC236}">
                <a16:creationId xmlns:a16="http://schemas.microsoft.com/office/drawing/2014/main" id="{95FD6FA0-D3E3-D0AA-0D53-8D6F52B36528}"/>
              </a:ext>
            </a:extLst>
          </p:cNvPr>
          <p:cNvSpPr txBox="1"/>
          <p:nvPr/>
        </p:nvSpPr>
        <p:spPr>
          <a:xfrm>
            <a:off x="8213124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5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D0426ABC-37BB-357D-8CC5-AD87FA09C2F7}"/>
              </a:ext>
            </a:extLst>
          </p:cNvPr>
          <p:cNvSpPr/>
          <p:nvPr/>
        </p:nvSpPr>
        <p:spPr>
          <a:xfrm rot="16200000">
            <a:off x="5113780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5" name="Oval 6">
            <a:extLst>
              <a:ext uri="{FF2B5EF4-FFF2-40B4-BE49-F238E27FC236}">
                <a16:creationId xmlns:a16="http://schemas.microsoft.com/office/drawing/2014/main" id="{B8030DFD-E081-A16A-3534-DE314258713C}"/>
              </a:ext>
            </a:extLst>
          </p:cNvPr>
          <p:cNvSpPr/>
          <p:nvPr/>
        </p:nvSpPr>
        <p:spPr>
          <a:xfrm rot="16200000">
            <a:off x="3331582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77D3E33F-9390-C5D6-5A33-A31DCC037386}"/>
              </a:ext>
            </a:extLst>
          </p:cNvPr>
          <p:cNvSpPr/>
          <p:nvPr/>
        </p:nvSpPr>
        <p:spPr>
          <a:xfrm rot="16200000">
            <a:off x="1603390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8CA2FD6A-42C6-F9E0-C448-2FF6A00FFB0B}"/>
              </a:ext>
            </a:extLst>
          </p:cNvPr>
          <p:cNvSpPr/>
          <p:nvPr/>
        </p:nvSpPr>
        <p:spPr>
          <a:xfrm>
            <a:off x="413538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8" name="Oval 3">
            <a:extLst>
              <a:ext uri="{FF2B5EF4-FFF2-40B4-BE49-F238E27FC236}">
                <a16:creationId xmlns:a16="http://schemas.microsoft.com/office/drawing/2014/main" id="{1AC894EE-6512-91BA-0119-608367E522B9}"/>
              </a:ext>
            </a:extLst>
          </p:cNvPr>
          <p:cNvSpPr/>
          <p:nvPr/>
        </p:nvSpPr>
        <p:spPr>
          <a:xfrm>
            <a:off x="475677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9" name="Oval 12">
            <a:extLst>
              <a:ext uri="{FF2B5EF4-FFF2-40B4-BE49-F238E27FC236}">
                <a16:creationId xmlns:a16="http://schemas.microsoft.com/office/drawing/2014/main" id="{7EE0F3AA-ED48-9AB9-CB02-A69C133FBDDE}"/>
              </a:ext>
            </a:extLst>
          </p:cNvPr>
          <p:cNvSpPr/>
          <p:nvPr/>
        </p:nvSpPr>
        <p:spPr>
          <a:xfrm>
            <a:off x="2176263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0" name="Oval 3">
            <a:extLst>
              <a:ext uri="{FF2B5EF4-FFF2-40B4-BE49-F238E27FC236}">
                <a16:creationId xmlns:a16="http://schemas.microsoft.com/office/drawing/2014/main" id="{ACB96CD0-70C8-E643-F902-F6F4A6A9552B}"/>
              </a:ext>
            </a:extLst>
          </p:cNvPr>
          <p:cNvSpPr/>
          <p:nvPr/>
        </p:nvSpPr>
        <p:spPr>
          <a:xfrm>
            <a:off x="2238402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1" name="Oval 15">
            <a:extLst>
              <a:ext uri="{FF2B5EF4-FFF2-40B4-BE49-F238E27FC236}">
                <a16:creationId xmlns:a16="http://schemas.microsoft.com/office/drawing/2014/main" id="{1041ED6B-1CD8-DCF6-AC71-96B184B7ECEA}"/>
              </a:ext>
            </a:extLst>
          </p:cNvPr>
          <p:cNvSpPr/>
          <p:nvPr/>
        </p:nvSpPr>
        <p:spPr>
          <a:xfrm>
            <a:off x="3958461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2" name="Oval 3">
            <a:extLst>
              <a:ext uri="{FF2B5EF4-FFF2-40B4-BE49-F238E27FC236}">
                <a16:creationId xmlns:a16="http://schemas.microsoft.com/office/drawing/2014/main" id="{74B4D89E-7FFE-349E-512D-7BDE977E894A}"/>
              </a:ext>
            </a:extLst>
          </p:cNvPr>
          <p:cNvSpPr/>
          <p:nvPr/>
        </p:nvSpPr>
        <p:spPr>
          <a:xfrm>
            <a:off x="4020600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3" name="Oval 18">
            <a:extLst>
              <a:ext uri="{FF2B5EF4-FFF2-40B4-BE49-F238E27FC236}">
                <a16:creationId xmlns:a16="http://schemas.microsoft.com/office/drawing/2014/main" id="{ADABE66C-BEF4-87BF-17FE-0BBEBF459A72}"/>
              </a:ext>
            </a:extLst>
          </p:cNvPr>
          <p:cNvSpPr/>
          <p:nvPr/>
        </p:nvSpPr>
        <p:spPr>
          <a:xfrm>
            <a:off x="5686653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4" name="Oval 3">
            <a:extLst>
              <a:ext uri="{FF2B5EF4-FFF2-40B4-BE49-F238E27FC236}">
                <a16:creationId xmlns:a16="http://schemas.microsoft.com/office/drawing/2014/main" id="{496816FF-1DCE-C27F-E1BB-A34B20085C34}"/>
              </a:ext>
            </a:extLst>
          </p:cNvPr>
          <p:cNvSpPr/>
          <p:nvPr/>
        </p:nvSpPr>
        <p:spPr>
          <a:xfrm>
            <a:off x="5748792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5" name="TextBox 304">
            <a:extLst>
              <a:ext uri="{FF2B5EF4-FFF2-40B4-BE49-F238E27FC236}">
                <a16:creationId xmlns:a16="http://schemas.microsoft.com/office/drawing/2014/main" id="{180A2A0C-B094-EEEF-30D1-6D2F9A74DCC3}"/>
              </a:ext>
            </a:extLst>
          </p:cNvPr>
          <p:cNvSpPr txBox="1"/>
          <p:nvPr/>
        </p:nvSpPr>
        <p:spPr>
          <a:xfrm>
            <a:off x="1246235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1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26" name="TextBox 305">
            <a:extLst>
              <a:ext uri="{FF2B5EF4-FFF2-40B4-BE49-F238E27FC236}">
                <a16:creationId xmlns:a16="http://schemas.microsoft.com/office/drawing/2014/main" id="{5D5691D9-14B7-FB6E-59C8-FF2F60520D2F}"/>
              </a:ext>
            </a:extLst>
          </p:cNvPr>
          <p:cNvSpPr txBox="1"/>
          <p:nvPr/>
        </p:nvSpPr>
        <p:spPr>
          <a:xfrm>
            <a:off x="3015489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2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27" name="TextBox 306">
            <a:extLst>
              <a:ext uri="{FF2B5EF4-FFF2-40B4-BE49-F238E27FC236}">
                <a16:creationId xmlns:a16="http://schemas.microsoft.com/office/drawing/2014/main" id="{1EEE707E-A837-EDFB-A2B7-0DA1C3E462C1}"/>
              </a:ext>
            </a:extLst>
          </p:cNvPr>
          <p:cNvSpPr txBox="1"/>
          <p:nvPr/>
        </p:nvSpPr>
        <p:spPr>
          <a:xfrm>
            <a:off x="4804216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 dirty="0">
                <a:solidFill>
                  <a:schemeClr val="accent3"/>
                </a:solidFill>
              </a:rPr>
              <a:t>3</a:t>
            </a:r>
            <a:endParaRPr lang="ko-KR" altLang="en-US" sz="2100" b="1" dirty="0">
              <a:solidFill>
                <a:schemeClr val="accent3"/>
              </a:solidFill>
            </a:endParaRPr>
          </a:p>
        </p:txBody>
      </p:sp>
      <p:sp>
        <p:nvSpPr>
          <p:cNvPr id="28" name="TextBox 307">
            <a:extLst>
              <a:ext uri="{FF2B5EF4-FFF2-40B4-BE49-F238E27FC236}">
                <a16:creationId xmlns:a16="http://schemas.microsoft.com/office/drawing/2014/main" id="{425134F9-9578-43B9-56C0-0745A73EB542}"/>
              </a:ext>
            </a:extLst>
          </p:cNvPr>
          <p:cNvSpPr txBox="1"/>
          <p:nvPr/>
        </p:nvSpPr>
        <p:spPr>
          <a:xfrm>
            <a:off x="6538938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4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29" name="TextBox 308">
            <a:extLst>
              <a:ext uri="{FF2B5EF4-FFF2-40B4-BE49-F238E27FC236}">
                <a16:creationId xmlns:a16="http://schemas.microsoft.com/office/drawing/2014/main" id="{EEA57E96-F4A2-2171-260C-8F00DD91D3B7}"/>
              </a:ext>
            </a:extLst>
          </p:cNvPr>
          <p:cNvSpPr txBox="1"/>
          <p:nvPr/>
        </p:nvSpPr>
        <p:spPr>
          <a:xfrm>
            <a:off x="565353" y="1815074"/>
            <a:ext cx="87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Aderência Estratégica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Box 308">
            <a:extLst>
              <a:ext uri="{FF2B5EF4-FFF2-40B4-BE49-F238E27FC236}">
                <a16:creationId xmlns:a16="http://schemas.microsoft.com/office/drawing/2014/main" id="{FA280527-06BC-9F1F-1DDF-15072CD80472}"/>
              </a:ext>
            </a:extLst>
          </p:cNvPr>
          <p:cNvSpPr txBox="1"/>
          <p:nvPr/>
        </p:nvSpPr>
        <p:spPr>
          <a:xfrm>
            <a:off x="2329396" y="1816787"/>
            <a:ext cx="870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Potencial de Mercado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08">
            <a:extLst>
              <a:ext uri="{FF2B5EF4-FFF2-40B4-BE49-F238E27FC236}">
                <a16:creationId xmlns:a16="http://schemas.microsoft.com/office/drawing/2014/main" id="{BE54EA84-BC53-453D-20C7-F23543C6C9ED}"/>
              </a:ext>
            </a:extLst>
          </p:cNvPr>
          <p:cNvSpPr txBox="1"/>
          <p:nvPr/>
        </p:nvSpPr>
        <p:spPr>
          <a:xfrm>
            <a:off x="4108423" y="1826619"/>
            <a:ext cx="956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Cenário Competitivo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08">
            <a:extLst>
              <a:ext uri="{FF2B5EF4-FFF2-40B4-BE49-F238E27FC236}">
                <a16:creationId xmlns:a16="http://schemas.microsoft.com/office/drawing/2014/main" id="{0C1E30B5-47EE-12EB-6CC9-53F7AA290B54}"/>
              </a:ext>
            </a:extLst>
          </p:cNvPr>
          <p:cNvSpPr txBox="1"/>
          <p:nvPr/>
        </p:nvSpPr>
        <p:spPr>
          <a:xfrm>
            <a:off x="5858056" y="1799535"/>
            <a:ext cx="87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Abordagem Correta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08">
            <a:extLst>
              <a:ext uri="{FF2B5EF4-FFF2-40B4-BE49-F238E27FC236}">
                <a16:creationId xmlns:a16="http://schemas.microsoft.com/office/drawing/2014/main" id="{E13F61C0-8521-A2B0-BA13-B107D335DA18}"/>
              </a:ext>
            </a:extLst>
          </p:cNvPr>
          <p:cNvSpPr txBox="1"/>
          <p:nvPr/>
        </p:nvSpPr>
        <p:spPr>
          <a:xfrm>
            <a:off x="7541690" y="1826618"/>
            <a:ext cx="87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ROI Atrativo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92116"/>
      </p:ext>
    </p:extLst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Desenvolvimento: comunidade movida a dados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Análise, benchmarking e premiação engajam as fazendas a participar e os técnicos a trazer mais fazendas.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984248" cy="148132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85216" y="12070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2984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207008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85216" y="1737360"/>
            <a:ext cx="1746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online auditam, validam e interpretam os lançamentos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532888" y="1097280"/>
            <a:ext cx="1984248" cy="148132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2660904" y="12070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344" y="12984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72968" y="1207008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2660904" y="1737360"/>
            <a:ext cx="1746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semanais e relatório trimestral com comparações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08576" y="1097280"/>
            <a:ext cx="1984248" cy="148132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736592" y="12070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29844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48656" y="1207008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736592" y="1737360"/>
            <a:ext cx="1746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fazenda x meta x média do grupo x melhores do grupo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684264" y="1097280"/>
            <a:ext cx="1984248" cy="148132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812280" y="12070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29844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4344" y="1207008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Premiação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812280" y="1737360"/>
            <a:ext cx="1746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Melhores fazendas e melhores técnicos no evento anual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57200" y="2724912"/>
            <a:ext cx="2633472" cy="31089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8" name="Text 21"/>
          <p:cNvSpPr/>
          <p:nvPr/>
        </p:nvSpPr>
        <p:spPr>
          <a:xfrm>
            <a:off x="548640" y="272491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fazenda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57200" y="3035808"/>
            <a:ext cx="2633472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0" name="Text 23"/>
          <p:cNvSpPr/>
          <p:nvPr/>
        </p:nvSpPr>
        <p:spPr>
          <a:xfrm>
            <a:off x="548640" y="3090672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onde está em relação ao grupo</a:t>
            </a:r>
            <a:endParaRPr lang="en-US" sz="10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medida safra a safra</a:t>
            </a:r>
            <a:endParaRPr lang="en-US" sz="10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no evento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246120" y="2724912"/>
            <a:ext cx="2633472" cy="31089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3337560" y="272491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técnico TN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3246120" y="3035808"/>
            <a:ext cx="2633472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4" name="Text 27"/>
          <p:cNvSpPr/>
          <p:nvPr/>
        </p:nvSpPr>
        <p:spPr>
          <a:xfrm>
            <a:off x="3337560" y="3090672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Prêmio de técnico destaque</a:t>
            </a:r>
            <a:endParaRPr lang="en-US" sz="10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Conta: fazendas ativas e lançamentos em dia</a:t>
            </a:r>
            <a:endParaRPr lang="en-US" sz="10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fazendas no grupo, mais resultado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035040" y="2724912"/>
            <a:ext cx="2633472" cy="310896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36" name="Text 29"/>
          <p:cNvSpPr/>
          <p:nvPr/>
        </p:nvSpPr>
        <p:spPr>
          <a:xfrm>
            <a:off x="6126480" y="272491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TN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6035040" y="3035808"/>
            <a:ext cx="2633472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8" name="Text 31"/>
          <p:cNvSpPr/>
          <p:nvPr/>
        </p:nvSpPr>
        <p:spPr>
          <a:xfrm>
            <a:off x="6126480" y="3090672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Fidelização pelo grupo, não pelo sistema</a:t>
            </a:r>
            <a:endParaRPr lang="en-US" sz="10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própria para benchmark</a:t>
            </a:r>
            <a:endParaRPr lang="en-US" sz="105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fazendas querendo entrar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457200" y="4041648"/>
            <a:ext cx="8229600" cy="32918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0" name="Text 33"/>
          <p:cNvSpPr/>
          <p:nvPr/>
        </p:nvSpPr>
        <p:spPr>
          <a:xfrm>
            <a:off x="621792" y="40416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fazendas, mais dados, benchmark mais forte, mais valor, mais fazendas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do Grupo: do trimestre à Reportagem de Safra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ao longo da safra e um fechamento completo no final, com comparações.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ilustrativos, apenas para mostrar o formato das entregas.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pic>
        <p:nvPicPr>
          <p:cNvPr id="8" name="Image 1" descr="/tmp/claude-0/-home-user-projetos-rodrigo-agro/75ea8577-07ab-56ed-800f-dbd18240b1a3/scratchpad/build/../img/gad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1097280"/>
            <a:ext cx="2194560" cy="1463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2560320"/>
            <a:ext cx="2194560" cy="178308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457200" y="2560320"/>
            <a:ext cx="2194560" cy="54864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594360" y="26974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REPORTAGEM DE SAFRA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94360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anual da fazenda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94360" y="35204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 2027/2028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4360" y="37947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Desenvolvimento TN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94360" y="4005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Ranking, indicadores e evolução safra a safra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834640" y="1097280"/>
            <a:ext cx="3154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2944368" y="11521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GMD no confinamento (kg/dia)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907792" y="1444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fazenda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959352" y="1472184"/>
            <a:ext cx="1350623" cy="164592"/>
          </a:xfrm>
          <a:prstGeom prst="rect">
            <a:avLst/>
          </a:prstGeom>
          <a:solidFill>
            <a:srgbClr val="E07A1F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5346551" y="1453896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E07A1F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46551" y="14538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907792" y="17190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959352" y="1746504"/>
            <a:ext cx="1250576" cy="164592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5246504" y="1728216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0096B4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5246504" y="17282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907792" y="1993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 grupo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959352" y="2020824"/>
            <a:ext cx="1233902" cy="164592"/>
          </a:xfrm>
          <a:prstGeom prst="rect">
            <a:avLst/>
          </a:prstGeom>
          <a:solidFill>
            <a:srgbClr val="1E9A5A"/>
          </a:solidFill>
          <a:ln/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5229830" y="2002536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1E9A5A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229830" y="20025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907792" y="22677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rentáveis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959352" y="2295144"/>
            <a:ext cx="1292262" cy="16459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5288190" y="2276856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5288190" y="22768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2907792" y="2542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indicadores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959352" y="2569464"/>
            <a:ext cx="1417320" cy="164592"/>
          </a:xfrm>
          <a:prstGeom prst="rect">
            <a:avLst/>
          </a:prstGeom>
          <a:solidFill>
            <a:srgbClr val="7C5CD6"/>
          </a:solidFill>
          <a:ln/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5413248" y="2551176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7C5CD6"/>
          </a:solidFill>
          <a:ln/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5413248" y="25511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834640" y="2971800"/>
            <a:ext cx="3154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2944368" y="3017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da @ produzida por trimestre (R$)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3154680" y="3569885"/>
            <a:ext cx="237744" cy="499195"/>
          </a:xfrm>
          <a:prstGeom prst="rect">
            <a:avLst/>
          </a:prstGeom>
          <a:solidFill>
            <a:srgbClr val="E07A1F"/>
          </a:solidFill>
          <a:ln/>
        </p:spPr>
        <p:txBody>
          <a:bodyPr/>
          <a:p/>
        </p:txBody>
      </p:sp>
      <p:sp>
        <p:nvSpPr>
          <p:cNvPr id="41" name="Shape 37"/>
          <p:cNvSpPr/>
          <p:nvPr/>
        </p:nvSpPr>
        <p:spPr>
          <a:xfrm>
            <a:off x="3410712" y="3581061"/>
            <a:ext cx="237744" cy="488019"/>
          </a:xfrm>
          <a:prstGeom prst="rect">
            <a:avLst/>
          </a:prstGeom>
          <a:solidFill>
            <a:srgbClr val="1E9A5A"/>
          </a:solidFill>
          <a:ln/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3099816" y="3405293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3355848" y="3416469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3154680" y="408736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3867912" y="3594100"/>
            <a:ext cx="237744" cy="474980"/>
          </a:xfrm>
          <a:prstGeom prst="rect">
            <a:avLst/>
          </a:prstGeom>
          <a:solidFill>
            <a:srgbClr val="E07A1F"/>
          </a:solidFill>
          <a:ln/>
        </p:spPr>
        <p:txBody>
          <a:bodyPr/>
          <a:p/>
        </p:txBody>
      </p:sp>
      <p:sp>
        <p:nvSpPr>
          <p:cNvPr id="46" name="Shape 42"/>
          <p:cNvSpPr/>
          <p:nvPr/>
        </p:nvSpPr>
        <p:spPr>
          <a:xfrm>
            <a:off x="4123944" y="3584787"/>
            <a:ext cx="237744" cy="484293"/>
          </a:xfrm>
          <a:prstGeom prst="rect">
            <a:avLst/>
          </a:prstGeom>
          <a:solidFill>
            <a:srgbClr val="1E9A5A"/>
          </a:solidFill>
          <a:ln/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3813048" y="342950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4069080" y="3420195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3867912" y="408736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4581144" y="3610864"/>
            <a:ext cx="237744" cy="458216"/>
          </a:xfrm>
          <a:prstGeom prst="rect">
            <a:avLst/>
          </a:prstGeom>
          <a:solidFill>
            <a:srgbClr val="E07A1F"/>
          </a:solidFill>
          <a:ln/>
        </p:spPr>
        <p:txBody>
          <a:bodyPr/>
          <a:p/>
        </p:txBody>
      </p:sp>
      <p:sp>
        <p:nvSpPr>
          <p:cNvPr id="51" name="Shape 47"/>
          <p:cNvSpPr/>
          <p:nvPr/>
        </p:nvSpPr>
        <p:spPr>
          <a:xfrm>
            <a:off x="4837176" y="3588512"/>
            <a:ext cx="237744" cy="480568"/>
          </a:xfrm>
          <a:prstGeom prst="rect">
            <a:avLst/>
          </a:prstGeom>
          <a:solidFill>
            <a:srgbClr val="1E9A5A"/>
          </a:solidFill>
          <a:ln/>
        </p:spPr>
        <p:txBody>
          <a:bodyPr/>
          <a:p/>
        </p:txBody>
      </p:sp>
      <p:sp>
        <p:nvSpPr>
          <p:cNvPr id="52" name="Text 48"/>
          <p:cNvSpPr/>
          <p:nvPr/>
        </p:nvSpPr>
        <p:spPr>
          <a:xfrm>
            <a:off x="4526280" y="34462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4782312" y="342392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</a:t>
            </a:r>
            <a:endParaRPr lang="en-US" sz="750" dirty="0"/>
          </a:p>
        </p:txBody>
      </p:sp>
      <p:sp>
        <p:nvSpPr>
          <p:cNvPr id="54" name="Text 50"/>
          <p:cNvSpPr/>
          <p:nvPr/>
        </p:nvSpPr>
        <p:spPr>
          <a:xfrm>
            <a:off x="4581144" y="408736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5294376" y="3625765"/>
            <a:ext cx="237744" cy="443315"/>
          </a:xfrm>
          <a:prstGeom prst="rect">
            <a:avLst/>
          </a:prstGeom>
          <a:solidFill>
            <a:srgbClr val="E07A1F"/>
          </a:solidFill>
          <a:ln/>
        </p:spPr>
        <p:txBody>
          <a:bodyPr/>
          <a:p/>
        </p:txBody>
      </p:sp>
      <p:sp>
        <p:nvSpPr>
          <p:cNvPr id="56" name="Shape 52"/>
          <p:cNvSpPr/>
          <p:nvPr/>
        </p:nvSpPr>
        <p:spPr>
          <a:xfrm>
            <a:off x="5550408" y="3594100"/>
            <a:ext cx="237744" cy="474980"/>
          </a:xfrm>
          <a:prstGeom prst="rect">
            <a:avLst/>
          </a:prstGeom>
          <a:solidFill>
            <a:srgbClr val="1E9A5A"/>
          </a:solidFill>
          <a:ln/>
        </p:spPr>
        <p:txBody>
          <a:bodyPr/>
          <a:p/>
        </p:txBody>
      </p:sp>
      <p:sp>
        <p:nvSpPr>
          <p:cNvPr id="57" name="Text 53"/>
          <p:cNvSpPr/>
          <p:nvPr/>
        </p:nvSpPr>
        <p:spPr>
          <a:xfrm>
            <a:off x="5239512" y="3461173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5495544" y="342950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750" dirty="0"/>
          </a:p>
        </p:txBody>
      </p:sp>
      <p:sp>
        <p:nvSpPr>
          <p:cNvPr id="59" name="Text 55"/>
          <p:cNvSpPr/>
          <p:nvPr/>
        </p:nvSpPr>
        <p:spPr>
          <a:xfrm>
            <a:off x="5294376" y="408736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2962656" y="3291840"/>
            <a:ext cx="109728" cy="109728"/>
          </a:xfrm>
          <a:prstGeom prst="rect">
            <a:avLst/>
          </a:prstGeom>
          <a:solidFill>
            <a:srgbClr val="E07A1F"/>
          </a:solidFill>
          <a:ln/>
        </p:spPr>
        <p:txBody>
          <a:bodyPr/>
          <a:p/>
        </p:txBody>
      </p:sp>
      <p:sp>
        <p:nvSpPr>
          <p:cNvPr id="61" name="Text 57"/>
          <p:cNvSpPr/>
          <p:nvPr/>
        </p:nvSpPr>
        <p:spPr>
          <a:xfrm>
            <a:off x="3108960" y="32644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fazenda</a:t>
            </a:r>
            <a:endParaRPr lang="en-US" sz="800" dirty="0"/>
          </a:p>
        </p:txBody>
      </p:sp>
      <p:sp>
        <p:nvSpPr>
          <p:cNvPr id="62" name="Shape 58"/>
          <p:cNvSpPr/>
          <p:nvPr/>
        </p:nvSpPr>
        <p:spPr>
          <a:xfrm>
            <a:off x="4069080" y="3291840"/>
            <a:ext cx="109728" cy="109728"/>
          </a:xfrm>
          <a:prstGeom prst="rect">
            <a:avLst/>
          </a:prstGeom>
          <a:solidFill>
            <a:srgbClr val="1E9A5A"/>
          </a:solidFill>
          <a:ln/>
        </p:spPr>
        <p:txBody>
          <a:bodyPr/>
          <a:p/>
        </p:txBody>
      </p:sp>
      <p:sp>
        <p:nvSpPr>
          <p:cNvPr id="63" name="Text 59"/>
          <p:cNvSpPr/>
          <p:nvPr/>
        </p:nvSpPr>
        <p:spPr>
          <a:xfrm>
            <a:off x="4215384" y="32644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 grupo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6217920" y="1078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 entregas</a:t>
            </a:r>
            <a:endParaRPr lang="en-US" sz="1300" dirty="0"/>
          </a:p>
        </p:txBody>
      </p:sp>
      <p:sp>
        <p:nvSpPr>
          <p:cNvPr id="65" name="Shape 61"/>
          <p:cNvSpPr/>
          <p:nvPr/>
        </p:nvSpPr>
        <p:spPr>
          <a:xfrm>
            <a:off x="6217920" y="1389888"/>
            <a:ext cx="2468880" cy="5486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6" name="Shape 62"/>
          <p:cNvSpPr/>
          <p:nvPr/>
        </p:nvSpPr>
        <p:spPr>
          <a:xfrm>
            <a:off x="6217920" y="1389888"/>
            <a:ext cx="54864" cy="54864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67" name="Text 63"/>
          <p:cNvSpPr/>
          <p:nvPr/>
        </p:nvSpPr>
        <p:spPr>
          <a:xfrm>
            <a:off x="6355080" y="1426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1100" dirty="0"/>
          </a:p>
        </p:txBody>
      </p:sp>
      <p:sp>
        <p:nvSpPr>
          <p:cNvPr id="68" name="Text 64"/>
          <p:cNvSpPr/>
          <p:nvPr/>
        </p:nvSpPr>
        <p:spPr>
          <a:xfrm>
            <a:off x="6355080" y="1627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análise do analista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6217920" y="1993392"/>
            <a:ext cx="2468880" cy="5486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0" name="Shape 66"/>
          <p:cNvSpPr/>
          <p:nvPr/>
        </p:nvSpPr>
        <p:spPr>
          <a:xfrm>
            <a:off x="6217920" y="1993392"/>
            <a:ext cx="54864" cy="54864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71" name="Text 67"/>
          <p:cNvSpPr/>
          <p:nvPr/>
        </p:nvSpPr>
        <p:spPr>
          <a:xfrm>
            <a:off x="6355080" y="2029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1100" dirty="0"/>
          </a:p>
        </p:txBody>
      </p:sp>
      <p:sp>
        <p:nvSpPr>
          <p:cNvPr id="72" name="Text 68"/>
          <p:cNvSpPr/>
          <p:nvPr/>
        </p:nvSpPr>
        <p:spPr>
          <a:xfrm>
            <a:off x="6355080" y="2231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com comparação entre trimestres e com o grupo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6217920" y="2596896"/>
            <a:ext cx="2468880" cy="5486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6217920" y="2596896"/>
            <a:ext cx="54864" cy="5486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6355080" y="2633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safra</a:t>
            </a:r>
            <a:endParaRPr lang="en-US" sz="1100" dirty="0"/>
          </a:p>
        </p:txBody>
      </p:sp>
      <p:sp>
        <p:nvSpPr>
          <p:cNvPr id="76" name="Text 72"/>
          <p:cNvSpPr/>
          <p:nvPr/>
        </p:nvSpPr>
        <p:spPr>
          <a:xfrm>
            <a:off x="6355080" y="2834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Reportagem de Safra: fechamento, ranking e evolução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6217920" y="3200400"/>
            <a:ext cx="2468880" cy="5486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8" name="Shape 74"/>
          <p:cNvSpPr/>
          <p:nvPr/>
        </p:nvSpPr>
        <p:spPr>
          <a:xfrm>
            <a:off x="6217920" y="3200400"/>
            <a:ext cx="54864" cy="5486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79" name="Text 75"/>
          <p:cNvSpPr/>
          <p:nvPr/>
        </p:nvSpPr>
        <p:spPr>
          <a:xfrm>
            <a:off x="6355080" y="32369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endParaRPr lang="en-US" sz="1100" dirty="0"/>
          </a:p>
        </p:txBody>
      </p:sp>
      <p:sp>
        <p:nvSpPr>
          <p:cNvPr id="80" name="Text 76"/>
          <p:cNvSpPr/>
          <p:nvPr/>
        </p:nvSpPr>
        <p:spPr>
          <a:xfrm>
            <a:off x="6355080" y="3438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com análise dos dados e premiação</a:t>
            </a:r>
            <a:endParaRPr lang="en-US" sz="900" dirty="0"/>
          </a:p>
        </p:txBody>
      </p:sp>
      <p:sp>
        <p:nvSpPr>
          <p:cNvPr id="81" name="Text 77"/>
          <p:cNvSpPr/>
          <p:nvPr/>
        </p:nvSpPr>
        <p:spPr>
          <a:xfrm>
            <a:off x="6217920" y="3822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Indicadores: GMD, conversão alimentar, custo da diária, custo da @ produzida, rendimento de carcaça, dias de cocho e margem por cabeça.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anual: análise dos dados e premiação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encontro do grupo: resultados da safra, troca entre confinadores e reconhecimento.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ilustrativa de um evento de análise de resultados.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640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 ·  MODELO DE NEGÓCIO</a:t>
            </a:r>
            <a:endParaRPr lang="en-US" sz="800" dirty="0"/>
          </a:p>
        </p:txBody>
      </p:sp>
      <p:pic>
        <p:nvPicPr>
          <p:cNvPr id="8" name="Image 1" descr="/tmp/claude-0/-home-user-projetos-rodrigo-agro/75ea8577-07ab-56ed-800f-dbd18240b1a3/scratchpad/build/../img/event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1097280"/>
            <a:ext cx="4800600" cy="31455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3931920"/>
            <a:ext cx="4800600" cy="310896"/>
          </a:xfrm>
          <a:prstGeom prst="rect">
            <a:avLst/>
          </a:prstGeom>
          <a:solidFill>
            <a:srgbClr val="1B3A8C">
              <a:alpha val="85000"/>
            </a:srgbClr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594360" y="39319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da safra apresentados para o grupo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0" y="1078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de premiação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0" y="1389888"/>
            <a:ext cx="3200400" cy="5486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577840" y="1472184"/>
            <a:ext cx="384048" cy="384048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563624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53328" y="142646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 mais rentável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053328" y="16642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margem por cabeça na safra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486400" y="1993392"/>
            <a:ext cx="3200400" cy="5486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5577840" y="2075688"/>
            <a:ext cx="384048" cy="384048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16712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53328" y="20299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evolução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053328" y="22677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mais melhorou de uma safra para outra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5486400" y="2596896"/>
            <a:ext cx="3200400" cy="5486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5577840" y="2679192"/>
            <a:ext cx="384048" cy="384048"/>
          </a:xfrm>
          <a:prstGeom prst="ellipse">
            <a:avLst/>
          </a:prstGeom>
          <a:solidFill>
            <a:srgbClr val="26668F"/>
          </a:solidFill>
          <a:ln/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2770632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053328" y="26334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Melhores indicadores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053328" y="287121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GMD, conversão e custo da @ produzida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486400" y="3200400"/>
            <a:ext cx="3200400" cy="5486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5577840" y="3282696"/>
            <a:ext cx="384048" cy="384048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3374136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053328" y="3236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destaque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6053328" y="34747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34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fazendas ativas e lançamentos em dia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5486400" y="3858768"/>
            <a:ext cx="3200400" cy="512064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33" name="Text 25"/>
          <p:cNvSpPr/>
          <p:nvPr/>
        </p:nvSpPr>
        <p:spPr>
          <a:xfrm>
            <a:off x="5577840" y="385876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vê o reconhecimento quer participar: novas fazendas e novos técnicos entram no grupo.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6430</TotalTime>
  <Words>7305</Words>
  <Application>Microsoft Office PowerPoint</Application>
  <PresentationFormat>Apresentação na tela (16:9)</PresentationFormat>
  <Paragraphs>899</Paragraphs>
  <Slides>38</Slides>
  <Notes>32</Notes>
  <HiddenSlides>6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Aptos</vt:lpstr>
      <vt:lpstr>Arial</vt:lpstr>
      <vt:lpstr>Calibri</vt:lpstr>
      <vt:lpstr>Calibri Light</vt:lpstr>
      <vt:lpstr>Office Theme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Case v2.0 TN Manager e TN Manager Web</dc:title>
  <dc:subject>PptxGenJS Presentation</dc:subject>
  <dc:creator>Rodrigo Gennari</dc:creator>
  <cp:lastModifiedBy>Rodrigo Gennari</cp:lastModifiedBy>
  <cp:revision>13</cp:revision>
  <dcterms:created xsi:type="dcterms:W3CDTF">2026-10-07T20:43:28Z</dcterms:created>
  <dcterms:modified xsi:type="dcterms:W3CDTF">2026-10-21T00:19:23Z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de8be1-d189-4942-ac4d-e73ca8d25762_Enabled">
    <vt:lpwstr>true</vt:lpwstr>
  </property>
  <property fmtid="{D5CDD505-2E9C-101B-9397-08002B2CF9AE}" pid="3" name="MSIP_Label_36de8be1-d189-4942-ac4d-e73ca8d25762_SetDate">
    <vt:lpwstr>2026-10-16T09:33:55Z</vt:lpwstr>
  </property>
  <property fmtid="{D5CDD505-2E9C-101B-9397-08002B2CF9AE}" pid="4" name="MSIP_Label_36de8be1-d189-4942-ac4d-e73ca8d25762_Method">
    <vt:lpwstr>Privileged</vt:lpwstr>
  </property>
  <property fmtid="{D5CDD505-2E9C-101B-9397-08002B2CF9AE}" pid="5" name="MSIP_Label_36de8be1-d189-4942-ac4d-e73ca8d25762_Name">
    <vt:lpwstr>Public</vt:lpwstr>
  </property>
  <property fmtid="{D5CDD505-2E9C-101B-9397-08002B2CF9AE}" pid="6" name="MSIP_Label_36de8be1-d189-4942-ac4d-e73ca8d25762_SiteId">
    <vt:lpwstr>aaace049-6505-453e-94a3-c70dcacf2984</vt:lpwstr>
  </property>
  <property fmtid="{D5CDD505-2E9C-101B-9397-08002B2CF9AE}" pid="7" name="MSIP_Label_36de8be1-d189-4942-ac4d-e73ca8d25762_ActionId">
    <vt:lpwstr>49bb33d2-cc89-4221-8ff2-c54442898523</vt:lpwstr>
  </property>
  <property fmtid="{D5CDD505-2E9C-101B-9397-08002B2CF9AE}" pid="8" name="MSIP_Label_36de8be1-d189-4942-ac4d-e73ca8d25762_ContentBits">
    <vt:lpwstr>0</vt:lpwstr>
  </property>
  <property fmtid="{D5CDD505-2E9C-101B-9397-08002B2CF9AE}" pid="9" name="MSIP_Label_36de8be1-d189-4942-ac4d-e73ca8d25762_Tag">
    <vt:lpwstr>10, 0, 1, 1</vt:lpwstr>
  </property>
</Properties>
</file>