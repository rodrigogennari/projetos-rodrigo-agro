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</c:v>
                </c:pt>
              </c:strCache>
            </c:strRef>
          </c:tx>
          <c:spPr>
            <a:solidFill>
              <a:srgbClr val="C810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Top 100 confinamentos</c:v>
                  </c:pt>
                  <c:pt idx="1">
                    <c:v>Pareto 80% (265 contas)</c:v>
                  </c:pt>
                  <c:pt idx="2">
                    <c:v>Confinamento</c:v>
                  </c:pt>
                  <c:pt idx="3">
                    <c:v>Total Beef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6.5</c:v>
                </c:pt>
                <c:pt idx="1">
                  <c:v>10.5</c:v>
                </c:pt>
                <c:pt idx="2">
                  <c:v>13</c:v>
                </c:pt>
                <c:pt idx="3">
                  <c:v>68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Amostra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8C"/>
              </a:solidFill>
              <a:effectLst/>
            </c:spPr>
          </c:dPt>
          <c:dPt>
            <c:idx val="1"/>
            <c:bubble3D val="0"/>
            <c:spPr>
              <a:solidFill>
                <a:srgbClr val="0096B4"/>
              </a:solidFill>
              <a:effectLst/>
            </c:spPr>
          </c:dPt>
          <c:dPt>
            <c:idx val="2"/>
            <c:bubble3D val="0"/>
            <c:spPr>
              <a:solidFill>
                <a:srgbClr val="C8106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Clientes ativos</c:v>
                </c:pt>
                <c:pt idx="1">
                  <c:v>Não clientes</c:v>
                </c:pt>
                <c:pt idx="2">
                  <c:v>Ex-clientes e detratores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</c:v>
                </c:pt>
                <c:pt idx="1">
                  <c:v>10</c:v>
                </c:pt>
                <c:pt idx="2">
                  <c:v>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v2.0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e TN Manager Web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produto gera valor e para quem: revisão do cliente-alvo, proposta de valor, produto mínimo e roadmap macro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Trouw Nutrition Brasil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do projeto TN Manager: Base Estratégica  |  Outubro de 2026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4114800"/>
            <a:ext cx="59436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dar um passo atrás, validar com poucas fazendas e só então ampliar.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291840" cy="306324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371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primeiro o TN Manager Web: uma versão simples, de lançamento manual, testada com 3 a 5 fazendas piloto. Cada nova versão só avança quando a anterior provar uso e valor.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3429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construir: pesquisa com no mínimo 30 fazendas, entrevistas internas e benchmark.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69080" y="1188720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11" name="Text 8"/>
          <p:cNvSpPr/>
          <p:nvPr/>
        </p:nvSpPr>
        <p:spPr>
          <a:xfrm>
            <a:off x="4069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09160" y="11704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 negócio continua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09160" y="14630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 responde por 19% do Sales Profit Beef e a v1.0 registrou 51 mil cabeças perdidas para concorrentes com melhor suporte digital.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69080" y="2240280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15" name="Text 12"/>
          <p:cNvSpPr/>
          <p:nvPr/>
        </p:nvSpPr>
        <p:spPr>
          <a:xfrm>
            <a:off x="4069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709160" y="2221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cliente-alvo precisa ser revisto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09160" y="25146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v1.0 mirou grandes confinamentos já automatizados, onde Cargill e DSM/Prodap são mais fortes. A hipótese da v2.0 é que a lacuna maior está em quem ainda registra em papel ou planilha.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069080" y="3291840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19" name="Text 16"/>
          <p:cNvSpPr/>
          <p:nvPr/>
        </p:nvSpPr>
        <p:spPr>
          <a:xfrm>
            <a:off x="4069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709160" y="32735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antes de investir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09160" y="35661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escopo final do produto mínimo sai do discovery com clientes, ex-clientes e não clientes.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da v1.0 para a v2.0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deixa de ser como defender a base e passa a ser onde o produto gera valor e para quem.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37560"/>
                <a:gridCol w="3337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 (outubro de 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66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 (outubro de 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6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Cliente-alvo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Confinamentos grandes (A+ e B+), mínimo de 2.000 cabeças, com pesagem e controle estruturado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Confinamentos com gestão manual ou em planilha, clientes e não clientes (hipótese a validar)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completo em nuvem, integração com hardware e terminal 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Manager Web: lançamento manual, poucos indicadores, evolução por versões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da decisão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Premissas internas e lista de clientes perdidos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Entrevistas internas, benchmark externo e discovery com 30 ou mais fazendas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clientes no ano 1 e 200 no ano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 5 fazendas piloto, depois ondas com critério de avanço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de sucesso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Profit e market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recorrente e valor percebido primeiro; Sales Profit em seguida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 negócio da v1.0 continua válido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de 2023 justificam o projeto. A v2.0 revisa a forma de resolver o problema.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Business Case Feedlot App v1.0 (out/2023) e OGP Brazil 2023. Atualizar no diagnóstico.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Profit Beef 2022 (R$ milhões)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417320"/>
          <a:ext cx="493776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577840" y="1188720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6"/>
          <p:cNvSpPr/>
          <p:nvPr/>
        </p:nvSpPr>
        <p:spPr>
          <a:xfrm>
            <a:off x="5577840" y="1188720"/>
            <a:ext cx="54864" cy="1325880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11" name="Text 7"/>
          <p:cNvSpPr/>
          <p:nvPr/>
        </p:nvSpPr>
        <p:spPr>
          <a:xfrm>
            <a:off x="5733288" y="1298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733288" y="178308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Sales Profit Beef vem de confinamento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178040" y="1188720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Shape 10"/>
          <p:cNvSpPr/>
          <p:nvPr/>
        </p:nvSpPr>
        <p:spPr>
          <a:xfrm>
            <a:off x="7178040" y="1188720"/>
            <a:ext cx="54864" cy="132588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15" name="Text 11"/>
          <p:cNvSpPr/>
          <p:nvPr/>
        </p:nvSpPr>
        <p:spPr>
          <a:xfrm>
            <a:off x="7333488" y="1298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mil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333488" y="178308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perdidas em 7 clientes, a maior parte para a Cargill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577840" y="2670048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Shape 14"/>
          <p:cNvSpPr/>
          <p:nvPr/>
        </p:nvSpPr>
        <p:spPr>
          <a:xfrm>
            <a:off x="5577840" y="2670048"/>
            <a:ext cx="54864" cy="1325880"/>
          </a:xfrm>
          <a:prstGeom prst="rect">
            <a:avLst/>
          </a:prstGeom>
          <a:solidFill>
            <a:srgbClr val="26668F"/>
          </a:solidFill>
          <a:ln/>
        </p:spPr>
      </p:sp>
      <p:sp>
        <p:nvSpPr>
          <p:cNvPr id="19" name="Text 15"/>
          <p:cNvSpPr/>
          <p:nvPr/>
        </p:nvSpPr>
        <p:spPr>
          <a:xfrm>
            <a:off x="5733288" y="27797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 mil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5733288" y="3264408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em risco de perda em 2023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178040" y="2670048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Shape 18"/>
          <p:cNvSpPr/>
          <p:nvPr/>
        </p:nvSpPr>
        <p:spPr>
          <a:xfrm>
            <a:off x="7178040" y="2670048"/>
            <a:ext cx="54864" cy="132588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3" name="Text 19"/>
          <p:cNvSpPr/>
          <p:nvPr/>
        </p:nvSpPr>
        <p:spPr>
          <a:xfrm>
            <a:off x="7333488" y="27797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9,6%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7333488" y="3264408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market share em premix, mineral e concentrado para confinamento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valor: quem ganha o quê com o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públicos, quatro tipos de valor. Todos são hipóteses a validar no discovery.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920240" y="1874520"/>
            <a:ext cx="2651760" cy="731520"/>
          </a:xfrm>
          <a:prstGeom prst="line">
            <a:avLst/>
          </a:prstGeom>
          <a:noFill/>
          <a:ln w="25400">
            <a:solidFill>
              <a:srgbClr val="1B3A8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1920240" y="2606040"/>
            <a:ext cx="2651760" cy="731520"/>
          </a:xfrm>
          <a:prstGeom prst="line">
            <a:avLst/>
          </a:prstGeom>
          <a:noFill/>
          <a:ln w="25400">
            <a:solidFill>
              <a:srgbClr val="26668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4572000" y="1874520"/>
            <a:ext cx="2651760" cy="731520"/>
          </a:xfrm>
          <a:prstGeom prst="line">
            <a:avLst/>
          </a:prstGeom>
          <a:noFill/>
          <a:ln w="25400">
            <a:solidFill>
              <a:srgbClr val="0096B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2606040"/>
            <a:ext cx="2651760" cy="731520"/>
          </a:xfrm>
          <a:prstGeom prst="line">
            <a:avLst/>
          </a:prstGeom>
          <a:noFill/>
          <a:ln w="25400">
            <a:solidFill>
              <a:srgbClr val="C810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0" y="2103120"/>
            <a:ext cx="1828800" cy="1005840"/>
          </a:xfrm>
          <a:prstGeom prst="ellipse">
            <a:avLst/>
          </a:prstGeom>
          <a:solidFill>
            <a:srgbClr val="1B3A8C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2103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645920" y="1600200"/>
            <a:ext cx="548640" cy="548640"/>
          </a:xfrm>
          <a:prstGeom prst="ellipse">
            <a:avLst/>
          </a:prstGeom>
          <a:solidFill>
            <a:srgbClr val="1B3A8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7373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67712" y="17556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do confinamento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11480" y="1078992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1B3A8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6344" y="1097280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 desempenho por lote sem montar planilha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1645920" y="1078992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1B3A8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700784" y="1097280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com o dado da semana, não do mês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1645920" y="3063240"/>
            <a:ext cx="548640" cy="548640"/>
          </a:xfrm>
          <a:prstGeom prst="ellipse">
            <a:avLst/>
          </a:prstGeom>
          <a:solidFill>
            <a:srgbClr val="26668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320040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67712" y="321868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do curral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11480" y="3675888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26668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66344" y="3694176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leitura de cocho e trato em poucos minutos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1645920" y="3675888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26668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700784" y="3694176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simples, no celular ou no computador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6949440" y="1600200"/>
            <a:ext cx="548640" cy="548640"/>
          </a:xfrm>
          <a:prstGeom prst="ellipse">
            <a:avLst/>
          </a:prstGeom>
          <a:solidFill>
            <a:srgbClr val="0096B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73736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03520" y="17556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TN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09360" y="1078992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0096B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364224" y="1097280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várias fazendas à distância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7543800" y="1078992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0096B4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598664" y="1097280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ajuste de dieta com dado real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6949440" y="3063240"/>
            <a:ext cx="548640" cy="548640"/>
          </a:xfrm>
          <a:prstGeom prst="ellipse">
            <a:avLst/>
          </a:prstGeom>
          <a:solidFill>
            <a:srgbClr val="C8106E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20040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303520" y="321868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Trouw Nutrition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309360" y="3675888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C8106E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364224" y="3694176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Fidelizar clientes de núcleo e premix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7543800" y="3675888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C8106E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598664" y="3694176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 para não clientes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do cliente-alvo: onde o TN Manager Web entra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v1.0 mirou o quadrante mais disputado. A v2.0 propõe começar onde há dor e pouca oferta simples.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88136" y="1179576"/>
            <a:ext cx="2670048" cy="1481328"/>
          </a:xfrm>
          <a:prstGeom prst="rect">
            <a:avLst/>
          </a:prstGeom>
          <a:solidFill>
            <a:srgbClr val="FBE7F1"/>
          </a:solidFill>
          <a:ln/>
        </p:spPr>
      </p:sp>
      <p:sp>
        <p:nvSpPr>
          <p:cNvPr id="7" name="Shape 4"/>
          <p:cNvSpPr/>
          <p:nvPr/>
        </p:nvSpPr>
        <p:spPr>
          <a:xfrm>
            <a:off x="1234440" y="1325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C8106E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1325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344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porte, registro manual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9476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dor e alto volume de produto. Segunda onda do TN Manager Web.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31336" y="1179576"/>
            <a:ext cx="2670048" cy="14813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3977640" y="1325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26668F"/>
          </a:solidFill>
          <a:ln/>
        </p:spPr>
      </p:sp>
      <p:sp>
        <p:nvSpPr>
          <p:cNvPr id="13" name="Text 10"/>
          <p:cNvSpPr/>
          <p:nvPr/>
        </p:nvSpPr>
        <p:spPr>
          <a:xfrm>
            <a:off x="3977640" y="1325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9776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porte, automatizado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977640" y="19476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da v1.0. Disputado por Cargill e DSM/Prodap. Território do TN Manager completo.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88136" y="2734056"/>
            <a:ext cx="2670048" cy="1481328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17" name="Shape 14"/>
          <p:cNvSpPr/>
          <p:nvPr/>
        </p:nvSpPr>
        <p:spPr>
          <a:xfrm>
            <a:off x="1234440" y="288036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/>
        </p:spPr>
      </p:sp>
      <p:sp>
        <p:nvSpPr>
          <p:cNvPr id="18" name="Text 15"/>
          <p:cNvSpPr/>
          <p:nvPr/>
        </p:nvSpPr>
        <p:spPr>
          <a:xfrm>
            <a:off x="1234440" y="28803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344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porte, registro manual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34440" y="35021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fazendas e menos software simples disponível. Ponto de entrada sugerido para o piloto.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831336" y="2734056"/>
            <a:ext cx="2670048" cy="14813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Shape 19"/>
          <p:cNvSpPr/>
          <p:nvPr/>
        </p:nvSpPr>
        <p:spPr>
          <a:xfrm>
            <a:off x="3977640" y="288036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7A858F"/>
          </a:solidFill>
          <a:ln/>
        </p:spPr>
      </p:sp>
      <p:sp>
        <p:nvSpPr>
          <p:cNvPr id="23" name="Text 20"/>
          <p:cNvSpPr/>
          <p:nvPr/>
        </p:nvSpPr>
        <p:spPr>
          <a:xfrm>
            <a:off x="3977640" y="28803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9776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porte, automatizado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977640" y="35021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usa alguma ferramenta. Avaliar troca ou integração em versão futura.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20040" y="1143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20040" y="1920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0040" y="3474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51560" y="4306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ou planilha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794760" y="4306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Balança, vagão e software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5156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de gestão de dados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12280" y="1143000"/>
            <a:ext cx="1920240" cy="310896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33" name="Text 30"/>
          <p:cNvSpPr/>
          <p:nvPr/>
        </p:nvSpPr>
        <p:spPr>
          <a:xfrm>
            <a:off x="6967728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mudar o foco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67728" y="1627632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tem balança e vagão compara o TN Manager com sistemas maduros e equipes de campo maiores.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registra no papel compara com o caderno. Um produto simples já entrega ganho visível.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discovery confirma porte mínimo e tamanho de cada quadrante.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cliente-alvo para o piloto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propostos para escolher as primeiras fazendas. A faixa de porte sai do discovery.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2606040" cy="41148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2606040" cy="23317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719072"/>
            <a:ext cx="24048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 ativo, com ciclo regular de entrada e saída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TN de núcleo, premix ou mineral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atual em papel, caderno ou planilha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pessoa responsável por lançar os dados todo dia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TN com visita ou contato recorrente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606040" cy="41148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188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Desejáveis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46120" y="1600200"/>
            <a:ext cx="2606040" cy="23317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1719072"/>
            <a:ext cx="24048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Pesagem na entrada e na saída dos animais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cocho diária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na sede da fazenda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disposto a dar retorno a cada 15 dias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35040" y="1188720"/>
            <a:ext cx="2606040" cy="411480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1188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perfil inicial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0" y="1600200"/>
            <a:ext cx="2606040" cy="23317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Text 14"/>
          <p:cNvSpPr/>
          <p:nvPr/>
        </p:nvSpPr>
        <p:spPr>
          <a:xfrm>
            <a:off x="6126480" y="1719072"/>
            <a:ext cx="24048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já integradas a balança, vagão e software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 sem rotina mínima de registro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 a pasto, leite e outras espécies (mantido da v1.0)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4041648"/>
            <a:ext cx="8229600" cy="365760"/>
          </a:xfrm>
          <a:prstGeom prst="rect">
            <a:avLst/>
          </a:prstGeom>
          <a:solidFill>
            <a:srgbClr val="FBE7F1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404164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mínimo: </a:t>
            </a:r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v1.0 usava 2.000 cabeças. Para a versão manual, a faixa ideal será definida com os dados do discovery.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valor: canvas para o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esquerdo: o que entregamos. Lado direito: o que o confinamento precisa. Hipóteses para o discovery.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VALOR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CLIENTE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1783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371600"/>
            <a:ext cx="1783080" cy="27432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 serviço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064" y="1700784"/>
            <a:ext cx="1673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com lançamento manual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com poucos indicadores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 automático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do técnico TN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31720" y="137160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6668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31720" y="1371600"/>
            <a:ext cx="1965960" cy="274320"/>
          </a:xfrm>
          <a:prstGeom prst="rect">
            <a:avLst/>
          </a:prstGeom>
          <a:solidFill>
            <a:srgbClr val="26668F"/>
          </a:solidFill>
          <a:ln/>
        </p:spPr>
      </p:sp>
      <p:sp>
        <p:nvSpPr>
          <p:cNvPr id="14" name="Text 11"/>
          <p:cNvSpPr/>
          <p:nvPr/>
        </p:nvSpPr>
        <p:spPr>
          <a:xfrm>
            <a:off x="242316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Aliviadores de dor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386584" y="170078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padronizados e curtos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 de licença para o cliente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de quem já visita a fazenda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331720" y="28803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31720" y="2880360"/>
            <a:ext cx="1965960" cy="27432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8" name="Text 15"/>
          <p:cNvSpPr/>
          <p:nvPr/>
        </p:nvSpPr>
        <p:spPr>
          <a:xfrm>
            <a:off x="242316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Criadores de ganho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386584" y="320954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pronto para o dono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de ajuste de dieta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entre lotes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846320" y="137160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6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46320" y="1371600"/>
            <a:ext cx="1965960" cy="274320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22" name="Text 19"/>
          <p:cNvSpPr/>
          <p:nvPr/>
        </p:nvSpPr>
        <p:spPr>
          <a:xfrm>
            <a:off x="493776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901184" y="170078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espalhados em caderno e planilha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digitação e retrabalho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caro, complexo ou sem suporte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46320" y="28803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30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46320" y="2880360"/>
            <a:ext cx="1965960" cy="274320"/>
          </a:xfrm>
          <a:prstGeom prst="rect">
            <a:avLst/>
          </a:prstGeom>
          <a:solidFill>
            <a:srgbClr val="A30C5A"/>
          </a:solidFill>
          <a:ln/>
        </p:spPr>
      </p:sp>
      <p:sp>
        <p:nvSpPr>
          <p:cNvPr id="26" name="Text 23"/>
          <p:cNvSpPr/>
          <p:nvPr/>
        </p:nvSpPr>
        <p:spPr>
          <a:xfrm>
            <a:off x="493776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esperados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901184" y="320954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desempenho do lote na semana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fazendas parecidas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técnico olhando os números junto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03720" y="1371600"/>
            <a:ext cx="1783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295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03720" y="1371600"/>
            <a:ext cx="1783080" cy="274320"/>
          </a:xfrm>
          <a:prstGeom prst="rect">
            <a:avLst/>
          </a:prstGeom>
          <a:solidFill>
            <a:srgbClr val="12295F"/>
          </a:solidFill>
          <a:ln/>
        </p:spPr>
      </p:sp>
      <p:sp>
        <p:nvSpPr>
          <p:cNvPr id="30" name="Text 27"/>
          <p:cNvSpPr/>
          <p:nvPr/>
        </p:nvSpPr>
        <p:spPr>
          <a:xfrm>
            <a:off x="699516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do cliente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958584" y="1700784"/>
            <a:ext cx="1673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o trato diário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custo por lote e por arroba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entradas, saídas e mortes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 contas ao dono ou sócio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325112" y="2578608"/>
            <a:ext cx="502920" cy="502920"/>
          </a:xfrm>
          <a:prstGeom prst="ellipse">
            <a:avLst/>
          </a:prstGeom>
          <a:solidFill>
            <a:srgbClr val="C5D300"/>
          </a:solidFill>
          <a:ln/>
        </p:spPr>
      </p:sp>
      <p:sp>
        <p:nvSpPr>
          <p:cNvPr id="33" name="Text 30"/>
          <p:cNvSpPr/>
          <p:nvPr/>
        </p:nvSpPr>
        <p:spPr>
          <a:xfrm>
            <a:off x="4325112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versões, dois papéis na estratégia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TN Manager Web abre a porta e prepara o cliente para migrar à versão completa.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48840" y="1143000"/>
            <a:ext cx="3200400" cy="365760"/>
          </a:xfrm>
          <a:prstGeom prst="rect">
            <a:avLst/>
          </a:prstGeom>
          <a:solidFill>
            <a:srgbClr val="2666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(escopo da v1.0)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0" y="1143000"/>
            <a:ext cx="3200400" cy="365760"/>
          </a:xfrm>
          <a:prstGeom prst="rect">
            <a:avLst/>
          </a:prstGeom>
          <a:solidFill>
            <a:srgbClr val="C810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 (proposta v2.0)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6002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40280" y="1600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confinamentos com balança, vagão e equipe estruturada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600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 com registro manual (hipótese)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20574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dados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40280" y="20574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hardware e coleta automática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0574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manual em formulários simples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5146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25146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240280" y="25146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e terminal offline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77840" y="25146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Navegador, no computador ou no celular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29718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240280" y="2971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completa, integrações e módulos adicionais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577840" y="2971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módulos essenciais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4290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4290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e suporte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240280" y="34290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implantação com equipe dedicada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577840" y="34290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TN que já atende a fazenda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38862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na estratégia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240280" y="3886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contas A+ e B+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77840" y="3886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Conquistar, ensinar e preparar a migração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mínimo: o que entra no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MoSCoW. Só a primeira coluna é obrigatória para o piloto.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965960" cy="566928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ter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0.1, piloto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1755648"/>
            <a:ext cx="1965960" cy="2542032"/>
          </a:xfrm>
          <a:prstGeom prst="rect">
            <a:avLst/>
          </a:prstGeom>
          <a:solidFill>
            <a:srgbClr val="FBE7F1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fazenda, currais e lotes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diário de trato por curral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cocho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pesagens, saídas, mortes e enfermaria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Painel: consumo de matéria seca, GMD, dias de cocho e mortalidade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 em PDF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32888" y="1188720"/>
            <a:ext cx="1965960" cy="566928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12" name="Text 9"/>
          <p:cNvSpPr/>
          <p:nvPr/>
        </p:nvSpPr>
        <p:spPr>
          <a:xfrm>
            <a:off x="2642616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Deveria 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42616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32888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Text 12"/>
          <p:cNvSpPr/>
          <p:nvPr/>
        </p:nvSpPr>
        <p:spPr>
          <a:xfrm>
            <a:off x="2587752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dietas com correção de matéria seca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lote e por arroba produzida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simples de consumo fora do previsto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08576" y="1188720"/>
            <a:ext cx="1965960" cy="56692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7" name="Text 14"/>
          <p:cNvSpPr/>
          <p:nvPr/>
        </p:nvSpPr>
        <p:spPr>
          <a:xfrm>
            <a:off x="4718304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Poderia ter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18304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0.3 em diante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08576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Text 17"/>
          <p:cNvSpPr/>
          <p:nvPr/>
        </p:nvSpPr>
        <p:spPr>
          <a:xfrm>
            <a:off x="4663440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de planilha existente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entre lotes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anônimo entre fazendas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84264" y="1188720"/>
            <a:ext cx="1965960" cy="566928"/>
          </a:xfrm>
          <a:prstGeom prst="rect">
            <a:avLst/>
          </a:prstGeom>
          <a:solidFill>
            <a:srgbClr val="7A858F"/>
          </a:solidFill>
          <a:ln/>
        </p:spPr>
      </p:sp>
      <p:sp>
        <p:nvSpPr>
          <p:cNvPr id="22" name="Text 19"/>
          <p:cNvSpPr/>
          <p:nvPr/>
        </p:nvSpPr>
        <p:spPr>
          <a:xfrm>
            <a:off x="6793992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terá agora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93992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para a versão completa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684264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Text 22"/>
          <p:cNvSpPr/>
          <p:nvPr/>
        </p:nvSpPr>
        <p:spPr>
          <a:xfrm>
            <a:off x="6739128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balança, vagão e hardware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nativo offline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Fidelidade e sustentabilidade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Recria, leite e outras espécies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produto mínimo funciona na rotina da fazenda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passos. Se não cabe na rotina do curral, não entra no produto mínimo.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04672" y="1234440"/>
            <a:ext cx="868680" cy="868680"/>
          </a:xfrm>
          <a:prstGeom prst="ellipse">
            <a:avLst/>
          </a:prstGeom>
          <a:solidFill>
            <a:srgbClr val="1B3A8C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764792" y="1554480"/>
            <a:ext cx="347472" cy="228600"/>
          </a:xfrm>
          <a:prstGeom prst="rightArrow">
            <a:avLst/>
          </a:prstGeom>
          <a:solidFill>
            <a:srgbClr val="D9DEE3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487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Fazenda, currais, lotes e dieta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87168" y="1234440"/>
            <a:ext cx="868680" cy="868680"/>
          </a:xfrm>
          <a:prstGeom prst="ellipse">
            <a:avLst/>
          </a:prstGeom>
          <a:solidFill>
            <a:srgbClr val="26668F"/>
          </a:solidFill>
          <a:ln/>
        </p:spPr>
      </p:sp>
      <p:sp>
        <p:nvSpPr>
          <p:cNvPr id="13" name="Text 10"/>
          <p:cNvSpPr/>
          <p:nvPr/>
        </p:nvSpPr>
        <p:spPr>
          <a:xfrm>
            <a:off x="2487168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3447288" y="1554480"/>
            <a:ext cx="347472" cy="228600"/>
          </a:xfrm>
          <a:prstGeom prst="rightArrow">
            <a:avLst/>
          </a:prstGeom>
          <a:solidFill>
            <a:srgbClr val="D9DEE3"/>
          </a:solidFill>
          <a:ln/>
        </p:spPr>
      </p:sp>
      <p:sp>
        <p:nvSpPr>
          <p:cNvPr id="15" name="Text 12"/>
          <p:cNvSpPr/>
          <p:nvPr/>
        </p:nvSpPr>
        <p:spPr>
          <a:xfrm>
            <a:off x="2185416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185416" y="2487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dia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231136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fornecido e leitura de cocho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69664" y="1234440"/>
            <a:ext cx="868680" cy="868680"/>
          </a:xfrm>
          <a:prstGeom prst="ellipse">
            <a:avLst/>
          </a:prstGeom>
          <a:solidFill>
            <a:srgbClr val="0096B4"/>
          </a:solidFill>
          <a:ln/>
        </p:spPr>
      </p:sp>
      <p:sp>
        <p:nvSpPr>
          <p:cNvPr id="19" name="Text 16"/>
          <p:cNvSpPr/>
          <p:nvPr/>
        </p:nvSpPr>
        <p:spPr>
          <a:xfrm>
            <a:off x="4169664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129784" y="1554480"/>
            <a:ext cx="347472" cy="228600"/>
          </a:xfrm>
          <a:prstGeom prst="rightArrow">
            <a:avLst/>
          </a:prstGeom>
          <a:solidFill>
            <a:srgbClr val="D9DEE3"/>
          </a:solidFill>
          <a:ln/>
        </p:spPr>
      </p:sp>
      <p:sp>
        <p:nvSpPr>
          <p:cNvPr id="21" name="Text 18"/>
          <p:cNvSpPr/>
          <p:nvPr/>
        </p:nvSpPr>
        <p:spPr>
          <a:xfrm>
            <a:off x="3867912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67912" y="2487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ocorre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913632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pesagens, saídas e mortes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52160" y="1234440"/>
            <a:ext cx="868680" cy="868680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25" name="Text 22"/>
          <p:cNvSpPr/>
          <p:nvPr/>
        </p:nvSpPr>
        <p:spPr>
          <a:xfrm>
            <a:off x="5852160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Shape 23"/>
          <p:cNvSpPr/>
          <p:nvPr/>
        </p:nvSpPr>
        <p:spPr>
          <a:xfrm>
            <a:off x="6812280" y="1554480"/>
            <a:ext cx="347472" cy="228600"/>
          </a:xfrm>
          <a:prstGeom prst="rightArrow">
            <a:avLst/>
          </a:prstGeom>
          <a:solidFill>
            <a:srgbClr val="D9DEE3"/>
          </a:solidFill>
          <a:ln/>
        </p:spPr>
      </p:sp>
      <p:sp>
        <p:nvSpPr>
          <p:cNvPr id="27" name="Text 24"/>
          <p:cNvSpPr/>
          <p:nvPr/>
        </p:nvSpPr>
        <p:spPr>
          <a:xfrm>
            <a:off x="5550408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550408" y="2487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semana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596128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e relatório gerados sozinhos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534656" y="1234440"/>
            <a:ext cx="868680" cy="868680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31" name="Text 28"/>
          <p:cNvSpPr/>
          <p:nvPr/>
        </p:nvSpPr>
        <p:spPr>
          <a:xfrm>
            <a:off x="7534656" y="12344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7232904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232904" y="24871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técnico TN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278624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dos números e ajuste de dieta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0" y="3520440"/>
            <a:ext cx="26060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6" name="Shape 33"/>
          <p:cNvSpPr/>
          <p:nvPr/>
        </p:nvSpPr>
        <p:spPr>
          <a:xfrm>
            <a:off x="457200" y="3520440"/>
            <a:ext cx="54864" cy="777240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37" name="Text 34"/>
          <p:cNvSpPr/>
          <p:nvPr/>
        </p:nvSpPr>
        <p:spPr>
          <a:xfrm>
            <a:off x="621792" y="3593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campos por tela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21792" y="3858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lançamento diário em até 10 minutos.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3246120" y="3520440"/>
            <a:ext cx="26060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0" name="Shape 37"/>
          <p:cNvSpPr/>
          <p:nvPr/>
        </p:nvSpPr>
        <p:spPr>
          <a:xfrm>
            <a:off x="3246120" y="3520440"/>
            <a:ext cx="54864" cy="777240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41" name="Text 38"/>
          <p:cNvSpPr/>
          <p:nvPr/>
        </p:nvSpPr>
        <p:spPr>
          <a:xfrm>
            <a:off x="3410712" y="3593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do curral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3410712" y="3858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que o tratador já usa, sem jargão de sistema.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035040" y="3520440"/>
            <a:ext cx="26060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4" name="Shape 41"/>
          <p:cNvSpPr/>
          <p:nvPr/>
        </p:nvSpPr>
        <p:spPr>
          <a:xfrm>
            <a:off x="6035040" y="3520440"/>
            <a:ext cx="54864" cy="777240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45" name="Text 42"/>
          <p:cNvSpPr/>
          <p:nvPr/>
        </p:nvSpPr>
        <p:spPr>
          <a:xfrm>
            <a:off x="6199632" y="3593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para conexão fraca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6199632" y="38587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simples que carregam com internet de fazenda.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pesquisa: três frentes antes de construir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2.1, 2.1.1 e 2.2 do cronograma, nas semanas 2 e 3.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06040" cy="658368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3533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interna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1556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stakeholders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5720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Text 8"/>
          <p:cNvSpPr/>
          <p:nvPr/>
        </p:nvSpPr>
        <p:spPr>
          <a:xfrm>
            <a:off x="585216" y="18745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85216" y="20574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entendimento e apoio entre quem pode acelerar ou travar o projeto na Trouw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5216" y="248716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85216" y="267004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Beef, gerência comercial, técnicos, RTVs, TI e marketing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85216" y="30998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85216" y="3282696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semiestruturada de 30 a 45 minutos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85216" y="37124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85216" y="3895344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aderência e lista de objeções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246120" y="1143000"/>
            <a:ext cx="2606040" cy="658368"/>
          </a:xfrm>
          <a:prstGeom prst="rect">
            <a:avLst/>
          </a:prstGeom>
          <a:solidFill>
            <a:srgbClr val="26668F"/>
          </a:solidFill>
          <a:ln/>
        </p:spPr>
      </p:sp>
      <p:sp>
        <p:nvSpPr>
          <p:cNvPr id="21" name="Shape 17"/>
          <p:cNvSpPr/>
          <p:nvPr/>
        </p:nvSpPr>
        <p:spPr>
          <a:xfrm>
            <a:off x="335584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135331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0448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externo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90448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concorrentes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24612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Text 21"/>
          <p:cNvSpPr/>
          <p:nvPr/>
        </p:nvSpPr>
        <p:spPr>
          <a:xfrm>
            <a:off x="3374136" y="18745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374136" y="20574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 e fracos dos sistemas do mercado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374136" y="248716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3374136" y="267004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que usam vários sistemas e consultores com sistema próprio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3374136" y="30998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3374136" y="3282696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demonstração guiada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3374136" y="37124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3374136" y="3895344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funcionalidades, dores e soluções já testadas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035040" y="1143000"/>
            <a:ext cx="2606040" cy="658368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35" name="Shape 30"/>
          <p:cNvSpPr/>
          <p:nvPr/>
        </p:nvSpPr>
        <p:spPr>
          <a:xfrm>
            <a:off x="614476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353312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69340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com clientes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669340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Incluindo detratores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03504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0" name="Text 34"/>
          <p:cNvSpPr/>
          <p:nvPr/>
        </p:nvSpPr>
        <p:spPr>
          <a:xfrm>
            <a:off x="6163056" y="18745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163056" y="20574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real de valor e dores antes de construir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6163056" y="248716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6163056" y="267004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ex-clientes e não clientes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6163056" y="30998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6163056" y="3282696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estruturado e entrevista curta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6163056" y="37124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6163056" y="3895344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cliente validado e ranking de dores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no mínimo 30 fazendas, com detratores na amostra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proposta para evitar uma amostra feita só de clientes satisfeitos.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4300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146304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1463040" y="2578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4041648"/>
            <a:ext cx="118872" cy="118872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10" name="Text 6"/>
          <p:cNvSpPr/>
          <p:nvPr/>
        </p:nvSpPr>
        <p:spPr>
          <a:xfrm>
            <a:off x="576072" y="3995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ativos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371600" y="4041648"/>
            <a:ext cx="118872" cy="11887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2" name="Text 8"/>
          <p:cNvSpPr/>
          <p:nvPr/>
        </p:nvSpPr>
        <p:spPr>
          <a:xfrm>
            <a:off x="1536192" y="39959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clientes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286000" y="4041648"/>
            <a:ext cx="118872" cy="118872"/>
          </a:xfrm>
          <a:prstGeom prst="rect">
            <a:avLst/>
          </a:prstGeom>
          <a:solidFill>
            <a:srgbClr val="C8106E"/>
          </a:solidFill>
          <a:ln/>
        </p:spPr>
      </p:sp>
      <p:sp>
        <p:nvSpPr>
          <p:cNvPr id="14" name="Text 10"/>
          <p:cNvSpPr/>
          <p:nvPr/>
        </p:nvSpPr>
        <p:spPr>
          <a:xfrm>
            <a:off x="2450592" y="39959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Ex-clientes e detratores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840480" y="1143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do formulário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840480" y="1508760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Text 13"/>
          <p:cNvSpPr/>
          <p:nvPr/>
        </p:nvSpPr>
        <p:spPr>
          <a:xfrm>
            <a:off x="3931920" y="1600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279392" y="160020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operação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279392" y="185623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Porte, ciclo, equipe e quem lança os dados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291072" y="1508760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1" name="Text 17"/>
          <p:cNvSpPr/>
          <p:nvPr/>
        </p:nvSpPr>
        <p:spPr>
          <a:xfrm>
            <a:off x="6382512" y="1600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729984" y="160020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 hoje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729984" y="185623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Papel, planilha ou software, e quanto tempo gasta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840480" y="2404872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Text 21"/>
          <p:cNvSpPr/>
          <p:nvPr/>
        </p:nvSpPr>
        <p:spPr>
          <a:xfrm>
            <a:off x="3931920" y="24963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4279392" y="2496312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na rotina de dados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279392" y="2752344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das cinco maiores dificuldades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291072" y="2404872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9" name="Text 25"/>
          <p:cNvSpPr/>
          <p:nvPr/>
        </p:nvSpPr>
        <p:spPr>
          <a:xfrm>
            <a:off x="6382512" y="24963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6729984" y="2496312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já usados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729984" y="2752344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 e por que parou de usar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840480" y="3300984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3" name="Text 29"/>
          <p:cNvSpPr/>
          <p:nvPr/>
        </p:nvSpPr>
        <p:spPr>
          <a:xfrm>
            <a:off x="3931920" y="33924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4279392" y="3392424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percebido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279392" y="36484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Disposição a usar e a recomendar, de 0 a 10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291072" y="3300984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7" name="Text 33"/>
          <p:cNvSpPr/>
          <p:nvPr/>
        </p:nvSpPr>
        <p:spPr>
          <a:xfrm>
            <a:off x="6382512" y="33924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4"/>
          <p:cNvSpPr/>
          <p:nvPr/>
        </p:nvSpPr>
        <p:spPr>
          <a:xfrm>
            <a:off x="6729984" y="3392424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fornecedores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729984" y="36484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do suporte digital na escolha da nutrição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interna: mapa inicial de stakeholders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 de partida (hipótese). As entrevistas confirmam ou movem cada grupo.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50392" y="1170432"/>
            <a:ext cx="2414016" cy="1499616"/>
          </a:xfrm>
          <a:prstGeom prst="rect">
            <a:avLst/>
          </a:prstGeom>
          <a:solidFill>
            <a:srgbClr val="EEF1F8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SATISFEITO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19272" y="1170432"/>
            <a:ext cx="2414016" cy="1499616"/>
          </a:xfrm>
          <a:prstGeom prst="rect">
            <a:avLst/>
          </a:prstGeom>
          <a:solidFill>
            <a:srgbClr val="FBE7F1"/>
          </a:solidFill>
          <a:ln/>
        </p:spPr>
      </p:sp>
      <p:sp>
        <p:nvSpPr>
          <p:cNvPr id="9" name="Text 6"/>
          <p:cNvSpPr/>
          <p:nvPr/>
        </p:nvSpPr>
        <p:spPr>
          <a:xfrm>
            <a:off x="3401568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DE PERTO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50392" y="2724912"/>
            <a:ext cx="2414016" cy="1499616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2788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19272" y="2724912"/>
            <a:ext cx="2414016" cy="1499616"/>
          </a:xfrm>
          <a:prstGeom prst="rect">
            <a:avLst/>
          </a:prstGeom>
          <a:solidFill>
            <a:srgbClr val="E8F4F7"/>
          </a:solidFill>
          <a:ln/>
        </p:spPr>
      </p:sp>
      <p:sp>
        <p:nvSpPr>
          <p:cNvPr id="13" name="Text 10"/>
          <p:cNvSpPr/>
          <p:nvPr/>
        </p:nvSpPr>
        <p:spPr>
          <a:xfrm>
            <a:off x="3401568" y="2788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INFORMADO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94176" y="1548994"/>
            <a:ext cx="182880" cy="182880"/>
          </a:xfrm>
          <a:prstGeom prst="ellipse">
            <a:avLst/>
          </a:prstGeom>
          <a:solidFill>
            <a:srgbClr val="1B3A8C"/>
          </a:solidFill>
          <a:ln/>
        </p:spPr>
      </p:sp>
      <p:sp>
        <p:nvSpPr>
          <p:cNvPr id="15" name="Text 12"/>
          <p:cNvSpPr/>
          <p:nvPr/>
        </p:nvSpPr>
        <p:spPr>
          <a:xfrm>
            <a:off x="3913632" y="153070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Beef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85462" y="1922069"/>
            <a:ext cx="182880" cy="182880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17" name="Text 14"/>
          <p:cNvSpPr/>
          <p:nvPr/>
        </p:nvSpPr>
        <p:spPr>
          <a:xfrm>
            <a:off x="4604918" y="1903781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 comercial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015338" y="1673352"/>
            <a:ext cx="182880" cy="182880"/>
          </a:xfrm>
          <a:prstGeom prst="ellipse">
            <a:avLst/>
          </a:prstGeom>
          <a:solidFill>
            <a:srgbClr val="1B3A8C"/>
          </a:solidFill>
          <a:ln/>
        </p:spPr>
      </p:sp>
      <p:sp>
        <p:nvSpPr>
          <p:cNvPr id="19" name="Text 16"/>
          <p:cNvSpPr/>
          <p:nvPr/>
        </p:nvSpPr>
        <p:spPr>
          <a:xfrm>
            <a:off x="2234794" y="16550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447288" y="2232965"/>
            <a:ext cx="182880" cy="182880"/>
          </a:xfrm>
          <a:prstGeom prst="ellipse">
            <a:avLst/>
          </a:prstGeom>
          <a:solidFill>
            <a:srgbClr val="1B3A8C"/>
          </a:solidFill>
          <a:ln/>
        </p:spPr>
      </p:sp>
      <p:sp>
        <p:nvSpPr>
          <p:cNvPr id="21" name="Text 18"/>
          <p:cNvSpPr/>
          <p:nvPr/>
        </p:nvSpPr>
        <p:spPr>
          <a:xfrm>
            <a:off x="3666744" y="2214677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e Digital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484218" y="2979115"/>
            <a:ext cx="182880" cy="182880"/>
          </a:xfrm>
          <a:prstGeom prst="ellipse">
            <a:avLst/>
          </a:prstGeom>
          <a:solidFill>
            <a:srgbClr val="C8106E"/>
          </a:solidFill>
          <a:ln/>
        </p:spPr>
      </p:sp>
      <p:sp>
        <p:nvSpPr>
          <p:cNvPr id="23" name="Text 20"/>
          <p:cNvSpPr/>
          <p:nvPr/>
        </p:nvSpPr>
        <p:spPr>
          <a:xfrm>
            <a:off x="4703674" y="2960827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 e RTVs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187952" y="3227832"/>
            <a:ext cx="182880" cy="182880"/>
          </a:xfrm>
          <a:prstGeom prst="ellipse">
            <a:avLst/>
          </a:prstGeom>
          <a:solidFill>
            <a:srgbClr val="0096B4"/>
          </a:solidFill>
          <a:ln/>
        </p:spPr>
      </p:sp>
      <p:sp>
        <p:nvSpPr>
          <p:cNvPr id="25" name="Text 22"/>
          <p:cNvSpPr/>
          <p:nvPr/>
        </p:nvSpPr>
        <p:spPr>
          <a:xfrm>
            <a:off x="4407408" y="32095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house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509114" y="3476549"/>
            <a:ext cx="182880" cy="182880"/>
          </a:xfrm>
          <a:prstGeom prst="ellipse">
            <a:avLst/>
          </a:prstGeom>
          <a:solidFill>
            <a:srgbClr val="0096B4"/>
          </a:solidFill>
          <a:ln/>
        </p:spPr>
      </p:sp>
      <p:sp>
        <p:nvSpPr>
          <p:cNvPr id="27" name="Text 24"/>
          <p:cNvSpPr/>
          <p:nvPr/>
        </p:nvSpPr>
        <p:spPr>
          <a:xfrm>
            <a:off x="2728570" y="3458261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82880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Influência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2960" y="43068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e envolvimento no projeto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35040" y="1143000"/>
            <a:ext cx="2651760" cy="310896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31" name="Text 28"/>
          <p:cNvSpPr/>
          <p:nvPr/>
        </p:nvSpPr>
        <p:spPr>
          <a:xfrm>
            <a:off x="6199632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perguntar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172200" y="160020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entende que é o TN Manager hoje?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problema de negócio ele precisa resolver?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faria você apoiar ou frear o projeto?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precisa estar convencido para ele avançar?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 sucesso em 12 meses?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macro: evoluir por versões, com critério para avançar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indicativos, contados a partir do início do projeto. Cada fase fecha com uma decisão de avanço.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771900" y="1325880"/>
            <a:ext cx="914" cy="2834640"/>
          </a:xfrm>
          <a:prstGeom prst="line">
            <a:avLst/>
          </a:prstGeom>
          <a:noFill/>
          <a:ln w="9525">
            <a:solidFill>
              <a:srgbClr val="D9DEE3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3406140" y="1097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754880" y="1325880"/>
            <a:ext cx="914" cy="2834640"/>
          </a:xfrm>
          <a:prstGeom prst="line">
            <a:avLst/>
          </a:prstGeom>
          <a:noFill/>
          <a:ln w="9525">
            <a:solidFill>
              <a:srgbClr val="D9DEE3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389120" y="1097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737860" y="1325880"/>
            <a:ext cx="914" cy="2834640"/>
          </a:xfrm>
          <a:prstGeom prst="line">
            <a:avLst/>
          </a:prstGeom>
          <a:noFill/>
          <a:ln w="9525">
            <a:solidFill>
              <a:srgbClr val="D9DEE3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372100" y="1097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9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720840" y="1325880"/>
            <a:ext cx="914" cy="2834640"/>
          </a:xfrm>
          <a:prstGeom prst="line">
            <a:avLst/>
          </a:prstGeom>
          <a:noFill/>
          <a:ln w="9525">
            <a:solidFill>
              <a:srgbClr val="D9DEE3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6355080" y="1097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703820" y="1325880"/>
            <a:ext cx="914" cy="2834640"/>
          </a:xfrm>
          <a:prstGeom prst="line">
            <a:avLst/>
          </a:prstGeom>
          <a:noFill/>
          <a:ln w="9525">
            <a:solidFill>
              <a:srgbClr val="D9DEE3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7338060" y="1097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15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686800" y="1325880"/>
            <a:ext cx="914" cy="2834640"/>
          </a:xfrm>
          <a:prstGeom prst="line">
            <a:avLst/>
          </a:prstGeom>
          <a:noFill/>
          <a:ln w="9525">
            <a:solidFill>
              <a:srgbClr val="D9DEE3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8321040" y="10972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18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57200" y="13990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 Diagnóstico e pesquisa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1600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case, discovery, SWOT, roadmap e GTM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788920" y="1417320"/>
            <a:ext cx="937260" cy="384048"/>
          </a:xfrm>
          <a:prstGeom prst="roundRect">
            <a:avLst>
              <a:gd name="adj" fmla="val 14286"/>
            </a:avLst>
          </a:prstGeom>
          <a:solidFill>
            <a:srgbClr val="1B3A8C"/>
          </a:solidFill>
          <a:ln/>
        </p:spPr>
      </p:sp>
      <p:sp>
        <p:nvSpPr>
          <p:cNvPr id="21" name="Text 18"/>
          <p:cNvSpPr/>
          <p:nvPr/>
        </p:nvSpPr>
        <p:spPr>
          <a:xfrm>
            <a:off x="2834640" y="1417320"/>
            <a:ext cx="84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 a 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19476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 Produto mínimo e piloto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57200" y="2148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0.1 com 3 a 5 fazendas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771900" y="1965960"/>
            <a:ext cx="937260" cy="384048"/>
          </a:xfrm>
          <a:prstGeom prst="roundRect">
            <a:avLst>
              <a:gd name="adj" fmla="val 14286"/>
            </a:avLst>
          </a:prstGeom>
          <a:solidFill>
            <a:srgbClr val="C8106E"/>
          </a:solidFill>
          <a:ln/>
        </p:spPr>
      </p:sp>
      <p:sp>
        <p:nvSpPr>
          <p:cNvPr id="25" name="Text 22"/>
          <p:cNvSpPr/>
          <p:nvPr/>
        </p:nvSpPr>
        <p:spPr>
          <a:xfrm>
            <a:off x="3817620" y="1965960"/>
            <a:ext cx="84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4 a 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24963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Ajuste e primeira onda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2697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0.2 com 10 a 15 fazendas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754880" y="2514600"/>
            <a:ext cx="937260" cy="384048"/>
          </a:xfrm>
          <a:prstGeom prst="roundRect">
            <a:avLst>
              <a:gd name="adj" fmla="val 14286"/>
            </a:avLst>
          </a:prstGeom>
          <a:solidFill>
            <a:srgbClr val="26668F"/>
          </a:solidFill>
          <a:ln/>
        </p:spPr>
      </p:sp>
      <p:sp>
        <p:nvSpPr>
          <p:cNvPr id="29" name="Text 26"/>
          <p:cNvSpPr/>
          <p:nvPr/>
        </p:nvSpPr>
        <p:spPr>
          <a:xfrm>
            <a:off x="4800600" y="2514600"/>
            <a:ext cx="84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7 a 9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30449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Expansão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5720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0.3 com 30 ou mais fazendas e técnicos treinados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737860" y="30632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/>
        </p:spPr>
      </p:sp>
      <p:sp>
        <p:nvSpPr>
          <p:cNvPr id="33" name="Text 30"/>
          <p:cNvSpPr/>
          <p:nvPr/>
        </p:nvSpPr>
        <p:spPr>
          <a:xfrm>
            <a:off x="5783580" y="3063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10 a 15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35935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 Convergência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57200" y="3794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para o TN Manager completo de quem amadurecer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703820" y="3611880"/>
            <a:ext cx="937260" cy="384048"/>
          </a:xfrm>
          <a:prstGeom prst="roundRect">
            <a:avLst>
              <a:gd name="adj" fmla="val 14286"/>
            </a:avLst>
          </a:prstGeom>
          <a:solidFill>
            <a:srgbClr val="00A8A8"/>
          </a:solidFill>
          <a:ln/>
        </p:spPr>
      </p:sp>
      <p:sp>
        <p:nvSpPr>
          <p:cNvPr id="37" name="Text 34"/>
          <p:cNvSpPr/>
          <p:nvPr/>
        </p:nvSpPr>
        <p:spPr>
          <a:xfrm>
            <a:off x="7749540" y="3611880"/>
            <a:ext cx="84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16 em diante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634740" y="4206240"/>
            <a:ext cx="274320" cy="274320"/>
          </a:xfrm>
          <a:prstGeom prst="diamond">
            <a:avLst/>
          </a:prstGeom>
          <a:solidFill>
            <a:srgbClr val="C5D300"/>
          </a:solidFill>
          <a:ln/>
        </p:spPr>
      </p:sp>
      <p:sp>
        <p:nvSpPr>
          <p:cNvPr id="39" name="Text 36"/>
          <p:cNvSpPr/>
          <p:nvPr/>
        </p:nvSpPr>
        <p:spPr>
          <a:xfrm>
            <a:off x="3543300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617720" y="4206240"/>
            <a:ext cx="274320" cy="274320"/>
          </a:xfrm>
          <a:prstGeom prst="diamond">
            <a:avLst/>
          </a:prstGeom>
          <a:solidFill>
            <a:srgbClr val="C5D300"/>
          </a:solidFill>
          <a:ln/>
        </p:spPr>
      </p:sp>
      <p:sp>
        <p:nvSpPr>
          <p:cNvPr id="41" name="Text 38"/>
          <p:cNvSpPr/>
          <p:nvPr/>
        </p:nvSpPr>
        <p:spPr>
          <a:xfrm>
            <a:off x="4526280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600700" y="4206240"/>
            <a:ext cx="274320" cy="274320"/>
          </a:xfrm>
          <a:prstGeom prst="diamond">
            <a:avLst/>
          </a:prstGeom>
          <a:solidFill>
            <a:srgbClr val="C5D300"/>
          </a:solidFill>
          <a:ln/>
        </p:spPr>
      </p:sp>
      <p:sp>
        <p:nvSpPr>
          <p:cNvPr id="43" name="Text 40"/>
          <p:cNvSpPr/>
          <p:nvPr/>
        </p:nvSpPr>
        <p:spPr>
          <a:xfrm>
            <a:off x="5509260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7566660" y="4206240"/>
            <a:ext cx="274320" cy="274320"/>
          </a:xfrm>
          <a:prstGeom prst="diamond">
            <a:avLst/>
          </a:prstGeom>
          <a:solidFill>
            <a:srgbClr val="C5D300"/>
          </a:solidFill>
          <a:ln/>
        </p:spPr>
      </p:sp>
      <p:sp>
        <p:nvSpPr>
          <p:cNvPr id="45" name="Text 42"/>
          <p:cNvSpPr/>
          <p:nvPr/>
        </p:nvSpPr>
        <p:spPr>
          <a:xfrm>
            <a:off x="7475220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57200" y="422452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avanço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avanço entre fases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propostas para discussão. Nenhuma fase avança só pelo calendário.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34440"/>
                <a:gridCol w="4800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para avançar (proposta)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  Escopo do produto mínimo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fase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ou mais fazendas respondidas; perfil de cliente e cinco dores principais confirmados; patrocinador interno definido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 Piloto validado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fase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Lançamento em pelo menos 70% dos dias, por 8 semanas; até 10 minutos por dia; gestor usa o relatório semanal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6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 Escala aprovada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fase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das fazendas ativas após 90 dias; nota de recomendação média de 8 ou mais; cada técnico atende 5 fazendas (premissa da v1.0)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96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  Integração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Durante a fase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 menos 5 fazendas pedindo integração com balança ou vagão; custo por cliente abaixo da licença de terceiros (R$ 13.541 por ano na v1.0)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principais e como reduzir cada um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maiores riscos da v2.0 estão na adoção pelo campo.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1887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292608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adesão ao lançamento manual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97280" y="1755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097280" y="19568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campos por tela, meta de 10 minutos por dia e o técnico TN como apoio nas primeiras semanas.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9"/>
          <p:cNvSpPr/>
          <p:nvPr/>
        </p:nvSpPr>
        <p:spPr>
          <a:xfrm>
            <a:off x="4663440" y="11887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71600"/>
            <a:ext cx="292608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do discovery enviesada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303520" y="1755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303520" y="19568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mínima de ex-clientes e não clientes. Resultado só orienta decisão com 30 respostas válidas.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7889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27889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71800"/>
            <a:ext cx="292608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2953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de versão inferior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9728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097280" y="35570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o TN Manager Web como degrau, com caminho claro de migração para a versão completa.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663440" y="27889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27889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971800"/>
            <a:ext cx="292608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2953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do time técnico TN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0352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5303520" y="35570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limitado a 3 a 5 fazendas e premissa de 5 fazendas por técnico, revista no G2.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5D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 próximos passos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aprovar hoje para iniciar o discovery na próxima semana.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SOLICITADAS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C810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837944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7190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TN Manager Web como primeira entrega da v2.0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C8106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61518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4963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plano de pesquisa e a meta mínima de 30 fazendas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291840"/>
            <a:ext cx="384048" cy="384048"/>
          </a:xfrm>
          <a:prstGeom prst="ellipse">
            <a:avLst/>
          </a:prstGeom>
          <a:solidFill>
            <a:srgbClr val="C8106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39242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2735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 patrocinador interno e pontos focais nas áreas comercial e técnica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46320" y="1325880"/>
            <a:ext cx="3840480" cy="2743200"/>
          </a:xfrm>
          <a:prstGeom prst="rect">
            <a:avLst/>
          </a:prstGeom>
          <a:solidFill>
            <a:srgbClr val="12295F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SEMANAS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029200" y="18288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852160" y="18288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internas e benchmark externo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0" y="235915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e S3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852160" y="23591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do formulário nas 30 fazendas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029200" y="2889504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852160" y="288950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do discovery e revisão do perfil de cliente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029200" y="341985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852160" y="341985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Imersão técnica com a software house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Case v2.0 TN Manager e TN Manager Web</dc:title>
  <dc:subject>PptxGenJS Presentation</dc:subject>
  <dc:creator>Rodrigo Gennari</dc:creator>
  <cp:lastModifiedBy>Rodrigo Gennari</cp:lastModifiedBy>
  <cp:revision>1</cp:revision>
  <dcterms:created xsi:type="dcterms:W3CDTF">2026-10-07T20:43:28Z</dcterms:created>
  <dcterms:modified xsi:type="dcterms:W3CDTF">2026-10-07T20:43:28Z</dcterms:modified>
</cp:coreProperties>
</file>