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media/image2.svg" ContentType="image/svg+xml"/>
  <Override PartName="/ppt/media/image5.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34"/>
    <p:sldId id="275" r:id="rId2"/>
    <p:sldId id="2147471995" r:id="rId45"/>
    <p:sldId id="2147471996" r:id="rId46"/>
    <p:sldId id="2147472005" r:id="rId22"/>
    <p:sldId id="2142533174" r:id="rId4"/>
    <p:sldId id="258" r:id="rId6"/>
    <p:sldId id="257" r:id="rId5"/>
    <p:sldId id="2147471992" r:id="rId7"/>
    <p:sldId id="2147471990" r:id="rId8"/>
    <p:sldId id="2147471993" r:id="rId9"/>
    <p:sldId id="2147471997" r:id="rId47"/>
    <p:sldId id="2147471991" r:id="rId10"/>
    <p:sldId id="260" r:id="rId11"/>
    <p:sldId id="2147471980" r:id="rId12"/>
    <p:sldId id="2147471981" r:id="rId13"/>
    <p:sldId id="2147471982" r:id="rId14"/>
    <p:sldId id="2147471999" r:id="rId49"/>
    <p:sldId id="262" r:id="rId16"/>
    <p:sldId id="2147471984" r:id="rId17"/>
    <p:sldId id="2147472000" r:id="rId50"/>
    <p:sldId id="2147472001" r:id="rId51"/>
    <p:sldId id="2147471998" r:id="rId48"/>
    <p:sldId id="2147472002" r:id="rId52"/>
    <p:sldId id="2147472003" r:id="rId53"/>
    <p:sldId id="2147472004" r:id="rId54"/>
    <p:sldId id="2142533161" r:id="rId23"/>
    <p:sldId id="2147471994" r:id="rId24"/>
    <p:sldId id="259" r:id="rId25"/>
    <p:sldId id="2147471956" r:id="rId26"/>
    <p:sldId id="264" r:id="rId27"/>
    <p:sldId id="265" r:id="rId28"/>
    <p:sldId id="267" r:id="rId29"/>
    <p:sldId id="268" r:id="rId30"/>
    <p:sldId id="271" r:id="rId31"/>
    <p:sldId id="272" r:id="rId32"/>
    <p:sldId id="269" r:id="rId33"/>
    <p:sldId id="261" r:id="rId35"/>
    <p:sldId id="263" r:id="rId36"/>
    <p:sldId id="2147471958" r:id="rId37"/>
    <p:sldId id="2147471978" r:id="rId38"/>
    <p:sldId id="2147471967" r:id="rId3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3" d="100"/>
          <a:sy n="143" d="100"/>
        </p:scale>
        <p:origin x="68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4.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6" Type="http://schemas.openxmlformats.org/officeDocument/2006/relationships/slide" Target="slides/slide17.xml"/><Relationship Id="rId17" Type="http://schemas.openxmlformats.org/officeDocument/2006/relationships/slide" Target="slides/slide18.xml"/><Relationship Id="rId22" Type="http://schemas.openxmlformats.org/officeDocument/2006/relationships/slide" Target="slides/slide42.xml"/><Relationship Id="rId23" Type="http://schemas.openxmlformats.org/officeDocument/2006/relationships/slide" Target="slides/slide25.xml"/><Relationship Id="rId24" Type="http://schemas.openxmlformats.org/officeDocument/2006/relationships/slide" Target="slides/slide26.xml"/><Relationship Id="rId25" Type="http://schemas.openxmlformats.org/officeDocument/2006/relationships/slide" Target="slides/slide27.xml"/><Relationship Id="rId26" Type="http://schemas.openxmlformats.org/officeDocument/2006/relationships/slide" Target="slides/slide28.xml"/><Relationship Id="rId27" Type="http://schemas.openxmlformats.org/officeDocument/2006/relationships/slide" Target="slides/slide29.xml"/><Relationship Id="rId28" Type="http://schemas.openxmlformats.org/officeDocument/2006/relationships/slide" Target="slides/slide30.xml"/><Relationship Id="rId29" Type="http://schemas.openxmlformats.org/officeDocument/2006/relationships/slide" Target="slides/slide31.xml"/><Relationship Id="rId30" Type="http://schemas.openxmlformats.org/officeDocument/2006/relationships/slide" Target="slides/slide32.xml"/><Relationship Id="rId31" Type="http://schemas.openxmlformats.org/officeDocument/2006/relationships/slide" Target="slides/slide33.xml"/><Relationship Id="rId32" Type="http://schemas.openxmlformats.org/officeDocument/2006/relationships/slide" Target="slides/slide34.xml"/><Relationship Id="rId33" Type="http://schemas.openxmlformats.org/officeDocument/2006/relationships/slide" Target="slides/slide35.xml"/><Relationship Id="rId34" Type="http://schemas.openxmlformats.org/officeDocument/2006/relationships/slide" Target="slides/slide36.xml"/><Relationship Id="rId35" Type="http://schemas.openxmlformats.org/officeDocument/2006/relationships/slide" Target="slides/slide37.xml"/><Relationship Id="rId36" Type="http://schemas.openxmlformats.org/officeDocument/2006/relationships/slide" Target="slides/slide38.xml"/><Relationship Id="rId37" Type="http://schemas.openxmlformats.org/officeDocument/2006/relationships/slide" Target="slides/slide39.xml"/><Relationship Id="rId38" Type="http://schemas.openxmlformats.org/officeDocument/2006/relationships/slide" Target="slides/slide40.xml"/><Relationship Id="rId39" Type="http://schemas.openxmlformats.org/officeDocument/2006/relationships/slide" Target="slides/slide41.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 Id="rId45" Type="http://schemas.openxmlformats.org/officeDocument/2006/relationships/slide" Target="slides/slide2.xml"/><Relationship Id="rId46" Type="http://schemas.openxmlformats.org/officeDocument/2006/relationships/slide" Target="slides/slide3.xml"/><Relationship Id="rId47" Type="http://schemas.openxmlformats.org/officeDocument/2006/relationships/slide" Target="slides/slide10.xml"/><Relationship Id="rId48" Type="http://schemas.openxmlformats.org/officeDocument/2006/relationships/slide" Target="slides/slide21.xml"/><Relationship Id="rId49" Type="http://schemas.openxmlformats.org/officeDocument/2006/relationships/slide" Target="slides/slide16.xml"/><Relationship Id="rId50" Type="http://schemas.openxmlformats.org/officeDocument/2006/relationships/slide" Target="slides/slide19.xml"/><Relationship Id="rId51" Type="http://schemas.openxmlformats.org/officeDocument/2006/relationships/slide" Target="slides/slide20.xml"/><Relationship Id="rId52" Type="http://schemas.openxmlformats.org/officeDocument/2006/relationships/slide" Target="slides/slide22.xml"/><Relationship Id="rId53" Type="http://schemas.openxmlformats.org/officeDocument/2006/relationships/slide" Target="slides/slide23.xml"/><Relationship Id="rId54"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1"/>
  <c:style val="2"/>
  <c:chart>
    <c:autoTitleDeleted val="1"/>
    <c:plotArea>
      <c:layout/>
      <c:barChart>
        <c:barDir val="bar"/>
        <c:grouping val="clustered"/>
        <c:varyColors val="0"/>
        <c:ser>
          <c:idx val="0"/>
          <c:order val="0"/>
          <c:tx>
            <c:strRef>
              <c:f>Sheet1!$B$1</c:f>
              <c:strCache>
                <c:ptCount val="1"/>
                <c:pt idx="0">
                  <c:v>SP</c:v>
                </c:pt>
              </c:strCache>
            </c:strRef>
          </c:tx>
          <c:spPr>
            <a:solidFill>
              <a:srgbClr val="C8106E"/>
            </a:solidFill>
            <a:effectLst/>
          </c:spPr>
          <c:invertIfNegative val="0"/>
          <c:dLbls>
            <c:numFmt formatCode="0.0" sourceLinked="0"/>
            <c:spPr>
              <a:noFill/>
              <a:ln>
                <a:noFill/>
              </a:ln>
              <a:effectLst/>
            </c:spPr>
            <c:txPr>
              <a:bodyPr/>
              <a:lstStyle/>
              <a:p>
                <a:pPr>
                  <a:defRPr sz="1000" b="0" i="0" u="none" strike="noStrike">
                    <a:solidFill>
                      <a:srgbClr val="4A5560"/>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Top 100 confinamentos</c:v>
                </c:pt>
                <c:pt idx="1">
                  <c:v>Pareto 80% (265 contas)</c:v>
                </c:pt>
                <c:pt idx="2">
                  <c:v>Confinamento</c:v>
                </c:pt>
                <c:pt idx="3">
                  <c:v>Total Beef</c:v>
                </c:pt>
              </c:strCache>
            </c:strRef>
          </c:cat>
          <c:val>
            <c:numRef>
              <c:f>Sheet1!$B$2:$B$5</c:f>
              <c:numCache>
                <c:formatCode>General</c:formatCode>
                <c:ptCount val="4"/>
                <c:pt idx="0">
                  <c:v>6.5</c:v>
                </c:pt>
                <c:pt idx="1">
                  <c:v>10.5</c:v>
                </c:pt>
                <c:pt idx="2">
                  <c:v>13</c:v>
                </c:pt>
                <c:pt idx="3">
                  <c:v>68</c:v>
                </c:pt>
              </c:numCache>
            </c:numRef>
          </c:val>
          <c:extLst>
            <c:ext xmlns:c16="http://schemas.microsoft.com/office/drawing/2014/chart" uri="{C3380CC4-5D6E-409C-BE32-E72D297353CC}">
              <c16:uniqueId val="{00000000-0658-4AB3-ACA0-7D9616C6425F}"/>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A5560"/>
                </a:solidFill>
                <a:latin typeface="Calibri"/>
              </a:defRPr>
            </a:pPr>
            <a:endParaRPr lang="pt-BR"/>
          </a:p>
        </c:txPr>
        <c:crossAx val="2094734552"/>
        <c:crosses val="autoZero"/>
        <c:auto val="1"/>
        <c:lblAlgn val="ctr"/>
        <c:lblOffset val="100"/>
        <c:noMultiLvlLbl val="1"/>
      </c:catAx>
      <c:valAx>
        <c:axId val="2094734552"/>
        <c:scaling>
          <c:orientation val="minMax"/>
          <c:max val="8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1"/>
  <c:style val="2"/>
  <c:chart>
    <c:autoTitleDeleted val="1"/>
    <c:plotArea>
      <c:layout/>
      <c:doughnutChart>
        <c:varyColors val="1"/>
        <c:ser>
          <c:idx val="0"/>
          <c:order val="0"/>
          <c:tx>
            <c:strRef>
              <c:f>Sheet1!$B$1</c:f>
              <c:strCache>
                <c:ptCount val="1"/>
                <c:pt idx="0">
                  <c:v>Amostra</c:v>
                </c:pt>
              </c:strCache>
            </c:strRef>
          </c:tx>
          <c:spPr>
            <a:solidFill>
              <a:schemeClr val="accent1"/>
            </a:solidFill>
            <a:ln w="9525" cap="flat">
              <a:solidFill>
                <a:srgbClr val="F9F9F9"/>
              </a:solidFill>
              <a:prstDash val="solid"/>
              <a:round/>
            </a:ln>
            <a:effectLst/>
          </c:spPr>
          <c:dPt>
            <c:idx val="0"/>
            <c:bubble3D val="0"/>
            <c:spPr>
              <a:solidFill>
                <a:srgbClr val="1B3A8C"/>
              </a:solidFill>
              <a:effectLst/>
            </c:spPr>
            <c:extLst>
              <c:ext xmlns:c16="http://schemas.microsoft.com/office/drawing/2014/chart" uri="{C3380CC4-5D6E-409C-BE32-E72D297353CC}">
                <c16:uniqueId val="{00000001-D6B1-45BF-8B8D-F51A52919082}"/>
              </c:ext>
            </c:extLst>
          </c:dPt>
          <c:dPt>
            <c:idx val="1"/>
            <c:bubble3D val="0"/>
            <c:spPr>
              <a:solidFill>
                <a:srgbClr val="0096B4"/>
              </a:solidFill>
              <a:effectLst/>
            </c:spPr>
            <c:extLst>
              <c:ext xmlns:c16="http://schemas.microsoft.com/office/drawing/2014/chart" uri="{C3380CC4-5D6E-409C-BE32-E72D297353CC}">
                <c16:uniqueId val="{00000003-D6B1-45BF-8B8D-F51A52919082}"/>
              </c:ext>
            </c:extLst>
          </c:dPt>
          <c:dPt>
            <c:idx val="2"/>
            <c:bubble3D val="0"/>
            <c:spPr>
              <a:solidFill>
                <a:srgbClr val="C8106E"/>
              </a:solidFill>
              <a:effectLst/>
            </c:spPr>
            <c:extLst>
              <c:ext xmlns:c16="http://schemas.microsoft.com/office/drawing/2014/chart" uri="{C3380CC4-5D6E-409C-BE32-E72D297353CC}">
                <c16:uniqueId val="{00000005-D6B1-45BF-8B8D-F51A52919082}"/>
              </c:ext>
            </c:extLst>
          </c:dPt>
          <c:dLbls>
            <c:dLbl>
              <c:idx val="0"/>
              <c:numFmt formatCode="General" sourceLinked="0"/>
              <c:spPr/>
              <c:txPr>
                <a:bodyPr/>
                <a:lstStyle/>
                <a:p>
                  <a:pPr>
                    <a:defRPr sz="1200" b="1" i="0" u="none" strike="noStrike">
                      <a:solidFill>
                        <a:srgbClr val="FFFFFF"/>
                      </a:solidFill>
                      <a:latin typeface="Arial"/>
                    </a:defRPr>
                  </a:pPr>
                  <a:endParaRPr lang="pt-B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6B1-45BF-8B8D-F51A52919082}"/>
                </c:ext>
              </c:extLst>
            </c:dLbl>
            <c:dLbl>
              <c:idx val="1"/>
              <c:numFmt formatCode="General" sourceLinked="0"/>
              <c:spPr/>
              <c:txPr>
                <a:bodyPr/>
                <a:lstStyle/>
                <a:p>
                  <a:pPr>
                    <a:defRPr sz="1200" b="1" i="0" u="none" strike="noStrike">
                      <a:solidFill>
                        <a:srgbClr val="FFFFFF"/>
                      </a:solidFill>
                      <a:latin typeface="Arial"/>
                    </a:defRPr>
                  </a:pPr>
                  <a:endParaRPr lang="pt-B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6B1-45BF-8B8D-F51A52919082}"/>
                </c:ext>
              </c:extLst>
            </c:dLbl>
            <c:dLbl>
              <c:idx val="2"/>
              <c:numFmt formatCode="General" sourceLinked="0"/>
              <c:spPr/>
              <c:txPr>
                <a:bodyPr/>
                <a:lstStyle/>
                <a:p>
                  <a:pPr>
                    <a:defRPr sz="1200" b="1" i="0" u="none" strike="noStrike">
                      <a:solidFill>
                        <a:srgbClr val="FFFFFF"/>
                      </a:solidFill>
                      <a:latin typeface="Arial"/>
                    </a:defRPr>
                  </a:pPr>
                  <a:endParaRPr lang="pt-B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6B1-45BF-8B8D-F51A52919082}"/>
                </c:ext>
              </c:extLst>
            </c:dLbl>
            <c:numFmt formatCode="General" sourceLinked="0"/>
            <c:spPr>
              <a:noFill/>
              <a:ln>
                <a:noFill/>
              </a:ln>
              <a:effectLst/>
            </c:spPr>
            <c:txPr>
              <a:bodyPr/>
              <a:lstStyle/>
              <a:p>
                <a:pPr>
                  <a:defRPr sz="1800" b="1" i="0" u="none" strike="noStrike">
                    <a:solidFill>
                      <a:srgbClr val="000000"/>
                    </a:solidFill>
                    <a:latin typeface="Arial"/>
                  </a:defRPr>
                </a:pPr>
                <a:endParaRPr lang="pt-BR"/>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Clientes ativos</c:v>
                </c:pt>
                <c:pt idx="1">
                  <c:v>Não clientes</c:v>
                </c:pt>
                <c:pt idx="2">
                  <c:v>Ex-clientes e detratores</c:v>
                </c:pt>
              </c:strCache>
            </c:strRef>
          </c:cat>
          <c:val>
            <c:numRef>
              <c:f>Sheet1!$B$2:$B$4</c:f>
              <c:numCache>
                <c:formatCode>General</c:formatCode>
                <c:ptCount val="3"/>
                <c:pt idx="0">
                  <c:v>12</c:v>
                </c:pt>
                <c:pt idx="1">
                  <c:v>10</c:v>
                </c:pt>
                <c:pt idx="2">
                  <c:v>8</c:v>
                </c:pt>
              </c:numCache>
            </c:numRef>
          </c:val>
          <c:extLst>
            <c:ext xmlns:c16="http://schemas.microsoft.com/office/drawing/2014/chart" uri="{C3380CC4-5D6E-409C-BE32-E72D297353CC}">
              <c16:uniqueId val="{00000006-D6B1-45BF-8B8D-F51A52919082}"/>
            </c:ext>
          </c:extLst>
        </c:ser>
        <c:dLbls>
          <c:showLegendKey val="0"/>
          <c:showVal val="0"/>
          <c:showCatName val="0"/>
          <c:showSerName val="0"/>
          <c:showPercent val="0"/>
          <c:showBubbleSize val="0"/>
          <c:showLeaderLines val="0"/>
        </c:dLbls>
        <c:firstSliceAng val="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2643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'E quantos confinamentos como esse existem no Brasil?'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'A pergunta mudou: deixou de ser como defender a base e passou a ser para quem geramos valor. Quem é esse cliente?'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'São muitas fazendas, com pouco volume cada. Em cabeças, o mercado se concentra nos grandes.'</a:t>
            </a:r>
          </a:p>
          <a:p/>
          <a:p>
            <a:r>
              <a:t>Dados do Bússola Farm 2025: 14.014 confinamentos no total. Faixa 1 (pequenos, até 1.500 cabeças): 11.194 confinamentos, 3,5 milhões de cabeças de capacidade estática projetada, unidades até 2,4 hectares. Faixa 2 (médios, até 6.900 cabeças): 1.664, 5,5 milhões, até 9 hectares. Faixa 3 (grandes, mais de 7.000 cabeças, média de 16.000): 356, 6 milhões, acima de 10 hectares. Atenção: as três faixas somam 13.214, não 14.014; os 800 restantes não aparecem com faixa e precisam ser confirmados na fonte. Percentuais calculados sobre 13.214 confinamentos e 15 milhões de cabeças. O Bússola conta muito mais confinamentos que o censo dsm-firmenich (2.445): os métodos são diferentes, e vale explicar se perguntarem. Mensagem: a faixa do TN Manager Web (200 a 2.000 cabeças) cobre a Faixa 1 e o começo da Faixa 2, o maior grupo em número de fazendas.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'E onde estão esses confinadores?'</a:t>
            </a:r>
          </a:p>
          <a:p/>
          <a:p>
            <a:r>
              <a:t>Fonte principal: Censo de Confinamento 2025 da dsm-firmenich, divulgado em fevereiro de 2026 (9,25 milhões de cabeças, 2.445 propriedades, 1.095 municípios, 100 maiores com 45% das cabeças; MT 2,2 mi, SP 1,4, GO 1,4, MS 0,9, MG 0,8). 'Outros' = 9,25 menos a soma dos 5 estados. O número de 1.131 propriedades abaixo de 1.000 cabeças vem de reportagem sobre o mesmo censo (CompreRural): confirmar no relatório completo. A faixa do meio (cerca de 1.200; exatamente 1.214) é calculada: 2.445 menos 1.131 menos 100. O censo mapeia propriedades monitoradas, não é a contagem de todos os confinamentos do país. Bioma: não há tabela pública por bioma; o Cerrado é inferência pela concentração no Centro-Oeste, MG e SP. Embrapa (Censos 2006 e 2017): o número de estabelecimentos com confinamento cresceu cerca de 145% e aumentou em todos os biomas.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'Além de onde estão, importa quem está decidindo nessas fazendas.'</a:t>
            </a:r>
          </a:p>
          <a:p/>
          <a:p>
            <a:r>
              <a:t>Base informada: 2.796 confinadores, período de outubro de 2025 a janeiro de 2026 (confirmar o período exato). A soma dos estados dá 2.797, um a mais que o total: conferir. A sigla MD da planilha foi lida como MS (Mato Grosso do Sul). AP, CE e PB não aparecem na base. RO 1.022, SP 461, MT 341, MG 200, MS 161, BA 117, PR 94, GO 93, AC 78, PA 77, AM 34, TO 34, SC 18, ES 13, RN 11, RJ 8, RR 8, RS 8, SE 5, DF 4, AL 3, PE 3, PI 3, MA 1. RO, SP e MT somam 1.824, ou 65%. A leitura sobre Rondônia cruza com o censo dsm-firmenich 2025, em que MT, SP, GO, MS e MG somam 72% das cabeças e RO não aparece entre eles.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'Os dados confirmam o público. Agora, o que entregamos para ele?'</a:t>
            </a:r>
          </a:p>
          <a:p/>
          <a:p>
            <a:r>
              <a:t>Bússola Farm 2025: faixa 1 (até 1.500 cabeças) com 11.194 confinamentos e 3,5 milhões de cabeças de capacidade estática projetada, de 15 milhões nas três faixas. Estimativa anterior, pelo censo dsm-firmenich, de 'menos de 10% das cabeças': 1.131 propriedades com média hipotética de 500 cabeças dão cerca de 0,57 milhão, ou 6% de 9,25 milhões. É uma conta nossa, não dado do censo. Dados de 2024 (dsm-firmenich): confinamentos acima de 10 mil cabeças passaram de 53,9% para 58,7% das cabeças; abaixo de 10 mil ficaram em 3,3 milhões. Embrapa Pecuária Sudeste: estudos com 184 confinamentos (2023) e 130 confinamentos (2024) mostram que escala, escolaridade e consultoria aumentam a adoção de tecnologia digital; adotantes de software têm eficiência técnica maior (114 confinamentos). A indicação do vagão a partir de cerca de 200 cabeças vem de publicação técnica antiga da Embrapa sobre confinamento de bovinos.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'Todos ganham, mas o valor não está na ferramenta.'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'Como isso acontece na rotina da fazenda?'</a:t>
            </a:r>
          </a:p>
          <a:p/>
          <a:p>
            <a:r>
              <a:t>Termo sugerido: 'item de prateleira' (ou 'commodity', palavra que o agro conhece bem). Mensagem central: qualquer concorrente entrega um sistema; poucos entregam um analista que olha os números toda semana e transforma em ajuste de dieta e manejo. É por isso que o projeto não é de TI: é de serviço técnico apoiado por dados.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'E na prática: papel ou celular? Precisa de internet?'</a:t>
            </a:r>
          </a:p>
          <a:p/>
          <a:p>
            <a:r>
              <a:t>Os passos 1 a 3 são registro, e qualquer sistema faz. Os passos 4 e 5 são o serviço da TN e o motivo do projeto. Plano de capacidade: nos dois primeiros meses (piloto), Rodrigo e o técnico de campo acompanham de perto. Do mês 3 ao 6, Rodrigo analisa até 20 fazendas (estimativa de 1 hora por fazenda por semana, cerca de 20 horas semanais). A partir do mês 7, condicionado ao G2, entram analistas dedicados na proporção proposta de 1 para cada 20 fazendas. A proporção é proposta e será revista com dados do piloto.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'E o que a concorrência oferece?'</a:t>
            </a:r>
          </a:p>
          <a:p/>
          <a:p>
            <a:r>
              <a:t>Arquitetura proposta para discussão com a software house Dreamer, não definida ainda. Princípio: o produto mínimo é um sistema web (abre no navegador do computador ou do celular), com dados na nuvem. Duas formas de lançar: (1) ficha de papel padrão preenchida no curral e digitada no fim do dia no computador da sede; (2) celular no curral pelo navegador. Guardar no aparelho e enviar depois (modo offline) depende de viabilidade técnica e custo, e o app nativo offline continua fora do produto mínimo, como no slide de MoSCoW. A escala de escore de cocho segue o padrão técnico da TN (por exemplo, notas de 0 a 4). A meta de 10 minutos por dia é critério do G1.</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'Com essas fazendas no piloto, quanto custa e como cobramos?'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'Pondo tudo junto, onde somos fortes e onde estamos expostos?'</a:t>
            </a:r>
          </a:p>
          <a:p/>
          <a:p>
            <a:r>
              <a:t>Dados informados: 20 licenças pagas a empresas parceiras. TGC (Ponta): 6 licenças de R$ 10 mil a R$ 40 mil. PecCode: 14 licenças de R$ 8 mil a R$ 12,8 mil. Orçado R$ 364 mil, pago até agora R$ 64 mil. Posição: tudo que for web passa a ser TN Manager Web; a PecCode continua como parceira quando a fazenda quiser automação (balança, vagão, integração), que a TN ainda não oferece. Faixas calculadas: TGC 6 x 10 a 40 mil = 60 a 240 mil; PecCode 14 x 8 a 12,8 mil = 112 a 179,2 mil; total 172 a 419 mil. Média: 364 mil / 20 = 18,2 mil por fazenda. Premissa: valores anuais; confirmar a periodicidade dos contratos. As fazendas TGC tendem a ser maiores e podem continuar no TGC até existir a versão com integração. Referência da v1.0 (2023): custo estimado de R$ 2.500 por cliente no app interno contra R$ 13.541 no TGC.</a:t>
            </a:r>
          </a:p>
          <a:p/>
          <a:p>
            <a:r>
              <a:t>Atualização: o TN Manager Web é para novos clientes pequenos e médios, sem automação no momento. Clientes maiores que querem automação continuam com a PecCode, parceria consolidada e rodando bem. O TN Manager Automação será retomado no futuro, em paralelo com a versão Web. A economia com licenças depende de quantas das 20 fazendas licenciadas não usam automação: levantar a lista.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sugerida: 'Para não haver dúvida: o TN Manager Web é para novos clientes, de porte pequeno e médio, e sem automação no momento. Os clientes maiores, que querem automação, continuam com a PecCode: a parceria está consolidada e rodando bem, e vamos mantê-la. O TN Manager com automação será retomado no futuro, trabalhando em paralelo com a versão Web.' Ponte: 'Em resumo, é isso que propomos.'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BB8961-162D-413B-A79F-06D8B6E59E12}" type="slidenum">
              <a:rPr lang="en-GB" smtClean="0"/>
              <a:t>22</a:t>
            </a:fld>
            <a:endParaRPr lang="en-GB"/>
          </a:p>
        </p:txBody>
      </p:sp>
    </p:spTree>
    <p:extLst>
      <p:ext uri="{BB962C8B-B14F-4D97-AF65-F5344CB8AC3E}">
        <p14:creationId xmlns:p14="http://schemas.microsoft.com/office/powerpoint/2010/main" val="32855056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sugerida: 'Vou contar como saímos de um projeto que começou pelo fim para um produto que começa pela rotina do curral e termina no resultado do pecuarista.' O capítulo 3 é o coração da conversa. O anexo, depois do agradecimento, tem o material de apoio para perguntas.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Fala sugerida: 'A primeira versão do TN Manager foi desenhada do fim para o começo: automação, integração com balança e vagão, foco nos grandes. É um projeto pesado, caro e demorado para chegar ao campo. Entrei para inverter essa lógica: começar pela rotina do curral, com um sistema simples, objetivo e flexível para o confinamento pequeno e médio, e deixar a automação para quando o cliente pedir. Sistema hoje é commodity: a Probeef mostra que 95% dos confinamentos que ela analisa já usam software de gestão, e a Embrapa mapeou mais de 100 softwares para pecuária de corte, com reclamação de que são complexos e caros. O que diferencia é o que fazemos com o dado.' Ponte: 'E para quem estamos fazendo isso?'</a:t>
            </a:r>
          </a:p>
          <a:p/>
          <a:p>
            <a:r>
              <a:t>Atualização: deixar claro que a versão Web é para novos clientes, pequenos e médios, sem automação no momento; os maiores com automação seguem com a PecCode; o TN Manager Automação volta no futuro, em paralelo. Ponte: 'Então, quem atende quem?'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sugerida: 'Quem está chegando na fazenda é outra geração. Nove em cada dez filhos de produtores ouvidos em uma pesquisa da Unicesumar querem assumir a gestão. Eles não querem planilha nem sistema complicado: querem praticidade, número e decisão. A Embrapa mostra que escolaridade e consultoria puxam a adoção digital no confinamento. O TN Manager Web foi desenhado para essa pessoa.' Dado: pesquisa com 119 jovens de 17 a 35 anos, 90,4% pretendem assumir a gestão (Canal Rural, 2026). A pesquisa não é só de pecuária de corte: usar como sinal, não como número do nosso público. Ponte: 'Então, o mercado é grande e o cliente está mudando. Estamos no caminho certo?'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sugerida: 'Em 2020 criei o Fazenda Nota 10, um grupo de fazendas que se desenvolviam juntas olhando os próprios números. A chave do longo prazo é repetir isso com o TN Manager Web: uma comunidade de confinadores com dados, indicadores e benchmarking para decidir, fechamento de safra para cada fazenda e um evento anual com análise dos dados e premiação. Analistas online cobram e auditam lançamentos, validam, interpretam e tiram dúvidas. É isso que mantém o engajamento: a fazenda fica pelo grupo, não pelo sistema.' Sugestão: se houver números do Fazenda Nota 10 (quantas fazendas, quanto evoluíram), coloque aqui; é a melhor prova de que o modelo funciona. Ponte: 'Como isso entra no calendário?'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Fontes e cuidados. Cargill: Feed Manager cobre manejo, nutrição, controle de trato, fábrica de ração, rastreabilidade SISBOV e previsão de abate; o Feed Tracer coleta o trato automaticamente; o histórico da versão 1.3 é publicado pela Integra Software (última versão listada 1.3.101, maio de 2026). CattleView: visão computacional, drones e IA; estudo da UFV em 6 confinamentos mostrou que a quantificação de sobras ainda precisa de ajuste. DSM-firmenich: comprou a Prodap em 2022 e reuniu as soluções na marca FarmTell (Beef para grandes, Views para rotina e indicadores, Beef Smart mais simples para fazendas menores); cerca de dez softwares e uma plataforma de IA; crescimento de 20% a 30% ao ano (AgFeed). Atenção: o Beef Smart é o concorrente mais parecido com o TN Manager Web. Ponta: a afirmação dos 12 dos 20 maiores é da própria Ponta. Tecnobeef: nutrição criada em 2017 para o confinamento do grupo Campanelli; cerca de 170 propriedades atendidas (AgFeed); não encontramos app próprio para clientes. JetBov: foco em até 3 mil animais, modelo em nuvem com plano gratuito limitado (preços de reportagem antiga). Probeef: 95% dos confinamentos analisados usam software de gestão. Embrapa (2018): 106 softwares para pecuária de corte e queixa de sistemas complexos e caros. PecCode fica fora da tabela porque é parceira para automação. Ponte: 'Se software todos têm, quanto custa o nosso e como cobramos?'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Mudanças em relação à SWOT da v1.0: entram como forças o ganho de tempo (relatório automático), o benchmarking entre fazendas, a posse dos dados e a ausência de licença. Sai a premissa de integração com hardware no início. Entram como fraquezas a dependência do lançamento manual e a capacidade de análise concentrada no Rodrigo nos primeiros meses. Oportunidade nova: o público de menos de 1.000 cabeças do Censo de Confinamento 2025 e a economia com licenças de terceiros.</a:t>
            </a:r>
          </a:p>
          <a:p/>
          <a:p>
            <a:r>
              <a:t>Ponte: 'Como levamos isso ao mercado?'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Capacidade estimada do Rodrigo: cerca de 1 hora por fazenda por semana, ou 20 horas semanais com 20 fazendas, mais a auditoria mensal. A proporção de 1 analista para cada 20 fazendas é proposta e será calibrada com o tempo real medido no piloto. Contar os meses a partir do início do piloto (item 8.0 do cronograma). Começar pelas fazendas que já têm licença paga pela TN gera economia imediata e usa clientes que já registram dados.</a:t>
            </a:r>
          </a:p>
          <a:p/>
          <a:p>
            <a:r>
              <a:t>Ponte: 'E o que mantém a fazenda com a gente depois do piloto? A comunidade.'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Até fevereiro de 2027 as datas são as do cronograma revisado (itens 2.1 a 7.0). G0 em dezembro, com o diagnóstico; a apresentação final de 01 a 05/02/2027 é o momento de aprovar o investimento. Desenvolvimento de cerca de 12 semanas é estimativa a confirmar com a Dreamer após a imersão técnica. O piloto dura 8 semanas, prazo do critério G1. G2 depois de 90 dias com as fazendas ativas. Se um gate não for atingido, as barras seguintes andam para a direita: as datas a partir de março são indicativas.</a:t>
            </a:r>
          </a:p>
          <a:p/>
          <a:p>
            <a:r>
              <a:t>Ponte: 'Esses são os próximos 15 meses. E a visão até 2030?'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Metas de fazendas e analistas são propostas: 20 em 2027 (capacidade do Rodrigo), 60 em 2028, 120 em 2029 e 200 em 2030, alinhado à meta de 200 clientes da v1.0. Analistas na proporção de 1 para cada 20 fazendas. As funcionalidades por ano vêm da visão estratégica original: 2027 versão estável e integração com hardware; 2028 versão madura com NOA e complementos da AgTech Garage; 2029 fidelidade, clube de membros e benchmark; 2030 sustentabilidade, pegada de carbono e recomendação de produto. Comunidade: Grupo de Desenvolvimento inspirado no Fazenda Nota 10 (2020), com fechamento de safra anual e evento com premiação a partir de 2028. Antes, em 2026: business case, pesquisa com 30 fazendas, imersão técnica e PRDs. Licenças: tudo que for web migra para o TN Manager Web; a PecCode segue como parceira para fazendas que quiserem automação, que ainda não temos; manter TGC onde a integração com balança e vagão for indispensável até a versão que a ofereça.</a:t>
            </a:r>
          </a:p>
          <a:p/>
          <a:p>
            <a:r>
              <a:t>Ponte: 'Para começar, precisamos de algumas decisões hoje.'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
          <a:p>
            <a:r>
              <a:t>Fechamento sugerido: 'Começamos pelo começo: rotina, dado, análise e resultado. Com o grupo e o evento anual, a fazenda fica pela comunidade, e a TN ganha dados e fidelidade.'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Thank you slide">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339B28D0-9ED5-49CC-BDB0-A90FF861F2E3}"/>
              </a:ext>
            </a:extLst>
          </p:cNvPr>
          <p:cNvSpPr>
            <a:spLocks noGrp="1"/>
          </p:cNvSpPr>
          <p:nvPr>
            <p:ph type="pic" sz="quarter" idx="18"/>
          </p:nvPr>
        </p:nvSpPr>
        <p:spPr>
          <a:xfrm>
            <a:off x="0" y="1083435"/>
            <a:ext cx="9144000" cy="4058636"/>
          </a:xfrm>
          <a:prstGeom prst="rect">
            <a:avLst/>
          </a:prstGeom>
          <a:solidFill>
            <a:schemeClr val="bg1">
              <a:lumMod val="85000"/>
            </a:schemeClr>
          </a:solidFill>
        </p:spPr>
        <p:txBody>
          <a:bodyPr anchor="ctr"/>
          <a:lstStyle>
            <a:lvl1pPr marL="0" indent="0" algn="ctr">
              <a:buNone/>
              <a:defRPr/>
            </a:lvl1pPr>
          </a:lstStyle>
          <a:p>
            <a:endParaRPr lang="nl-NL"/>
          </a:p>
        </p:txBody>
      </p:sp>
      <p:sp>
        <p:nvSpPr>
          <p:cNvPr id="2" name="Footer Placeholder 1"/>
          <p:cNvSpPr>
            <a:spLocks noGrp="1"/>
          </p:cNvSpPr>
          <p:nvPr userDrawn="1">
            <p:ph type="ftr" sz="quarter" idx="13"/>
          </p:nvPr>
        </p:nvSpPr>
        <p:spPr/>
        <p:txBody>
          <a:bodyPr/>
          <a:lstStyle>
            <a:lvl1pPr>
              <a:defRPr>
                <a:solidFill>
                  <a:schemeClr val="bg1"/>
                </a:solidFill>
              </a:defRPr>
            </a:lvl1pPr>
          </a:lstStyle>
          <a:p>
            <a:endParaRPr lang="en-GB"/>
          </a:p>
        </p:txBody>
      </p:sp>
      <p:sp>
        <p:nvSpPr>
          <p:cNvPr id="22" name="Tijdelijke aanduiding voor dianummer 5">
            <a:extLst>
              <a:ext uri="{FF2B5EF4-FFF2-40B4-BE49-F238E27FC236}">
                <a16:creationId xmlns:a16="http://schemas.microsoft.com/office/drawing/2014/main" id="{7BD98785-612D-6449-9480-6E8F478993CF}"/>
              </a:ext>
            </a:extLst>
          </p:cNvPr>
          <p:cNvSpPr>
            <a:spLocks noGrp="1"/>
          </p:cNvSpPr>
          <p:nvPr>
            <p:ph type="sldNum" sz="quarter" idx="4"/>
          </p:nvPr>
        </p:nvSpPr>
        <p:spPr>
          <a:xfrm>
            <a:off x="4579106" y="4484368"/>
            <a:ext cx="4572000" cy="659132"/>
          </a:xfrm>
          <a:prstGeom prst="rect">
            <a:avLst/>
          </a:prstGeom>
          <a:blipFill>
            <a:blip r:embed="rId2">
              <a:extLst>
                <a:ext uri="{96DAC541-7B7A-43D3-8B79-37D633B846F1}">
                  <asvg:svgBlip xmlns:asvg="http://schemas.microsoft.com/office/drawing/2016/SVG/main" r:embed="rId3"/>
                </a:ext>
              </a:extLst>
            </a:blip>
            <a:stretch>
              <a:fillRect/>
            </a:stretch>
          </a:blipFill>
        </p:spPr>
        <p:txBody>
          <a:bodyPr vert="horz" lIns="0" tIns="251999" rIns="396000" bIns="0" rtlCol="0" anchor="ctr" anchorCtr="0"/>
          <a:lstStyle>
            <a:lvl1pPr algn="r">
              <a:defRPr sz="1200">
                <a:solidFill>
                  <a:schemeClr val="tx2">
                    <a:alpha val="0"/>
                  </a:schemeClr>
                </a:solidFill>
              </a:defRPr>
            </a:lvl1pPr>
          </a:lstStyle>
          <a:p>
            <a:endParaRPr lang="en-GB"/>
          </a:p>
        </p:txBody>
      </p:sp>
      <p:pic>
        <p:nvPicPr>
          <p:cNvPr id="7" name="Afbeelding 6">
            <a:extLst>
              <a:ext uri="{FF2B5EF4-FFF2-40B4-BE49-F238E27FC236}">
                <a16:creationId xmlns:a16="http://schemas.microsoft.com/office/drawing/2014/main" id="{97036F5A-4F41-9642-8812-E040E741FE06}"/>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7494886" y="303610"/>
            <a:ext cx="1348788" cy="432048"/>
          </a:xfrm>
          <a:prstGeom prst="rect">
            <a:avLst/>
          </a:prstGeom>
        </p:spPr>
      </p:pic>
      <p:sp>
        <p:nvSpPr>
          <p:cNvPr id="3" name="Title 2">
            <a:extLst>
              <a:ext uri="{FF2B5EF4-FFF2-40B4-BE49-F238E27FC236}">
                <a16:creationId xmlns:a16="http://schemas.microsoft.com/office/drawing/2014/main" id="{40708F81-AA0F-4A51-BBF4-B1B177186987}"/>
              </a:ext>
            </a:extLst>
          </p:cNvPr>
          <p:cNvSpPr>
            <a:spLocks noGrp="1"/>
          </p:cNvSpPr>
          <p:nvPr>
            <p:ph type="title" hasCustomPrompt="1"/>
          </p:nvPr>
        </p:nvSpPr>
        <p:spPr>
          <a:xfrm>
            <a:off x="0" y="0"/>
            <a:ext cx="9144900" cy="2343600"/>
          </a:xfrm>
          <a:blipFill>
            <a:blip r:embed="rId5"/>
            <a:stretch>
              <a:fillRect/>
            </a:stretch>
          </a:blipFill>
        </p:spPr>
        <p:txBody>
          <a:bodyPr lIns="871200" tIns="828000" rIns="3816000" bIns="1080000" anchor="ctr" anchorCtr="0"/>
          <a:lstStyle>
            <a:lvl1pPr>
              <a:defRPr/>
            </a:lvl1pPr>
          </a:lstStyle>
          <a:p>
            <a:r>
              <a:rPr lang="en-US"/>
              <a:t>Thank you</a:t>
            </a:r>
            <a:endParaRPr lang="nl-NL"/>
          </a:p>
        </p:txBody>
      </p:sp>
    </p:spTree>
    <p:extLst>
      <p:ext uri="{BB962C8B-B14F-4D97-AF65-F5344CB8AC3E}">
        <p14:creationId xmlns:p14="http://schemas.microsoft.com/office/powerpoint/2010/main" val="137039745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extslide">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629842" y="465517"/>
            <a:ext cx="5670350" cy="756065"/>
          </a:xfrm>
        </p:spPr>
        <p:txBody>
          <a:bodyPr wrap="square"/>
          <a:lstStyle>
            <a:lvl1pPr algn="l">
              <a:defRPr/>
            </a:lvl1pPr>
          </a:lstStyle>
          <a:p>
            <a:r>
              <a:rPr lang="en-GB"/>
              <a:t>Title paragraph </a:t>
            </a:r>
          </a:p>
        </p:txBody>
      </p:sp>
      <p:sp>
        <p:nvSpPr>
          <p:cNvPr id="6" name="Text Placeholder 5"/>
          <p:cNvSpPr>
            <a:spLocks noGrp="1"/>
          </p:cNvSpPr>
          <p:nvPr>
            <p:ph type="body" sz="quarter" idx="12"/>
          </p:nvPr>
        </p:nvSpPr>
        <p:spPr>
          <a:xfrm>
            <a:off x="629841" y="1491853"/>
            <a:ext cx="7884319" cy="2876747"/>
          </a:xfrm>
        </p:spPr>
        <p:txBody>
          <a:bodyPr lIns="36000" tIns="36000" rIns="36000" bIns="36000">
            <a:noAutofit/>
          </a:bodyPr>
          <a:lstStyle>
            <a:lvl1pPr marL="0" indent="0">
              <a:lnSpc>
                <a:spcPct val="100000"/>
              </a:lnSpc>
              <a:spcBef>
                <a:spcPts val="0"/>
              </a:spcBef>
              <a:spcAft>
                <a:spcPts val="450"/>
              </a:spcAft>
              <a:buClr>
                <a:schemeClr val="tx1"/>
              </a:buClr>
              <a:buNone/>
              <a:defRPr sz="1350"/>
            </a:lvl1pPr>
            <a:lvl2pPr marL="286200" indent="-286200">
              <a:lnSpc>
                <a:spcPct val="100000"/>
              </a:lnSpc>
              <a:spcBef>
                <a:spcPts val="0"/>
              </a:spcBef>
              <a:spcAft>
                <a:spcPts val="450"/>
              </a:spcAft>
              <a:buClr>
                <a:schemeClr val="tx1"/>
              </a:buClr>
              <a:buFont typeface="Calibri" panose="020F0502020204030204" pitchFamily="34" charset="0"/>
              <a:buChar char="●"/>
              <a:defRPr lang="en-GB" sz="1350" kern="1200" dirty="0" smtClean="0">
                <a:solidFill>
                  <a:schemeClr val="tx1"/>
                </a:solidFill>
                <a:latin typeface="+mn-lt"/>
                <a:ea typeface="+mn-ea"/>
                <a:cs typeface="+mn-cs"/>
              </a:defRPr>
            </a:lvl2pPr>
            <a:lvl3pPr marL="572400" indent="-286200">
              <a:lnSpc>
                <a:spcPct val="100000"/>
              </a:lnSpc>
              <a:spcBef>
                <a:spcPts val="0"/>
              </a:spcBef>
              <a:spcAft>
                <a:spcPts val="450"/>
              </a:spcAft>
              <a:buClr>
                <a:schemeClr val="tx1"/>
              </a:buClr>
              <a:buFont typeface="Calibri" panose="020F0502020204030204" pitchFamily="34" charset="0"/>
              <a:buChar char="−"/>
              <a:defRPr lang="en-GB" sz="1350" kern="1200" dirty="0" smtClean="0">
                <a:solidFill>
                  <a:schemeClr val="tx1"/>
                </a:solidFill>
                <a:latin typeface="+mn-lt"/>
                <a:ea typeface="+mn-ea"/>
                <a:cs typeface="+mn-cs"/>
              </a:defRPr>
            </a:lvl3pPr>
            <a:lvl4pPr marL="828900" indent="-257175">
              <a:lnSpc>
                <a:spcPct val="100000"/>
              </a:lnSpc>
              <a:spcBef>
                <a:spcPts val="0"/>
              </a:spcBef>
              <a:spcAft>
                <a:spcPts val="450"/>
              </a:spcAft>
              <a:buClr>
                <a:schemeClr val="tx1"/>
              </a:buClr>
              <a:buFont typeface="Calibri" panose="020F0502020204030204" pitchFamily="34" charset="0"/>
              <a:buChar char="−"/>
              <a:defRPr lang="en-GB" sz="1350" kern="1200" dirty="0" smtClean="0">
                <a:solidFill>
                  <a:schemeClr val="tx1"/>
                </a:solidFill>
                <a:latin typeface="+mn-lt"/>
                <a:ea typeface="+mn-ea"/>
                <a:cs typeface="+mn-cs"/>
              </a:defRPr>
            </a:lvl4pPr>
            <a:lvl5pPr marL="1085400" indent="-257175">
              <a:lnSpc>
                <a:spcPct val="100000"/>
              </a:lnSpc>
              <a:spcBef>
                <a:spcPts val="0"/>
              </a:spcBef>
              <a:spcAft>
                <a:spcPts val="450"/>
              </a:spcAft>
              <a:buClr>
                <a:schemeClr val="tx1"/>
              </a:buClr>
              <a:buFont typeface="Calibri" panose="020F0502020204030204" pitchFamily="34" charset="0"/>
              <a:buChar char="−"/>
              <a:defRPr lang="en-GB" sz="1350" kern="1200" dirty="0" smtClean="0">
                <a:solidFill>
                  <a:schemeClr val="tx1"/>
                </a:solidFill>
                <a:latin typeface="+mn-lt"/>
                <a:ea typeface="+mn-ea"/>
                <a:cs typeface="+mn-cs"/>
              </a:defRPr>
            </a:lvl5pPr>
            <a:lvl6pPr>
              <a:buClr>
                <a:schemeClr val="tx1"/>
              </a:buCl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6"/>
          <p:cNvSpPr>
            <a:spLocks noGrp="1"/>
          </p:cNvSpPr>
          <p:nvPr>
            <p:ph type="ftr" sz="quarter" idx="14"/>
          </p:nvPr>
        </p:nvSpPr>
        <p:spPr/>
        <p:txBody>
          <a:bodyPr/>
          <a:lstStyle/>
          <a:p>
            <a:endParaRPr lang="en-GB"/>
          </a:p>
        </p:txBody>
      </p:sp>
      <p:pic>
        <p:nvPicPr>
          <p:cNvPr id="9" name="Graphic 8">
            <a:extLst>
              <a:ext uri="{FF2B5EF4-FFF2-40B4-BE49-F238E27FC236}">
                <a16:creationId xmlns:a16="http://schemas.microsoft.com/office/drawing/2014/main" id="{997147C5-1F2E-AA4F-935F-91B1D284EFA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598116" y="4628529"/>
            <a:ext cx="3545883" cy="524495"/>
          </a:xfrm>
          <a:prstGeom prst="rect">
            <a:avLst/>
          </a:prstGeom>
        </p:spPr>
      </p:pic>
      <p:sp>
        <p:nvSpPr>
          <p:cNvPr id="11" name="Slide Number Placeholder 7">
            <a:extLst>
              <a:ext uri="{FF2B5EF4-FFF2-40B4-BE49-F238E27FC236}">
                <a16:creationId xmlns:a16="http://schemas.microsoft.com/office/drawing/2014/main" id="{84898B21-2385-7249-AE1D-5F0164D15086}"/>
              </a:ext>
            </a:extLst>
          </p:cNvPr>
          <p:cNvSpPr>
            <a:spLocks noGrp="1"/>
          </p:cNvSpPr>
          <p:nvPr>
            <p:ph type="sldNum" sz="quarter" idx="15"/>
          </p:nvPr>
        </p:nvSpPr>
        <p:spPr>
          <a:xfrm>
            <a:off x="8514160" y="4677984"/>
            <a:ext cx="629840" cy="465516"/>
          </a:xfrm>
        </p:spPr>
        <p:txBody>
          <a:bodyPr/>
          <a:lstStyle/>
          <a:p>
            <a:fld id="{82366C92-DFCE-40A6-8CC1-5A4741E3726D}" type="slidenum">
              <a:rPr lang="en-GB" smtClean="0"/>
              <a:pPr/>
              <a:t>‹nº›</a:t>
            </a:fld>
            <a:endParaRPr lang="en-GB"/>
          </a:p>
        </p:txBody>
      </p:sp>
    </p:spTree>
    <p:extLst>
      <p:ext uri="{BB962C8B-B14F-4D97-AF65-F5344CB8AC3E}">
        <p14:creationId xmlns:p14="http://schemas.microsoft.com/office/powerpoint/2010/main" val="20460262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Fixed heading 1">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025EED34-690F-CB41-8188-BB2E7E64F799}"/>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598116" y="4628529"/>
            <a:ext cx="3545883" cy="524495"/>
          </a:xfrm>
          <a:prstGeom prst="rect">
            <a:avLst/>
          </a:prstGeom>
        </p:spPr>
      </p:pic>
      <p:sp>
        <p:nvSpPr>
          <p:cNvPr id="7" name="Footer Placeholder 6"/>
          <p:cNvSpPr>
            <a:spLocks noGrp="1"/>
          </p:cNvSpPr>
          <p:nvPr>
            <p:ph type="ftr" sz="quarter" idx="14"/>
          </p:nvPr>
        </p:nvSpPr>
        <p:spPr/>
        <p:txBody>
          <a:bodyPr/>
          <a:lstStyle/>
          <a:p>
            <a:endParaRPr lang="en-GB"/>
          </a:p>
        </p:txBody>
      </p:sp>
      <p:sp>
        <p:nvSpPr>
          <p:cNvPr id="8" name="Slide Number Placeholder 7"/>
          <p:cNvSpPr>
            <a:spLocks noGrp="1"/>
          </p:cNvSpPr>
          <p:nvPr>
            <p:ph type="sldNum" sz="quarter" idx="15"/>
          </p:nvPr>
        </p:nvSpPr>
        <p:spPr/>
        <p:txBody>
          <a:bodyPr/>
          <a:lstStyle/>
          <a:p>
            <a:fld id="{82366C92-DFCE-40A6-8CC1-5A4741E3726D}" type="slidenum">
              <a:rPr lang="en-GB" smtClean="0"/>
              <a:pPr/>
              <a:t>‹nº›</a:t>
            </a:fld>
            <a:endParaRPr lang="en-GB"/>
          </a:p>
        </p:txBody>
      </p:sp>
      <p:sp>
        <p:nvSpPr>
          <p:cNvPr id="6" name="Tijdelijke aanduiding voor titel 1">
            <a:extLst>
              <a:ext uri="{FF2B5EF4-FFF2-40B4-BE49-F238E27FC236}">
                <a16:creationId xmlns:a16="http://schemas.microsoft.com/office/drawing/2014/main" id="{9FD576D2-650F-5142-A42C-138C7D767DF3}"/>
              </a:ext>
            </a:extLst>
          </p:cNvPr>
          <p:cNvSpPr>
            <a:spLocks noGrp="1"/>
          </p:cNvSpPr>
          <p:nvPr>
            <p:ph type="title" hasCustomPrompt="1"/>
          </p:nvPr>
        </p:nvSpPr>
        <p:spPr>
          <a:xfrm>
            <a:off x="629841" y="1491853"/>
            <a:ext cx="7884319" cy="2808089"/>
          </a:xfrm>
          <a:prstGeom prst="rect">
            <a:avLst/>
          </a:prstGeom>
        </p:spPr>
        <p:txBody>
          <a:bodyPr vert="horz" lIns="0" tIns="0" rIns="0" bIns="0" rtlCol="0" anchor="ctr" anchorCtr="0">
            <a:noAutofit/>
          </a:bodyPr>
          <a:lstStyle>
            <a:lvl1pPr>
              <a:lnSpc>
                <a:spcPct val="100000"/>
              </a:lnSpc>
              <a:defRPr sz="4950"/>
            </a:lvl1pPr>
          </a:lstStyle>
          <a:p>
            <a:r>
              <a:rPr lang="en-GB"/>
              <a:t>Fixed heading</a:t>
            </a:r>
            <a:br>
              <a:rPr lang="en-GB"/>
            </a:br>
            <a:r>
              <a:rPr lang="en-GB"/>
              <a:t>(statement)</a:t>
            </a:r>
          </a:p>
        </p:txBody>
      </p:sp>
    </p:spTree>
    <p:extLst>
      <p:ext uri="{BB962C8B-B14F-4D97-AF65-F5344CB8AC3E}">
        <p14:creationId xmlns:p14="http://schemas.microsoft.com/office/powerpoint/2010/main" val="263803023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13.png"/><Relationship Id="rId4" Type="http://schemas.openxmlformats.org/officeDocument/2006/relationships/notesSlide" Target="../notesSlides/notesSlide3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9.png"/><Relationship Id="rId9" Type="http://schemas.openxmlformats.org/officeDocument/2006/relationships/image" Target="../media/image13.png"/><Relationship Id="rId10"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13.png"/><Relationship Id="rId4" Type="http://schemas.openxmlformats.org/officeDocument/2006/relationships/notesSlide" Target="../notesSlides/notesSlide3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13.png"/><Relationship Id="rId4" Type="http://schemas.openxmlformats.org/officeDocument/2006/relationships/notesSlide" Target="../notesSlides/notesSlide3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4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4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 Id="rId3" Type="http://schemas.openxmlformats.org/officeDocument/2006/relationships/notesSlide" Target="../notesSlides/notesSlide4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6.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7.png"/><Relationship Id="rId4" Type="http://schemas.openxmlformats.org/officeDocument/2006/relationships/chart" Target="../charts/char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7.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7.png"/><Relationship Id="rId4" Type="http://schemas.openxmlformats.org/officeDocument/2006/relationships/chart" Target="../charts/char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7.png"/><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7.png"/><Relationship Id="rId4" Type="http://schemas.openxmlformats.org/officeDocument/2006/relationships/image" Target="../media/image28.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0.emf"/><Relationship Id="rId3" Type="http://schemas.openxmlformats.org/officeDocument/2006/relationships/image" Target="../media/image3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onfinamento de gado: veja como fazer de maneira eficaz — CompreRural">
            <a:extLst>
              <a:ext uri="{FF2B5EF4-FFF2-40B4-BE49-F238E27FC236}">
                <a16:creationId xmlns:a16="http://schemas.microsoft.com/office/drawing/2014/main" id="{948B6E11-E154-9C44-5943-13AA2675520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9392" b="4112"/>
          <a:stretch/>
        </p:blipFill>
        <p:spPr bwMode="auto">
          <a:xfrm flipH="1">
            <a:off x="14" y="1581845"/>
            <a:ext cx="9143985" cy="3560226"/>
          </a:xfrm>
          <a:prstGeom prst="rect">
            <a:avLst/>
          </a:prstGeom>
          <a:solidFill>
            <a:srgbClr val="FFFFFF"/>
          </a:solidFill>
        </p:spPr>
      </p:pic>
      <p:sp>
        <p:nvSpPr>
          <p:cNvPr id="3079" name="Slide Number Placeholder 2">
            <a:extLst>
              <a:ext uri="{FF2B5EF4-FFF2-40B4-BE49-F238E27FC236}">
                <a16:creationId xmlns:a16="http://schemas.microsoft.com/office/drawing/2014/main" id="{EB397809-47F3-012B-A513-6B52402C306E}"/>
              </a:ext>
            </a:extLst>
          </p:cNvPr>
          <p:cNvSpPr>
            <a:spLocks noGrp="1"/>
          </p:cNvSpPr>
          <p:nvPr>
            <p:ph type="sldNum" sz="quarter" idx="4"/>
          </p:nvPr>
        </p:nvSpPr>
        <p:spPr>
          <a:xfrm>
            <a:off x="4579106" y="4484368"/>
            <a:ext cx="4572000" cy="659132"/>
          </a:xfrm>
        </p:spPr>
        <p:txBody>
          <a:bodyPr/>
          <a:lstStyle/>
          <a:p>
            <a:endParaRPr lang="en-GB"/>
          </a:p>
        </p:txBody>
      </p:sp>
      <p:sp>
        <p:nvSpPr>
          <p:cNvPr id="7" name="Title 6">
            <a:extLst>
              <a:ext uri="{FF2B5EF4-FFF2-40B4-BE49-F238E27FC236}">
                <a16:creationId xmlns:a16="http://schemas.microsoft.com/office/drawing/2014/main" id="{949EA813-F4B8-2D42-B9BF-DD66E13A96F2}"/>
              </a:ext>
            </a:extLst>
          </p:cNvPr>
          <p:cNvSpPr>
            <a:spLocks noGrp="1"/>
          </p:cNvSpPr>
          <p:nvPr>
            <p:ph type="title"/>
          </p:nvPr>
        </p:nvSpPr>
        <p:spPr>
          <a:xfrm>
            <a:off x="0" y="0"/>
            <a:ext cx="9144900" cy="2343600"/>
          </a:xfrm>
        </p:spPr>
        <p:txBody>
          <a:bodyPr anchor="ctr">
            <a:normAutofit/>
          </a:bodyPr>
          <a:lstStyle/>
          <a:p>
            <a:r>
              <a:rPr lang="pt-BR" sz="825"/>
              <a:t> </a:t>
            </a:r>
            <a:endParaRPr lang="en-NL" sz="825" dirty="0"/>
          </a:p>
        </p:txBody>
      </p:sp>
      <p:sp>
        <p:nvSpPr>
          <p:cNvPr id="2" name="CaixaDeTexto 1">
            <a:extLst>
              <a:ext uri="{FF2B5EF4-FFF2-40B4-BE49-F238E27FC236}">
                <a16:creationId xmlns:a16="http://schemas.microsoft.com/office/drawing/2014/main" id="{A0D481DD-CA22-7E8E-A0F2-65705D288393}"/>
              </a:ext>
            </a:extLst>
          </p:cNvPr>
          <p:cNvSpPr txBox="1"/>
          <p:nvPr/>
        </p:nvSpPr>
        <p:spPr>
          <a:xfrm>
            <a:off x="521550" y="290764"/>
            <a:ext cx="3770480" cy="1292662"/>
          </a:xfrm>
          <a:prstGeom prst="rect">
            <a:avLst/>
          </a:prstGeom>
          <a:noFill/>
        </p:spPr>
        <p:txBody>
          <a:bodyPr wrap="square" rtlCol="0">
            <a:spAutoFit/>
          </a:bodyPr>
          <a:lstStyle/>
          <a:p>
            <a:r>
              <a:rPr lang="en-CA" sz="2400" b="1" dirty="0"/>
              <a:t>TN Manager Web</a:t>
            </a:r>
          </a:p>
          <a:p>
            <a:r>
              <a:rPr lang="en-CA" sz="1350" i="1" dirty="0"/>
              <a:t>Desenvolvimento Interno Personalizado</a:t>
            </a:r>
          </a:p>
          <a:p>
            <a:endParaRPr lang="en-CA" sz="1350" dirty="0"/>
          </a:p>
          <a:p>
            <a:r>
              <a:rPr lang="en-CA" sz="1350" b="1" dirty="0"/>
              <a:t>Trouw Nutrition Brasil</a:t>
            </a:r>
          </a:p>
          <a:p>
            <a:r>
              <a:rPr lang="en-CA" sz="1350" dirty="0"/>
              <a:t>Outubro de 2026</a:t>
            </a:r>
          </a:p>
        </p:txBody>
      </p:sp>
    </p:spTree>
    <p:extLst>
      <p:ext uri="{BB962C8B-B14F-4D97-AF65-F5344CB8AC3E}">
        <p14:creationId xmlns:p14="http://schemas.microsoft.com/office/powerpoint/2010/main" val="1683093558"/>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Agenda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Uma história em seis capítulos</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6" name="Shape 3"/>
          <p:cNvSpPr/>
          <p:nvPr/>
        </p:nvSpPr>
        <p:spPr>
          <a:xfrm>
            <a:off x="548640" y="1188720"/>
            <a:ext cx="384048" cy="384048"/>
          </a:xfrm>
          <a:prstGeom prst="ellipse">
            <a:avLst/>
          </a:prstGeom>
          <a:solidFill>
            <a:srgbClr val="C8106E"/>
          </a:solidFill>
          <a:ln/>
        </p:spPr>
        <p:txBody>
          <a:bodyPr/>
          <a:p/>
        </p:txBody>
      </p:sp>
      <p:sp>
        <p:nvSpPr>
          <p:cNvPr id="7" name="Text 4"/>
          <p:cNvSpPr/>
          <p:nvPr/>
        </p:nvSpPr>
        <p:spPr>
          <a:xfrm>
            <a:off x="548640" y="11887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097280" y="1170432"/>
            <a:ext cx="5943600" cy="237744"/>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De onde viemos</a:t>
            </a:r>
            <a:endParaRPr lang="en-US" sz="1400" dirty="0"/>
          </a:p>
        </p:txBody>
      </p:sp>
      <p:sp>
        <p:nvSpPr>
          <p:cNvPr id="9" name="Text 6"/>
          <p:cNvSpPr/>
          <p:nvPr/>
        </p:nvSpPr>
        <p:spPr>
          <a:xfrm>
            <a:off x="1097280" y="1408176"/>
            <a:ext cx="5943600" cy="182880"/>
          </a:xfrm>
          <a:prstGeom prst="rect">
            <a:avLst/>
          </a:prstGeom>
          <a:noFill/>
          <a:ln/>
        </p:spPr>
        <p:txBody>
          <a:bodyPr wrap="square" lIns="0" tIns="0" rIns="0" bIns="0" rtlCol="0" anchor="t"/>
          <a:lstStyle/>
          <a:p>
            <a:pPr indent="0" marL="0">
              <a:buNone/>
            </a:pPr>
            <a:r>
              <a:rPr lang="en-US" sz="1000" dirty="0">
                <a:solidFill>
                  <a:srgbClr val="4A5560"/>
                </a:solidFill>
                <a:latin typeface="Calibri" pitchFamily="34" charset="0"/>
                <a:ea typeface="Calibri" pitchFamily="34" charset="-122"/>
                <a:cs typeface="Calibri" pitchFamily="34" charset="-120"/>
              </a:rPr>
              <a:t>A v1.0 começou pela automação. A versão Web começa pela rotina</a:t>
            </a:r>
            <a:endParaRPr lang="en-US" sz="1000" dirty="0"/>
          </a:p>
        </p:txBody>
      </p:sp>
      <p:sp>
        <p:nvSpPr>
          <p:cNvPr id="10" name="Shape 7"/>
          <p:cNvSpPr/>
          <p:nvPr/>
        </p:nvSpPr>
        <p:spPr>
          <a:xfrm>
            <a:off x="1097280" y="1645920"/>
            <a:ext cx="6400800" cy="914"/>
          </a:xfrm>
          <a:prstGeom prst="line">
            <a:avLst/>
          </a:prstGeom>
          <a:noFill/>
          <a:ln w="6350">
            <a:solidFill>
              <a:srgbClr val="ECEFF2"/>
            </a:solidFill>
            <a:prstDash val="solid"/>
          </a:ln>
        </p:spPr>
        <p:txBody>
          <a:bodyPr/>
          <a:p/>
        </p:txBody>
      </p:sp>
      <p:sp>
        <p:nvSpPr>
          <p:cNvPr id="11" name="Shape 8"/>
          <p:cNvSpPr/>
          <p:nvPr/>
        </p:nvSpPr>
        <p:spPr>
          <a:xfrm>
            <a:off x="548640" y="1700784"/>
            <a:ext cx="384048" cy="384048"/>
          </a:xfrm>
          <a:prstGeom prst="ellipse">
            <a:avLst/>
          </a:prstGeom>
          <a:solidFill>
            <a:srgbClr val="C8106E"/>
          </a:solidFill>
          <a:ln/>
        </p:spPr>
        <p:txBody>
          <a:bodyPr/>
          <a:p/>
        </p:txBody>
      </p:sp>
      <p:sp>
        <p:nvSpPr>
          <p:cNvPr id="12" name="Text 9"/>
          <p:cNvSpPr/>
          <p:nvPr/>
        </p:nvSpPr>
        <p:spPr>
          <a:xfrm>
            <a:off x="548640" y="17007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0"/>
          <p:cNvSpPr/>
          <p:nvPr/>
        </p:nvSpPr>
        <p:spPr>
          <a:xfrm>
            <a:off x="1097280" y="1682496"/>
            <a:ext cx="5943600" cy="237744"/>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Para quem</a:t>
            </a:r>
            <a:endParaRPr lang="en-US" sz="1400" dirty="0"/>
          </a:p>
        </p:txBody>
      </p:sp>
      <p:sp>
        <p:nvSpPr>
          <p:cNvPr id="14" name="Text 11"/>
          <p:cNvSpPr/>
          <p:nvPr/>
        </p:nvSpPr>
        <p:spPr>
          <a:xfrm>
            <a:off x="1097280" y="1920240"/>
            <a:ext cx="5943600" cy="182880"/>
          </a:xfrm>
          <a:prstGeom prst="rect">
            <a:avLst/>
          </a:prstGeom>
          <a:noFill/>
          <a:ln/>
        </p:spPr>
        <p:txBody>
          <a:bodyPr wrap="square" lIns="0" tIns="0" rIns="0" bIns="0" rtlCol="0" anchor="t"/>
          <a:lstStyle/>
          <a:p>
            <a:pPr indent="0" marL="0">
              <a:buNone/>
            </a:pPr>
            <a:r>
              <a:rPr lang="en-US" sz="1000" dirty="0">
                <a:solidFill>
                  <a:srgbClr val="4A5560"/>
                </a:solidFill>
                <a:latin typeface="Calibri" pitchFamily="34" charset="0"/>
                <a:ea typeface="Calibri" pitchFamily="34" charset="-122"/>
                <a:cs typeface="Calibri" pitchFamily="34" charset="-120"/>
              </a:rPr>
              <a:t>Mercado, cliente-alvo e a nova geração que assume as fazendas</a:t>
            </a:r>
            <a:endParaRPr lang="en-US" sz="1000" dirty="0"/>
          </a:p>
        </p:txBody>
      </p:sp>
      <p:sp>
        <p:nvSpPr>
          <p:cNvPr id="15" name="Shape 12"/>
          <p:cNvSpPr/>
          <p:nvPr/>
        </p:nvSpPr>
        <p:spPr>
          <a:xfrm>
            <a:off x="1097280" y="2157984"/>
            <a:ext cx="6400800" cy="914"/>
          </a:xfrm>
          <a:prstGeom prst="line">
            <a:avLst/>
          </a:prstGeom>
          <a:noFill/>
          <a:ln w="6350">
            <a:solidFill>
              <a:srgbClr val="ECEFF2"/>
            </a:solidFill>
            <a:prstDash val="solid"/>
          </a:ln>
        </p:spPr>
        <p:txBody>
          <a:bodyPr/>
          <a:p/>
        </p:txBody>
      </p:sp>
      <p:sp>
        <p:nvSpPr>
          <p:cNvPr id="16" name="Shape 13"/>
          <p:cNvSpPr/>
          <p:nvPr/>
        </p:nvSpPr>
        <p:spPr>
          <a:xfrm>
            <a:off x="548640" y="2212848"/>
            <a:ext cx="384048" cy="384048"/>
          </a:xfrm>
          <a:prstGeom prst="ellipse">
            <a:avLst/>
          </a:prstGeom>
          <a:solidFill>
            <a:srgbClr val="1B3A8C"/>
          </a:solidFill>
          <a:ln/>
        </p:spPr>
        <p:txBody>
          <a:bodyPr/>
          <a:p/>
        </p:txBody>
      </p:sp>
      <p:sp>
        <p:nvSpPr>
          <p:cNvPr id="17" name="Text 14"/>
          <p:cNvSpPr/>
          <p:nvPr/>
        </p:nvSpPr>
        <p:spPr>
          <a:xfrm>
            <a:off x="548640" y="22128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5"/>
          <p:cNvSpPr/>
          <p:nvPr/>
        </p:nvSpPr>
        <p:spPr>
          <a:xfrm>
            <a:off x="1097280" y="2194560"/>
            <a:ext cx="5943600" cy="237744"/>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O que entregamos</a:t>
            </a:r>
            <a:endParaRPr lang="en-US" sz="1400" dirty="0"/>
          </a:p>
        </p:txBody>
      </p:sp>
      <p:sp>
        <p:nvSpPr>
          <p:cNvPr id="19" name="Text 16"/>
          <p:cNvSpPr/>
          <p:nvPr/>
        </p:nvSpPr>
        <p:spPr>
          <a:xfrm>
            <a:off x="1097280" y="2432304"/>
            <a:ext cx="5943600" cy="182880"/>
          </a:xfrm>
          <a:prstGeom prst="rect">
            <a:avLst/>
          </a:prstGeom>
          <a:noFill/>
          <a:ln/>
        </p:spPr>
        <p:txBody>
          <a:bodyPr wrap="square" lIns="0" tIns="0" rIns="0" bIns="0" rtlCol="0" anchor="t"/>
          <a:lstStyle/>
          <a:p>
            <a:pPr indent="0" marL="0">
              <a:buNone/>
            </a:pPr>
            <a:r>
              <a:rPr lang="en-US" sz="1000" dirty="0">
                <a:solidFill>
                  <a:srgbClr val="4A5560"/>
                </a:solidFill>
                <a:latin typeface="Calibri" pitchFamily="34" charset="0"/>
                <a:ea typeface="Calibri" pitchFamily="34" charset="-122"/>
                <a:cs typeface="Calibri" pitchFamily="34" charset="-120"/>
              </a:rPr>
              <a:t>O diferencial é a entrega técnica: como funciona na prática</a:t>
            </a:r>
            <a:endParaRPr lang="en-US" sz="1000" dirty="0"/>
          </a:p>
        </p:txBody>
      </p:sp>
      <p:sp>
        <p:nvSpPr>
          <p:cNvPr id="20" name="Shape 17"/>
          <p:cNvSpPr/>
          <p:nvPr/>
        </p:nvSpPr>
        <p:spPr>
          <a:xfrm>
            <a:off x="1097280" y="2670048"/>
            <a:ext cx="6400800" cy="914"/>
          </a:xfrm>
          <a:prstGeom prst="line">
            <a:avLst/>
          </a:prstGeom>
          <a:noFill/>
          <a:ln w="6350">
            <a:solidFill>
              <a:srgbClr val="ECEFF2"/>
            </a:solidFill>
            <a:prstDash val="solid"/>
          </a:ln>
        </p:spPr>
        <p:txBody>
          <a:bodyPr/>
          <a:p/>
        </p:txBody>
      </p:sp>
      <p:sp>
        <p:nvSpPr>
          <p:cNvPr id="21" name="Shape 18"/>
          <p:cNvSpPr/>
          <p:nvPr/>
        </p:nvSpPr>
        <p:spPr>
          <a:xfrm>
            <a:off x="548640" y="2724912"/>
            <a:ext cx="384048" cy="384048"/>
          </a:xfrm>
          <a:prstGeom prst="ellipse">
            <a:avLst/>
          </a:prstGeom>
          <a:solidFill>
            <a:srgbClr val="C8106E"/>
          </a:solidFill>
          <a:ln/>
        </p:spPr>
        <p:txBody>
          <a:bodyPr/>
          <a:p/>
        </p:txBody>
      </p:sp>
      <p:sp>
        <p:nvSpPr>
          <p:cNvPr id="22" name="Text 19"/>
          <p:cNvSpPr/>
          <p:nvPr/>
        </p:nvSpPr>
        <p:spPr>
          <a:xfrm>
            <a:off x="548640" y="27249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0"/>
          <p:cNvSpPr/>
          <p:nvPr/>
        </p:nvSpPr>
        <p:spPr>
          <a:xfrm>
            <a:off x="1097280" y="2706624"/>
            <a:ext cx="5943600" cy="237744"/>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Contra quem</a:t>
            </a:r>
            <a:endParaRPr lang="en-US" sz="1400" dirty="0"/>
          </a:p>
        </p:txBody>
      </p:sp>
      <p:sp>
        <p:nvSpPr>
          <p:cNvPr id="24" name="Text 21"/>
          <p:cNvSpPr/>
          <p:nvPr/>
        </p:nvSpPr>
        <p:spPr>
          <a:xfrm>
            <a:off x="1097280" y="2944368"/>
            <a:ext cx="5943600" cy="182880"/>
          </a:xfrm>
          <a:prstGeom prst="rect">
            <a:avLst/>
          </a:prstGeom>
          <a:noFill/>
          <a:ln/>
        </p:spPr>
        <p:txBody>
          <a:bodyPr wrap="square" lIns="0" tIns="0" rIns="0" bIns="0" rtlCol="0" anchor="t"/>
          <a:lstStyle/>
          <a:p>
            <a:pPr indent="0" marL="0">
              <a:buNone/>
            </a:pPr>
            <a:r>
              <a:rPr lang="en-US" sz="1000" dirty="0">
                <a:solidFill>
                  <a:srgbClr val="4A5560"/>
                </a:solidFill>
                <a:latin typeface="Calibri" pitchFamily="34" charset="0"/>
                <a:ea typeface="Calibri" pitchFamily="34" charset="-122"/>
                <a:cs typeface="Calibri" pitchFamily="34" charset="-120"/>
              </a:rPr>
              <a:t>Cargill, DSM, Ponta, Tecnobeef e outros</a:t>
            </a:r>
            <a:endParaRPr lang="en-US" sz="1000" dirty="0"/>
          </a:p>
        </p:txBody>
      </p:sp>
      <p:sp>
        <p:nvSpPr>
          <p:cNvPr id="25" name="Shape 22"/>
          <p:cNvSpPr/>
          <p:nvPr/>
        </p:nvSpPr>
        <p:spPr>
          <a:xfrm>
            <a:off x="1097280" y="3182112"/>
            <a:ext cx="6400800" cy="914"/>
          </a:xfrm>
          <a:prstGeom prst="line">
            <a:avLst/>
          </a:prstGeom>
          <a:noFill/>
          <a:ln w="6350">
            <a:solidFill>
              <a:srgbClr val="ECEFF2"/>
            </a:solidFill>
            <a:prstDash val="solid"/>
          </a:ln>
        </p:spPr>
        <p:txBody>
          <a:bodyPr/>
          <a:p/>
        </p:txBody>
      </p:sp>
      <p:sp>
        <p:nvSpPr>
          <p:cNvPr id="26" name="Shape 23"/>
          <p:cNvSpPr/>
          <p:nvPr/>
        </p:nvSpPr>
        <p:spPr>
          <a:xfrm>
            <a:off x="548640" y="3236976"/>
            <a:ext cx="384048" cy="384048"/>
          </a:xfrm>
          <a:prstGeom prst="ellipse">
            <a:avLst/>
          </a:prstGeom>
          <a:solidFill>
            <a:srgbClr val="C8106E"/>
          </a:solidFill>
          <a:ln/>
        </p:spPr>
        <p:txBody>
          <a:bodyPr/>
          <a:p/>
        </p:txBody>
      </p:sp>
      <p:sp>
        <p:nvSpPr>
          <p:cNvPr id="27" name="Text 24"/>
          <p:cNvSpPr/>
          <p:nvPr/>
        </p:nvSpPr>
        <p:spPr>
          <a:xfrm>
            <a:off x="548640" y="32369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8" name="Text 25"/>
          <p:cNvSpPr/>
          <p:nvPr/>
        </p:nvSpPr>
        <p:spPr>
          <a:xfrm>
            <a:off x="1097280" y="3218688"/>
            <a:ext cx="5943600" cy="237744"/>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Como crescemos</a:t>
            </a:r>
            <a:endParaRPr lang="en-US" sz="1400" dirty="0"/>
          </a:p>
        </p:txBody>
      </p:sp>
      <p:sp>
        <p:nvSpPr>
          <p:cNvPr id="29" name="Text 26"/>
          <p:cNvSpPr/>
          <p:nvPr/>
        </p:nvSpPr>
        <p:spPr>
          <a:xfrm>
            <a:off x="1097280" y="3456432"/>
            <a:ext cx="5943600" cy="182880"/>
          </a:xfrm>
          <a:prstGeom prst="rect">
            <a:avLst/>
          </a:prstGeom>
          <a:noFill/>
          <a:ln/>
        </p:spPr>
        <p:txBody>
          <a:bodyPr wrap="square" lIns="0" tIns="0" rIns="0" bIns="0" rtlCol="0" anchor="t"/>
          <a:lstStyle/>
          <a:p>
            <a:pPr indent="0" marL="0">
              <a:buNone/>
            </a:pPr>
            <a:r>
              <a:rPr lang="en-US" sz="1000" dirty="0">
                <a:solidFill>
                  <a:srgbClr val="4A5560"/>
                </a:solidFill>
                <a:latin typeface="Calibri" pitchFamily="34" charset="0"/>
                <a:ea typeface="Calibri" pitchFamily="34" charset="-122"/>
                <a:cs typeface="Calibri" pitchFamily="34" charset="-120"/>
              </a:rPr>
              <a:t>Custos, go-to-market e o Grupo de Desenvolvimento</a:t>
            </a:r>
            <a:endParaRPr lang="en-US" sz="1000" dirty="0"/>
          </a:p>
        </p:txBody>
      </p:sp>
      <p:sp>
        <p:nvSpPr>
          <p:cNvPr id="30" name="Shape 27"/>
          <p:cNvSpPr/>
          <p:nvPr/>
        </p:nvSpPr>
        <p:spPr>
          <a:xfrm>
            <a:off x="1097280" y="3694176"/>
            <a:ext cx="6400800" cy="914"/>
          </a:xfrm>
          <a:prstGeom prst="line">
            <a:avLst/>
          </a:prstGeom>
          <a:noFill/>
          <a:ln w="6350">
            <a:solidFill>
              <a:srgbClr val="ECEFF2"/>
            </a:solidFill>
            <a:prstDash val="solid"/>
          </a:ln>
        </p:spPr>
        <p:txBody>
          <a:bodyPr/>
          <a:p/>
        </p:txBody>
      </p:sp>
      <p:sp>
        <p:nvSpPr>
          <p:cNvPr id="31" name="Shape 28"/>
          <p:cNvSpPr/>
          <p:nvPr/>
        </p:nvSpPr>
        <p:spPr>
          <a:xfrm>
            <a:off x="548640" y="3749040"/>
            <a:ext cx="384048" cy="384048"/>
          </a:xfrm>
          <a:prstGeom prst="ellipse">
            <a:avLst/>
          </a:prstGeom>
          <a:solidFill>
            <a:srgbClr val="C8106E"/>
          </a:solidFill>
          <a:ln/>
        </p:spPr>
        <p:txBody>
          <a:bodyPr/>
          <a:p/>
        </p:txBody>
      </p:sp>
      <p:sp>
        <p:nvSpPr>
          <p:cNvPr id="32" name="Text 29"/>
          <p:cNvSpPr/>
          <p:nvPr/>
        </p:nvSpPr>
        <p:spPr>
          <a:xfrm>
            <a:off x="548640" y="3749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3" name="Text 30"/>
          <p:cNvSpPr/>
          <p:nvPr/>
        </p:nvSpPr>
        <p:spPr>
          <a:xfrm>
            <a:off x="1097280" y="3730752"/>
            <a:ext cx="5943600" cy="237744"/>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Até onde vamos</a:t>
            </a:r>
            <a:endParaRPr lang="en-US" sz="1400" dirty="0"/>
          </a:p>
        </p:txBody>
      </p:sp>
      <p:sp>
        <p:nvSpPr>
          <p:cNvPr id="34" name="Text 31"/>
          <p:cNvSpPr/>
          <p:nvPr/>
        </p:nvSpPr>
        <p:spPr>
          <a:xfrm>
            <a:off x="1097280" y="3968496"/>
            <a:ext cx="5943600" cy="182880"/>
          </a:xfrm>
          <a:prstGeom prst="rect">
            <a:avLst/>
          </a:prstGeom>
          <a:noFill/>
          <a:ln/>
        </p:spPr>
        <p:txBody>
          <a:bodyPr wrap="square" lIns="0" tIns="0" rIns="0" bIns="0" rtlCol="0" anchor="t"/>
          <a:lstStyle/>
          <a:p>
            <a:pPr indent="0" marL="0">
              <a:buNone/>
            </a:pPr>
            <a:r>
              <a:rPr lang="en-US" sz="1000" dirty="0">
                <a:solidFill>
                  <a:srgbClr val="4A5560"/>
                </a:solidFill>
                <a:latin typeface="Calibri" pitchFamily="34" charset="0"/>
                <a:ea typeface="Calibri" pitchFamily="34" charset="-122"/>
                <a:cs typeface="Calibri" pitchFamily="34" charset="-120"/>
              </a:rPr>
              <a:t>Roadmap, visão de 4 anos e decisões de hoje</a:t>
            </a:r>
            <a:endParaRPr lang="en-US" sz="10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Nossa história: da automação para o resultado</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A v1.0 começou pelo fim. A versão Web começa pela rotina do curral e termina no resultado do pecuarista.</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indent="0" marL="0">
              <a:buNone/>
            </a:pPr>
            <a:r>
              <a:rPr lang="en-US" sz="800" dirty="0">
                <a:solidFill>
                  <a:srgbClr val="7A858F"/>
                </a:solidFill>
                <a:latin typeface="Calibri" pitchFamily="34" charset="0"/>
                <a:ea typeface="Calibri" pitchFamily="34" charset="-122"/>
                <a:cs typeface="Calibri" pitchFamily="34" charset="-120"/>
              </a:rPr>
              <a:t>Fontes: Probeef (95% dos confinamentos analisados usam software de gestão); Embrapa (2018): 106 softwares para pecuária de corte e queixa de sistemas complexos e caros.</a:t>
            </a:r>
            <a:endParaRPr lang="en-US" sz="800" dirty="0"/>
          </a:p>
        </p:txBody>
      </p:sp>
      <p:sp>
        <p:nvSpPr>
          <p:cNvPr id="7" name="Text 4"/>
          <p:cNvSpPr/>
          <p:nvPr/>
        </p:nvSpPr>
        <p:spPr>
          <a:xfrm>
            <a:off x="457200" y="1161288"/>
            <a:ext cx="1600200" cy="256032"/>
          </a:xfrm>
          <a:prstGeom prst="rect">
            <a:avLst/>
          </a:prstGeom>
          <a:noFill/>
          <a:ln/>
        </p:spPr>
        <p:txBody>
          <a:bodyPr wrap="square" lIns="0" tIns="0" rIns="0" bIns="0" rtlCol="0" anchor="t"/>
          <a:lstStyle/>
          <a:p>
            <a:pPr indent="0" marL="0">
              <a:buNone/>
            </a:pPr>
            <a:r>
              <a:rPr lang="en-US" sz="1200" b="1" dirty="0">
                <a:solidFill>
                  <a:srgbClr val="1B3A8C"/>
                </a:solidFill>
                <a:latin typeface="Calibri" pitchFamily="34" charset="0"/>
                <a:ea typeface="Calibri" pitchFamily="34" charset="-122"/>
                <a:cs typeface="Calibri" pitchFamily="34" charset="-120"/>
              </a:rPr>
              <a:t>TN Manager v1.0</a:t>
            </a:r>
            <a:endParaRPr lang="en-US" sz="1200" dirty="0"/>
          </a:p>
        </p:txBody>
      </p:sp>
      <p:sp>
        <p:nvSpPr>
          <p:cNvPr id="8" name="Text 5"/>
          <p:cNvSpPr/>
          <p:nvPr/>
        </p:nvSpPr>
        <p:spPr>
          <a:xfrm>
            <a:off x="457200" y="1417320"/>
            <a:ext cx="1600200" cy="365760"/>
          </a:xfrm>
          <a:prstGeom prst="rect">
            <a:avLst/>
          </a:prstGeom>
          <a:noFill/>
          <a:ln/>
        </p:spPr>
        <p:txBody>
          <a:bodyPr wrap="square" lIns="0" tIns="0" rIns="0" bIns="0" rtlCol="0" anchor="t"/>
          <a:lstStyle/>
          <a:p>
            <a:pPr indent="0" marL="0">
              <a:buNone/>
            </a:pPr>
            <a:r>
              <a:rPr lang="en-US" sz="900" i="1" dirty="0">
                <a:solidFill>
                  <a:srgbClr val="7A858F"/>
                </a:solidFill>
                <a:latin typeface="Calibri" pitchFamily="34" charset="0"/>
                <a:ea typeface="Calibri" pitchFamily="34" charset="-122"/>
                <a:cs typeface="Calibri" pitchFamily="34" charset="-120"/>
              </a:rPr>
              <a:t>2023: começou pelo fim</a:t>
            </a:r>
            <a:endParaRPr lang="en-US" sz="900" dirty="0"/>
          </a:p>
        </p:txBody>
      </p:sp>
      <p:sp>
        <p:nvSpPr>
          <p:cNvPr id="9" name="Shape 6"/>
          <p:cNvSpPr/>
          <p:nvPr/>
        </p:nvSpPr>
        <p:spPr>
          <a:xfrm>
            <a:off x="2103120" y="1143000"/>
            <a:ext cx="1755648" cy="640080"/>
          </a:xfrm>
          <a:prstGeom prst="homePlate">
            <a:avLst/>
          </a:prstGeom>
          <a:solidFill>
            <a:srgbClr val="9AA3AC"/>
          </a:solidFill>
          <a:ln w="25400">
            <a:solidFill>
              <a:srgbClr val="FFFFFF"/>
            </a:solidFill>
            <a:prstDash val="solid"/>
          </a:ln>
        </p:spPr>
        <p:txBody>
          <a:bodyPr/>
          <a:p/>
        </p:txBody>
      </p:sp>
      <p:sp>
        <p:nvSpPr>
          <p:cNvPr id="10" name="Text 7"/>
          <p:cNvSpPr/>
          <p:nvPr/>
        </p:nvSpPr>
        <p:spPr>
          <a:xfrm>
            <a:off x="2194560" y="1143000"/>
            <a:ext cx="1261872" cy="6400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Automação e hardware</a:t>
            </a:r>
            <a:endParaRPr lang="en-US" sz="900" dirty="0"/>
          </a:p>
        </p:txBody>
      </p:sp>
      <p:sp>
        <p:nvSpPr>
          <p:cNvPr id="11" name="Shape 8"/>
          <p:cNvSpPr/>
          <p:nvPr/>
        </p:nvSpPr>
        <p:spPr>
          <a:xfrm>
            <a:off x="3749040" y="1143000"/>
            <a:ext cx="1755648" cy="640080"/>
          </a:xfrm>
          <a:prstGeom prst="chevron">
            <a:avLst/>
          </a:prstGeom>
          <a:solidFill>
            <a:srgbClr val="9AA3AC"/>
          </a:solidFill>
          <a:ln w="25400">
            <a:solidFill>
              <a:srgbClr val="FFFFFF"/>
            </a:solidFill>
            <a:prstDash val="solid"/>
          </a:ln>
        </p:spPr>
        <p:txBody>
          <a:bodyPr/>
          <a:p/>
        </p:txBody>
      </p:sp>
      <p:sp>
        <p:nvSpPr>
          <p:cNvPr id="12" name="Text 9"/>
          <p:cNvSpPr/>
          <p:nvPr/>
        </p:nvSpPr>
        <p:spPr>
          <a:xfrm>
            <a:off x="4059936" y="1143000"/>
            <a:ext cx="1261872" cy="6400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Integrações</a:t>
            </a:r>
            <a:endParaRPr lang="en-US" sz="900" dirty="0"/>
          </a:p>
        </p:txBody>
      </p:sp>
      <p:sp>
        <p:nvSpPr>
          <p:cNvPr id="13" name="Shape 10"/>
          <p:cNvSpPr/>
          <p:nvPr/>
        </p:nvSpPr>
        <p:spPr>
          <a:xfrm>
            <a:off x="5394960" y="1143000"/>
            <a:ext cx="1755648" cy="640080"/>
          </a:xfrm>
          <a:prstGeom prst="chevron">
            <a:avLst/>
          </a:prstGeom>
          <a:solidFill>
            <a:srgbClr val="9AA3AC"/>
          </a:solidFill>
          <a:ln w="25400">
            <a:solidFill>
              <a:srgbClr val="FFFFFF"/>
            </a:solidFill>
            <a:prstDash val="solid"/>
          </a:ln>
        </p:spPr>
        <p:txBody>
          <a:bodyPr/>
          <a:p/>
        </p:txBody>
      </p:sp>
      <p:sp>
        <p:nvSpPr>
          <p:cNvPr id="14" name="Text 11"/>
          <p:cNvSpPr/>
          <p:nvPr/>
        </p:nvSpPr>
        <p:spPr>
          <a:xfrm>
            <a:off x="5705856" y="1143000"/>
            <a:ext cx="1261872" cy="6400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Grandes confinamentos</a:t>
            </a:r>
            <a:endParaRPr lang="en-US" sz="900" dirty="0"/>
          </a:p>
        </p:txBody>
      </p:sp>
      <p:sp>
        <p:nvSpPr>
          <p:cNvPr id="15" name="Shape 12"/>
          <p:cNvSpPr/>
          <p:nvPr/>
        </p:nvSpPr>
        <p:spPr>
          <a:xfrm>
            <a:off x="7040880" y="1143000"/>
            <a:ext cx="1755648" cy="640080"/>
          </a:xfrm>
          <a:prstGeom prst="chevron">
            <a:avLst/>
          </a:prstGeom>
          <a:solidFill>
            <a:srgbClr val="9AA3AC"/>
          </a:solidFill>
          <a:ln w="25400">
            <a:solidFill>
              <a:srgbClr val="FFFFFF"/>
            </a:solidFill>
            <a:prstDash val="solid"/>
          </a:ln>
        </p:spPr>
        <p:txBody>
          <a:bodyPr/>
          <a:p/>
        </p:txBody>
      </p:sp>
      <p:sp>
        <p:nvSpPr>
          <p:cNvPr id="16" name="Text 13"/>
          <p:cNvSpPr/>
          <p:nvPr/>
        </p:nvSpPr>
        <p:spPr>
          <a:xfrm>
            <a:off x="7351776" y="1143000"/>
            <a:ext cx="1261872" cy="6400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Implantação longa e cara</a:t>
            </a:r>
            <a:endParaRPr lang="en-US" sz="900" dirty="0"/>
          </a:p>
        </p:txBody>
      </p:sp>
      <p:sp>
        <p:nvSpPr>
          <p:cNvPr id="17" name="Text 14"/>
          <p:cNvSpPr/>
          <p:nvPr/>
        </p:nvSpPr>
        <p:spPr>
          <a:xfrm>
            <a:off x="457200" y="1984248"/>
            <a:ext cx="1600200" cy="256032"/>
          </a:xfrm>
          <a:prstGeom prst="rect">
            <a:avLst/>
          </a:prstGeom>
          <a:noFill/>
          <a:ln/>
        </p:spPr>
        <p:txBody>
          <a:bodyPr wrap="square" lIns="0" tIns="0" rIns="0" bIns="0" rtlCol="0" anchor="t"/>
          <a:lstStyle/>
          <a:p>
            <a:pPr indent="0" marL="0">
              <a:buNone/>
            </a:pPr>
            <a:r>
              <a:rPr lang="en-US" sz="1200" b="1" dirty="0">
                <a:solidFill>
                  <a:srgbClr val="1B3A8C"/>
                </a:solidFill>
                <a:latin typeface="Calibri" pitchFamily="34" charset="0"/>
                <a:ea typeface="Calibri" pitchFamily="34" charset="-122"/>
                <a:cs typeface="Calibri" pitchFamily="34" charset="-120"/>
              </a:rPr>
              <a:t>TN Manager Web</a:t>
            </a:r>
            <a:endParaRPr lang="en-US" sz="1200" dirty="0"/>
          </a:p>
        </p:txBody>
      </p:sp>
      <p:sp>
        <p:nvSpPr>
          <p:cNvPr id="18" name="Text 15"/>
          <p:cNvSpPr/>
          <p:nvPr/>
        </p:nvSpPr>
        <p:spPr>
          <a:xfrm>
            <a:off x="457200" y="2240280"/>
            <a:ext cx="1600200" cy="365760"/>
          </a:xfrm>
          <a:prstGeom prst="rect">
            <a:avLst/>
          </a:prstGeom>
          <a:noFill/>
          <a:ln/>
        </p:spPr>
        <p:txBody>
          <a:bodyPr wrap="square" lIns="0" tIns="0" rIns="0" bIns="0" rtlCol="0" anchor="t"/>
          <a:lstStyle/>
          <a:p>
            <a:pPr indent="0" marL="0">
              <a:buNone/>
            </a:pPr>
            <a:r>
              <a:rPr lang="en-US" sz="900" i="1" dirty="0">
                <a:solidFill>
                  <a:srgbClr val="7A858F"/>
                </a:solidFill>
                <a:latin typeface="Calibri" pitchFamily="34" charset="0"/>
                <a:ea typeface="Calibri" pitchFamily="34" charset="-122"/>
                <a:cs typeface="Calibri" pitchFamily="34" charset="-120"/>
              </a:rPr>
              <a:t>2026: começa pelo começo</a:t>
            </a:r>
            <a:endParaRPr lang="en-US" sz="900" dirty="0"/>
          </a:p>
        </p:txBody>
      </p:sp>
      <p:sp>
        <p:nvSpPr>
          <p:cNvPr id="19" name="Shape 16"/>
          <p:cNvSpPr/>
          <p:nvPr/>
        </p:nvSpPr>
        <p:spPr>
          <a:xfrm>
            <a:off x="2103120" y="1965960"/>
            <a:ext cx="1426464" cy="640080"/>
          </a:xfrm>
          <a:prstGeom prst="homePlate">
            <a:avLst/>
          </a:prstGeom>
          <a:solidFill>
            <a:srgbClr val="26668F"/>
          </a:solidFill>
          <a:ln w="25400">
            <a:solidFill>
              <a:srgbClr val="FFFFFF"/>
            </a:solidFill>
            <a:prstDash val="solid"/>
          </a:ln>
        </p:spPr>
        <p:txBody>
          <a:bodyPr/>
          <a:p/>
        </p:txBody>
      </p:sp>
      <p:sp>
        <p:nvSpPr>
          <p:cNvPr id="20" name="Text 17"/>
          <p:cNvSpPr/>
          <p:nvPr/>
        </p:nvSpPr>
        <p:spPr>
          <a:xfrm>
            <a:off x="2194560" y="1965960"/>
            <a:ext cx="932688" cy="6400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Rotina do curral</a:t>
            </a:r>
            <a:endParaRPr lang="en-US" sz="900" dirty="0"/>
          </a:p>
        </p:txBody>
      </p:sp>
      <p:sp>
        <p:nvSpPr>
          <p:cNvPr id="21" name="Shape 18"/>
          <p:cNvSpPr/>
          <p:nvPr/>
        </p:nvSpPr>
        <p:spPr>
          <a:xfrm>
            <a:off x="3419856" y="1965960"/>
            <a:ext cx="1426464" cy="640080"/>
          </a:xfrm>
          <a:prstGeom prst="chevron">
            <a:avLst/>
          </a:prstGeom>
          <a:solidFill>
            <a:srgbClr val="1B3A8C"/>
          </a:solidFill>
          <a:ln w="25400">
            <a:solidFill>
              <a:srgbClr val="FFFFFF"/>
            </a:solidFill>
            <a:prstDash val="solid"/>
          </a:ln>
        </p:spPr>
        <p:txBody>
          <a:bodyPr/>
          <a:p/>
        </p:txBody>
      </p:sp>
      <p:sp>
        <p:nvSpPr>
          <p:cNvPr id="22" name="Text 19"/>
          <p:cNvSpPr/>
          <p:nvPr/>
        </p:nvSpPr>
        <p:spPr>
          <a:xfrm>
            <a:off x="3730752" y="1965960"/>
            <a:ext cx="932688" cy="6400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Dados confiáveis</a:t>
            </a:r>
            <a:endParaRPr lang="en-US" sz="900" dirty="0"/>
          </a:p>
        </p:txBody>
      </p:sp>
      <p:sp>
        <p:nvSpPr>
          <p:cNvPr id="23" name="Shape 20"/>
          <p:cNvSpPr/>
          <p:nvPr/>
        </p:nvSpPr>
        <p:spPr>
          <a:xfrm>
            <a:off x="4736592" y="1965960"/>
            <a:ext cx="1426464" cy="640080"/>
          </a:xfrm>
          <a:prstGeom prst="chevron">
            <a:avLst/>
          </a:prstGeom>
          <a:solidFill>
            <a:srgbClr val="1B3A8C"/>
          </a:solidFill>
          <a:ln w="25400">
            <a:solidFill>
              <a:srgbClr val="FFFFFF"/>
            </a:solidFill>
            <a:prstDash val="solid"/>
          </a:ln>
        </p:spPr>
        <p:txBody>
          <a:bodyPr/>
          <a:p/>
        </p:txBody>
      </p:sp>
      <p:sp>
        <p:nvSpPr>
          <p:cNvPr id="24" name="Text 21"/>
          <p:cNvSpPr/>
          <p:nvPr/>
        </p:nvSpPr>
        <p:spPr>
          <a:xfrm>
            <a:off x="5047488" y="1965960"/>
            <a:ext cx="932688" cy="6400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Análise técnica TN</a:t>
            </a:r>
            <a:endParaRPr lang="en-US" sz="900" dirty="0"/>
          </a:p>
        </p:txBody>
      </p:sp>
      <p:sp>
        <p:nvSpPr>
          <p:cNvPr id="25" name="Shape 22"/>
          <p:cNvSpPr/>
          <p:nvPr/>
        </p:nvSpPr>
        <p:spPr>
          <a:xfrm>
            <a:off x="6053328" y="1965960"/>
            <a:ext cx="1426464" cy="640080"/>
          </a:xfrm>
          <a:prstGeom prst="chevron">
            <a:avLst/>
          </a:prstGeom>
          <a:solidFill>
            <a:srgbClr val="C8106E"/>
          </a:solidFill>
          <a:ln w="25400">
            <a:solidFill>
              <a:srgbClr val="FFFFFF"/>
            </a:solidFill>
            <a:prstDash val="solid"/>
          </a:ln>
        </p:spPr>
        <p:txBody>
          <a:bodyPr/>
          <a:p/>
        </p:txBody>
      </p:sp>
      <p:sp>
        <p:nvSpPr>
          <p:cNvPr id="26" name="Text 23"/>
          <p:cNvSpPr/>
          <p:nvPr/>
        </p:nvSpPr>
        <p:spPr>
          <a:xfrm>
            <a:off x="6364224" y="1965960"/>
            <a:ext cx="932688" cy="6400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Resultado do pecuarista</a:t>
            </a:r>
            <a:endParaRPr lang="en-US" sz="900" dirty="0"/>
          </a:p>
        </p:txBody>
      </p:sp>
      <p:sp>
        <p:nvSpPr>
          <p:cNvPr id="27" name="Shape 24"/>
          <p:cNvSpPr/>
          <p:nvPr/>
        </p:nvSpPr>
        <p:spPr>
          <a:xfrm>
            <a:off x="7370064" y="1965960"/>
            <a:ext cx="1426464" cy="640080"/>
          </a:xfrm>
          <a:prstGeom prst="chevron">
            <a:avLst/>
          </a:prstGeom>
          <a:solidFill>
            <a:srgbClr val="E3E7EC"/>
          </a:solidFill>
          <a:ln w="25400">
            <a:solidFill>
              <a:srgbClr val="FFFFFF"/>
            </a:solidFill>
            <a:prstDash val="solid"/>
          </a:ln>
        </p:spPr>
        <p:txBody>
          <a:bodyPr/>
          <a:p/>
        </p:txBody>
      </p:sp>
      <p:sp>
        <p:nvSpPr>
          <p:cNvPr id="28" name="Text 25"/>
          <p:cNvSpPr/>
          <p:nvPr/>
        </p:nvSpPr>
        <p:spPr>
          <a:xfrm>
            <a:off x="7680960" y="1965960"/>
            <a:ext cx="932688" cy="640080"/>
          </a:xfrm>
          <a:prstGeom prst="rect">
            <a:avLst/>
          </a:prstGeom>
          <a:noFill/>
          <a:ln/>
        </p:spPr>
        <p:txBody>
          <a:bodyPr wrap="square" lIns="0" tIns="0" rIns="0" bIns="0" rtlCol="0" anchor="ctr"/>
          <a:lstStyle/>
          <a:p>
            <a:pPr algn="ctr" indent="0" marL="0">
              <a:buNone/>
            </a:pPr>
            <a:r>
              <a:rPr lang="en-US" sz="900" b="1" dirty="0">
                <a:solidFill>
                  <a:srgbClr val="7A858F"/>
                </a:solidFill>
                <a:latin typeface="Calibri" pitchFamily="34" charset="0"/>
                <a:ea typeface="Calibri" pitchFamily="34" charset="-122"/>
                <a:cs typeface="Calibri" pitchFamily="34" charset="-120"/>
              </a:rPr>
              <a:t>Automação: PecCode hoje, TN Manager no futuro</a:t>
            </a:r>
            <a:endParaRPr lang="en-US" sz="900" dirty="0"/>
          </a:p>
        </p:txBody>
      </p:sp>
      <p:sp>
        <p:nvSpPr>
          <p:cNvPr id="29" name="Shape 26"/>
          <p:cNvSpPr/>
          <p:nvPr/>
        </p:nvSpPr>
        <p:spPr>
          <a:xfrm>
            <a:off x="457200" y="2852928"/>
            <a:ext cx="1536192" cy="1371600"/>
          </a:xfrm>
          <a:prstGeom prst="rect">
            <a:avLst/>
          </a:prstGeom>
          <a:solidFill>
            <a:srgbClr val="F4F6F8"/>
          </a:solidFill>
          <a:ln/>
        </p:spPr>
        <p:txBody>
          <a:bodyPr/>
          <a:p/>
        </p:txBody>
      </p:sp>
      <p:sp>
        <p:nvSpPr>
          <p:cNvPr id="30" name="Shape 27"/>
          <p:cNvSpPr/>
          <p:nvPr/>
        </p:nvSpPr>
        <p:spPr>
          <a:xfrm>
            <a:off x="457200" y="2852928"/>
            <a:ext cx="1536192" cy="54864"/>
          </a:xfrm>
          <a:prstGeom prst="rect">
            <a:avLst/>
          </a:prstGeom>
          <a:solidFill>
            <a:srgbClr val="26668F"/>
          </a:solidFill>
          <a:ln/>
        </p:spPr>
        <p:txBody>
          <a:bodyPr/>
          <a:p/>
        </p:txBody>
      </p:sp>
      <p:sp>
        <p:nvSpPr>
          <p:cNvPr id="31" name="Text 28"/>
          <p:cNvSpPr/>
          <p:nvPr/>
        </p:nvSpPr>
        <p:spPr>
          <a:xfrm>
            <a:off x="566928" y="2980944"/>
            <a:ext cx="1353312" cy="274320"/>
          </a:xfrm>
          <a:prstGeom prst="rect">
            <a:avLst/>
          </a:prstGeom>
          <a:noFill/>
          <a:ln/>
        </p:spPr>
        <p:txBody>
          <a:bodyPr wrap="square" lIns="0" tIns="0" rIns="0" bIns="0" rtlCol="0" anchor="t"/>
          <a:lstStyle/>
          <a:p>
            <a:pPr indent="0" marL="0">
              <a:buNone/>
            </a:pPr>
            <a:r>
              <a:rPr lang="en-US" sz="1400" b="1" dirty="0">
                <a:solidFill>
                  <a:srgbClr val="26668F"/>
                </a:solidFill>
                <a:latin typeface="Calibri" pitchFamily="34" charset="0"/>
                <a:ea typeface="Calibri" pitchFamily="34" charset="-122"/>
                <a:cs typeface="Calibri" pitchFamily="34" charset="-120"/>
              </a:rPr>
              <a:t>Simples</a:t>
            </a:r>
            <a:endParaRPr lang="en-US" sz="1400" dirty="0"/>
          </a:p>
        </p:txBody>
      </p:sp>
      <p:sp>
        <p:nvSpPr>
          <p:cNvPr id="32" name="Text 29"/>
          <p:cNvSpPr/>
          <p:nvPr/>
        </p:nvSpPr>
        <p:spPr>
          <a:xfrm>
            <a:off x="566928" y="3291840"/>
            <a:ext cx="1335024" cy="86868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Poucos campos e 10 minutos por dia, no celular ou no papel</a:t>
            </a:r>
            <a:endParaRPr lang="en-US" sz="950" dirty="0"/>
          </a:p>
        </p:txBody>
      </p:sp>
      <p:sp>
        <p:nvSpPr>
          <p:cNvPr id="33" name="Shape 30"/>
          <p:cNvSpPr/>
          <p:nvPr/>
        </p:nvSpPr>
        <p:spPr>
          <a:xfrm>
            <a:off x="2084832" y="2852928"/>
            <a:ext cx="1536192" cy="1371600"/>
          </a:xfrm>
          <a:prstGeom prst="rect">
            <a:avLst/>
          </a:prstGeom>
          <a:solidFill>
            <a:srgbClr val="F4F6F8"/>
          </a:solidFill>
          <a:ln/>
        </p:spPr>
        <p:txBody>
          <a:bodyPr/>
          <a:p/>
        </p:txBody>
      </p:sp>
      <p:sp>
        <p:nvSpPr>
          <p:cNvPr id="34" name="Shape 31"/>
          <p:cNvSpPr/>
          <p:nvPr/>
        </p:nvSpPr>
        <p:spPr>
          <a:xfrm>
            <a:off x="2084832" y="2852928"/>
            <a:ext cx="1536192" cy="54864"/>
          </a:xfrm>
          <a:prstGeom prst="rect">
            <a:avLst/>
          </a:prstGeom>
          <a:solidFill>
            <a:srgbClr val="1B3A8C"/>
          </a:solidFill>
          <a:ln/>
        </p:spPr>
        <p:txBody>
          <a:bodyPr/>
          <a:p/>
        </p:txBody>
      </p:sp>
      <p:sp>
        <p:nvSpPr>
          <p:cNvPr id="35" name="Text 32"/>
          <p:cNvSpPr/>
          <p:nvPr/>
        </p:nvSpPr>
        <p:spPr>
          <a:xfrm>
            <a:off x="2194560" y="2980944"/>
            <a:ext cx="1353312" cy="274320"/>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Objetivo</a:t>
            </a:r>
            <a:endParaRPr lang="en-US" sz="1400" dirty="0"/>
          </a:p>
        </p:txBody>
      </p:sp>
      <p:sp>
        <p:nvSpPr>
          <p:cNvPr id="36" name="Text 33"/>
          <p:cNvSpPr/>
          <p:nvPr/>
        </p:nvSpPr>
        <p:spPr>
          <a:xfrm>
            <a:off x="2194560" y="3291840"/>
            <a:ext cx="1335024" cy="86868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Só os indicadores que mudam a decisão: consumo, ganho, custo e dias de cocho</a:t>
            </a:r>
            <a:endParaRPr lang="en-US" sz="950" dirty="0"/>
          </a:p>
        </p:txBody>
      </p:sp>
      <p:sp>
        <p:nvSpPr>
          <p:cNvPr id="37" name="Shape 34"/>
          <p:cNvSpPr/>
          <p:nvPr/>
        </p:nvSpPr>
        <p:spPr>
          <a:xfrm>
            <a:off x="3712464" y="2852928"/>
            <a:ext cx="1536192" cy="1371600"/>
          </a:xfrm>
          <a:prstGeom prst="rect">
            <a:avLst/>
          </a:prstGeom>
          <a:solidFill>
            <a:srgbClr val="F4F6F8"/>
          </a:solidFill>
          <a:ln/>
        </p:spPr>
        <p:txBody>
          <a:bodyPr/>
          <a:p/>
        </p:txBody>
      </p:sp>
      <p:sp>
        <p:nvSpPr>
          <p:cNvPr id="38" name="Shape 35"/>
          <p:cNvSpPr/>
          <p:nvPr/>
        </p:nvSpPr>
        <p:spPr>
          <a:xfrm>
            <a:off x="3712464" y="2852928"/>
            <a:ext cx="1536192" cy="54864"/>
          </a:xfrm>
          <a:prstGeom prst="rect">
            <a:avLst/>
          </a:prstGeom>
          <a:solidFill>
            <a:srgbClr val="C8106E"/>
          </a:solidFill>
          <a:ln/>
        </p:spPr>
        <p:txBody>
          <a:bodyPr/>
          <a:p/>
        </p:txBody>
      </p:sp>
      <p:sp>
        <p:nvSpPr>
          <p:cNvPr id="39" name="Text 36"/>
          <p:cNvSpPr/>
          <p:nvPr/>
        </p:nvSpPr>
        <p:spPr>
          <a:xfrm>
            <a:off x="3822192" y="2980944"/>
            <a:ext cx="1353312" cy="274320"/>
          </a:xfrm>
          <a:prstGeom prst="rect">
            <a:avLst/>
          </a:prstGeom>
          <a:noFill/>
          <a:ln/>
        </p:spPr>
        <p:txBody>
          <a:bodyPr wrap="square" lIns="0" tIns="0" rIns="0" bIns="0" rtlCol="0" anchor="t"/>
          <a:lstStyle/>
          <a:p>
            <a:pPr indent="0" marL="0">
              <a:buNone/>
            </a:pPr>
            <a:r>
              <a:rPr lang="en-US" sz="1400" b="1" dirty="0">
                <a:solidFill>
                  <a:srgbClr val="C8106E"/>
                </a:solidFill>
                <a:latin typeface="Calibri" pitchFamily="34" charset="0"/>
                <a:ea typeface="Calibri" pitchFamily="34" charset="-122"/>
                <a:cs typeface="Calibri" pitchFamily="34" charset="-120"/>
              </a:rPr>
              <a:t>Flexível</a:t>
            </a:r>
            <a:endParaRPr lang="en-US" sz="1400" dirty="0"/>
          </a:p>
        </p:txBody>
      </p:sp>
      <p:sp>
        <p:nvSpPr>
          <p:cNvPr id="40" name="Text 37"/>
          <p:cNvSpPr/>
          <p:nvPr/>
        </p:nvSpPr>
        <p:spPr>
          <a:xfrm>
            <a:off x="3822192" y="3291840"/>
            <a:ext cx="1335024" cy="86868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Funciona sem internet no curral e cresce por versões</a:t>
            </a:r>
            <a:endParaRPr lang="en-US" sz="950" dirty="0"/>
          </a:p>
        </p:txBody>
      </p:sp>
      <p:sp>
        <p:nvSpPr>
          <p:cNvPr id="41" name="Shape 38"/>
          <p:cNvSpPr/>
          <p:nvPr/>
        </p:nvSpPr>
        <p:spPr>
          <a:xfrm>
            <a:off x="5440680" y="2852928"/>
            <a:ext cx="3246120" cy="1371600"/>
          </a:xfrm>
          <a:prstGeom prst="rect">
            <a:avLst/>
          </a:prstGeom>
          <a:solidFill>
            <a:srgbClr val="1B3A8C"/>
          </a:solidFill>
          <a:ln/>
        </p:spPr>
        <p:txBody>
          <a:bodyPr/>
          <a:p/>
        </p:txBody>
      </p:sp>
      <p:sp>
        <p:nvSpPr>
          <p:cNvPr id="42" name="Text 39"/>
          <p:cNvSpPr/>
          <p:nvPr/>
        </p:nvSpPr>
        <p:spPr>
          <a:xfrm>
            <a:off x="5623560" y="2962656"/>
            <a:ext cx="2926080" cy="219456"/>
          </a:xfrm>
          <a:prstGeom prst="rect">
            <a:avLst/>
          </a:prstGeom>
          <a:noFill/>
          <a:ln/>
        </p:spPr>
        <p:txBody>
          <a:bodyPr wrap="square" lIns="0" tIns="0" rIns="0" bIns="0" rtlCol="0" anchor="t"/>
          <a:lstStyle/>
          <a:p>
            <a:pPr indent="0" marL="0">
              <a:buNone/>
            </a:pPr>
            <a:r>
              <a:rPr lang="en-US" sz="900" b="1" spc="300" kern="0" dirty="0">
                <a:solidFill>
                  <a:srgbClr val="C5D300"/>
                </a:solidFill>
                <a:latin typeface="Calibri" pitchFamily="34" charset="0"/>
                <a:ea typeface="Calibri" pitchFamily="34" charset="-122"/>
                <a:cs typeface="Calibri" pitchFamily="34" charset="-120"/>
              </a:rPr>
              <a:t>MENOS É MAIS</a:t>
            </a:r>
            <a:endParaRPr lang="en-US" sz="900" dirty="0"/>
          </a:p>
        </p:txBody>
      </p:sp>
      <p:sp>
        <p:nvSpPr>
          <p:cNvPr id="43" name="Text 40"/>
          <p:cNvSpPr/>
          <p:nvPr/>
        </p:nvSpPr>
        <p:spPr>
          <a:xfrm>
            <a:off x="5623560" y="3200400"/>
            <a:ext cx="2926080" cy="9601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Sistema virou commodity. O que manda é o resultado que ajudamos o pecuarista a alcançar.</a:t>
            </a:r>
            <a:endParaRPr lang="en-US" sz="1400" dirty="0"/>
          </a:p>
        </p:txBody>
      </p:sp>
      <p:sp>
        <p:nvSpPr>
          <p:cNvPr id="44" name="TextBox 43"/>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1  ·  DE ONDE VIEMOS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4">
            <a:extLst>
              <a:ext uri="{FF2B5EF4-FFF2-40B4-BE49-F238E27FC236}">
                <a16:creationId xmlns:a16="http://schemas.microsoft.com/office/drawing/2014/main" id="{B2DA0B8F-6275-5FF9-F0FA-D4F4A45023B6}"/>
              </a:ext>
            </a:extLst>
          </p:cNvPr>
          <p:cNvSpPr txBox="1">
            <a:spLocks/>
          </p:cNvSpPr>
          <p:nvPr/>
        </p:nvSpPr>
        <p:spPr>
          <a:xfrm>
            <a:off x="521550" y="143730"/>
            <a:ext cx="7074785" cy="837590"/>
          </a:xfrm>
          <a:prstGeom prst="rect">
            <a:avLst/>
          </a:prstGeom>
        </p:spPr>
        <p:txBody>
          <a:bodyPr vert="horz" wrap="square" lIns="27000" tIns="27000" rIns="27000" bIns="27000" rtlCol="0" anchor="t" anchorCtr="0">
            <a:noAutofit/>
          </a:bodyPr>
          <a:lstStyle>
            <a:lvl1pPr algn="l" defTabSz="914400" rtl="0" eaLnBrk="1" latinLnBrk="0" hangingPunct="1">
              <a:lnSpc>
                <a:spcPts val="4200"/>
              </a:lnSpc>
              <a:spcBef>
                <a:spcPct val="0"/>
              </a:spcBef>
              <a:buNone/>
              <a:defRPr sz="4400" b="1" kern="1200" baseline="0">
                <a:solidFill>
                  <a:schemeClr val="tx2"/>
                </a:solidFill>
                <a:latin typeface="+mn-lt"/>
                <a:ea typeface="+mj-ea"/>
                <a:cs typeface="+mj-cs"/>
              </a:defRPr>
            </a:lvl1pPr>
          </a:lstStyle>
          <a:p>
            <a:pPr>
              <a:lnSpc>
                <a:spcPct val="100000"/>
              </a:lnSpc>
            </a:pPr>
            <a:r>
              <a:rPr lang="en-CA" sz="2400" dirty="0"/>
              <a:t>Resumo Executivo</a:t>
            </a:r>
            <a:br>
              <a:rPr lang="en-CA" sz="2400" dirty="0"/>
            </a:br>
            <a:r>
              <a:rPr lang="en-US" sz="1350" b="0" i="1" dirty="0"/>
              <a:t>Conheça o TN Manager Web, </a:t>
            </a:r>
            <a:r>
              <a:rPr lang="en-US" sz="1350" b="0" i="1" dirty="0" err="1"/>
              <a:t>uma</a:t>
            </a:r>
            <a:r>
              <a:rPr lang="en-US" sz="1350" b="0" i="1" dirty="0"/>
              <a:t> nova </a:t>
            </a:r>
            <a:r>
              <a:rPr lang="en-US" sz="1350" b="0" i="1" dirty="0" err="1"/>
              <a:t>versão</a:t>
            </a:r>
            <a:r>
              <a:rPr lang="en-US" sz="1350" b="0" i="1" dirty="0"/>
              <a:t> do TN Manager que </a:t>
            </a:r>
            <a:r>
              <a:rPr lang="en-US" sz="1350" b="0" i="1" dirty="0" err="1"/>
              <a:t>tem</a:t>
            </a:r>
            <a:r>
              <a:rPr lang="en-US" sz="1350" b="0" i="1" dirty="0"/>
              <a:t> iniciativa estratégica totalmente alinhada à nossa visão de longo prazo de crescimento orgânico e transformação digital.</a:t>
            </a:r>
          </a:p>
          <a:p>
            <a:pPr>
              <a:lnSpc>
                <a:spcPct val="100000"/>
              </a:lnSpc>
            </a:pPr>
            <a:endParaRPr lang="en-CA" sz="2400" b="0" i="1" dirty="0"/>
          </a:p>
        </p:txBody>
      </p:sp>
      <p:sp>
        <p:nvSpPr>
          <p:cNvPr id="4" name="Espaço Reservado para Texto 3">
            <a:extLst>
              <a:ext uri="{FF2B5EF4-FFF2-40B4-BE49-F238E27FC236}">
                <a16:creationId xmlns:a16="http://schemas.microsoft.com/office/drawing/2014/main" id="{F8FEE3EA-3D4A-DD54-6A99-1DD5E326C43E}"/>
              </a:ext>
            </a:extLst>
          </p:cNvPr>
          <p:cNvSpPr>
            <a:spLocks noGrp="1"/>
          </p:cNvSpPr>
          <p:nvPr>
            <p:ph type="body" sz="quarter" idx="12"/>
          </p:nvPr>
        </p:nvSpPr>
        <p:spPr>
          <a:xfrm>
            <a:off x="521550" y="2654710"/>
            <a:ext cx="7884319" cy="1821679"/>
          </a:xfrm>
        </p:spPr>
        <p:txBody>
          <a:bodyPr/>
          <a:lstStyle/>
          <a:p>
            <a:r>
              <a:rPr lang="en-US" dirty="0"/>
              <a:t>O mercado está evoluindo rapidamente, e os concorrentes estão avançando mais rápido do que nós na transformação digital. </a:t>
            </a:r>
          </a:p>
          <a:p>
            <a:r>
              <a:rPr lang="en-US" dirty="0"/>
              <a:t>Este projeto inovador atende um segmento relevante, que representa 19% da nossa Unidade de Negócios Beef. Nosso plano é </a:t>
            </a:r>
            <a:r>
              <a:rPr lang="en-US" dirty="0" err="1"/>
              <a:t>desenvolver</a:t>
            </a:r>
            <a:r>
              <a:rPr lang="en-US" dirty="0"/>
              <a:t> internamente um Sistema web para </a:t>
            </a:r>
            <a:r>
              <a:rPr lang="en-US" dirty="0" err="1"/>
              <a:t>confinamentos</a:t>
            </a:r>
            <a:r>
              <a:rPr lang="en-US" dirty="0"/>
              <a:t> que proteja e fortaleça o relacionamento com os clientes atuais, aumente a fidelização e, ao mesmo tempo, sirva como alavanca para atrair novos clientes.</a:t>
            </a:r>
          </a:p>
          <a:p>
            <a:r>
              <a:rPr lang="en-US" dirty="0"/>
              <a:t>Em um cenário em constante mudança, o TN Manager </a:t>
            </a:r>
            <a:r>
              <a:rPr lang="en-US" dirty="0" err="1"/>
              <a:t>na</a:t>
            </a:r>
            <a:r>
              <a:rPr lang="en-US" dirty="0"/>
              <a:t> </a:t>
            </a:r>
            <a:r>
              <a:rPr lang="en-US" dirty="0" err="1"/>
              <a:t>versão</a:t>
            </a:r>
            <a:r>
              <a:rPr lang="en-US" dirty="0"/>
              <a:t> web nos </a:t>
            </a:r>
            <a:r>
              <a:rPr lang="en-US" dirty="0" err="1"/>
              <a:t>posiciona</a:t>
            </a:r>
            <a:r>
              <a:rPr lang="en-US" dirty="0"/>
              <a:t> no mercado, garantindo nossa presença no digital e nos levando a novos horizontes.</a:t>
            </a:r>
            <a:endParaRPr lang="en-CA" dirty="0"/>
          </a:p>
        </p:txBody>
      </p:sp>
      <p:sp>
        <p:nvSpPr>
          <p:cNvPr id="2" name="Rectangle 9">
            <a:extLst>
              <a:ext uri="{FF2B5EF4-FFF2-40B4-BE49-F238E27FC236}">
                <a16:creationId xmlns:a16="http://schemas.microsoft.com/office/drawing/2014/main" id="{A9C8DE9B-0182-9F12-A971-BD522072C4A3}"/>
              </a:ext>
            </a:extLst>
          </p:cNvPr>
          <p:cNvSpPr/>
          <p:nvPr/>
        </p:nvSpPr>
        <p:spPr>
          <a:xfrm>
            <a:off x="521550" y="1154220"/>
            <a:ext cx="7884319" cy="1125875"/>
          </a:xfrm>
          <a:prstGeom prst="rect">
            <a:avLst/>
          </a:prstGeom>
          <a:solidFill>
            <a:srgbClr val="0195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 name="TextBox 11">
            <a:extLst>
              <a:ext uri="{FF2B5EF4-FFF2-40B4-BE49-F238E27FC236}">
                <a16:creationId xmlns:a16="http://schemas.microsoft.com/office/drawing/2014/main" id="{AB97EAB9-B9D3-2C9B-E5C2-6D2E1CAC77D5}"/>
              </a:ext>
            </a:extLst>
          </p:cNvPr>
          <p:cNvSpPr txBox="1"/>
          <p:nvPr/>
        </p:nvSpPr>
        <p:spPr>
          <a:xfrm>
            <a:off x="1894825" y="1221600"/>
            <a:ext cx="6248567" cy="972108"/>
          </a:xfrm>
          <a:prstGeom prst="rect">
            <a:avLst/>
          </a:prstGeom>
          <a:noFill/>
        </p:spPr>
        <p:txBody>
          <a:bodyPr wrap="square" lIns="0" tIns="0" rIns="0" bIns="0" rtlCol="0" anchor="ctr" anchorCtr="0">
            <a:noAutofit/>
          </a:bodyPr>
          <a:lstStyle/>
          <a:p>
            <a:pPr>
              <a:lnSpc>
                <a:spcPct val="120000"/>
              </a:lnSpc>
            </a:pPr>
            <a:r>
              <a:rPr lang="en-US" sz="1200" dirty="0">
                <a:solidFill>
                  <a:schemeClr val="bg1"/>
                </a:solidFill>
              </a:rPr>
              <a:t>O TN Manager colocará a Trouw Nutrition Brasil na vanguarda da inovação no mercado de Corte, reforçando nossa tradição em oferecer produtos premium e serviços de excelência, ao mesmo tempo que impulsiona nossa agenda de </a:t>
            </a:r>
            <a:r>
              <a:rPr lang="en-US" sz="1200" dirty="0" err="1">
                <a:solidFill>
                  <a:schemeClr val="bg1"/>
                </a:solidFill>
              </a:rPr>
              <a:t>Transformação</a:t>
            </a:r>
            <a:r>
              <a:rPr lang="en-US" sz="1200" dirty="0">
                <a:solidFill>
                  <a:schemeClr val="bg1"/>
                </a:solidFill>
              </a:rPr>
              <a:t> Digital. </a:t>
            </a:r>
            <a:r>
              <a:rPr lang="en-US" sz="1200" dirty="0" err="1">
                <a:solidFill>
                  <a:schemeClr val="bg1"/>
                </a:solidFill>
              </a:rPr>
              <a:t>Além</a:t>
            </a:r>
            <a:r>
              <a:rPr lang="en-US" sz="1200" dirty="0">
                <a:solidFill>
                  <a:schemeClr val="bg1"/>
                </a:solidFill>
              </a:rPr>
              <a:t> de </a:t>
            </a:r>
            <a:r>
              <a:rPr lang="en-US" sz="1200" dirty="0" err="1">
                <a:solidFill>
                  <a:schemeClr val="bg1"/>
                </a:solidFill>
              </a:rPr>
              <a:t>fornecer</a:t>
            </a:r>
            <a:r>
              <a:rPr lang="en-US" sz="1200" dirty="0">
                <a:solidFill>
                  <a:schemeClr val="bg1"/>
                </a:solidFill>
              </a:rPr>
              <a:t> dados e </a:t>
            </a:r>
            <a:r>
              <a:rPr lang="en-US" sz="1200" dirty="0" err="1">
                <a:solidFill>
                  <a:schemeClr val="bg1"/>
                </a:solidFill>
              </a:rPr>
              <a:t>métricas</a:t>
            </a:r>
            <a:r>
              <a:rPr lang="en-US" sz="1200" dirty="0">
                <a:solidFill>
                  <a:schemeClr val="bg1"/>
                </a:solidFill>
              </a:rPr>
              <a:t> para </a:t>
            </a:r>
            <a:r>
              <a:rPr lang="en-US" sz="1200" dirty="0" err="1">
                <a:solidFill>
                  <a:schemeClr val="bg1"/>
                </a:solidFill>
              </a:rPr>
              <a:t>tomada</a:t>
            </a:r>
            <a:r>
              <a:rPr lang="en-US" sz="1200" dirty="0">
                <a:solidFill>
                  <a:schemeClr val="bg1"/>
                </a:solidFill>
              </a:rPr>
              <a:t> de </a:t>
            </a:r>
            <a:r>
              <a:rPr lang="en-US" sz="1200" dirty="0" err="1">
                <a:solidFill>
                  <a:schemeClr val="bg1"/>
                </a:solidFill>
              </a:rPr>
              <a:t>decisões</a:t>
            </a:r>
            <a:r>
              <a:rPr lang="en-US" sz="1200" dirty="0">
                <a:solidFill>
                  <a:schemeClr val="bg1"/>
                </a:solidFill>
              </a:rPr>
              <a:t> e </a:t>
            </a:r>
            <a:r>
              <a:rPr lang="en-US" sz="1200" dirty="0" err="1">
                <a:solidFill>
                  <a:schemeClr val="bg1"/>
                </a:solidFill>
              </a:rPr>
              <a:t>suporte</a:t>
            </a:r>
            <a:r>
              <a:rPr lang="en-US" sz="1200" dirty="0">
                <a:solidFill>
                  <a:schemeClr val="bg1"/>
                </a:solidFill>
              </a:rPr>
              <a:t> </a:t>
            </a:r>
            <a:r>
              <a:rPr lang="en-US" sz="1200" dirty="0" err="1">
                <a:solidFill>
                  <a:schemeClr val="bg1"/>
                </a:solidFill>
              </a:rPr>
              <a:t>técnico</a:t>
            </a:r>
            <a:r>
              <a:rPr lang="en-US" sz="1200" dirty="0">
                <a:solidFill>
                  <a:schemeClr val="bg1"/>
                </a:solidFill>
              </a:rPr>
              <a:t> de </a:t>
            </a:r>
            <a:r>
              <a:rPr lang="en-US" sz="1200" dirty="0" err="1">
                <a:solidFill>
                  <a:schemeClr val="bg1"/>
                </a:solidFill>
              </a:rPr>
              <a:t>qualidade</a:t>
            </a:r>
            <a:r>
              <a:rPr lang="en-US" sz="1200" dirty="0">
                <a:solidFill>
                  <a:schemeClr val="bg1"/>
                </a:solidFill>
              </a:rPr>
              <a:t>.</a:t>
            </a:r>
          </a:p>
        </p:txBody>
      </p:sp>
      <p:sp>
        <p:nvSpPr>
          <p:cNvPr id="5" name="Rectangle 22">
            <a:extLst>
              <a:ext uri="{FF2B5EF4-FFF2-40B4-BE49-F238E27FC236}">
                <a16:creationId xmlns:a16="http://schemas.microsoft.com/office/drawing/2014/main" id="{4BD2E2A4-A5A8-FB8A-00E5-7DB8A880E464}"/>
              </a:ext>
            </a:extLst>
          </p:cNvPr>
          <p:cNvSpPr/>
          <p:nvPr/>
        </p:nvSpPr>
        <p:spPr>
          <a:xfrm>
            <a:off x="521550" y="1154220"/>
            <a:ext cx="1103282" cy="1125875"/>
          </a:xfrm>
          <a:prstGeom prst="rect">
            <a:avLst/>
          </a:prstGeom>
          <a:solidFill>
            <a:srgbClr val="246C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6" name="Group 12">
            <a:extLst>
              <a:ext uri="{FF2B5EF4-FFF2-40B4-BE49-F238E27FC236}">
                <a16:creationId xmlns:a16="http://schemas.microsoft.com/office/drawing/2014/main" id="{9FEEAC2A-8F6F-33F1-31DC-45CF7E394C48}"/>
              </a:ext>
            </a:extLst>
          </p:cNvPr>
          <p:cNvGrpSpPr/>
          <p:nvPr/>
        </p:nvGrpSpPr>
        <p:grpSpPr>
          <a:xfrm>
            <a:off x="791580" y="1435871"/>
            <a:ext cx="562571" cy="562571"/>
            <a:chOff x="4119563" y="2171701"/>
            <a:chExt cx="346075" cy="346075"/>
          </a:xfrm>
        </p:grpSpPr>
        <p:sp>
          <p:nvSpPr>
            <p:cNvPr id="7" name="Freeform 307">
              <a:extLst>
                <a:ext uri="{FF2B5EF4-FFF2-40B4-BE49-F238E27FC236}">
                  <a16:creationId xmlns:a16="http://schemas.microsoft.com/office/drawing/2014/main" id="{522FD061-F040-8E76-4307-F7CF91D9DAD5}"/>
                </a:ext>
              </a:extLst>
            </p:cNvPr>
            <p:cNvSpPr>
              <a:spLocks/>
            </p:cNvSpPr>
            <p:nvPr/>
          </p:nvSpPr>
          <p:spPr bwMode="auto">
            <a:xfrm>
              <a:off x="4300538" y="2352676"/>
              <a:ext cx="165100" cy="165100"/>
            </a:xfrm>
            <a:custGeom>
              <a:avLst/>
              <a:gdLst>
                <a:gd name="T0" fmla="*/ 33 w 104"/>
                <a:gd name="T1" fmla="*/ 95 h 104"/>
                <a:gd name="T2" fmla="*/ 0 w 104"/>
                <a:gd name="T3" fmla="*/ 104 h 104"/>
                <a:gd name="T4" fmla="*/ 9 w 104"/>
                <a:gd name="T5" fmla="*/ 71 h 104"/>
                <a:gd name="T6" fmla="*/ 80 w 104"/>
                <a:gd name="T7" fmla="*/ 0 h 104"/>
                <a:gd name="T8" fmla="*/ 104 w 104"/>
                <a:gd name="T9" fmla="*/ 23 h 104"/>
                <a:gd name="T10" fmla="*/ 33 w 104"/>
                <a:gd name="T11" fmla="*/ 95 h 104"/>
              </a:gdLst>
              <a:ahLst/>
              <a:cxnLst>
                <a:cxn ang="0">
                  <a:pos x="T0" y="T1"/>
                </a:cxn>
                <a:cxn ang="0">
                  <a:pos x="T2" y="T3"/>
                </a:cxn>
                <a:cxn ang="0">
                  <a:pos x="T4" y="T5"/>
                </a:cxn>
                <a:cxn ang="0">
                  <a:pos x="T6" y="T7"/>
                </a:cxn>
                <a:cxn ang="0">
                  <a:pos x="T8" y="T9"/>
                </a:cxn>
                <a:cxn ang="0">
                  <a:pos x="T10" y="T11"/>
                </a:cxn>
              </a:cxnLst>
              <a:rect l="0" t="0" r="r" b="b"/>
              <a:pathLst>
                <a:path w="104" h="104">
                  <a:moveTo>
                    <a:pt x="33" y="95"/>
                  </a:moveTo>
                  <a:lnTo>
                    <a:pt x="0" y="104"/>
                  </a:lnTo>
                  <a:lnTo>
                    <a:pt x="9" y="71"/>
                  </a:lnTo>
                  <a:lnTo>
                    <a:pt x="80" y="0"/>
                  </a:lnTo>
                  <a:lnTo>
                    <a:pt x="104" y="23"/>
                  </a:lnTo>
                  <a:lnTo>
                    <a:pt x="33" y="95"/>
                  </a:lnTo>
                  <a:close/>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9" name="Line 308">
              <a:extLst>
                <a:ext uri="{FF2B5EF4-FFF2-40B4-BE49-F238E27FC236}">
                  <a16:creationId xmlns:a16="http://schemas.microsoft.com/office/drawing/2014/main" id="{069A3C55-6DD6-04FF-ECB3-363712CEDEEF}"/>
                </a:ext>
              </a:extLst>
            </p:cNvPr>
            <p:cNvSpPr>
              <a:spLocks noChangeShapeType="1"/>
            </p:cNvSpPr>
            <p:nvPr/>
          </p:nvSpPr>
          <p:spPr bwMode="auto">
            <a:xfrm>
              <a:off x="4398963" y="2382838"/>
              <a:ext cx="36513" cy="36513"/>
            </a:xfrm>
            <a:prstGeom prst="line">
              <a:avLst/>
            </a:prstGeom>
            <a:noFill/>
            <a:ln w="15875" cap="flat">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0" name="Line 309">
              <a:extLst>
                <a:ext uri="{FF2B5EF4-FFF2-40B4-BE49-F238E27FC236}">
                  <a16:creationId xmlns:a16="http://schemas.microsoft.com/office/drawing/2014/main" id="{ACEFF4E0-BE2A-72D5-3F62-2367F0A886D0}"/>
                </a:ext>
              </a:extLst>
            </p:cNvPr>
            <p:cNvSpPr>
              <a:spLocks noChangeShapeType="1"/>
            </p:cNvSpPr>
            <p:nvPr/>
          </p:nvSpPr>
          <p:spPr bwMode="auto">
            <a:xfrm>
              <a:off x="4314825" y="2465388"/>
              <a:ext cx="38100" cy="3810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1" name="Line 310">
              <a:extLst>
                <a:ext uri="{FF2B5EF4-FFF2-40B4-BE49-F238E27FC236}">
                  <a16:creationId xmlns:a16="http://schemas.microsoft.com/office/drawing/2014/main" id="{67C6C67A-3B0A-ED2C-C25D-F507AA69C2EE}"/>
                </a:ext>
              </a:extLst>
            </p:cNvPr>
            <p:cNvSpPr>
              <a:spLocks noChangeShapeType="1"/>
            </p:cNvSpPr>
            <p:nvPr/>
          </p:nvSpPr>
          <p:spPr bwMode="auto">
            <a:xfrm>
              <a:off x="4248150" y="2322513"/>
              <a:ext cx="60325"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2" name="Line 311">
              <a:extLst>
                <a:ext uri="{FF2B5EF4-FFF2-40B4-BE49-F238E27FC236}">
                  <a16:creationId xmlns:a16="http://schemas.microsoft.com/office/drawing/2014/main" id="{EC9255DD-75C5-87A2-45B4-8219D21A44BF}"/>
                </a:ext>
              </a:extLst>
            </p:cNvPr>
            <p:cNvSpPr>
              <a:spLocks noChangeShapeType="1"/>
            </p:cNvSpPr>
            <p:nvPr/>
          </p:nvSpPr>
          <p:spPr bwMode="auto">
            <a:xfrm>
              <a:off x="4248150" y="2382838"/>
              <a:ext cx="60325"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3" name="Freeform 312">
              <a:extLst>
                <a:ext uri="{FF2B5EF4-FFF2-40B4-BE49-F238E27FC236}">
                  <a16:creationId xmlns:a16="http://schemas.microsoft.com/office/drawing/2014/main" id="{438BC57C-66BF-790A-EBC2-A11496D2E24F}"/>
                </a:ext>
              </a:extLst>
            </p:cNvPr>
            <p:cNvSpPr>
              <a:spLocks/>
            </p:cNvSpPr>
            <p:nvPr/>
          </p:nvSpPr>
          <p:spPr bwMode="auto">
            <a:xfrm>
              <a:off x="4165600" y="2292351"/>
              <a:ext cx="60325" cy="36513"/>
            </a:xfrm>
            <a:custGeom>
              <a:avLst/>
              <a:gdLst>
                <a:gd name="T0" fmla="*/ 38 w 38"/>
                <a:gd name="T1" fmla="*/ 0 h 23"/>
                <a:gd name="T2" fmla="*/ 14 w 38"/>
                <a:gd name="T3" fmla="*/ 23 h 23"/>
                <a:gd name="T4" fmla="*/ 0 w 38"/>
                <a:gd name="T5" fmla="*/ 9 h 23"/>
              </a:gdLst>
              <a:ahLst/>
              <a:cxnLst>
                <a:cxn ang="0">
                  <a:pos x="T0" y="T1"/>
                </a:cxn>
                <a:cxn ang="0">
                  <a:pos x="T2" y="T3"/>
                </a:cxn>
                <a:cxn ang="0">
                  <a:pos x="T4" y="T5"/>
                </a:cxn>
              </a:cxnLst>
              <a:rect l="0" t="0" r="r" b="b"/>
              <a:pathLst>
                <a:path w="38" h="23">
                  <a:moveTo>
                    <a:pt x="38" y="0"/>
                  </a:moveTo>
                  <a:lnTo>
                    <a:pt x="14" y="23"/>
                  </a:lnTo>
                  <a:lnTo>
                    <a:pt x="0" y="9"/>
                  </a:ln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4" name="Freeform 313">
              <a:extLst>
                <a:ext uri="{FF2B5EF4-FFF2-40B4-BE49-F238E27FC236}">
                  <a16:creationId xmlns:a16="http://schemas.microsoft.com/office/drawing/2014/main" id="{40071169-1B90-2E5C-B3F8-9C673684073E}"/>
                </a:ext>
              </a:extLst>
            </p:cNvPr>
            <p:cNvSpPr>
              <a:spLocks/>
            </p:cNvSpPr>
            <p:nvPr/>
          </p:nvSpPr>
          <p:spPr bwMode="auto">
            <a:xfrm>
              <a:off x="4165600" y="2352676"/>
              <a:ext cx="60325" cy="36513"/>
            </a:xfrm>
            <a:custGeom>
              <a:avLst/>
              <a:gdLst>
                <a:gd name="T0" fmla="*/ 38 w 38"/>
                <a:gd name="T1" fmla="*/ 0 h 23"/>
                <a:gd name="T2" fmla="*/ 14 w 38"/>
                <a:gd name="T3" fmla="*/ 23 h 23"/>
                <a:gd name="T4" fmla="*/ 0 w 38"/>
                <a:gd name="T5" fmla="*/ 9 h 23"/>
              </a:gdLst>
              <a:ahLst/>
              <a:cxnLst>
                <a:cxn ang="0">
                  <a:pos x="T0" y="T1"/>
                </a:cxn>
                <a:cxn ang="0">
                  <a:pos x="T2" y="T3"/>
                </a:cxn>
                <a:cxn ang="0">
                  <a:pos x="T4" y="T5"/>
                </a:cxn>
              </a:cxnLst>
              <a:rect l="0" t="0" r="r" b="b"/>
              <a:pathLst>
                <a:path w="38" h="23">
                  <a:moveTo>
                    <a:pt x="38" y="0"/>
                  </a:moveTo>
                  <a:lnTo>
                    <a:pt x="14" y="23"/>
                  </a:lnTo>
                  <a:lnTo>
                    <a:pt x="0" y="9"/>
                  </a:ln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5" name="Freeform 314">
              <a:extLst>
                <a:ext uri="{FF2B5EF4-FFF2-40B4-BE49-F238E27FC236}">
                  <a16:creationId xmlns:a16="http://schemas.microsoft.com/office/drawing/2014/main" id="{7445F3E2-D41E-B5AF-99DD-1A524DF8293D}"/>
                </a:ext>
              </a:extLst>
            </p:cNvPr>
            <p:cNvSpPr>
              <a:spLocks/>
            </p:cNvSpPr>
            <p:nvPr/>
          </p:nvSpPr>
          <p:spPr bwMode="auto">
            <a:xfrm>
              <a:off x="4119563" y="2171701"/>
              <a:ext cx="241300" cy="315913"/>
            </a:xfrm>
            <a:custGeom>
              <a:avLst/>
              <a:gdLst>
                <a:gd name="T0" fmla="*/ 81 w 152"/>
                <a:gd name="T1" fmla="*/ 199 h 199"/>
                <a:gd name="T2" fmla="*/ 0 w 152"/>
                <a:gd name="T3" fmla="*/ 199 h 199"/>
                <a:gd name="T4" fmla="*/ 0 w 152"/>
                <a:gd name="T5" fmla="*/ 0 h 199"/>
                <a:gd name="T6" fmla="*/ 105 w 152"/>
                <a:gd name="T7" fmla="*/ 0 h 199"/>
                <a:gd name="T8" fmla="*/ 152 w 152"/>
                <a:gd name="T9" fmla="*/ 47 h 199"/>
                <a:gd name="T10" fmla="*/ 152 w 152"/>
                <a:gd name="T11" fmla="*/ 118 h 199"/>
              </a:gdLst>
              <a:ahLst/>
              <a:cxnLst>
                <a:cxn ang="0">
                  <a:pos x="T0" y="T1"/>
                </a:cxn>
                <a:cxn ang="0">
                  <a:pos x="T2" y="T3"/>
                </a:cxn>
                <a:cxn ang="0">
                  <a:pos x="T4" y="T5"/>
                </a:cxn>
                <a:cxn ang="0">
                  <a:pos x="T6" y="T7"/>
                </a:cxn>
                <a:cxn ang="0">
                  <a:pos x="T8" y="T9"/>
                </a:cxn>
                <a:cxn ang="0">
                  <a:pos x="T10" y="T11"/>
                </a:cxn>
              </a:cxnLst>
              <a:rect l="0" t="0" r="r" b="b"/>
              <a:pathLst>
                <a:path w="152" h="199">
                  <a:moveTo>
                    <a:pt x="81" y="199"/>
                  </a:moveTo>
                  <a:lnTo>
                    <a:pt x="0" y="199"/>
                  </a:lnTo>
                  <a:lnTo>
                    <a:pt x="0" y="0"/>
                  </a:lnTo>
                  <a:lnTo>
                    <a:pt x="105" y="0"/>
                  </a:lnTo>
                  <a:lnTo>
                    <a:pt x="152" y="47"/>
                  </a:lnTo>
                  <a:lnTo>
                    <a:pt x="152" y="118"/>
                  </a:lnTo>
                </a:path>
              </a:pathLst>
            </a:custGeom>
            <a:noFill/>
            <a:ln w="15875"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6" name="Freeform 315">
              <a:extLst>
                <a:ext uri="{FF2B5EF4-FFF2-40B4-BE49-F238E27FC236}">
                  <a16:creationId xmlns:a16="http://schemas.microsoft.com/office/drawing/2014/main" id="{3B6C4BF5-8B76-8B82-C592-0D03E6B71C36}"/>
                </a:ext>
              </a:extLst>
            </p:cNvPr>
            <p:cNvSpPr>
              <a:spLocks/>
            </p:cNvSpPr>
            <p:nvPr/>
          </p:nvSpPr>
          <p:spPr bwMode="auto">
            <a:xfrm>
              <a:off x="4286250" y="2171701"/>
              <a:ext cx="74613" cy="74613"/>
            </a:xfrm>
            <a:custGeom>
              <a:avLst/>
              <a:gdLst>
                <a:gd name="T0" fmla="*/ 0 w 47"/>
                <a:gd name="T1" fmla="*/ 0 h 47"/>
                <a:gd name="T2" fmla="*/ 0 w 47"/>
                <a:gd name="T3" fmla="*/ 47 h 47"/>
                <a:gd name="T4" fmla="*/ 47 w 47"/>
                <a:gd name="T5" fmla="*/ 47 h 47"/>
              </a:gdLst>
              <a:ahLst/>
              <a:cxnLst>
                <a:cxn ang="0">
                  <a:pos x="T0" y="T1"/>
                </a:cxn>
                <a:cxn ang="0">
                  <a:pos x="T2" y="T3"/>
                </a:cxn>
                <a:cxn ang="0">
                  <a:pos x="T4" y="T5"/>
                </a:cxn>
              </a:cxnLst>
              <a:rect l="0" t="0" r="r" b="b"/>
              <a:pathLst>
                <a:path w="47" h="47">
                  <a:moveTo>
                    <a:pt x="0" y="0"/>
                  </a:moveTo>
                  <a:lnTo>
                    <a:pt x="0" y="47"/>
                  </a:lnTo>
                  <a:lnTo>
                    <a:pt x="47" y="47"/>
                  </a:ln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p>
          </p:txBody>
        </p:sp>
      </p:grpSp>
      <p:sp>
        <p:nvSpPr>
          <p:cNvPr id="17" name="TextBox 16"/>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1  ·  DE ONDE VIEMOS</a:t>
            </a:r>
          </a:p>
        </p:txBody>
      </p:sp>
    </p:spTree>
    <p:extLst>
      <p:ext uri="{BB962C8B-B14F-4D97-AF65-F5344CB8AC3E}">
        <p14:creationId xmlns:p14="http://schemas.microsoft.com/office/powerpoint/2010/main" val="27953696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O que muda da v1.0 para a v2.0</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A pergunta deixa de ser como defender a base e passa a ser onde o produto gera valor e para quem.</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509232090"/>
              </p:ext>
            </p:extLst>
          </p:nvPr>
        </p:nvGraphicFramePr>
        <p:xfrm>
          <a:off x="457200" y="1188720"/>
          <a:ext cx="8229600" cy="2962656"/>
        </p:xfrm>
        <a:graphic>
          <a:graphicData uri="http://schemas.openxmlformats.org/drawingml/2006/table">
            <a:tbl>
              <a:tblPr/>
              <a:tblGrid>
                <a:gridCol w="1554480">
                  <a:extLst>
                    <a:ext uri="{9D8B030D-6E8A-4147-A177-3AD203B41FA5}">
                      <a16:colId xmlns:a16="http://schemas.microsoft.com/office/drawing/2014/main" val="20000"/>
                    </a:ext>
                  </a:extLst>
                </a:gridCol>
                <a:gridCol w="3337560">
                  <a:extLst>
                    <a:ext uri="{9D8B030D-6E8A-4147-A177-3AD203B41FA5}">
                      <a16:colId xmlns:a16="http://schemas.microsoft.com/office/drawing/2014/main" val="20001"/>
                    </a:ext>
                  </a:extLst>
                </a:gridCol>
                <a:gridCol w="3337560">
                  <a:extLst>
                    <a:ext uri="{9D8B030D-6E8A-4147-A177-3AD203B41FA5}">
                      <a16:colId xmlns:a16="http://schemas.microsoft.com/office/drawing/2014/main" val="20002"/>
                    </a:ext>
                  </a:extLst>
                </a:gridCol>
              </a:tblGrid>
              <a:tr h="365760">
                <a:tc>
                  <a:txBody>
                    <a:bodyPr/>
                    <a:lstStyle/>
                    <a:p>
                      <a:pPr marL="0" indent="0">
                        <a:buNone/>
                      </a:pP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3A8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v1.0 (outubro de 2023)</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26668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v2.0 (outubro de 2026)</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C8106E"/>
                    </a:solidFill>
                  </a:tcPr>
                </a:tc>
                <a:extLst>
                  <a:ext uri="{0D108BD9-81ED-4DB2-BD59-A6C34878D82A}">
                    <a16:rowId xmlns:a16="http://schemas.microsoft.com/office/drawing/2014/main" val="10000"/>
                  </a:ext>
                </a:extLst>
              </a:tr>
              <a:tr h="621792">
                <a:tc>
                  <a:txBody>
                    <a:bodyPr/>
                    <a:lstStyle/>
                    <a:p>
                      <a:pPr marL="0" indent="0">
                        <a:buNone/>
                      </a:pPr>
                      <a:r>
                        <a:rPr lang="en-US" sz="1050" b="1" dirty="0">
                          <a:solidFill>
                            <a:srgbClr val="1B3A8C"/>
                          </a:solidFill>
                          <a:latin typeface="Calibri" pitchFamily="34" charset="0"/>
                          <a:ea typeface="Calibri" pitchFamily="34" charset="-122"/>
                          <a:cs typeface="Calibri" pitchFamily="34" charset="-120"/>
                        </a:rPr>
                        <a:t>Cliente-alvo</a:t>
                      </a:r>
                      <a:endParaRPr lang="en-US" sz="105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Confinamentos </a:t>
                      </a:r>
                      <a:r>
                        <a:rPr lang="en-US" sz="1100" dirty="0" err="1">
                          <a:solidFill>
                            <a:srgbClr val="4A5560"/>
                          </a:solidFill>
                          <a:latin typeface="Calibri" pitchFamily="34" charset="0"/>
                          <a:ea typeface="Calibri" pitchFamily="34" charset="-122"/>
                          <a:cs typeface="Calibri" pitchFamily="34" charset="-120"/>
                        </a:rPr>
                        <a:t>grandes</a:t>
                      </a:r>
                      <a:r>
                        <a:rPr lang="en-US" sz="1100" dirty="0">
                          <a:solidFill>
                            <a:srgbClr val="4A5560"/>
                          </a:solidFill>
                          <a:latin typeface="Calibri" pitchFamily="34" charset="0"/>
                          <a:ea typeface="Calibri" pitchFamily="34" charset="-122"/>
                          <a:cs typeface="Calibri" pitchFamily="34" charset="-120"/>
                        </a:rPr>
                        <a:t> a </a:t>
                      </a:r>
                      <a:r>
                        <a:rPr lang="en-US" sz="1100" dirty="0" err="1">
                          <a:solidFill>
                            <a:srgbClr val="4A5560"/>
                          </a:solidFill>
                          <a:latin typeface="Calibri" pitchFamily="34" charset="0"/>
                          <a:ea typeface="Calibri" pitchFamily="34" charset="-122"/>
                          <a:cs typeface="Calibri" pitchFamily="34" charset="-120"/>
                        </a:rPr>
                        <a:t>partir</a:t>
                      </a:r>
                      <a:r>
                        <a:rPr lang="en-US" sz="1100" dirty="0">
                          <a:solidFill>
                            <a:srgbClr val="4A5560"/>
                          </a:solidFill>
                          <a:latin typeface="Calibri" pitchFamily="34" charset="0"/>
                          <a:ea typeface="Calibri" pitchFamily="34" charset="-122"/>
                          <a:cs typeface="Calibri" pitchFamily="34" charset="-120"/>
                        </a:rPr>
                        <a:t> de 2.000) </a:t>
                      </a:r>
                      <a:r>
                        <a:rPr lang="en-US" sz="1100" dirty="0" err="1">
                          <a:solidFill>
                            <a:srgbClr val="4A5560"/>
                          </a:solidFill>
                          <a:latin typeface="Calibri" pitchFamily="34" charset="0"/>
                          <a:ea typeface="Calibri" pitchFamily="34" charset="-122"/>
                          <a:cs typeface="Calibri" pitchFamily="34" charset="-120"/>
                        </a:rPr>
                        <a:t>cabeças</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capacidade</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estática</a:t>
                      </a:r>
                      <a:r>
                        <a:rPr lang="en-US" sz="1100" dirty="0">
                          <a:solidFill>
                            <a:srgbClr val="4A5560"/>
                          </a:solidFill>
                          <a:latin typeface="Calibri" pitchFamily="34" charset="0"/>
                          <a:ea typeface="Calibri" pitchFamily="34" charset="-122"/>
                          <a:cs typeface="Calibri" pitchFamily="34" charset="-120"/>
                        </a:rPr>
                        <a:t>), com </a:t>
                      </a:r>
                      <a:r>
                        <a:rPr lang="en-US" sz="1100" dirty="0" err="1">
                          <a:solidFill>
                            <a:srgbClr val="4A5560"/>
                          </a:solidFill>
                          <a:latin typeface="Calibri" pitchFamily="34" charset="0"/>
                          <a:ea typeface="Calibri" pitchFamily="34" charset="-122"/>
                          <a:cs typeface="Calibri" pitchFamily="34" charset="-120"/>
                        </a:rPr>
                        <a:t>automação</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err="1">
                          <a:solidFill>
                            <a:srgbClr val="4A5560"/>
                          </a:solidFill>
                          <a:latin typeface="Calibri" pitchFamily="34" charset="0"/>
                          <a:ea typeface="Calibri" pitchFamily="34" charset="-122"/>
                          <a:cs typeface="Calibri" pitchFamily="34" charset="-120"/>
                        </a:rPr>
                        <a:t>Novos clientes pequenos e médios (200 a 2.000 cabeças), sem automação no momento</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1"/>
                  </a:ext>
                </a:extLst>
              </a:tr>
              <a:tr h="530352">
                <a:tc>
                  <a:txBody>
                    <a:bodyPr/>
                    <a:lstStyle/>
                    <a:p>
                      <a:pPr marL="0" indent="0">
                        <a:buNone/>
                      </a:pPr>
                      <a:r>
                        <a:rPr lang="en-US" sz="1050" b="1" dirty="0">
                          <a:solidFill>
                            <a:srgbClr val="1B3A8C"/>
                          </a:solidFill>
                          <a:latin typeface="Calibri" pitchFamily="34" charset="0"/>
                          <a:ea typeface="Calibri" pitchFamily="34" charset="-122"/>
                          <a:cs typeface="Calibri" pitchFamily="34" charset="-120"/>
                        </a:rPr>
                        <a:t>Produto</a:t>
                      </a:r>
                      <a:endParaRPr lang="en-US" sz="105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Sistema </a:t>
                      </a:r>
                      <a:r>
                        <a:rPr lang="en-US" sz="1100" dirty="0" err="1">
                          <a:solidFill>
                            <a:srgbClr val="4A5560"/>
                          </a:solidFill>
                          <a:latin typeface="Calibri" pitchFamily="34" charset="0"/>
                          <a:ea typeface="Calibri" pitchFamily="34" charset="-122"/>
                          <a:cs typeface="Calibri" pitchFamily="34" charset="-120"/>
                        </a:rPr>
                        <a:t>integração</a:t>
                      </a:r>
                      <a:r>
                        <a:rPr lang="en-US" sz="1100" dirty="0">
                          <a:solidFill>
                            <a:srgbClr val="4A5560"/>
                          </a:solidFill>
                          <a:latin typeface="Calibri" pitchFamily="34" charset="0"/>
                          <a:ea typeface="Calibri" pitchFamily="34" charset="-122"/>
                          <a:cs typeface="Calibri" pitchFamily="34" charset="-120"/>
                        </a:rPr>
                        <a:t> com hardware, terminal offline e </a:t>
                      </a:r>
                      <a:r>
                        <a:rPr lang="en-US" sz="1100" dirty="0" err="1">
                          <a:solidFill>
                            <a:srgbClr val="4A5560"/>
                          </a:solidFill>
                          <a:latin typeface="Calibri" pitchFamily="34" charset="0"/>
                          <a:ea typeface="Calibri" pitchFamily="34" charset="-122"/>
                          <a:cs typeface="Calibri" pitchFamily="34" charset="-120"/>
                        </a:rPr>
                        <a:t>automação</a:t>
                      </a:r>
                      <a:r>
                        <a:rPr lang="en-US" sz="1100" dirty="0">
                          <a:solidFill>
                            <a:srgbClr val="4A556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TN Manager Web: lançamento manual, poucos indicadores, evolução por versões</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2"/>
                  </a:ext>
                </a:extLst>
              </a:tr>
              <a:tr h="530352">
                <a:tc>
                  <a:txBody>
                    <a:bodyPr/>
                    <a:lstStyle/>
                    <a:p>
                      <a:pPr marL="0" indent="0">
                        <a:buNone/>
                      </a:pPr>
                      <a:r>
                        <a:rPr lang="en-US" sz="1050" b="1" dirty="0">
                          <a:solidFill>
                            <a:srgbClr val="1B3A8C"/>
                          </a:solidFill>
                          <a:latin typeface="Calibri" pitchFamily="34" charset="0"/>
                          <a:ea typeface="Calibri" pitchFamily="34" charset="-122"/>
                          <a:cs typeface="Calibri" pitchFamily="34" charset="-120"/>
                        </a:rPr>
                        <a:t>Base da decisão</a:t>
                      </a:r>
                      <a:endParaRPr lang="en-US" sz="105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Premissas internas e base de </a:t>
                      </a:r>
                      <a:r>
                        <a:rPr lang="en-US" sz="1100" dirty="0" err="1">
                          <a:solidFill>
                            <a:srgbClr val="4A5560"/>
                          </a:solidFill>
                          <a:latin typeface="Calibri" pitchFamily="34" charset="0"/>
                          <a:ea typeface="Calibri" pitchFamily="34" charset="-122"/>
                          <a:cs typeface="Calibri" pitchFamily="34" charset="-120"/>
                        </a:rPr>
                        <a:t>grandes</a:t>
                      </a:r>
                      <a:r>
                        <a:rPr lang="en-US" sz="1100" dirty="0">
                          <a:solidFill>
                            <a:srgbClr val="4A5560"/>
                          </a:solidFill>
                          <a:latin typeface="Calibri" pitchFamily="34" charset="0"/>
                          <a:ea typeface="Calibri" pitchFamily="34" charset="-122"/>
                          <a:cs typeface="Calibri" pitchFamily="34" charset="-120"/>
                        </a:rPr>
                        <a:t> fazendas</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Entrevistas internas, benchmark externo e discovery com 30 ou mais fazendas</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050" b="1" dirty="0">
                          <a:solidFill>
                            <a:srgbClr val="1B3A8C"/>
                          </a:solidFill>
                          <a:latin typeface="Calibri" pitchFamily="34" charset="0"/>
                          <a:ea typeface="Calibri" pitchFamily="34" charset="-122"/>
                          <a:cs typeface="Calibri" pitchFamily="34" charset="-120"/>
                        </a:rPr>
                        <a:t>Implantação</a:t>
                      </a:r>
                      <a:endParaRPr lang="en-US" sz="105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50 clientes no ano 1 e 200 no ano 5</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3 a 5 fazendas piloto, com critério de </a:t>
                      </a:r>
                      <a:r>
                        <a:rPr lang="en-US" sz="1100" dirty="0" err="1">
                          <a:solidFill>
                            <a:srgbClr val="4A5560"/>
                          </a:solidFill>
                          <a:latin typeface="Calibri" pitchFamily="34" charset="0"/>
                          <a:ea typeface="Calibri" pitchFamily="34" charset="-122"/>
                          <a:cs typeface="Calibri" pitchFamily="34" charset="-120"/>
                        </a:rPr>
                        <a:t>avanço</a:t>
                      </a:r>
                      <a:r>
                        <a:rPr lang="en-US" sz="1100" dirty="0">
                          <a:solidFill>
                            <a:srgbClr val="4A5560"/>
                          </a:solidFill>
                          <a:latin typeface="Calibri" pitchFamily="34" charset="0"/>
                          <a:ea typeface="Calibri" pitchFamily="34" charset="-122"/>
                          <a:cs typeface="Calibri" pitchFamily="34" charset="-120"/>
                        </a:rPr>
                        <a:t> (5, 20 e 50 fazendas)</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050" b="1" dirty="0">
                          <a:solidFill>
                            <a:srgbClr val="1B3A8C"/>
                          </a:solidFill>
                          <a:latin typeface="Calibri" pitchFamily="34" charset="0"/>
                          <a:ea typeface="Calibri" pitchFamily="34" charset="-122"/>
                          <a:cs typeface="Calibri" pitchFamily="34" charset="-120"/>
                        </a:rPr>
                        <a:t>Métrica de sucesso</a:t>
                      </a:r>
                      <a:endParaRPr lang="en-US" sz="105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Sales Profit e market share</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Uso recorrente e valor percebido primeiro; Sales Profit em seguida</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Box 6"/>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1  ·  DE ONDE VIEMOS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err="1">
                <a:solidFill>
                  <a:srgbClr val="1B3A8C"/>
                </a:solidFill>
                <a:latin typeface="Calibri" pitchFamily="34" charset="0"/>
                <a:ea typeface="Calibri" pitchFamily="34" charset="-122"/>
                <a:cs typeface="Calibri" pitchFamily="34" charset="-120"/>
              </a:rPr>
              <a:t>Quem</a:t>
            </a:r>
            <a:r>
              <a:rPr lang="en-US" sz="2400" b="1" dirty="0">
                <a:solidFill>
                  <a:srgbClr val="1B3A8C"/>
                </a:solidFill>
                <a:latin typeface="Calibri" pitchFamily="34" charset="0"/>
                <a:ea typeface="Calibri" pitchFamily="34" charset="-122"/>
                <a:cs typeface="Calibri" pitchFamily="34" charset="-120"/>
              </a:rPr>
              <a:t> é </a:t>
            </a:r>
            <a:r>
              <a:rPr lang="en-US" sz="2400" b="1" dirty="0" err="1">
                <a:solidFill>
                  <a:srgbClr val="1B3A8C"/>
                </a:solidFill>
                <a:latin typeface="Calibri" pitchFamily="34" charset="0"/>
                <a:ea typeface="Calibri" pitchFamily="34" charset="-122"/>
                <a:cs typeface="Calibri" pitchFamily="34" charset="-120"/>
              </a:rPr>
              <a:t>nosso</a:t>
            </a:r>
            <a:r>
              <a:rPr lang="en-US" sz="2400" b="1" dirty="0">
                <a:solidFill>
                  <a:srgbClr val="1B3A8C"/>
                </a:solidFill>
                <a:latin typeface="Calibri" pitchFamily="34" charset="0"/>
                <a:ea typeface="Calibri" pitchFamily="34" charset="-122"/>
                <a:cs typeface="Calibri" pitchFamily="34" charset="-120"/>
              </a:rPr>
              <a:t> Target Customer?</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TN Manager </a:t>
            </a:r>
            <a:r>
              <a:rPr lang="en-US" sz="1300" i="1" dirty="0" err="1">
                <a:solidFill>
                  <a:srgbClr val="1B3A8C"/>
                </a:solidFill>
                <a:latin typeface="Calibri" pitchFamily="34" charset="0"/>
                <a:ea typeface="Calibri" pitchFamily="34" charset="-122"/>
                <a:cs typeface="Calibri" pitchFamily="34" charset="-120"/>
              </a:rPr>
              <a:t>versão</a:t>
            </a:r>
            <a:r>
              <a:rPr lang="en-US" sz="1300" i="1" dirty="0">
                <a:solidFill>
                  <a:srgbClr val="1B3A8C"/>
                </a:solidFill>
                <a:latin typeface="Calibri" pitchFamily="34" charset="0"/>
                <a:ea typeface="Calibri" pitchFamily="34" charset="-122"/>
                <a:cs typeface="Calibri" pitchFamily="34" charset="-120"/>
              </a:rPr>
              <a:t> Web</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8" name="Text 5"/>
          <p:cNvSpPr/>
          <p:nvPr/>
        </p:nvSpPr>
        <p:spPr>
          <a:xfrm>
            <a:off x="685800" y="1691640"/>
            <a:ext cx="2834640" cy="164592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Construir primeiro o TN Manager Web: uma versão simples, de lançamento manual, testada com 3 a 5 fazendas piloto. Cada nova versão só avança quando a anterior provar uso e valor.</a:t>
            </a:r>
            <a:endParaRPr lang="en-US" sz="1500" dirty="0"/>
          </a:p>
        </p:txBody>
      </p:sp>
      <p:sp>
        <p:nvSpPr>
          <p:cNvPr id="10" name="Shape 7"/>
          <p:cNvSpPr/>
          <p:nvPr/>
        </p:nvSpPr>
        <p:spPr>
          <a:xfrm>
            <a:off x="892026" y="1342231"/>
            <a:ext cx="457200" cy="457200"/>
          </a:xfrm>
          <a:prstGeom prst="ellipse">
            <a:avLst/>
          </a:prstGeom>
          <a:solidFill>
            <a:srgbClr val="C8106E"/>
          </a:solidFill>
          <a:ln/>
        </p:spPr>
        <p:txBody>
          <a:bodyPr/>
          <a:lstStyle/>
          <a:p>
            <a:endParaRPr lang="pt-BR"/>
          </a:p>
        </p:txBody>
      </p:sp>
      <p:sp>
        <p:nvSpPr>
          <p:cNvPr id="11" name="Text 8"/>
          <p:cNvSpPr/>
          <p:nvPr/>
        </p:nvSpPr>
        <p:spPr>
          <a:xfrm>
            <a:off x="892026" y="1342231"/>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Text 9"/>
          <p:cNvSpPr/>
          <p:nvPr/>
        </p:nvSpPr>
        <p:spPr>
          <a:xfrm>
            <a:off x="1532106" y="1323943"/>
            <a:ext cx="3977640" cy="274320"/>
          </a:xfrm>
          <a:prstGeom prst="rect">
            <a:avLst/>
          </a:prstGeom>
          <a:noFill/>
          <a:ln/>
        </p:spPr>
        <p:txBody>
          <a:bodyPr wrap="square" lIns="0" tIns="0" rIns="0" bIns="0" rtlCol="0" anchor="t"/>
          <a:lstStyle/>
          <a:p>
            <a:pPr marL="0" indent="0">
              <a:buNone/>
            </a:pPr>
            <a:r>
              <a:rPr lang="en-US" sz="1400" b="1" dirty="0">
                <a:solidFill>
                  <a:srgbClr val="1B3A8C"/>
                </a:solidFill>
                <a:latin typeface="Calibri" pitchFamily="34" charset="0"/>
                <a:ea typeface="Calibri" pitchFamily="34" charset="-122"/>
                <a:cs typeface="Calibri" pitchFamily="34" charset="-120"/>
              </a:rPr>
              <a:t>PERFIL DO CLIENTE</a:t>
            </a:r>
            <a:endParaRPr lang="en-US" sz="1400" dirty="0"/>
          </a:p>
        </p:txBody>
      </p:sp>
      <p:sp>
        <p:nvSpPr>
          <p:cNvPr id="13" name="Text 10"/>
          <p:cNvSpPr/>
          <p:nvPr/>
        </p:nvSpPr>
        <p:spPr>
          <a:xfrm>
            <a:off x="1532106" y="1616551"/>
            <a:ext cx="3977640" cy="685800"/>
          </a:xfrm>
          <a:prstGeom prst="rect">
            <a:avLst/>
          </a:prstGeom>
          <a:noFill/>
          <a:ln/>
        </p:spPr>
        <p:txBody>
          <a:bodyPr wrap="square" lIns="0" tIns="0" rIns="0" bIns="0" rtlCol="0" anchor="t"/>
          <a:lstStyle/>
          <a:p>
            <a:pPr marL="0" indent="0">
              <a:buNone/>
            </a:pPr>
            <a:r>
              <a:rPr lang="en-US" sz="1100" dirty="0" err="1">
                <a:solidFill>
                  <a:srgbClr val="4A5560"/>
                </a:solidFill>
                <a:latin typeface="Calibri" pitchFamily="34" charset="0"/>
                <a:ea typeface="Calibri" pitchFamily="34" charset="-122"/>
                <a:cs typeface="Calibri" pitchFamily="34" charset="-120"/>
              </a:rPr>
              <a:t>Novos clientes: confinamentos pequenos e médios, com capacidade estática de 200 a 2.000 cabeças, sem automação no momento e com gestão moderada, que fazem anotações em papel, planilhas ou sistema simples.</a:t>
            </a:r>
            <a:endParaRPr lang="en-US" sz="1100" dirty="0"/>
          </a:p>
        </p:txBody>
      </p:sp>
      <p:sp>
        <p:nvSpPr>
          <p:cNvPr id="14" name="Shape 11"/>
          <p:cNvSpPr/>
          <p:nvPr/>
        </p:nvSpPr>
        <p:spPr>
          <a:xfrm>
            <a:off x="892026" y="2393791"/>
            <a:ext cx="457200" cy="457200"/>
          </a:xfrm>
          <a:prstGeom prst="ellipse">
            <a:avLst/>
          </a:prstGeom>
          <a:solidFill>
            <a:srgbClr val="C8106E"/>
          </a:solidFill>
          <a:ln/>
        </p:spPr>
        <p:txBody>
          <a:bodyPr/>
          <a:lstStyle/>
          <a:p>
            <a:endParaRPr lang="pt-BR"/>
          </a:p>
        </p:txBody>
      </p:sp>
      <p:sp>
        <p:nvSpPr>
          <p:cNvPr id="15" name="Text 12"/>
          <p:cNvSpPr/>
          <p:nvPr/>
        </p:nvSpPr>
        <p:spPr>
          <a:xfrm>
            <a:off x="892026" y="2393791"/>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3"/>
          <p:cNvSpPr/>
          <p:nvPr/>
        </p:nvSpPr>
        <p:spPr>
          <a:xfrm>
            <a:off x="1532106" y="2375503"/>
            <a:ext cx="3977640" cy="274320"/>
          </a:xfrm>
          <a:prstGeom prst="rect">
            <a:avLst/>
          </a:prstGeom>
          <a:noFill/>
          <a:ln/>
        </p:spPr>
        <p:txBody>
          <a:bodyPr wrap="square" lIns="0" tIns="0" rIns="0" bIns="0" rtlCol="0" anchor="t"/>
          <a:lstStyle/>
          <a:p>
            <a:pPr marL="0" indent="0">
              <a:buNone/>
            </a:pPr>
            <a:r>
              <a:rPr lang="en-US" sz="1400" b="1" dirty="0">
                <a:solidFill>
                  <a:srgbClr val="1B3A8C"/>
                </a:solidFill>
                <a:latin typeface="Calibri" pitchFamily="34" charset="0"/>
                <a:ea typeface="Calibri" pitchFamily="34" charset="-122"/>
                <a:cs typeface="Calibri" pitchFamily="34" charset="-120"/>
              </a:rPr>
              <a:t>O QUE A FERRAMENTA ENTREGA?</a:t>
            </a:r>
            <a:endParaRPr lang="en-US" sz="1400" dirty="0"/>
          </a:p>
        </p:txBody>
      </p:sp>
      <p:sp>
        <p:nvSpPr>
          <p:cNvPr id="17" name="Text 14"/>
          <p:cNvSpPr/>
          <p:nvPr/>
        </p:nvSpPr>
        <p:spPr>
          <a:xfrm>
            <a:off x="1532106" y="2668111"/>
            <a:ext cx="3977640" cy="685800"/>
          </a:xfrm>
          <a:prstGeom prst="rect">
            <a:avLst/>
          </a:prstGeom>
          <a:noFill/>
          <a:ln/>
        </p:spPr>
        <p:txBody>
          <a:bodyPr wrap="square" lIns="0" tIns="0" rIns="0" bIns="0" rtlCol="0" anchor="t"/>
          <a:lstStyle/>
          <a:p>
            <a:pPr marL="0" indent="0">
              <a:buNone/>
            </a:pPr>
            <a:r>
              <a:rPr lang="en-US" sz="1100" dirty="0" err="1">
                <a:solidFill>
                  <a:srgbClr val="4A5560"/>
                </a:solidFill>
                <a:latin typeface="Calibri" pitchFamily="34" charset="0"/>
                <a:ea typeface="Calibri" pitchFamily="34" charset="-122"/>
                <a:cs typeface="Calibri" pitchFamily="34" charset="-120"/>
              </a:rPr>
              <a:t>Controle</a:t>
            </a:r>
            <a:r>
              <a:rPr lang="en-US" sz="1100" dirty="0">
                <a:solidFill>
                  <a:srgbClr val="4A5560"/>
                </a:solidFill>
                <a:latin typeface="Calibri" pitchFamily="34" charset="0"/>
                <a:ea typeface="Calibri" pitchFamily="34" charset="-122"/>
                <a:cs typeface="Calibri" pitchFamily="34" charset="-120"/>
              </a:rPr>
              <a:t> de </a:t>
            </a:r>
            <a:r>
              <a:rPr lang="en-US" sz="1100" dirty="0" err="1">
                <a:solidFill>
                  <a:srgbClr val="4A5560"/>
                </a:solidFill>
                <a:latin typeface="Calibri" pitchFamily="34" charset="0"/>
                <a:ea typeface="Calibri" pitchFamily="34" charset="-122"/>
                <a:cs typeface="Calibri" pitchFamily="34" charset="-120"/>
              </a:rPr>
              <a:t>trato</a:t>
            </a:r>
            <a:r>
              <a:rPr lang="en-US" sz="1100" dirty="0">
                <a:solidFill>
                  <a:srgbClr val="4A5560"/>
                </a:solidFill>
                <a:latin typeface="Calibri" pitchFamily="34" charset="0"/>
                <a:ea typeface="Calibri" pitchFamily="34" charset="-122"/>
                <a:cs typeface="Calibri" pitchFamily="34" charset="-120"/>
              </a:rPr>
              <a:t> e </a:t>
            </a:r>
            <a:r>
              <a:rPr lang="en-US" sz="1100" dirty="0" err="1">
                <a:solidFill>
                  <a:srgbClr val="4A5560"/>
                </a:solidFill>
                <a:latin typeface="Calibri" pitchFamily="34" charset="0"/>
                <a:ea typeface="Calibri" pitchFamily="34" charset="-122"/>
                <a:cs typeface="Calibri" pitchFamily="34" charset="-120"/>
              </a:rPr>
              <a:t>consumo</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controle</a:t>
            </a:r>
            <a:r>
              <a:rPr lang="en-US" sz="1100" dirty="0">
                <a:solidFill>
                  <a:srgbClr val="4A5560"/>
                </a:solidFill>
                <a:latin typeface="Calibri" pitchFamily="34" charset="0"/>
                <a:ea typeface="Calibri" pitchFamily="34" charset="-122"/>
                <a:cs typeface="Calibri" pitchFamily="34" charset="-120"/>
              </a:rPr>
              <a:t> de entradas e </a:t>
            </a:r>
            <a:r>
              <a:rPr lang="en-US" sz="1100" dirty="0" err="1">
                <a:solidFill>
                  <a:srgbClr val="4A5560"/>
                </a:solidFill>
                <a:latin typeface="Calibri" pitchFamily="34" charset="0"/>
                <a:ea typeface="Calibri" pitchFamily="34" charset="-122"/>
                <a:cs typeface="Calibri" pitchFamily="34" charset="-120"/>
              </a:rPr>
              <a:t>saídas</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indicadores</a:t>
            </a:r>
            <a:r>
              <a:rPr lang="en-US" sz="1100" dirty="0">
                <a:solidFill>
                  <a:srgbClr val="4A5560"/>
                </a:solidFill>
                <a:latin typeface="Calibri" pitchFamily="34" charset="0"/>
                <a:ea typeface="Calibri" pitchFamily="34" charset="-122"/>
                <a:cs typeface="Calibri" pitchFamily="34" charset="-120"/>
              </a:rPr>
              <a:t> de </a:t>
            </a:r>
            <a:r>
              <a:rPr lang="en-US" sz="1100" dirty="0" err="1">
                <a:solidFill>
                  <a:srgbClr val="4A5560"/>
                </a:solidFill>
                <a:latin typeface="Calibri" pitchFamily="34" charset="0"/>
                <a:ea typeface="Calibri" pitchFamily="34" charset="-122"/>
                <a:cs typeface="Calibri" pitchFamily="34" charset="-120"/>
              </a:rPr>
              <a:t>desempenho</a:t>
            </a:r>
            <a:r>
              <a:rPr lang="en-US" sz="1100" dirty="0">
                <a:solidFill>
                  <a:srgbClr val="4A5560"/>
                </a:solidFill>
                <a:latin typeface="Calibri" pitchFamily="34" charset="0"/>
                <a:ea typeface="Calibri" pitchFamily="34" charset="-122"/>
                <a:cs typeface="Calibri" pitchFamily="34" charset="-120"/>
              </a:rPr>
              <a:t>(GMD, </a:t>
            </a:r>
            <a:r>
              <a:rPr lang="en-US" sz="1100" dirty="0" err="1">
                <a:solidFill>
                  <a:srgbClr val="4A5560"/>
                </a:solidFill>
                <a:latin typeface="Calibri" pitchFamily="34" charset="0"/>
                <a:ea typeface="Calibri" pitchFamily="34" charset="-122"/>
                <a:cs typeface="Calibri" pitchFamily="34" charset="-120"/>
              </a:rPr>
              <a:t>lotação</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consumo</a:t>
            </a:r>
            <a:r>
              <a:rPr lang="en-US" sz="1100" dirty="0">
                <a:solidFill>
                  <a:srgbClr val="4A5560"/>
                </a:solidFill>
                <a:latin typeface="Calibri" pitchFamily="34" charset="0"/>
                <a:ea typeface="Calibri" pitchFamily="34" charset="-122"/>
                <a:cs typeface="Calibri" pitchFamily="34" charset="-120"/>
              </a:rPr>
              <a:t> IMS, </a:t>
            </a:r>
            <a:r>
              <a:rPr lang="en-US" sz="1100" dirty="0" err="1">
                <a:solidFill>
                  <a:srgbClr val="4A5560"/>
                </a:solidFill>
                <a:latin typeface="Calibri" pitchFamily="34" charset="0"/>
                <a:ea typeface="Calibri" pitchFamily="34" charset="-122"/>
                <a:cs typeface="Calibri" pitchFamily="34" charset="-120"/>
              </a:rPr>
              <a:t>dias</a:t>
            </a:r>
            <a:r>
              <a:rPr lang="en-US" sz="1100" dirty="0">
                <a:solidFill>
                  <a:srgbClr val="4A5560"/>
                </a:solidFill>
                <a:latin typeface="Calibri" pitchFamily="34" charset="0"/>
                <a:ea typeface="Calibri" pitchFamily="34" charset="-122"/>
                <a:cs typeface="Calibri" pitchFamily="34" charset="-120"/>
              </a:rPr>
              <a:t> em </a:t>
            </a:r>
            <a:r>
              <a:rPr lang="en-US" sz="1100" dirty="0" err="1">
                <a:solidFill>
                  <a:srgbClr val="4A5560"/>
                </a:solidFill>
                <a:latin typeface="Calibri" pitchFamily="34" charset="0"/>
                <a:ea typeface="Calibri" pitchFamily="34" charset="-122"/>
                <a:cs typeface="Calibri" pitchFamily="34" charset="-120"/>
              </a:rPr>
              <a:t>cocho</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além</a:t>
            </a:r>
            <a:r>
              <a:rPr lang="en-US" sz="1100" dirty="0">
                <a:solidFill>
                  <a:srgbClr val="4A5560"/>
                </a:solidFill>
                <a:latin typeface="Calibri" pitchFamily="34" charset="0"/>
                <a:ea typeface="Calibri" pitchFamily="34" charset="-122"/>
                <a:cs typeface="Calibri" pitchFamily="34" charset="-120"/>
              </a:rPr>
              <a:t> de </a:t>
            </a:r>
            <a:r>
              <a:rPr lang="en-US" sz="1100" dirty="0" err="1">
                <a:solidFill>
                  <a:srgbClr val="4A5560"/>
                </a:solidFill>
                <a:latin typeface="Calibri" pitchFamily="34" charset="0"/>
                <a:ea typeface="Calibri" pitchFamily="34" charset="-122"/>
                <a:cs typeface="Calibri" pitchFamily="34" charset="-120"/>
              </a:rPr>
              <a:t>relatórios</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semanais</a:t>
            </a:r>
            <a:r>
              <a:rPr lang="en-US" sz="1100" dirty="0">
                <a:solidFill>
                  <a:srgbClr val="4A5560"/>
                </a:solidFill>
                <a:latin typeface="Calibri" pitchFamily="34" charset="0"/>
                <a:ea typeface="Calibri" pitchFamily="34" charset="-122"/>
                <a:cs typeface="Calibri" pitchFamily="34" charset="-120"/>
              </a:rPr>
              <a:t> para </a:t>
            </a:r>
            <a:r>
              <a:rPr lang="en-US" sz="1100" dirty="0" err="1">
                <a:solidFill>
                  <a:srgbClr val="4A5560"/>
                </a:solidFill>
                <a:latin typeface="Calibri" pitchFamily="34" charset="0"/>
                <a:ea typeface="Calibri" pitchFamily="34" charset="-122"/>
                <a:cs typeface="Calibri" pitchFamily="34" charset="-120"/>
              </a:rPr>
              <a:t>tomada</a:t>
            </a:r>
            <a:r>
              <a:rPr lang="en-US" sz="1100" dirty="0">
                <a:solidFill>
                  <a:srgbClr val="4A5560"/>
                </a:solidFill>
                <a:latin typeface="Calibri" pitchFamily="34" charset="0"/>
                <a:ea typeface="Calibri" pitchFamily="34" charset="-122"/>
                <a:cs typeface="Calibri" pitchFamily="34" charset="-120"/>
              </a:rPr>
              <a:t> de </a:t>
            </a:r>
            <a:r>
              <a:rPr lang="en-US" sz="1100" dirty="0" err="1">
                <a:solidFill>
                  <a:srgbClr val="4A5560"/>
                </a:solidFill>
                <a:latin typeface="Calibri" pitchFamily="34" charset="0"/>
                <a:ea typeface="Calibri" pitchFamily="34" charset="-122"/>
                <a:cs typeface="Calibri" pitchFamily="34" charset="-120"/>
              </a:rPr>
              <a:t>decisões</a:t>
            </a:r>
            <a:r>
              <a:rPr lang="en-US" sz="1100" dirty="0">
                <a:solidFill>
                  <a:srgbClr val="4A5560"/>
                </a:solidFill>
                <a:latin typeface="Calibri" pitchFamily="34" charset="0"/>
                <a:ea typeface="Calibri" pitchFamily="34" charset="-122"/>
                <a:cs typeface="Calibri" pitchFamily="34" charset="-120"/>
              </a:rPr>
              <a:t>.</a:t>
            </a:r>
            <a:endParaRPr lang="en-US" sz="1100" dirty="0"/>
          </a:p>
        </p:txBody>
      </p:sp>
      <p:sp>
        <p:nvSpPr>
          <p:cNvPr id="18" name="Shape 15"/>
          <p:cNvSpPr/>
          <p:nvPr/>
        </p:nvSpPr>
        <p:spPr>
          <a:xfrm>
            <a:off x="892026" y="3445351"/>
            <a:ext cx="457200" cy="457200"/>
          </a:xfrm>
          <a:prstGeom prst="ellipse">
            <a:avLst/>
          </a:prstGeom>
          <a:solidFill>
            <a:srgbClr val="C8106E"/>
          </a:solidFill>
          <a:ln/>
        </p:spPr>
        <p:txBody>
          <a:bodyPr/>
          <a:lstStyle/>
          <a:p>
            <a:endParaRPr lang="pt-BR"/>
          </a:p>
        </p:txBody>
      </p:sp>
      <p:sp>
        <p:nvSpPr>
          <p:cNvPr id="19" name="Text 16"/>
          <p:cNvSpPr/>
          <p:nvPr/>
        </p:nvSpPr>
        <p:spPr>
          <a:xfrm>
            <a:off x="892026" y="3445351"/>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7"/>
          <p:cNvSpPr/>
          <p:nvPr/>
        </p:nvSpPr>
        <p:spPr>
          <a:xfrm>
            <a:off x="1532106" y="3427063"/>
            <a:ext cx="3977640" cy="274320"/>
          </a:xfrm>
          <a:prstGeom prst="rect">
            <a:avLst/>
          </a:prstGeom>
          <a:noFill/>
          <a:ln/>
        </p:spPr>
        <p:txBody>
          <a:bodyPr wrap="square" lIns="0" tIns="0" rIns="0" bIns="0" rtlCol="0" anchor="t"/>
          <a:lstStyle/>
          <a:p>
            <a:pPr marL="0" indent="0">
              <a:buNone/>
            </a:pPr>
            <a:r>
              <a:rPr lang="en-US" sz="1400" b="1" dirty="0">
                <a:solidFill>
                  <a:srgbClr val="1B3A8C"/>
                </a:solidFill>
                <a:latin typeface="Calibri" pitchFamily="34" charset="0"/>
                <a:ea typeface="Calibri" pitchFamily="34" charset="-122"/>
                <a:cs typeface="Calibri" pitchFamily="34" charset="-120"/>
              </a:rPr>
              <a:t>O QUE NOS DIFERENCIA DA CONCORRÊNCIA?</a:t>
            </a:r>
            <a:endParaRPr lang="en-US" sz="1400" dirty="0"/>
          </a:p>
        </p:txBody>
      </p:sp>
      <p:sp>
        <p:nvSpPr>
          <p:cNvPr id="21" name="Text 18"/>
          <p:cNvSpPr/>
          <p:nvPr/>
        </p:nvSpPr>
        <p:spPr>
          <a:xfrm>
            <a:off x="1532106" y="3712997"/>
            <a:ext cx="3977640" cy="685800"/>
          </a:xfrm>
          <a:prstGeom prst="rect">
            <a:avLst/>
          </a:prstGeom>
          <a:noFill/>
          <a:ln/>
        </p:spPr>
        <p:txBody>
          <a:bodyPr wrap="square" lIns="0" tIns="0" rIns="0" bIns="0" rtlCol="0" anchor="t"/>
          <a:lstStyle/>
          <a:p>
            <a:pPr marL="0" indent="0">
              <a:buNone/>
            </a:pPr>
            <a:r>
              <a:rPr lang="en-US" sz="1100" dirty="0">
                <a:solidFill>
                  <a:srgbClr val="4A5560"/>
                </a:solidFill>
                <a:latin typeface="Calibri" pitchFamily="34" charset="0"/>
                <a:ea typeface="Calibri" pitchFamily="34" charset="-122"/>
                <a:cs typeface="Calibri" pitchFamily="34" charset="-120"/>
              </a:rPr>
              <a:t>Não é a ferramenta: software de gestão virou item de prateleira. O diferencial é a entrega técnica: a TN acompanha toda a engorda, analisa os números toda semana, compara com o benchmark e transforma dados em decisão para o confinador. Sem custo de licença.</a:t>
            </a:r>
            <a:endParaRPr lang="en-US" sz="1100" dirty="0"/>
          </a:p>
        </p:txBody>
      </p:sp>
      <p:sp>
        <p:nvSpPr>
          <p:cNvPr id="22" name="TextBox 21"/>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2  ·  PARA QUEM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Bússola Farm 2025: 14.014 confinamentos no Brasil</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85% são pequenos. Juntos, têm só 23% da capacidade estática: muitas fazendas, pouco volume cada.</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marL="0" indent="0">
              <a:buNone/>
            </a:pPr>
            <a:r>
              <a:rPr lang="en-US" sz="800" dirty="0">
                <a:solidFill>
                  <a:srgbClr val="7A858F"/>
                </a:solidFill>
                <a:latin typeface="Calibri" pitchFamily="34" charset="0"/>
                <a:ea typeface="Calibri" pitchFamily="34" charset="-122"/>
                <a:cs typeface="Calibri" pitchFamily="34" charset="-120"/>
              </a:rPr>
              <a:t>Fonte: Bússola Farm 2025. Percentuais sobre os 13.214 confinamentos com faixa informada e 15 milhões de cabeças de capacidade estática projetada.</a:t>
            </a:r>
            <a:endParaRPr lang="en-US" sz="800" dirty="0"/>
          </a:p>
        </p:txBody>
      </p:sp>
      <p:sp>
        <p:nvSpPr>
          <p:cNvPr id="7" name="Text 4"/>
          <p:cNvSpPr/>
          <p:nvPr/>
        </p:nvSpPr>
        <p:spPr>
          <a:xfrm>
            <a:off x="457200" y="1097280"/>
            <a:ext cx="3108960" cy="201168"/>
          </a:xfrm>
          <a:prstGeom prst="rect">
            <a:avLst/>
          </a:prstGeom>
          <a:noFill/>
          <a:ln/>
        </p:spPr>
        <p:txBody>
          <a:bodyPr wrap="square" lIns="0" tIns="0" rIns="0" bIns="0" rtlCol="0" anchor="t"/>
          <a:lstStyle/>
          <a:p>
            <a:pPr marL="0" indent="0">
              <a:buNone/>
            </a:pPr>
            <a:r>
              <a:rPr lang="en-US" sz="900" b="1" dirty="0">
                <a:solidFill>
                  <a:srgbClr val="7A858F"/>
                </a:solidFill>
                <a:latin typeface="Calibri" pitchFamily="34" charset="0"/>
                <a:ea typeface="Calibri" pitchFamily="34" charset="-122"/>
                <a:cs typeface="Calibri" pitchFamily="34" charset="-120"/>
              </a:rPr>
              <a:t>Faixa</a:t>
            </a:r>
            <a:endParaRPr lang="en-US" sz="900" dirty="0"/>
          </a:p>
        </p:txBody>
      </p:sp>
      <p:sp>
        <p:nvSpPr>
          <p:cNvPr id="8" name="Text 5"/>
          <p:cNvSpPr/>
          <p:nvPr/>
        </p:nvSpPr>
        <p:spPr>
          <a:xfrm>
            <a:off x="2743200" y="1097280"/>
            <a:ext cx="3108960" cy="201168"/>
          </a:xfrm>
          <a:prstGeom prst="rect">
            <a:avLst/>
          </a:prstGeom>
          <a:noFill/>
          <a:ln/>
        </p:spPr>
        <p:txBody>
          <a:bodyPr wrap="square" lIns="0" tIns="0" rIns="0" bIns="0" rtlCol="0" anchor="t"/>
          <a:lstStyle/>
          <a:p>
            <a:pPr marL="0" indent="0">
              <a:buNone/>
            </a:pPr>
            <a:r>
              <a:rPr lang="en-US" sz="900" b="1" dirty="0">
                <a:solidFill>
                  <a:srgbClr val="7A858F"/>
                </a:solidFill>
                <a:latin typeface="Calibri" pitchFamily="34" charset="0"/>
                <a:ea typeface="Calibri" pitchFamily="34" charset="-122"/>
                <a:cs typeface="Calibri" pitchFamily="34" charset="-120"/>
              </a:rPr>
              <a:t>Confinamentos</a:t>
            </a:r>
            <a:endParaRPr lang="en-US" sz="900" dirty="0"/>
          </a:p>
        </p:txBody>
      </p:sp>
      <p:sp>
        <p:nvSpPr>
          <p:cNvPr id="9" name="Text 6"/>
          <p:cNvSpPr/>
          <p:nvPr/>
        </p:nvSpPr>
        <p:spPr>
          <a:xfrm>
            <a:off x="4069080" y="1097280"/>
            <a:ext cx="3108960" cy="201168"/>
          </a:xfrm>
          <a:prstGeom prst="rect">
            <a:avLst/>
          </a:prstGeom>
          <a:noFill/>
          <a:ln/>
        </p:spPr>
        <p:txBody>
          <a:bodyPr wrap="square" lIns="0" tIns="0" rIns="0" bIns="0" rtlCol="0" anchor="t"/>
          <a:lstStyle/>
          <a:p>
            <a:pPr marL="0" indent="0">
              <a:buNone/>
            </a:pPr>
            <a:r>
              <a:rPr lang="en-US" sz="900" b="1" dirty="0">
                <a:solidFill>
                  <a:srgbClr val="7A858F"/>
                </a:solidFill>
                <a:latin typeface="Calibri" pitchFamily="34" charset="0"/>
                <a:ea typeface="Calibri" pitchFamily="34" charset="-122"/>
                <a:cs typeface="Calibri" pitchFamily="34" charset="-120"/>
              </a:rPr>
              <a:t>Capacidade estática</a:t>
            </a:r>
            <a:endParaRPr lang="en-US" sz="900" dirty="0"/>
          </a:p>
        </p:txBody>
      </p:sp>
      <p:sp>
        <p:nvSpPr>
          <p:cNvPr id="10" name="Text 7"/>
          <p:cNvSpPr/>
          <p:nvPr/>
        </p:nvSpPr>
        <p:spPr>
          <a:xfrm>
            <a:off x="5486400" y="1097280"/>
            <a:ext cx="3108960" cy="201168"/>
          </a:xfrm>
          <a:prstGeom prst="rect">
            <a:avLst/>
          </a:prstGeom>
          <a:noFill/>
          <a:ln/>
        </p:spPr>
        <p:txBody>
          <a:bodyPr wrap="square" lIns="0" tIns="0" rIns="0" bIns="0" rtlCol="0" anchor="t"/>
          <a:lstStyle/>
          <a:p>
            <a:pPr marL="0" indent="0">
              <a:buNone/>
            </a:pPr>
            <a:r>
              <a:rPr lang="en-US" sz="900" b="1" dirty="0">
                <a:solidFill>
                  <a:srgbClr val="7A858F"/>
                </a:solidFill>
                <a:latin typeface="Calibri" pitchFamily="34" charset="0"/>
                <a:ea typeface="Calibri" pitchFamily="34" charset="-122"/>
                <a:cs typeface="Calibri" pitchFamily="34" charset="-120"/>
              </a:rPr>
              <a:t>% dos confinamentos e % da capacidade</a:t>
            </a:r>
            <a:endParaRPr lang="en-US" sz="900" dirty="0"/>
          </a:p>
        </p:txBody>
      </p:sp>
      <p:sp>
        <p:nvSpPr>
          <p:cNvPr id="11" name="Shape 8"/>
          <p:cNvSpPr/>
          <p:nvPr/>
        </p:nvSpPr>
        <p:spPr>
          <a:xfrm>
            <a:off x="457200" y="1344168"/>
            <a:ext cx="8229600" cy="749808"/>
          </a:xfrm>
          <a:prstGeom prst="rect">
            <a:avLst/>
          </a:prstGeom>
          <a:solidFill>
            <a:srgbClr val="FBE7F1"/>
          </a:solidFill>
          <a:ln/>
        </p:spPr>
        <p:txBody>
          <a:bodyPr/>
          <a:lstStyle/>
          <a:p>
            <a:endParaRPr/>
          </a:p>
        </p:txBody>
      </p:sp>
      <p:sp>
        <p:nvSpPr>
          <p:cNvPr id="12" name="Shape 9"/>
          <p:cNvSpPr/>
          <p:nvPr/>
        </p:nvSpPr>
        <p:spPr>
          <a:xfrm>
            <a:off x="457200" y="1344168"/>
            <a:ext cx="64008" cy="749808"/>
          </a:xfrm>
          <a:prstGeom prst="rect">
            <a:avLst/>
          </a:prstGeom>
          <a:solidFill>
            <a:srgbClr val="C8106E"/>
          </a:solidFill>
          <a:ln/>
        </p:spPr>
        <p:txBody>
          <a:bodyPr/>
          <a:lstStyle/>
          <a:p>
            <a:endParaRPr/>
          </a:p>
        </p:txBody>
      </p:sp>
      <p:sp>
        <p:nvSpPr>
          <p:cNvPr id="13" name="Text 10"/>
          <p:cNvSpPr/>
          <p:nvPr/>
        </p:nvSpPr>
        <p:spPr>
          <a:xfrm>
            <a:off x="621792" y="1453896"/>
            <a:ext cx="2103120" cy="256032"/>
          </a:xfrm>
          <a:prstGeom prst="rect">
            <a:avLst/>
          </a:prstGeom>
          <a:noFill/>
          <a:ln/>
        </p:spPr>
        <p:txBody>
          <a:bodyPr wrap="square" lIns="0" tIns="0" rIns="0" bIns="0" rtlCol="0" anchor="t"/>
          <a:lstStyle/>
          <a:p>
            <a:pPr marL="0" indent="0">
              <a:buNone/>
            </a:pPr>
            <a:r>
              <a:rPr lang="en-US" sz="1250" b="1" dirty="0">
                <a:solidFill>
                  <a:srgbClr val="C8106E"/>
                </a:solidFill>
                <a:latin typeface="Calibri" pitchFamily="34" charset="0"/>
                <a:ea typeface="Calibri" pitchFamily="34" charset="-122"/>
                <a:cs typeface="Calibri" pitchFamily="34" charset="-120"/>
              </a:rPr>
              <a:t>Faixa 1: pequenos</a:t>
            </a:r>
            <a:endParaRPr lang="en-US" sz="1250" dirty="0"/>
          </a:p>
        </p:txBody>
      </p:sp>
      <p:sp>
        <p:nvSpPr>
          <p:cNvPr id="14" name="Text 11"/>
          <p:cNvSpPr/>
          <p:nvPr/>
        </p:nvSpPr>
        <p:spPr>
          <a:xfrm>
            <a:off x="621792" y="1709928"/>
            <a:ext cx="2057400" cy="347472"/>
          </a:xfrm>
          <a:prstGeom prst="rect">
            <a:avLst/>
          </a:prstGeom>
          <a:noFill/>
          <a:ln/>
        </p:spPr>
        <p:txBody>
          <a:bodyPr wrap="square" lIns="0" tIns="0" rIns="0" bIns="0" rtlCol="0" anchor="t"/>
          <a:lstStyle/>
          <a:p>
            <a:pPr marL="0" indent="0">
              <a:buNone/>
            </a:pPr>
            <a:r>
              <a:rPr lang="en-US" sz="850" dirty="0">
                <a:solidFill>
                  <a:srgbClr val="4A5560"/>
                </a:solidFill>
                <a:latin typeface="Calibri" pitchFamily="34" charset="0"/>
                <a:ea typeface="Calibri" pitchFamily="34" charset="-122"/>
                <a:cs typeface="Calibri" pitchFamily="34" charset="-120"/>
              </a:rPr>
              <a:t>até 1.500 cabeças; unidades até 2,4 ha</a:t>
            </a:r>
            <a:endParaRPr lang="en-US" sz="850" dirty="0"/>
          </a:p>
        </p:txBody>
      </p:sp>
      <p:sp>
        <p:nvSpPr>
          <p:cNvPr id="15" name="Text 12"/>
          <p:cNvSpPr/>
          <p:nvPr/>
        </p:nvSpPr>
        <p:spPr>
          <a:xfrm>
            <a:off x="2743200" y="1453896"/>
            <a:ext cx="1280160" cy="365760"/>
          </a:xfrm>
          <a:prstGeom prst="rect">
            <a:avLst/>
          </a:prstGeom>
          <a:noFill/>
          <a:ln/>
        </p:spPr>
        <p:txBody>
          <a:bodyPr wrap="square" lIns="0" tIns="0" rIns="0" bIns="0" rtlCol="0" anchor="t"/>
          <a:lstStyle/>
          <a:p>
            <a:pPr marL="0" indent="0">
              <a:buNone/>
            </a:pPr>
            <a:r>
              <a:rPr lang="en-US" sz="2200" b="1" dirty="0">
                <a:solidFill>
                  <a:srgbClr val="C8106E"/>
                </a:solidFill>
                <a:latin typeface="Calibri" pitchFamily="34" charset="0"/>
                <a:ea typeface="Calibri" pitchFamily="34" charset="-122"/>
                <a:cs typeface="Calibri" pitchFamily="34" charset="-120"/>
              </a:rPr>
              <a:t>11.194</a:t>
            </a:r>
            <a:endParaRPr lang="en-US" sz="2200" dirty="0"/>
          </a:p>
        </p:txBody>
      </p:sp>
      <p:sp>
        <p:nvSpPr>
          <p:cNvPr id="16" name="Text 13"/>
          <p:cNvSpPr/>
          <p:nvPr/>
        </p:nvSpPr>
        <p:spPr>
          <a:xfrm>
            <a:off x="2743200" y="1819656"/>
            <a:ext cx="1280160" cy="182880"/>
          </a:xfrm>
          <a:prstGeom prst="rect">
            <a:avLst/>
          </a:prstGeom>
          <a:noFill/>
          <a:ln/>
        </p:spPr>
        <p:txBody>
          <a:bodyPr wrap="square" lIns="0" tIns="0" rIns="0" bIns="0" rtlCol="0" anchor="t"/>
          <a:lstStyle/>
          <a:p>
            <a:pPr marL="0" indent="0">
              <a:buNone/>
            </a:pPr>
            <a:r>
              <a:rPr lang="en-US" sz="850" dirty="0">
                <a:solidFill>
                  <a:srgbClr val="7A858F"/>
                </a:solidFill>
                <a:latin typeface="Calibri" pitchFamily="34" charset="0"/>
                <a:ea typeface="Calibri" pitchFamily="34" charset="-122"/>
                <a:cs typeface="Calibri" pitchFamily="34" charset="-120"/>
              </a:rPr>
              <a:t>confinamentos</a:t>
            </a:r>
            <a:endParaRPr lang="en-US" sz="850" dirty="0"/>
          </a:p>
        </p:txBody>
      </p:sp>
      <p:sp>
        <p:nvSpPr>
          <p:cNvPr id="17" name="Text 14"/>
          <p:cNvSpPr/>
          <p:nvPr/>
        </p:nvSpPr>
        <p:spPr>
          <a:xfrm>
            <a:off x="4069080" y="1453896"/>
            <a:ext cx="1280160" cy="365760"/>
          </a:xfrm>
          <a:prstGeom prst="rect">
            <a:avLst/>
          </a:prstGeom>
          <a:noFill/>
          <a:ln/>
        </p:spPr>
        <p:txBody>
          <a:bodyPr wrap="square" lIns="0" tIns="0" rIns="0" bIns="0" rtlCol="0" anchor="t"/>
          <a:lstStyle/>
          <a:p>
            <a:pPr marL="0" indent="0">
              <a:buNone/>
            </a:pPr>
            <a:r>
              <a:rPr lang="en-US" sz="2200" b="1" dirty="0">
                <a:solidFill>
                  <a:srgbClr val="1B3A8C"/>
                </a:solidFill>
                <a:latin typeface="Calibri" pitchFamily="34" charset="0"/>
                <a:ea typeface="Calibri" pitchFamily="34" charset="-122"/>
                <a:cs typeface="Calibri" pitchFamily="34" charset="-120"/>
              </a:rPr>
              <a:t>3,5 mi</a:t>
            </a:r>
            <a:endParaRPr lang="en-US" sz="2200" dirty="0"/>
          </a:p>
        </p:txBody>
      </p:sp>
      <p:sp>
        <p:nvSpPr>
          <p:cNvPr id="18" name="Text 15"/>
          <p:cNvSpPr/>
          <p:nvPr/>
        </p:nvSpPr>
        <p:spPr>
          <a:xfrm>
            <a:off x="4069080" y="1819656"/>
            <a:ext cx="1280160" cy="182880"/>
          </a:xfrm>
          <a:prstGeom prst="rect">
            <a:avLst/>
          </a:prstGeom>
          <a:noFill/>
          <a:ln/>
        </p:spPr>
        <p:txBody>
          <a:bodyPr wrap="square" lIns="0" tIns="0" rIns="0" bIns="0" rtlCol="0" anchor="t"/>
          <a:lstStyle/>
          <a:p>
            <a:pPr marL="0" indent="0">
              <a:buNone/>
            </a:pPr>
            <a:r>
              <a:rPr lang="en-US" sz="850" dirty="0">
                <a:solidFill>
                  <a:srgbClr val="7A858F"/>
                </a:solidFill>
                <a:latin typeface="Calibri" pitchFamily="34" charset="0"/>
                <a:ea typeface="Calibri" pitchFamily="34" charset="-122"/>
                <a:cs typeface="Calibri" pitchFamily="34" charset="-120"/>
              </a:rPr>
              <a:t>de cabeças</a:t>
            </a:r>
            <a:endParaRPr lang="en-US" sz="850" dirty="0"/>
          </a:p>
        </p:txBody>
      </p:sp>
      <p:sp>
        <p:nvSpPr>
          <p:cNvPr id="19" name="Shape 16"/>
          <p:cNvSpPr/>
          <p:nvPr/>
        </p:nvSpPr>
        <p:spPr>
          <a:xfrm>
            <a:off x="5486400" y="1499616"/>
            <a:ext cx="2013692" cy="182880"/>
          </a:xfrm>
          <a:prstGeom prst="rect">
            <a:avLst/>
          </a:prstGeom>
          <a:solidFill>
            <a:srgbClr val="C8106E"/>
          </a:solidFill>
          <a:ln/>
        </p:spPr>
        <p:txBody>
          <a:bodyPr/>
          <a:lstStyle/>
          <a:p>
            <a:endParaRPr/>
          </a:p>
        </p:txBody>
      </p:sp>
      <p:sp>
        <p:nvSpPr>
          <p:cNvPr id="20" name="Text 17"/>
          <p:cNvSpPr/>
          <p:nvPr/>
        </p:nvSpPr>
        <p:spPr>
          <a:xfrm>
            <a:off x="5559552" y="1481328"/>
            <a:ext cx="1554480" cy="219456"/>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85% dos confinamentos</a:t>
            </a:r>
            <a:endParaRPr lang="en-US" sz="850" dirty="0"/>
          </a:p>
        </p:txBody>
      </p:sp>
      <p:sp>
        <p:nvSpPr>
          <p:cNvPr id="21" name="Shape 18"/>
          <p:cNvSpPr/>
          <p:nvPr/>
        </p:nvSpPr>
        <p:spPr>
          <a:xfrm>
            <a:off x="5486400" y="1755648"/>
            <a:ext cx="546811" cy="182880"/>
          </a:xfrm>
          <a:prstGeom prst="rect">
            <a:avLst/>
          </a:prstGeom>
          <a:solidFill>
            <a:srgbClr val="9AA3AC"/>
          </a:solidFill>
          <a:ln/>
        </p:spPr>
        <p:txBody>
          <a:bodyPr/>
          <a:lstStyle/>
          <a:p>
            <a:endParaRPr/>
          </a:p>
        </p:txBody>
      </p:sp>
      <p:sp>
        <p:nvSpPr>
          <p:cNvPr id="22" name="Text 19"/>
          <p:cNvSpPr/>
          <p:nvPr/>
        </p:nvSpPr>
        <p:spPr>
          <a:xfrm>
            <a:off x="6088075" y="1737360"/>
            <a:ext cx="1554480" cy="219456"/>
          </a:xfrm>
          <a:prstGeom prst="rect">
            <a:avLst/>
          </a:prstGeom>
          <a:noFill/>
          <a:ln/>
        </p:spPr>
        <p:txBody>
          <a:bodyPr wrap="square" lIns="0" tIns="0" rIns="0" bIns="0" rtlCol="0" anchor="ctr"/>
          <a:lstStyle/>
          <a:p>
            <a:pPr marL="0" indent="0">
              <a:buNone/>
            </a:pPr>
            <a:r>
              <a:rPr lang="en-US" sz="850" dirty="0">
                <a:solidFill>
                  <a:srgbClr val="4A5560"/>
                </a:solidFill>
                <a:latin typeface="Calibri" pitchFamily="34" charset="0"/>
                <a:ea typeface="Calibri" pitchFamily="34" charset="-122"/>
                <a:cs typeface="Calibri" pitchFamily="34" charset="-120"/>
              </a:rPr>
              <a:t>23% da capacidade</a:t>
            </a:r>
            <a:endParaRPr lang="en-US" sz="850" dirty="0"/>
          </a:p>
        </p:txBody>
      </p:sp>
      <p:sp>
        <p:nvSpPr>
          <p:cNvPr id="23" name="Shape 20"/>
          <p:cNvSpPr/>
          <p:nvPr/>
        </p:nvSpPr>
        <p:spPr>
          <a:xfrm>
            <a:off x="457200" y="2185416"/>
            <a:ext cx="8229600" cy="749808"/>
          </a:xfrm>
          <a:prstGeom prst="rect">
            <a:avLst/>
          </a:prstGeom>
          <a:solidFill>
            <a:srgbClr val="F4F6F8"/>
          </a:solidFill>
          <a:ln/>
        </p:spPr>
        <p:txBody>
          <a:bodyPr/>
          <a:lstStyle/>
          <a:p>
            <a:endParaRPr/>
          </a:p>
        </p:txBody>
      </p:sp>
      <p:sp>
        <p:nvSpPr>
          <p:cNvPr id="24" name="Shape 21"/>
          <p:cNvSpPr/>
          <p:nvPr/>
        </p:nvSpPr>
        <p:spPr>
          <a:xfrm>
            <a:off x="457200" y="2185416"/>
            <a:ext cx="64008" cy="749808"/>
          </a:xfrm>
          <a:prstGeom prst="rect">
            <a:avLst/>
          </a:prstGeom>
          <a:solidFill>
            <a:srgbClr val="26668F"/>
          </a:solidFill>
          <a:ln/>
        </p:spPr>
        <p:txBody>
          <a:bodyPr/>
          <a:lstStyle/>
          <a:p>
            <a:endParaRPr/>
          </a:p>
        </p:txBody>
      </p:sp>
      <p:sp>
        <p:nvSpPr>
          <p:cNvPr id="25" name="Text 22"/>
          <p:cNvSpPr/>
          <p:nvPr/>
        </p:nvSpPr>
        <p:spPr>
          <a:xfrm>
            <a:off x="621792" y="2295144"/>
            <a:ext cx="2103120" cy="256032"/>
          </a:xfrm>
          <a:prstGeom prst="rect">
            <a:avLst/>
          </a:prstGeom>
          <a:noFill/>
          <a:ln/>
        </p:spPr>
        <p:txBody>
          <a:bodyPr wrap="square" lIns="0" tIns="0" rIns="0" bIns="0" rtlCol="0" anchor="t"/>
          <a:lstStyle/>
          <a:p>
            <a:pPr marL="0" indent="0">
              <a:buNone/>
            </a:pPr>
            <a:r>
              <a:rPr lang="en-US" sz="1250" b="1" dirty="0">
                <a:solidFill>
                  <a:srgbClr val="26668F"/>
                </a:solidFill>
                <a:latin typeface="Calibri" pitchFamily="34" charset="0"/>
                <a:ea typeface="Calibri" pitchFamily="34" charset="-122"/>
                <a:cs typeface="Calibri" pitchFamily="34" charset="-120"/>
              </a:rPr>
              <a:t>Faixa 2: médios</a:t>
            </a:r>
            <a:endParaRPr lang="en-US" sz="1250" dirty="0"/>
          </a:p>
        </p:txBody>
      </p:sp>
      <p:sp>
        <p:nvSpPr>
          <p:cNvPr id="26" name="Text 23"/>
          <p:cNvSpPr/>
          <p:nvPr/>
        </p:nvSpPr>
        <p:spPr>
          <a:xfrm>
            <a:off x="621792" y="2551176"/>
            <a:ext cx="2057400" cy="347472"/>
          </a:xfrm>
          <a:prstGeom prst="rect">
            <a:avLst/>
          </a:prstGeom>
          <a:noFill/>
          <a:ln/>
        </p:spPr>
        <p:txBody>
          <a:bodyPr wrap="square" lIns="0" tIns="0" rIns="0" bIns="0" rtlCol="0" anchor="t"/>
          <a:lstStyle/>
          <a:p>
            <a:pPr marL="0" indent="0">
              <a:buNone/>
            </a:pPr>
            <a:r>
              <a:rPr lang="en-US" sz="850" dirty="0">
                <a:solidFill>
                  <a:srgbClr val="4A5560"/>
                </a:solidFill>
                <a:latin typeface="Calibri" pitchFamily="34" charset="0"/>
                <a:ea typeface="Calibri" pitchFamily="34" charset="-122"/>
                <a:cs typeface="Calibri" pitchFamily="34" charset="-120"/>
              </a:rPr>
              <a:t>até 6.900 cabeças; unidades até 9 ha</a:t>
            </a:r>
            <a:endParaRPr lang="en-US" sz="850" dirty="0"/>
          </a:p>
        </p:txBody>
      </p:sp>
      <p:sp>
        <p:nvSpPr>
          <p:cNvPr id="27" name="Text 24"/>
          <p:cNvSpPr/>
          <p:nvPr/>
        </p:nvSpPr>
        <p:spPr>
          <a:xfrm>
            <a:off x="2743200" y="2295144"/>
            <a:ext cx="1280160" cy="365760"/>
          </a:xfrm>
          <a:prstGeom prst="rect">
            <a:avLst/>
          </a:prstGeom>
          <a:noFill/>
          <a:ln/>
        </p:spPr>
        <p:txBody>
          <a:bodyPr wrap="square" lIns="0" tIns="0" rIns="0" bIns="0" rtlCol="0" anchor="t"/>
          <a:lstStyle/>
          <a:p>
            <a:pPr marL="0" indent="0">
              <a:buNone/>
            </a:pPr>
            <a:r>
              <a:rPr lang="en-US" sz="2200" b="1" dirty="0">
                <a:solidFill>
                  <a:srgbClr val="26668F"/>
                </a:solidFill>
                <a:latin typeface="Calibri" pitchFamily="34" charset="0"/>
                <a:ea typeface="Calibri" pitchFamily="34" charset="-122"/>
                <a:cs typeface="Calibri" pitchFamily="34" charset="-120"/>
              </a:rPr>
              <a:t>1.664</a:t>
            </a:r>
            <a:endParaRPr lang="en-US" sz="2200" dirty="0"/>
          </a:p>
        </p:txBody>
      </p:sp>
      <p:sp>
        <p:nvSpPr>
          <p:cNvPr id="28" name="Text 25"/>
          <p:cNvSpPr/>
          <p:nvPr/>
        </p:nvSpPr>
        <p:spPr>
          <a:xfrm>
            <a:off x="2743200" y="2660904"/>
            <a:ext cx="1280160" cy="182880"/>
          </a:xfrm>
          <a:prstGeom prst="rect">
            <a:avLst/>
          </a:prstGeom>
          <a:noFill/>
          <a:ln/>
        </p:spPr>
        <p:txBody>
          <a:bodyPr wrap="square" lIns="0" tIns="0" rIns="0" bIns="0" rtlCol="0" anchor="t"/>
          <a:lstStyle/>
          <a:p>
            <a:pPr marL="0" indent="0">
              <a:buNone/>
            </a:pPr>
            <a:r>
              <a:rPr lang="en-US" sz="850" dirty="0">
                <a:solidFill>
                  <a:srgbClr val="7A858F"/>
                </a:solidFill>
                <a:latin typeface="Calibri" pitchFamily="34" charset="0"/>
                <a:ea typeface="Calibri" pitchFamily="34" charset="-122"/>
                <a:cs typeface="Calibri" pitchFamily="34" charset="-120"/>
              </a:rPr>
              <a:t>confinamentos</a:t>
            </a:r>
            <a:endParaRPr lang="en-US" sz="850" dirty="0"/>
          </a:p>
        </p:txBody>
      </p:sp>
      <p:sp>
        <p:nvSpPr>
          <p:cNvPr id="29" name="Text 26"/>
          <p:cNvSpPr/>
          <p:nvPr/>
        </p:nvSpPr>
        <p:spPr>
          <a:xfrm>
            <a:off x="4069080" y="2295144"/>
            <a:ext cx="1280160" cy="365760"/>
          </a:xfrm>
          <a:prstGeom prst="rect">
            <a:avLst/>
          </a:prstGeom>
          <a:noFill/>
          <a:ln/>
        </p:spPr>
        <p:txBody>
          <a:bodyPr wrap="square" lIns="0" tIns="0" rIns="0" bIns="0" rtlCol="0" anchor="t"/>
          <a:lstStyle/>
          <a:p>
            <a:pPr marL="0" indent="0">
              <a:buNone/>
            </a:pPr>
            <a:r>
              <a:rPr lang="en-US" sz="2200" b="1" dirty="0">
                <a:solidFill>
                  <a:srgbClr val="1B3A8C"/>
                </a:solidFill>
                <a:latin typeface="Calibri" pitchFamily="34" charset="0"/>
                <a:ea typeface="Calibri" pitchFamily="34" charset="-122"/>
                <a:cs typeface="Calibri" pitchFamily="34" charset="-120"/>
              </a:rPr>
              <a:t>5,5 mi</a:t>
            </a:r>
            <a:endParaRPr lang="en-US" sz="2200" dirty="0"/>
          </a:p>
        </p:txBody>
      </p:sp>
      <p:sp>
        <p:nvSpPr>
          <p:cNvPr id="30" name="Text 27"/>
          <p:cNvSpPr/>
          <p:nvPr/>
        </p:nvSpPr>
        <p:spPr>
          <a:xfrm>
            <a:off x="4069080" y="2660904"/>
            <a:ext cx="1280160" cy="182880"/>
          </a:xfrm>
          <a:prstGeom prst="rect">
            <a:avLst/>
          </a:prstGeom>
          <a:noFill/>
          <a:ln/>
        </p:spPr>
        <p:txBody>
          <a:bodyPr wrap="square" lIns="0" tIns="0" rIns="0" bIns="0" rtlCol="0" anchor="t"/>
          <a:lstStyle/>
          <a:p>
            <a:pPr marL="0" indent="0">
              <a:buNone/>
            </a:pPr>
            <a:r>
              <a:rPr lang="en-US" sz="850" dirty="0">
                <a:solidFill>
                  <a:srgbClr val="7A858F"/>
                </a:solidFill>
                <a:latin typeface="Calibri" pitchFamily="34" charset="0"/>
                <a:ea typeface="Calibri" pitchFamily="34" charset="-122"/>
                <a:cs typeface="Calibri" pitchFamily="34" charset="-120"/>
              </a:rPr>
              <a:t>de cabeças</a:t>
            </a:r>
            <a:endParaRPr lang="en-US" sz="850" dirty="0"/>
          </a:p>
        </p:txBody>
      </p:sp>
      <p:sp>
        <p:nvSpPr>
          <p:cNvPr id="31" name="Shape 28"/>
          <p:cNvSpPr/>
          <p:nvPr/>
        </p:nvSpPr>
        <p:spPr>
          <a:xfrm>
            <a:off x="5486400" y="2340864"/>
            <a:ext cx="299557" cy="182880"/>
          </a:xfrm>
          <a:prstGeom prst="rect">
            <a:avLst/>
          </a:prstGeom>
          <a:solidFill>
            <a:srgbClr val="26668F"/>
          </a:solidFill>
          <a:ln/>
        </p:spPr>
        <p:txBody>
          <a:bodyPr/>
          <a:lstStyle/>
          <a:p>
            <a:endParaRPr/>
          </a:p>
        </p:txBody>
      </p:sp>
      <p:sp>
        <p:nvSpPr>
          <p:cNvPr id="32" name="Text 29"/>
          <p:cNvSpPr/>
          <p:nvPr/>
        </p:nvSpPr>
        <p:spPr>
          <a:xfrm>
            <a:off x="5840821" y="2322576"/>
            <a:ext cx="1554480" cy="219456"/>
          </a:xfrm>
          <a:prstGeom prst="rect">
            <a:avLst/>
          </a:prstGeom>
          <a:noFill/>
          <a:ln/>
        </p:spPr>
        <p:txBody>
          <a:bodyPr wrap="square" lIns="0" tIns="0" rIns="0" bIns="0" rtlCol="0" anchor="ctr"/>
          <a:lstStyle/>
          <a:p>
            <a:pPr marL="0" indent="0">
              <a:buNone/>
            </a:pPr>
            <a:r>
              <a:rPr lang="en-US" sz="850" b="1" dirty="0">
                <a:solidFill>
                  <a:srgbClr val="4A5560"/>
                </a:solidFill>
                <a:latin typeface="Calibri" pitchFamily="34" charset="0"/>
                <a:ea typeface="Calibri" pitchFamily="34" charset="-122"/>
                <a:cs typeface="Calibri" pitchFamily="34" charset="-120"/>
              </a:rPr>
              <a:t>13% dos confinamentos</a:t>
            </a:r>
            <a:endParaRPr lang="en-US" sz="850" dirty="0"/>
          </a:p>
        </p:txBody>
      </p:sp>
      <p:sp>
        <p:nvSpPr>
          <p:cNvPr id="33" name="Shape 30"/>
          <p:cNvSpPr/>
          <p:nvPr/>
        </p:nvSpPr>
        <p:spPr>
          <a:xfrm>
            <a:off x="5486400" y="2596896"/>
            <a:ext cx="879653" cy="182880"/>
          </a:xfrm>
          <a:prstGeom prst="rect">
            <a:avLst/>
          </a:prstGeom>
          <a:solidFill>
            <a:srgbClr val="9AA3AC"/>
          </a:solidFill>
          <a:ln/>
        </p:spPr>
        <p:txBody>
          <a:bodyPr/>
          <a:lstStyle/>
          <a:p>
            <a:endParaRPr/>
          </a:p>
        </p:txBody>
      </p:sp>
      <p:sp>
        <p:nvSpPr>
          <p:cNvPr id="34" name="Text 31"/>
          <p:cNvSpPr/>
          <p:nvPr/>
        </p:nvSpPr>
        <p:spPr>
          <a:xfrm>
            <a:off x="6420917" y="2578608"/>
            <a:ext cx="1554480" cy="219456"/>
          </a:xfrm>
          <a:prstGeom prst="rect">
            <a:avLst/>
          </a:prstGeom>
          <a:noFill/>
          <a:ln/>
        </p:spPr>
        <p:txBody>
          <a:bodyPr wrap="square" lIns="0" tIns="0" rIns="0" bIns="0" rtlCol="0" anchor="ctr"/>
          <a:lstStyle/>
          <a:p>
            <a:pPr marL="0" indent="0">
              <a:buNone/>
            </a:pPr>
            <a:r>
              <a:rPr lang="en-US" sz="850" dirty="0">
                <a:solidFill>
                  <a:srgbClr val="4A5560"/>
                </a:solidFill>
                <a:latin typeface="Calibri" pitchFamily="34" charset="0"/>
                <a:ea typeface="Calibri" pitchFamily="34" charset="-122"/>
                <a:cs typeface="Calibri" pitchFamily="34" charset="-120"/>
              </a:rPr>
              <a:t>37% da capacidade</a:t>
            </a:r>
            <a:endParaRPr lang="en-US" sz="850" dirty="0"/>
          </a:p>
        </p:txBody>
      </p:sp>
      <p:sp>
        <p:nvSpPr>
          <p:cNvPr id="35" name="Shape 32"/>
          <p:cNvSpPr/>
          <p:nvPr/>
        </p:nvSpPr>
        <p:spPr>
          <a:xfrm>
            <a:off x="457200" y="3026664"/>
            <a:ext cx="8229600" cy="749808"/>
          </a:xfrm>
          <a:prstGeom prst="rect">
            <a:avLst/>
          </a:prstGeom>
          <a:solidFill>
            <a:srgbClr val="F4F6F8"/>
          </a:solidFill>
          <a:ln/>
        </p:spPr>
        <p:txBody>
          <a:bodyPr/>
          <a:lstStyle/>
          <a:p>
            <a:endParaRPr/>
          </a:p>
        </p:txBody>
      </p:sp>
      <p:sp>
        <p:nvSpPr>
          <p:cNvPr id="36" name="Shape 33"/>
          <p:cNvSpPr/>
          <p:nvPr/>
        </p:nvSpPr>
        <p:spPr>
          <a:xfrm>
            <a:off x="457200" y="3026664"/>
            <a:ext cx="64008" cy="749808"/>
          </a:xfrm>
          <a:prstGeom prst="rect">
            <a:avLst/>
          </a:prstGeom>
          <a:solidFill>
            <a:srgbClr val="1B3A8C"/>
          </a:solidFill>
          <a:ln/>
        </p:spPr>
        <p:txBody>
          <a:bodyPr/>
          <a:lstStyle/>
          <a:p>
            <a:endParaRPr/>
          </a:p>
        </p:txBody>
      </p:sp>
      <p:sp>
        <p:nvSpPr>
          <p:cNvPr id="37" name="Text 34"/>
          <p:cNvSpPr/>
          <p:nvPr/>
        </p:nvSpPr>
        <p:spPr>
          <a:xfrm>
            <a:off x="621792" y="3136392"/>
            <a:ext cx="2103120" cy="256032"/>
          </a:xfrm>
          <a:prstGeom prst="rect">
            <a:avLst/>
          </a:prstGeom>
          <a:noFill/>
          <a:ln/>
        </p:spPr>
        <p:txBody>
          <a:bodyPr wrap="square" lIns="0" tIns="0" rIns="0" bIns="0" rtlCol="0" anchor="t"/>
          <a:lstStyle/>
          <a:p>
            <a:pPr marL="0" indent="0">
              <a:buNone/>
            </a:pPr>
            <a:r>
              <a:rPr lang="en-US" sz="1250" b="1" dirty="0">
                <a:solidFill>
                  <a:srgbClr val="1B3A8C"/>
                </a:solidFill>
                <a:latin typeface="Calibri" pitchFamily="34" charset="0"/>
                <a:ea typeface="Calibri" pitchFamily="34" charset="-122"/>
                <a:cs typeface="Calibri" pitchFamily="34" charset="-120"/>
              </a:rPr>
              <a:t>Faixa 3: grandes</a:t>
            </a:r>
            <a:endParaRPr lang="en-US" sz="1250" dirty="0"/>
          </a:p>
        </p:txBody>
      </p:sp>
      <p:sp>
        <p:nvSpPr>
          <p:cNvPr id="38" name="Text 35"/>
          <p:cNvSpPr/>
          <p:nvPr/>
        </p:nvSpPr>
        <p:spPr>
          <a:xfrm>
            <a:off x="621792" y="3392424"/>
            <a:ext cx="2057400" cy="347472"/>
          </a:xfrm>
          <a:prstGeom prst="rect">
            <a:avLst/>
          </a:prstGeom>
          <a:noFill/>
          <a:ln/>
        </p:spPr>
        <p:txBody>
          <a:bodyPr wrap="square" lIns="0" tIns="0" rIns="0" bIns="0" rtlCol="0" anchor="t"/>
          <a:lstStyle/>
          <a:p>
            <a:pPr marL="0" indent="0">
              <a:buNone/>
            </a:pPr>
            <a:r>
              <a:rPr lang="en-US" sz="850" dirty="0">
                <a:solidFill>
                  <a:srgbClr val="4A5560"/>
                </a:solidFill>
                <a:latin typeface="Calibri" pitchFamily="34" charset="0"/>
                <a:ea typeface="Calibri" pitchFamily="34" charset="-122"/>
                <a:cs typeface="Calibri" pitchFamily="34" charset="-120"/>
              </a:rPr>
              <a:t>mais de 7.000 cabeças (média de 16 mil); acima de 10 ha</a:t>
            </a:r>
            <a:endParaRPr lang="en-US" sz="850" dirty="0"/>
          </a:p>
        </p:txBody>
      </p:sp>
      <p:sp>
        <p:nvSpPr>
          <p:cNvPr id="39" name="Text 36"/>
          <p:cNvSpPr/>
          <p:nvPr/>
        </p:nvSpPr>
        <p:spPr>
          <a:xfrm>
            <a:off x="2743200" y="3136392"/>
            <a:ext cx="1280160" cy="365760"/>
          </a:xfrm>
          <a:prstGeom prst="rect">
            <a:avLst/>
          </a:prstGeom>
          <a:noFill/>
          <a:ln/>
        </p:spPr>
        <p:txBody>
          <a:bodyPr wrap="square" lIns="0" tIns="0" rIns="0" bIns="0" rtlCol="0" anchor="t"/>
          <a:lstStyle/>
          <a:p>
            <a:pPr marL="0" indent="0">
              <a:buNone/>
            </a:pPr>
            <a:r>
              <a:rPr lang="en-US" sz="2200" b="1" dirty="0">
                <a:solidFill>
                  <a:srgbClr val="1B3A8C"/>
                </a:solidFill>
                <a:latin typeface="Calibri" pitchFamily="34" charset="0"/>
                <a:ea typeface="Calibri" pitchFamily="34" charset="-122"/>
                <a:cs typeface="Calibri" pitchFamily="34" charset="-120"/>
              </a:rPr>
              <a:t>356</a:t>
            </a:r>
            <a:endParaRPr lang="en-US" sz="2200" dirty="0"/>
          </a:p>
        </p:txBody>
      </p:sp>
      <p:sp>
        <p:nvSpPr>
          <p:cNvPr id="40" name="Text 37"/>
          <p:cNvSpPr/>
          <p:nvPr/>
        </p:nvSpPr>
        <p:spPr>
          <a:xfrm>
            <a:off x="2743200" y="3502152"/>
            <a:ext cx="1280160" cy="182880"/>
          </a:xfrm>
          <a:prstGeom prst="rect">
            <a:avLst/>
          </a:prstGeom>
          <a:noFill/>
          <a:ln/>
        </p:spPr>
        <p:txBody>
          <a:bodyPr wrap="square" lIns="0" tIns="0" rIns="0" bIns="0" rtlCol="0" anchor="t"/>
          <a:lstStyle/>
          <a:p>
            <a:pPr marL="0" indent="0">
              <a:buNone/>
            </a:pPr>
            <a:r>
              <a:rPr lang="en-US" sz="850" dirty="0">
                <a:solidFill>
                  <a:srgbClr val="7A858F"/>
                </a:solidFill>
                <a:latin typeface="Calibri" pitchFamily="34" charset="0"/>
                <a:ea typeface="Calibri" pitchFamily="34" charset="-122"/>
                <a:cs typeface="Calibri" pitchFamily="34" charset="-120"/>
              </a:rPr>
              <a:t>confinamentos</a:t>
            </a:r>
            <a:endParaRPr lang="en-US" sz="850" dirty="0"/>
          </a:p>
        </p:txBody>
      </p:sp>
      <p:sp>
        <p:nvSpPr>
          <p:cNvPr id="41" name="Text 38"/>
          <p:cNvSpPr/>
          <p:nvPr/>
        </p:nvSpPr>
        <p:spPr>
          <a:xfrm>
            <a:off x="4069080" y="3136392"/>
            <a:ext cx="1280160" cy="365760"/>
          </a:xfrm>
          <a:prstGeom prst="rect">
            <a:avLst/>
          </a:prstGeom>
          <a:noFill/>
          <a:ln/>
        </p:spPr>
        <p:txBody>
          <a:bodyPr wrap="square" lIns="0" tIns="0" rIns="0" bIns="0" rtlCol="0" anchor="t"/>
          <a:lstStyle/>
          <a:p>
            <a:pPr marL="0" indent="0">
              <a:buNone/>
            </a:pPr>
            <a:r>
              <a:rPr lang="en-US" sz="2200" b="1" dirty="0">
                <a:solidFill>
                  <a:srgbClr val="1B3A8C"/>
                </a:solidFill>
                <a:latin typeface="Calibri" pitchFamily="34" charset="0"/>
                <a:ea typeface="Calibri" pitchFamily="34" charset="-122"/>
                <a:cs typeface="Calibri" pitchFamily="34" charset="-120"/>
              </a:rPr>
              <a:t>6,0 mi</a:t>
            </a:r>
            <a:endParaRPr lang="en-US" sz="2200" dirty="0"/>
          </a:p>
        </p:txBody>
      </p:sp>
      <p:sp>
        <p:nvSpPr>
          <p:cNvPr id="42" name="Text 39"/>
          <p:cNvSpPr/>
          <p:nvPr/>
        </p:nvSpPr>
        <p:spPr>
          <a:xfrm>
            <a:off x="4069080" y="3502152"/>
            <a:ext cx="1280160" cy="182880"/>
          </a:xfrm>
          <a:prstGeom prst="rect">
            <a:avLst/>
          </a:prstGeom>
          <a:noFill/>
          <a:ln/>
        </p:spPr>
        <p:txBody>
          <a:bodyPr wrap="square" lIns="0" tIns="0" rIns="0" bIns="0" rtlCol="0" anchor="t"/>
          <a:lstStyle/>
          <a:p>
            <a:pPr marL="0" indent="0">
              <a:buNone/>
            </a:pPr>
            <a:r>
              <a:rPr lang="en-US" sz="850" dirty="0">
                <a:solidFill>
                  <a:srgbClr val="7A858F"/>
                </a:solidFill>
                <a:latin typeface="Calibri" pitchFamily="34" charset="0"/>
                <a:ea typeface="Calibri" pitchFamily="34" charset="-122"/>
                <a:cs typeface="Calibri" pitchFamily="34" charset="-120"/>
              </a:rPr>
              <a:t>de cabeças</a:t>
            </a:r>
            <a:endParaRPr lang="en-US" sz="850" dirty="0"/>
          </a:p>
        </p:txBody>
      </p:sp>
      <p:sp>
        <p:nvSpPr>
          <p:cNvPr id="43" name="Shape 40"/>
          <p:cNvSpPr/>
          <p:nvPr/>
        </p:nvSpPr>
        <p:spPr>
          <a:xfrm>
            <a:off x="5486400" y="3182112"/>
            <a:ext cx="64191" cy="182880"/>
          </a:xfrm>
          <a:prstGeom prst="rect">
            <a:avLst/>
          </a:prstGeom>
          <a:solidFill>
            <a:srgbClr val="1B3A8C"/>
          </a:solidFill>
          <a:ln/>
        </p:spPr>
        <p:txBody>
          <a:bodyPr/>
          <a:lstStyle/>
          <a:p>
            <a:endParaRPr/>
          </a:p>
        </p:txBody>
      </p:sp>
      <p:sp>
        <p:nvSpPr>
          <p:cNvPr id="44" name="Text 41"/>
          <p:cNvSpPr/>
          <p:nvPr/>
        </p:nvSpPr>
        <p:spPr>
          <a:xfrm>
            <a:off x="5605455" y="3163824"/>
            <a:ext cx="1554480" cy="219456"/>
          </a:xfrm>
          <a:prstGeom prst="rect">
            <a:avLst/>
          </a:prstGeom>
          <a:noFill/>
          <a:ln/>
        </p:spPr>
        <p:txBody>
          <a:bodyPr wrap="square" lIns="0" tIns="0" rIns="0" bIns="0" rtlCol="0" anchor="ctr"/>
          <a:lstStyle/>
          <a:p>
            <a:pPr marL="0" indent="0">
              <a:buNone/>
            </a:pPr>
            <a:r>
              <a:rPr lang="en-US" sz="850" b="1" dirty="0">
                <a:solidFill>
                  <a:srgbClr val="4A5560"/>
                </a:solidFill>
                <a:latin typeface="Calibri" pitchFamily="34" charset="0"/>
                <a:ea typeface="Calibri" pitchFamily="34" charset="-122"/>
                <a:cs typeface="Calibri" pitchFamily="34" charset="-120"/>
              </a:rPr>
              <a:t>3% dos confinamentos</a:t>
            </a:r>
            <a:endParaRPr lang="en-US" sz="850" dirty="0"/>
          </a:p>
        </p:txBody>
      </p:sp>
      <p:sp>
        <p:nvSpPr>
          <p:cNvPr id="45" name="Shape 42"/>
          <p:cNvSpPr/>
          <p:nvPr/>
        </p:nvSpPr>
        <p:spPr>
          <a:xfrm>
            <a:off x="5486400" y="3438144"/>
            <a:ext cx="950976" cy="182880"/>
          </a:xfrm>
          <a:prstGeom prst="rect">
            <a:avLst/>
          </a:prstGeom>
          <a:solidFill>
            <a:srgbClr val="9AA3AC"/>
          </a:solidFill>
          <a:ln/>
        </p:spPr>
        <p:txBody>
          <a:bodyPr/>
          <a:lstStyle/>
          <a:p>
            <a:endParaRPr/>
          </a:p>
        </p:txBody>
      </p:sp>
      <p:sp>
        <p:nvSpPr>
          <p:cNvPr id="46" name="Text 43"/>
          <p:cNvSpPr/>
          <p:nvPr/>
        </p:nvSpPr>
        <p:spPr>
          <a:xfrm>
            <a:off x="6492240" y="3419856"/>
            <a:ext cx="1554480" cy="219456"/>
          </a:xfrm>
          <a:prstGeom prst="rect">
            <a:avLst/>
          </a:prstGeom>
          <a:noFill/>
          <a:ln/>
        </p:spPr>
        <p:txBody>
          <a:bodyPr wrap="square" lIns="0" tIns="0" rIns="0" bIns="0" rtlCol="0" anchor="ctr"/>
          <a:lstStyle/>
          <a:p>
            <a:pPr marL="0" indent="0">
              <a:buNone/>
            </a:pPr>
            <a:r>
              <a:rPr lang="en-US" sz="850" dirty="0">
                <a:solidFill>
                  <a:srgbClr val="4A5560"/>
                </a:solidFill>
                <a:latin typeface="Calibri" pitchFamily="34" charset="0"/>
                <a:ea typeface="Calibri" pitchFamily="34" charset="-122"/>
                <a:cs typeface="Calibri" pitchFamily="34" charset="-120"/>
              </a:rPr>
              <a:t>40% da capacidade</a:t>
            </a:r>
            <a:endParaRPr lang="en-US" sz="850" dirty="0"/>
          </a:p>
        </p:txBody>
      </p:sp>
      <p:sp>
        <p:nvSpPr>
          <p:cNvPr id="47" name="Shape 44"/>
          <p:cNvSpPr/>
          <p:nvPr/>
        </p:nvSpPr>
        <p:spPr>
          <a:xfrm>
            <a:off x="457200" y="3913632"/>
            <a:ext cx="3931920" cy="292608"/>
          </a:xfrm>
          <a:prstGeom prst="roundRect">
            <a:avLst>
              <a:gd name="adj" fmla="val 50000"/>
            </a:avLst>
          </a:prstGeom>
          <a:solidFill>
            <a:srgbClr val="C5D300"/>
          </a:solidFill>
          <a:ln/>
        </p:spPr>
        <p:txBody>
          <a:bodyPr/>
          <a:lstStyle/>
          <a:p>
            <a:endParaRPr/>
          </a:p>
        </p:txBody>
      </p:sp>
      <p:sp>
        <p:nvSpPr>
          <p:cNvPr id="48" name="Text 45"/>
          <p:cNvSpPr/>
          <p:nvPr/>
        </p:nvSpPr>
        <p:spPr>
          <a:xfrm>
            <a:off x="457200" y="3913632"/>
            <a:ext cx="3931920" cy="292608"/>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Público do TN Manager Web: Faixa 1 e início da Faixa 2</a:t>
            </a:r>
            <a:endParaRPr lang="en-US" sz="1000" dirty="0"/>
          </a:p>
        </p:txBody>
      </p:sp>
      <p:sp>
        <p:nvSpPr>
          <p:cNvPr id="49" name="TextBox 48"/>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2  ·  PARA QUEM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Raio-X do confinamento no Brasil (2025)</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O mercado cresce rápido e se concentra nos grandes, mas a maioria das fazendas ainda é pequena.</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marL="0" indent="0">
              <a:buNone/>
            </a:pPr>
            <a:r>
              <a:rPr lang="en-US" sz="800" dirty="0">
                <a:solidFill>
                  <a:srgbClr val="7A858F"/>
                </a:solidFill>
                <a:latin typeface="Calibri" pitchFamily="34" charset="0"/>
                <a:ea typeface="Calibri" pitchFamily="34" charset="-122"/>
                <a:cs typeface="Calibri" pitchFamily="34" charset="-120"/>
              </a:rPr>
              <a:t>Fontes: dsm-firmenich, Censo de Confinamento 2025 (fev/2026) e 2024; Embrapa Pecuária Sudeste (2023; 2024); Embrapa, Censos Agropecuários 2006 e 2017.</a:t>
            </a:r>
            <a:endParaRPr lang="en-US" sz="800" dirty="0"/>
          </a:p>
        </p:txBody>
      </p:sp>
      <p:sp>
        <p:nvSpPr>
          <p:cNvPr id="7" name="Shape 4"/>
          <p:cNvSpPr/>
          <p:nvPr/>
        </p:nvSpPr>
        <p:spPr>
          <a:xfrm>
            <a:off x="457200" y="1188720"/>
            <a:ext cx="2011680" cy="914400"/>
          </a:xfrm>
          <a:prstGeom prst="rect">
            <a:avLst/>
          </a:prstGeom>
          <a:solidFill>
            <a:srgbClr val="F4F6F8"/>
          </a:solidFill>
          <a:ln/>
        </p:spPr>
        <p:txBody>
          <a:bodyPr/>
          <a:lstStyle/>
          <a:p>
            <a:endParaRPr/>
          </a:p>
        </p:txBody>
      </p:sp>
      <p:sp>
        <p:nvSpPr>
          <p:cNvPr id="8" name="Shape 5"/>
          <p:cNvSpPr/>
          <p:nvPr/>
        </p:nvSpPr>
        <p:spPr>
          <a:xfrm>
            <a:off x="457200" y="1188720"/>
            <a:ext cx="54864" cy="914400"/>
          </a:xfrm>
          <a:prstGeom prst="rect">
            <a:avLst/>
          </a:prstGeom>
          <a:solidFill>
            <a:srgbClr val="1B3A8C"/>
          </a:solidFill>
          <a:ln/>
        </p:spPr>
        <p:txBody>
          <a:bodyPr/>
          <a:lstStyle/>
          <a:p>
            <a:endParaRPr/>
          </a:p>
        </p:txBody>
      </p:sp>
      <p:sp>
        <p:nvSpPr>
          <p:cNvPr id="9" name="Text 6"/>
          <p:cNvSpPr/>
          <p:nvPr/>
        </p:nvSpPr>
        <p:spPr>
          <a:xfrm>
            <a:off x="621792" y="1261872"/>
            <a:ext cx="1783080" cy="384048"/>
          </a:xfrm>
          <a:prstGeom prst="rect">
            <a:avLst/>
          </a:prstGeom>
          <a:noFill/>
          <a:ln/>
        </p:spPr>
        <p:txBody>
          <a:bodyPr wrap="square" lIns="0" tIns="0" rIns="0" bIns="0" rtlCol="0" anchor="t"/>
          <a:lstStyle/>
          <a:p>
            <a:pPr marL="0" indent="0">
              <a:buNone/>
            </a:pPr>
            <a:r>
              <a:rPr lang="en-US" sz="2200" b="1" dirty="0">
                <a:solidFill>
                  <a:srgbClr val="1B3A8C"/>
                </a:solidFill>
                <a:latin typeface="Calibri" pitchFamily="34" charset="0"/>
                <a:ea typeface="Calibri" pitchFamily="34" charset="-122"/>
                <a:cs typeface="Calibri" pitchFamily="34" charset="-120"/>
              </a:rPr>
              <a:t>9,25 mi</a:t>
            </a:r>
            <a:endParaRPr lang="en-US" sz="2200" dirty="0"/>
          </a:p>
        </p:txBody>
      </p:sp>
      <p:sp>
        <p:nvSpPr>
          <p:cNvPr id="10" name="Text 7"/>
          <p:cNvSpPr/>
          <p:nvPr/>
        </p:nvSpPr>
        <p:spPr>
          <a:xfrm>
            <a:off x="621792" y="1645920"/>
            <a:ext cx="1783080" cy="438912"/>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cabeças confinadas em 2025, alta de 16% sobre 2024</a:t>
            </a:r>
            <a:endParaRPr lang="en-US" sz="900" dirty="0"/>
          </a:p>
        </p:txBody>
      </p:sp>
      <p:sp>
        <p:nvSpPr>
          <p:cNvPr id="11" name="Shape 8"/>
          <p:cNvSpPr/>
          <p:nvPr/>
        </p:nvSpPr>
        <p:spPr>
          <a:xfrm>
            <a:off x="457200" y="2212848"/>
            <a:ext cx="2011680" cy="914400"/>
          </a:xfrm>
          <a:prstGeom prst="rect">
            <a:avLst/>
          </a:prstGeom>
          <a:solidFill>
            <a:srgbClr val="F4F6F8"/>
          </a:solidFill>
          <a:ln/>
        </p:spPr>
        <p:txBody>
          <a:bodyPr/>
          <a:lstStyle/>
          <a:p>
            <a:endParaRPr/>
          </a:p>
        </p:txBody>
      </p:sp>
      <p:sp>
        <p:nvSpPr>
          <p:cNvPr id="12" name="Shape 9"/>
          <p:cNvSpPr/>
          <p:nvPr/>
        </p:nvSpPr>
        <p:spPr>
          <a:xfrm>
            <a:off x="457200" y="2212848"/>
            <a:ext cx="54864" cy="914400"/>
          </a:xfrm>
          <a:prstGeom prst="rect">
            <a:avLst/>
          </a:prstGeom>
          <a:solidFill>
            <a:srgbClr val="26668F"/>
          </a:solidFill>
          <a:ln/>
        </p:spPr>
        <p:txBody>
          <a:bodyPr/>
          <a:lstStyle/>
          <a:p>
            <a:endParaRPr/>
          </a:p>
        </p:txBody>
      </p:sp>
      <p:sp>
        <p:nvSpPr>
          <p:cNvPr id="13" name="Text 10"/>
          <p:cNvSpPr/>
          <p:nvPr/>
        </p:nvSpPr>
        <p:spPr>
          <a:xfrm>
            <a:off x="621792" y="2286000"/>
            <a:ext cx="1783080" cy="384048"/>
          </a:xfrm>
          <a:prstGeom prst="rect">
            <a:avLst/>
          </a:prstGeom>
          <a:noFill/>
          <a:ln/>
        </p:spPr>
        <p:txBody>
          <a:bodyPr wrap="square" lIns="0" tIns="0" rIns="0" bIns="0" rtlCol="0" anchor="t"/>
          <a:lstStyle/>
          <a:p>
            <a:pPr marL="0" indent="0">
              <a:buNone/>
            </a:pPr>
            <a:r>
              <a:rPr lang="en-US" sz="2200" b="1" dirty="0">
                <a:solidFill>
                  <a:srgbClr val="26668F"/>
                </a:solidFill>
                <a:latin typeface="Calibri" pitchFamily="34" charset="0"/>
                <a:ea typeface="Calibri" pitchFamily="34" charset="-122"/>
                <a:cs typeface="Calibri" pitchFamily="34" charset="-120"/>
              </a:rPr>
              <a:t>2.445</a:t>
            </a:r>
            <a:endParaRPr lang="en-US" sz="2200" dirty="0"/>
          </a:p>
        </p:txBody>
      </p:sp>
      <p:sp>
        <p:nvSpPr>
          <p:cNvPr id="14" name="Text 11"/>
          <p:cNvSpPr/>
          <p:nvPr/>
        </p:nvSpPr>
        <p:spPr>
          <a:xfrm>
            <a:off x="621792" y="2670048"/>
            <a:ext cx="1783080" cy="438912"/>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propriedades mapeadas em 1.095 municípios</a:t>
            </a:r>
            <a:endParaRPr lang="en-US" sz="900" dirty="0"/>
          </a:p>
        </p:txBody>
      </p:sp>
      <p:sp>
        <p:nvSpPr>
          <p:cNvPr id="15" name="Shape 12"/>
          <p:cNvSpPr/>
          <p:nvPr/>
        </p:nvSpPr>
        <p:spPr>
          <a:xfrm>
            <a:off x="457200" y="3236976"/>
            <a:ext cx="2011680" cy="914400"/>
          </a:xfrm>
          <a:prstGeom prst="rect">
            <a:avLst/>
          </a:prstGeom>
          <a:solidFill>
            <a:srgbClr val="F4F6F8"/>
          </a:solidFill>
          <a:ln/>
        </p:spPr>
        <p:txBody>
          <a:bodyPr/>
          <a:lstStyle/>
          <a:p>
            <a:endParaRPr/>
          </a:p>
        </p:txBody>
      </p:sp>
      <p:sp>
        <p:nvSpPr>
          <p:cNvPr id="16" name="Shape 13"/>
          <p:cNvSpPr/>
          <p:nvPr/>
        </p:nvSpPr>
        <p:spPr>
          <a:xfrm>
            <a:off x="457200" y="3236976"/>
            <a:ext cx="54864" cy="914400"/>
          </a:xfrm>
          <a:prstGeom prst="rect">
            <a:avLst/>
          </a:prstGeom>
          <a:solidFill>
            <a:srgbClr val="C8106E"/>
          </a:solidFill>
          <a:ln/>
        </p:spPr>
        <p:txBody>
          <a:bodyPr/>
          <a:lstStyle/>
          <a:p>
            <a:endParaRPr/>
          </a:p>
        </p:txBody>
      </p:sp>
      <p:sp>
        <p:nvSpPr>
          <p:cNvPr id="17" name="Text 14"/>
          <p:cNvSpPr/>
          <p:nvPr/>
        </p:nvSpPr>
        <p:spPr>
          <a:xfrm>
            <a:off x="621792" y="3310128"/>
            <a:ext cx="1783080" cy="384048"/>
          </a:xfrm>
          <a:prstGeom prst="rect">
            <a:avLst/>
          </a:prstGeom>
          <a:noFill/>
          <a:ln/>
        </p:spPr>
        <p:txBody>
          <a:bodyPr wrap="square" lIns="0" tIns="0" rIns="0" bIns="0" rtlCol="0" anchor="t"/>
          <a:lstStyle/>
          <a:p>
            <a:pPr marL="0" indent="0">
              <a:buNone/>
            </a:pPr>
            <a:r>
              <a:rPr lang="en-US" sz="2200" b="1" dirty="0">
                <a:solidFill>
                  <a:srgbClr val="C8106E"/>
                </a:solidFill>
                <a:latin typeface="Calibri" pitchFamily="34" charset="0"/>
                <a:ea typeface="Calibri" pitchFamily="34" charset="-122"/>
                <a:cs typeface="Calibri" pitchFamily="34" charset="-120"/>
              </a:rPr>
              <a:t>45%</a:t>
            </a:r>
            <a:endParaRPr lang="en-US" sz="2200" dirty="0"/>
          </a:p>
        </p:txBody>
      </p:sp>
      <p:sp>
        <p:nvSpPr>
          <p:cNvPr id="18" name="Text 15"/>
          <p:cNvSpPr/>
          <p:nvPr/>
        </p:nvSpPr>
        <p:spPr>
          <a:xfrm>
            <a:off x="621792" y="3694176"/>
            <a:ext cx="1783080" cy="438912"/>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das cabeças estão nos 100 maiores confinamentos</a:t>
            </a:r>
            <a:endParaRPr lang="en-US" sz="900" dirty="0"/>
          </a:p>
        </p:txBody>
      </p:sp>
      <p:sp>
        <p:nvSpPr>
          <p:cNvPr id="19" name="Text 16"/>
          <p:cNvSpPr/>
          <p:nvPr/>
        </p:nvSpPr>
        <p:spPr>
          <a:xfrm>
            <a:off x="2697480" y="1115568"/>
            <a:ext cx="3108960" cy="228600"/>
          </a:xfrm>
          <a:prstGeom prst="rect">
            <a:avLst/>
          </a:prstGeom>
          <a:noFill/>
          <a:ln/>
        </p:spPr>
        <p:txBody>
          <a:bodyPr wrap="square" lIns="0" tIns="0" rIns="0" bIns="0" rtlCol="0" anchor="t"/>
          <a:lstStyle/>
          <a:p>
            <a:pPr marL="0" indent="0" algn="ctr">
              <a:buNone/>
            </a:pPr>
            <a:r>
              <a:rPr lang="en-US" sz="1100" b="1" dirty="0">
                <a:solidFill>
                  <a:srgbClr val="1B3A8C"/>
                </a:solidFill>
                <a:latin typeface="Calibri" pitchFamily="34" charset="0"/>
                <a:ea typeface="Calibri" pitchFamily="34" charset="-122"/>
                <a:cs typeface="Calibri" pitchFamily="34" charset="-120"/>
              </a:rPr>
              <a:t>Propriedades por porte</a:t>
            </a:r>
            <a:endParaRPr lang="en-US" sz="1100" dirty="0"/>
          </a:p>
        </p:txBody>
      </p:sp>
      <p:sp>
        <p:nvSpPr>
          <p:cNvPr id="20" name="Shape 17"/>
          <p:cNvSpPr/>
          <p:nvPr/>
        </p:nvSpPr>
        <p:spPr>
          <a:xfrm>
            <a:off x="3566160" y="1389888"/>
            <a:ext cx="1371600" cy="731520"/>
          </a:xfrm>
          <a:prstGeom prst="rect">
            <a:avLst/>
          </a:prstGeom>
          <a:solidFill>
            <a:srgbClr val="1B3A8C"/>
          </a:solidFill>
          <a:ln/>
        </p:spPr>
        <p:txBody>
          <a:bodyPr/>
          <a:lstStyle/>
          <a:p>
            <a:endParaRPr/>
          </a:p>
        </p:txBody>
      </p:sp>
      <p:sp>
        <p:nvSpPr>
          <p:cNvPr id="21" name="Text 18"/>
          <p:cNvSpPr/>
          <p:nvPr/>
        </p:nvSpPr>
        <p:spPr>
          <a:xfrm>
            <a:off x="3566160" y="1481328"/>
            <a:ext cx="1371600" cy="274320"/>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100 maiores</a:t>
            </a:r>
            <a:endParaRPr lang="en-US" sz="1200" dirty="0"/>
          </a:p>
        </p:txBody>
      </p:sp>
      <p:sp>
        <p:nvSpPr>
          <p:cNvPr id="22" name="Text 19"/>
          <p:cNvSpPr/>
          <p:nvPr/>
        </p:nvSpPr>
        <p:spPr>
          <a:xfrm>
            <a:off x="3566160" y="1773936"/>
            <a:ext cx="1371600" cy="256032"/>
          </a:xfrm>
          <a:prstGeom prst="rect">
            <a:avLst/>
          </a:prstGeom>
          <a:noFill/>
          <a:ln/>
        </p:spPr>
        <p:txBody>
          <a:bodyPr wrap="square" lIns="0" tIns="0" rIns="0" bIns="0" rtlCol="0" anchor="t"/>
          <a:lstStyle/>
          <a:p>
            <a:pPr marL="0" indent="0" algn="ctr">
              <a:buNone/>
            </a:pPr>
            <a:r>
              <a:rPr lang="en-US" sz="900" dirty="0">
                <a:solidFill>
                  <a:srgbClr val="FFFFFF"/>
                </a:solidFill>
                <a:latin typeface="Calibri" pitchFamily="34" charset="0"/>
                <a:ea typeface="Calibri" pitchFamily="34" charset="-122"/>
                <a:cs typeface="Calibri" pitchFamily="34" charset="-120"/>
              </a:rPr>
              <a:t>45% das cabeças</a:t>
            </a:r>
            <a:endParaRPr lang="en-US" sz="900" dirty="0"/>
          </a:p>
        </p:txBody>
      </p:sp>
      <p:sp>
        <p:nvSpPr>
          <p:cNvPr id="23" name="Shape 20"/>
          <p:cNvSpPr/>
          <p:nvPr/>
        </p:nvSpPr>
        <p:spPr>
          <a:xfrm>
            <a:off x="3108960" y="2176272"/>
            <a:ext cx="2286000" cy="731520"/>
          </a:xfrm>
          <a:prstGeom prst="rect">
            <a:avLst/>
          </a:prstGeom>
          <a:solidFill>
            <a:srgbClr val="26668F"/>
          </a:solidFill>
          <a:ln/>
        </p:spPr>
        <p:txBody>
          <a:bodyPr/>
          <a:lstStyle/>
          <a:p>
            <a:endParaRPr/>
          </a:p>
        </p:txBody>
      </p:sp>
      <p:sp>
        <p:nvSpPr>
          <p:cNvPr id="24" name="Text 21"/>
          <p:cNvSpPr/>
          <p:nvPr/>
        </p:nvSpPr>
        <p:spPr>
          <a:xfrm>
            <a:off x="3108960" y="2267712"/>
            <a:ext cx="2286000" cy="274320"/>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cerca de 1.200</a:t>
            </a:r>
            <a:endParaRPr lang="en-US" sz="1200" dirty="0"/>
          </a:p>
        </p:txBody>
      </p:sp>
      <p:sp>
        <p:nvSpPr>
          <p:cNvPr id="25" name="Text 22"/>
          <p:cNvSpPr/>
          <p:nvPr/>
        </p:nvSpPr>
        <p:spPr>
          <a:xfrm>
            <a:off x="3108960" y="2560320"/>
            <a:ext cx="2286000" cy="256032"/>
          </a:xfrm>
          <a:prstGeom prst="rect">
            <a:avLst/>
          </a:prstGeom>
          <a:noFill/>
          <a:ln/>
        </p:spPr>
        <p:txBody>
          <a:bodyPr wrap="square" lIns="0" tIns="0" rIns="0" bIns="0" rtlCol="0" anchor="t"/>
          <a:lstStyle/>
          <a:p>
            <a:pPr marL="0" indent="0" algn="ctr">
              <a:buNone/>
            </a:pPr>
            <a:r>
              <a:rPr lang="en-US" sz="900" dirty="0">
                <a:solidFill>
                  <a:srgbClr val="FFFFFF"/>
                </a:solidFill>
                <a:latin typeface="Calibri" pitchFamily="34" charset="0"/>
                <a:ea typeface="Calibri" pitchFamily="34" charset="-122"/>
                <a:cs typeface="Calibri" pitchFamily="34" charset="-120"/>
              </a:rPr>
              <a:t>1.000 cabeças ou mais</a:t>
            </a:r>
            <a:endParaRPr lang="en-US" sz="900" dirty="0"/>
          </a:p>
        </p:txBody>
      </p:sp>
      <p:sp>
        <p:nvSpPr>
          <p:cNvPr id="26" name="Shape 23"/>
          <p:cNvSpPr/>
          <p:nvPr/>
        </p:nvSpPr>
        <p:spPr>
          <a:xfrm>
            <a:off x="2697480" y="2962656"/>
            <a:ext cx="3108960" cy="731520"/>
          </a:xfrm>
          <a:prstGeom prst="rect">
            <a:avLst/>
          </a:prstGeom>
          <a:solidFill>
            <a:srgbClr val="C8106E"/>
          </a:solidFill>
          <a:ln/>
        </p:spPr>
        <p:txBody>
          <a:bodyPr/>
          <a:lstStyle/>
          <a:p>
            <a:endParaRPr/>
          </a:p>
        </p:txBody>
      </p:sp>
      <p:sp>
        <p:nvSpPr>
          <p:cNvPr id="27" name="Text 24"/>
          <p:cNvSpPr/>
          <p:nvPr/>
        </p:nvSpPr>
        <p:spPr>
          <a:xfrm>
            <a:off x="2697480" y="3054096"/>
            <a:ext cx="3108960" cy="274320"/>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1.131 propriedades</a:t>
            </a:r>
            <a:endParaRPr lang="en-US" sz="1200" dirty="0"/>
          </a:p>
        </p:txBody>
      </p:sp>
      <p:sp>
        <p:nvSpPr>
          <p:cNvPr id="28" name="Text 25"/>
          <p:cNvSpPr/>
          <p:nvPr/>
        </p:nvSpPr>
        <p:spPr>
          <a:xfrm>
            <a:off x="2697480" y="3346704"/>
            <a:ext cx="3108960" cy="256032"/>
          </a:xfrm>
          <a:prstGeom prst="rect">
            <a:avLst/>
          </a:prstGeom>
          <a:noFill/>
          <a:ln/>
        </p:spPr>
        <p:txBody>
          <a:bodyPr wrap="square" lIns="0" tIns="0" rIns="0" bIns="0" rtlCol="0" anchor="t"/>
          <a:lstStyle/>
          <a:p>
            <a:pPr marL="0" indent="0" algn="ctr">
              <a:buNone/>
            </a:pPr>
            <a:r>
              <a:rPr lang="en-US" sz="900" dirty="0">
                <a:solidFill>
                  <a:srgbClr val="FFFFFF"/>
                </a:solidFill>
                <a:latin typeface="Calibri" pitchFamily="34" charset="0"/>
                <a:ea typeface="Calibri" pitchFamily="34" charset="-122"/>
                <a:cs typeface="Calibri" pitchFamily="34" charset="-120"/>
              </a:rPr>
              <a:t>menos de 1.000 cabeças (46%)</a:t>
            </a:r>
            <a:endParaRPr lang="en-US" sz="900" dirty="0"/>
          </a:p>
        </p:txBody>
      </p:sp>
      <p:sp>
        <p:nvSpPr>
          <p:cNvPr id="29" name="Shape 26"/>
          <p:cNvSpPr/>
          <p:nvPr/>
        </p:nvSpPr>
        <p:spPr>
          <a:xfrm>
            <a:off x="2697480" y="3822192"/>
            <a:ext cx="3108960" cy="274320"/>
          </a:xfrm>
          <a:prstGeom prst="roundRect">
            <a:avLst>
              <a:gd name="adj" fmla="val 50000"/>
            </a:avLst>
          </a:prstGeom>
          <a:solidFill>
            <a:srgbClr val="C5D300"/>
          </a:solidFill>
          <a:ln/>
        </p:spPr>
        <p:txBody>
          <a:bodyPr/>
          <a:lstStyle/>
          <a:p>
            <a:endParaRPr/>
          </a:p>
        </p:txBody>
      </p:sp>
      <p:sp>
        <p:nvSpPr>
          <p:cNvPr id="30" name="Text 27"/>
          <p:cNvSpPr/>
          <p:nvPr/>
        </p:nvSpPr>
        <p:spPr>
          <a:xfrm>
            <a:off x="2697480" y="3822192"/>
            <a:ext cx="3108960" cy="274320"/>
          </a:xfrm>
          <a:prstGeom prst="rect">
            <a:avLst/>
          </a:prstGeom>
          <a:noFill/>
          <a:ln/>
        </p:spPr>
        <p:txBody>
          <a:bodyPr wrap="square" lIns="0" tIns="0" rIns="0" bIns="0" rtlCol="0" anchor="ctr"/>
          <a:lstStyle/>
          <a:p>
            <a:pPr marL="0" indent="0" algn="ctr">
              <a:buNone/>
            </a:pPr>
            <a:r>
              <a:rPr lang="en-US" sz="950" b="1" dirty="0">
                <a:solidFill>
                  <a:srgbClr val="1B3A8C"/>
                </a:solidFill>
                <a:latin typeface="Calibri" pitchFamily="34" charset="0"/>
                <a:ea typeface="Calibri" pitchFamily="34" charset="-122"/>
                <a:cs typeface="Calibri" pitchFamily="34" charset="-120"/>
              </a:rPr>
              <a:t>Faixa do TN Manager Web: 200 a 2.000 cabeças</a:t>
            </a:r>
            <a:endParaRPr lang="en-US" sz="950" dirty="0"/>
          </a:p>
        </p:txBody>
      </p:sp>
      <p:sp>
        <p:nvSpPr>
          <p:cNvPr id="31" name="Text 28"/>
          <p:cNvSpPr/>
          <p:nvPr/>
        </p:nvSpPr>
        <p:spPr>
          <a:xfrm>
            <a:off x="6035040" y="1115568"/>
            <a:ext cx="2743200" cy="228600"/>
          </a:xfrm>
          <a:prstGeom prst="rect">
            <a:avLst/>
          </a:prstGeom>
          <a:noFill/>
          <a:ln/>
        </p:spPr>
        <p:txBody>
          <a:bodyPr wrap="square" lIns="0" tIns="0" rIns="0" bIns="0" rtlCol="0" anchor="t"/>
          <a:lstStyle/>
          <a:p>
            <a:pPr marL="0" indent="0">
              <a:buNone/>
            </a:pPr>
            <a:r>
              <a:rPr lang="en-US" sz="1100" b="1" dirty="0">
                <a:solidFill>
                  <a:srgbClr val="1B3A8C"/>
                </a:solidFill>
                <a:latin typeface="Calibri" pitchFamily="34" charset="0"/>
                <a:ea typeface="Calibri" pitchFamily="34" charset="-122"/>
                <a:cs typeface="Calibri" pitchFamily="34" charset="-120"/>
              </a:rPr>
              <a:t>Cabeças confinadas por estado (milhões)</a:t>
            </a:r>
            <a:endParaRPr lang="en-US" sz="1100" dirty="0"/>
          </a:p>
        </p:txBody>
      </p:sp>
      <p:sp>
        <p:nvSpPr>
          <p:cNvPr id="32" name="Text 29"/>
          <p:cNvSpPr/>
          <p:nvPr/>
        </p:nvSpPr>
        <p:spPr>
          <a:xfrm>
            <a:off x="6035040" y="1417320"/>
            <a:ext cx="548640" cy="274320"/>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MT</a:t>
            </a:r>
            <a:endParaRPr lang="en-US" sz="1000" dirty="0"/>
          </a:p>
        </p:txBody>
      </p:sp>
      <p:sp>
        <p:nvSpPr>
          <p:cNvPr id="33" name="Shape 30"/>
          <p:cNvSpPr/>
          <p:nvPr/>
        </p:nvSpPr>
        <p:spPr>
          <a:xfrm>
            <a:off x="6583680" y="1444752"/>
            <a:ext cx="1470074" cy="219456"/>
          </a:xfrm>
          <a:prstGeom prst="rect">
            <a:avLst/>
          </a:prstGeom>
          <a:solidFill>
            <a:srgbClr val="C8106E"/>
          </a:solidFill>
          <a:ln/>
        </p:spPr>
        <p:txBody>
          <a:bodyPr/>
          <a:lstStyle/>
          <a:p>
            <a:endParaRPr/>
          </a:p>
        </p:txBody>
      </p:sp>
      <p:sp>
        <p:nvSpPr>
          <p:cNvPr id="34" name="Text 31"/>
          <p:cNvSpPr/>
          <p:nvPr/>
        </p:nvSpPr>
        <p:spPr>
          <a:xfrm>
            <a:off x="8099474" y="1417320"/>
            <a:ext cx="457200" cy="274320"/>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2,2</a:t>
            </a:r>
            <a:endParaRPr lang="en-US" sz="950" dirty="0"/>
          </a:p>
        </p:txBody>
      </p:sp>
      <p:sp>
        <p:nvSpPr>
          <p:cNvPr id="35" name="Text 32"/>
          <p:cNvSpPr/>
          <p:nvPr/>
        </p:nvSpPr>
        <p:spPr>
          <a:xfrm>
            <a:off x="6035040" y="1783080"/>
            <a:ext cx="548640" cy="274320"/>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SP</a:t>
            </a:r>
            <a:endParaRPr lang="en-US" sz="1000" dirty="0"/>
          </a:p>
        </p:txBody>
      </p:sp>
      <p:sp>
        <p:nvSpPr>
          <p:cNvPr id="36" name="Shape 33"/>
          <p:cNvSpPr/>
          <p:nvPr/>
        </p:nvSpPr>
        <p:spPr>
          <a:xfrm>
            <a:off x="6583680" y="1810512"/>
            <a:ext cx="935502" cy="219456"/>
          </a:xfrm>
          <a:prstGeom prst="rect">
            <a:avLst/>
          </a:prstGeom>
          <a:solidFill>
            <a:srgbClr val="1B3A8C"/>
          </a:solidFill>
          <a:ln/>
        </p:spPr>
        <p:txBody>
          <a:bodyPr/>
          <a:lstStyle/>
          <a:p>
            <a:endParaRPr/>
          </a:p>
        </p:txBody>
      </p:sp>
      <p:sp>
        <p:nvSpPr>
          <p:cNvPr id="37" name="Text 34"/>
          <p:cNvSpPr/>
          <p:nvPr/>
        </p:nvSpPr>
        <p:spPr>
          <a:xfrm>
            <a:off x="7564902" y="1783080"/>
            <a:ext cx="457200" cy="274320"/>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1,4</a:t>
            </a:r>
            <a:endParaRPr lang="en-US" sz="950" dirty="0"/>
          </a:p>
        </p:txBody>
      </p:sp>
      <p:sp>
        <p:nvSpPr>
          <p:cNvPr id="38" name="Text 35"/>
          <p:cNvSpPr/>
          <p:nvPr/>
        </p:nvSpPr>
        <p:spPr>
          <a:xfrm>
            <a:off x="6035040" y="2148840"/>
            <a:ext cx="548640" cy="274320"/>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GO</a:t>
            </a:r>
            <a:endParaRPr lang="en-US" sz="1000" dirty="0"/>
          </a:p>
        </p:txBody>
      </p:sp>
      <p:sp>
        <p:nvSpPr>
          <p:cNvPr id="39" name="Shape 36"/>
          <p:cNvSpPr/>
          <p:nvPr/>
        </p:nvSpPr>
        <p:spPr>
          <a:xfrm>
            <a:off x="6583680" y="2176272"/>
            <a:ext cx="935502" cy="219456"/>
          </a:xfrm>
          <a:prstGeom prst="rect">
            <a:avLst/>
          </a:prstGeom>
          <a:solidFill>
            <a:srgbClr val="1B3A8C"/>
          </a:solidFill>
          <a:ln/>
        </p:spPr>
        <p:txBody>
          <a:bodyPr/>
          <a:lstStyle/>
          <a:p>
            <a:endParaRPr/>
          </a:p>
        </p:txBody>
      </p:sp>
      <p:sp>
        <p:nvSpPr>
          <p:cNvPr id="40" name="Text 37"/>
          <p:cNvSpPr/>
          <p:nvPr/>
        </p:nvSpPr>
        <p:spPr>
          <a:xfrm>
            <a:off x="7564902" y="2148840"/>
            <a:ext cx="457200" cy="274320"/>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1,4</a:t>
            </a:r>
            <a:endParaRPr lang="en-US" sz="950" dirty="0"/>
          </a:p>
        </p:txBody>
      </p:sp>
      <p:sp>
        <p:nvSpPr>
          <p:cNvPr id="41" name="Text 38"/>
          <p:cNvSpPr/>
          <p:nvPr/>
        </p:nvSpPr>
        <p:spPr>
          <a:xfrm>
            <a:off x="6035040" y="2514600"/>
            <a:ext cx="548640" cy="274320"/>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MS</a:t>
            </a:r>
            <a:endParaRPr lang="en-US" sz="1000" dirty="0"/>
          </a:p>
        </p:txBody>
      </p:sp>
      <p:sp>
        <p:nvSpPr>
          <p:cNvPr id="42" name="Shape 39"/>
          <p:cNvSpPr/>
          <p:nvPr/>
        </p:nvSpPr>
        <p:spPr>
          <a:xfrm>
            <a:off x="6583680" y="2542032"/>
            <a:ext cx="601394" cy="219456"/>
          </a:xfrm>
          <a:prstGeom prst="rect">
            <a:avLst/>
          </a:prstGeom>
          <a:solidFill>
            <a:srgbClr val="1B3A8C"/>
          </a:solidFill>
          <a:ln/>
        </p:spPr>
        <p:txBody>
          <a:bodyPr/>
          <a:lstStyle/>
          <a:p>
            <a:endParaRPr/>
          </a:p>
        </p:txBody>
      </p:sp>
      <p:sp>
        <p:nvSpPr>
          <p:cNvPr id="43" name="Text 40"/>
          <p:cNvSpPr/>
          <p:nvPr/>
        </p:nvSpPr>
        <p:spPr>
          <a:xfrm>
            <a:off x="7230794" y="2514600"/>
            <a:ext cx="457200" cy="274320"/>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0,9</a:t>
            </a:r>
            <a:endParaRPr lang="en-US" sz="950" dirty="0"/>
          </a:p>
        </p:txBody>
      </p:sp>
      <p:sp>
        <p:nvSpPr>
          <p:cNvPr id="44" name="Text 41"/>
          <p:cNvSpPr/>
          <p:nvPr/>
        </p:nvSpPr>
        <p:spPr>
          <a:xfrm>
            <a:off x="6035040" y="2880360"/>
            <a:ext cx="548640" cy="274320"/>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MG</a:t>
            </a:r>
            <a:endParaRPr lang="en-US" sz="1000" dirty="0"/>
          </a:p>
        </p:txBody>
      </p:sp>
      <p:sp>
        <p:nvSpPr>
          <p:cNvPr id="45" name="Shape 42"/>
          <p:cNvSpPr/>
          <p:nvPr/>
        </p:nvSpPr>
        <p:spPr>
          <a:xfrm>
            <a:off x="6583680" y="2907792"/>
            <a:ext cx="534572" cy="219456"/>
          </a:xfrm>
          <a:prstGeom prst="rect">
            <a:avLst/>
          </a:prstGeom>
          <a:solidFill>
            <a:srgbClr val="1B3A8C"/>
          </a:solidFill>
          <a:ln/>
        </p:spPr>
        <p:txBody>
          <a:bodyPr/>
          <a:lstStyle/>
          <a:p>
            <a:endParaRPr/>
          </a:p>
        </p:txBody>
      </p:sp>
      <p:sp>
        <p:nvSpPr>
          <p:cNvPr id="46" name="Text 43"/>
          <p:cNvSpPr/>
          <p:nvPr/>
        </p:nvSpPr>
        <p:spPr>
          <a:xfrm>
            <a:off x="7163972" y="2880360"/>
            <a:ext cx="457200" cy="274320"/>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0,8</a:t>
            </a:r>
            <a:endParaRPr lang="en-US" sz="950" dirty="0"/>
          </a:p>
        </p:txBody>
      </p:sp>
      <p:sp>
        <p:nvSpPr>
          <p:cNvPr id="47" name="Text 44"/>
          <p:cNvSpPr/>
          <p:nvPr/>
        </p:nvSpPr>
        <p:spPr>
          <a:xfrm>
            <a:off x="6035040" y="3246120"/>
            <a:ext cx="548640" cy="274320"/>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Outros</a:t>
            </a:r>
            <a:endParaRPr lang="en-US" sz="1000" dirty="0"/>
          </a:p>
        </p:txBody>
      </p:sp>
      <p:sp>
        <p:nvSpPr>
          <p:cNvPr id="48" name="Shape 45"/>
          <p:cNvSpPr/>
          <p:nvPr/>
        </p:nvSpPr>
        <p:spPr>
          <a:xfrm>
            <a:off x="6583680" y="3273552"/>
            <a:ext cx="1703949" cy="219456"/>
          </a:xfrm>
          <a:prstGeom prst="rect">
            <a:avLst/>
          </a:prstGeom>
          <a:solidFill>
            <a:srgbClr val="0096B4"/>
          </a:solidFill>
          <a:ln/>
        </p:spPr>
        <p:txBody>
          <a:bodyPr/>
          <a:lstStyle/>
          <a:p>
            <a:endParaRPr/>
          </a:p>
        </p:txBody>
      </p:sp>
      <p:sp>
        <p:nvSpPr>
          <p:cNvPr id="49" name="Text 46"/>
          <p:cNvSpPr/>
          <p:nvPr/>
        </p:nvSpPr>
        <p:spPr>
          <a:xfrm>
            <a:off x="8333349" y="3246120"/>
            <a:ext cx="457200" cy="274320"/>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2,55</a:t>
            </a:r>
            <a:endParaRPr lang="en-US" sz="950" dirty="0"/>
          </a:p>
        </p:txBody>
      </p:sp>
      <p:sp>
        <p:nvSpPr>
          <p:cNvPr id="50" name="Text 47"/>
          <p:cNvSpPr/>
          <p:nvPr/>
        </p:nvSpPr>
        <p:spPr>
          <a:xfrm>
            <a:off x="6035040" y="3675888"/>
            <a:ext cx="2743200" cy="411480"/>
          </a:xfrm>
          <a:prstGeom prst="rect">
            <a:avLst/>
          </a:prstGeom>
          <a:noFill/>
          <a:ln/>
        </p:spPr>
        <p:txBody>
          <a:bodyPr wrap="square" lIns="0" tIns="0" rIns="0" bIns="0" rtlCol="0" anchor="t"/>
          <a:lstStyle/>
          <a:p>
            <a:pPr marL="0" indent="0">
              <a:buNone/>
            </a:pPr>
            <a:r>
              <a:rPr lang="en-US" sz="900" i="1" dirty="0">
                <a:solidFill>
                  <a:srgbClr val="4A5560"/>
                </a:solidFill>
                <a:latin typeface="Calibri" pitchFamily="34" charset="0"/>
                <a:ea typeface="Calibri" pitchFamily="34" charset="-122"/>
                <a:cs typeface="Calibri" pitchFamily="34" charset="-120"/>
              </a:rPr>
              <a:t>5 estados somam 72%. Centro-Oeste e o bioma Cerrado concentram a maior parte.</a:t>
            </a:r>
            <a:endParaRPr lang="en-US" sz="900" dirty="0"/>
          </a:p>
        </p:txBody>
      </p:sp>
      <p:sp>
        <p:nvSpPr>
          <p:cNvPr id="51" name="TextBox 50"/>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2  ·  PARA QUEM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Onde estão os confinadores: 2.796 em 24 estados</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Rondônia, São Paulo e Mato Grosso somam 65% da base.</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marL="0" indent="0">
              <a:buNone/>
            </a:pPr>
            <a:r>
              <a:rPr lang="en-US" sz="800" dirty="0">
                <a:solidFill>
                  <a:srgbClr val="7A858F"/>
                </a:solidFill>
                <a:latin typeface="Calibri" pitchFamily="34" charset="0"/>
                <a:ea typeface="Calibri" pitchFamily="34" charset="-122"/>
                <a:cs typeface="Calibri" pitchFamily="34" charset="-120"/>
              </a:rPr>
              <a:t>Fonte: base de confinadores, out/2025 a jan/2026. Mapa: @svg-maps/brazil (CC BY 4.0).</a:t>
            </a:r>
            <a:endParaRPr lang="en-US" sz="800" dirty="0"/>
          </a:p>
        </p:txBody>
      </p:sp>
      <p:pic>
        <p:nvPicPr>
          <p:cNvPr id="7" name="Image 1" descr="/tmp/claude-0/-home-user-projetos-rodrigo-agro/75ea8577-07ab-56ed-800f-dbd18240b1a3/scratchpad/build/mapa-brasil.png"/>
          <p:cNvPicPr>
            <a:picLocks noChangeAspect="1"/>
          </p:cNvPicPr>
          <p:nvPr/>
        </p:nvPicPr>
        <p:blipFill>
          <a:blip r:embed="rId4"/>
          <a:stretch>
            <a:fillRect/>
          </a:stretch>
        </p:blipFill>
        <p:spPr>
          <a:xfrm>
            <a:off x="411480" y="1005840"/>
            <a:ext cx="3520440" cy="3669757"/>
          </a:xfrm>
          <a:prstGeom prst="rect">
            <a:avLst/>
          </a:prstGeom>
        </p:spPr>
      </p:pic>
      <p:sp>
        <p:nvSpPr>
          <p:cNvPr id="8" name="Shape 4"/>
          <p:cNvSpPr/>
          <p:nvPr/>
        </p:nvSpPr>
        <p:spPr>
          <a:xfrm>
            <a:off x="1038724" y="2333070"/>
            <a:ext cx="749808" cy="246888"/>
          </a:xfrm>
          <a:prstGeom prst="roundRect">
            <a:avLst>
              <a:gd name="adj" fmla="val 18519"/>
            </a:avLst>
          </a:prstGeom>
          <a:solidFill>
            <a:srgbClr val="FFFFFF"/>
          </a:solidFill>
          <a:ln w="15875">
            <a:solidFill>
              <a:srgbClr val="D7263D"/>
            </a:solidFill>
            <a:prstDash val="solid"/>
          </a:ln>
        </p:spPr>
        <p:txBody>
          <a:bodyPr/>
          <a:lstStyle/>
          <a:p>
            <a:endParaRPr/>
          </a:p>
        </p:txBody>
      </p:sp>
      <p:sp>
        <p:nvSpPr>
          <p:cNvPr id="9" name="Text 5"/>
          <p:cNvSpPr/>
          <p:nvPr/>
        </p:nvSpPr>
        <p:spPr>
          <a:xfrm>
            <a:off x="1038724" y="2333070"/>
            <a:ext cx="749808" cy="246888"/>
          </a:xfrm>
          <a:prstGeom prst="rect">
            <a:avLst/>
          </a:prstGeom>
          <a:noFill/>
          <a:ln/>
        </p:spPr>
        <p:txBody>
          <a:bodyPr wrap="square" lIns="0" tIns="0" rIns="0" bIns="0" rtlCol="0" anchor="ctr"/>
          <a:lstStyle/>
          <a:p>
            <a:pPr marL="0" indent="0" algn="ctr">
              <a:buNone/>
            </a:pPr>
            <a:r>
              <a:rPr lang="en-US" sz="1200" b="1" dirty="0">
                <a:solidFill>
                  <a:srgbClr val="1B3A8C"/>
                </a:solidFill>
                <a:latin typeface="Calibri" pitchFamily="34" charset="0"/>
                <a:ea typeface="Calibri" pitchFamily="34" charset="-122"/>
                <a:cs typeface="Calibri" pitchFamily="34" charset="-120"/>
              </a:rPr>
              <a:t>RO </a:t>
            </a:r>
            <a:r>
              <a:rPr lang="en-US" sz="1200" b="1" dirty="0">
                <a:solidFill>
                  <a:srgbClr val="D7263D"/>
                </a:solidFill>
                <a:latin typeface="Calibri" pitchFamily="34" charset="0"/>
                <a:ea typeface="Calibri" pitchFamily="34" charset="-122"/>
                <a:cs typeface="Calibri" pitchFamily="34" charset="-120"/>
              </a:rPr>
              <a:t>1.022</a:t>
            </a:r>
            <a:endParaRPr lang="en-US" sz="1200" dirty="0"/>
          </a:p>
        </p:txBody>
      </p:sp>
      <p:sp>
        <p:nvSpPr>
          <p:cNvPr id="10" name="Shape 6"/>
          <p:cNvSpPr/>
          <p:nvPr/>
        </p:nvSpPr>
        <p:spPr>
          <a:xfrm>
            <a:off x="2416656" y="3401262"/>
            <a:ext cx="594360" cy="246888"/>
          </a:xfrm>
          <a:prstGeom prst="roundRect">
            <a:avLst>
              <a:gd name="adj" fmla="val 18519"/>
            </a:avLst>
          </a:prstGeom>
          <a:solidFill>
            <a:srgbClr val="FFFFFF"/>
          </a:solidFill>
          <a:ln w="15875">
            <a:solidFill>
              <a:srgbClr val="D7263D"/>
            </a:solidFill>
            <a:prstDash val="solid"/>
          </a:ln>
        </p:spPr>
        <p:txBody>
          <a:bodyPr/>
          <a:lstStyle/>
          <a:p>
            <a:endParaRPr/>
          </a:p>
        </p:txBody>
      </p:sp>
      <p:sp>
        <p:nvSpPr>
          <p:cNvPr id="11" name="Text 7"/>
          <p:cNvSpPr/>
          <p:nvPr/>
        </p:nvSpPr>
        <p:spPr>
          <a:xfrm>
            <a:off x="2416656" y="3401262"/>
            <a:ext cx="594360" cy="246888"/>
          </a:xfrm>
          <a:prstGeom prst="rect">
            <a:avLst/>
          </a:prstGeom>
          <a:noFill/>
          <a:ln/>
        </p:spPr>
        <p:txBody>
          <a:bodyPr wrap="square" lIns="0" tIns="0" rIns="0" bIns="0" rtlCol="0" anchor="ctr"/>
          <a:lstStyle/>
          <a:p>
            <a:pPr marL="0" indent="0" algn="ctr">
              <a:buNone/>
            </a:pPr>
            <a:r>
              <a:rPr lang="en-US" sz="1200" b="1" dirty="0">
                <a:solidFill>
                  <a:srgbClr val="1B3A8C"/>
                </a:solidFill>
                <a:latin typeface="Calibri" pitchFamily="34" charset="0"/>
                <a:ea typeface="Calibri" pitchFamily="34" charset="-122"/>
                <a:cs typeface="Calibri" pitchFamily="34" charset="-120"/>
              </a:rPr>
              <a:t>SP </a:t>
            </a:r>
            <a:r>
              <a:rPr lang="en-US" sz="1200" b="1" dirty="0">
                <a:solidFill>
                  <a:srgbClr val="D7263D"/>
                </a:solidFill>
                <a:latin typeface="Calibri" pitchFamily="34" charset="0"/>
                <a:ea typeface="Calibri" pitchFamily="34" charset="-122"/>
                <a:cs typeface="Calibri" pitchFamily="34" charset="-120"/>
              </a:rPr>
              <a:t>461</a:t>
            </a:r>
            <a:endParaRPr lang="en-US" sz="1200" dirty="0"/>
          </a:p>
        </p:txBody>
      </p:sp>
      <p:sp>
        <p:nvSpPr>
          <p:cNvPr id="12" name="Shape 8"/>
          <p:cNvSpPr/>
          <p:nvPr/>
        </p:nvSpPr>
        <p:spPr>
          <a:xfrm>
            <a:off x="1736689" y="2521439"/>
            <a:ext cx="594360" cy="246888"/>
          </a:xfrm>
          <a:prstGeom prst="roundRect">
            <a:avLst>
              <a:gd name="adj" fmla="val 18519"/>
            </a:avLst>
          </a:prstGeom>
          <a:solidFill>
            <a:srgbClr val="FFFFFF"/>
          </a:solidFill>
          <a:ln w="15875">
            <a:solidFill>
              <a:srgbClr val="D7263D"/>
            </a:solidFill>
            <a:prstDash val="solid"/>
          </a:ln>
        </p:spPr>
        <p:txBody>
          <a:bodyPr/>
          <a:lstStyle/>
          <a:p>
            <a:endParaRPr/>
          </a:p>
        </p:txBody>
      </p:sp>
      <p:sp>
        <p:nvSpPr>
          <p:cNvPr id="13" name="Text 9"/>
          <p:cNvSpPr/>
          <p:nvPr/>
        </p:nvSpPr>
        <p:spPr>
          <a:xfrm>
            <a:off x="1736689" y="2521439"/>
            <a:ext cx="594360" cy="246888"/>
          </a:xfrm>
          <a:prstGeom prst="rect">
            <a:avLst/>
          </a:prstGeom>
          <a:noFill/>
          <a:ln/>
        </p:spPr>
        <p:txBody>
          <a:bodyPr wrap="square" lIns="0" tIns="0" rIns="0" bIns="0" rtlCol="0" anchor="ctr"/>
          <a:lstStyle/>
          <a:p>
            <a:pPr marL="0" indent="0" algn="ctr">
              <a:buNone/>
            </a:pPr>
            <a:r>
              <a:rPr lang="en-US" sz="1200" b="1" dirty="0">
                <a:solidFill>
                  <a:srgbClr val="1B3A8C"/>
                </a:solidFill>
                <a:latin typeface="Calibri" pitchFamily="34" charset="0"/>
                <a:ea typeface="Calibri" pitchFamily="34" charset="-122"/>
                <a:cs typeface="Calibri" pitchFamily="34" charset="-120"/>
              </a:rPr>
              <a:t>MT </a:t>
            </a:r>
            <a:r>
              <a:rPr lang="en-US" sz="1200" b="1" dirty="0">
                <a:solidFill>
                  <a:srgbClr val="D7263D"/>
                </a:solidFill>
                <a:latin typeface="Calibri" pitchFamily="34" charset="0"/>
                <a:ea typeface="Calibri" pitchFamily="34" charset="-122"/>
                <a:cs typeface="Calibri" pitchFamily="34" charset="-120"/>
              </a:rPr>
              <a:t>341</a:t>
            </a:r>
            <a:endParaRPr lang="en-US" sz="1200" dirty="0"/>
          </a:p>
        </p:txBody>
      </p:sp>
      <p:sp>
        <p:nvSpPr>
          <p:cNvPr id="14" name="Shape 10"/>
          <p:cNvSpPr/>
          <p:nvPr/>
        </p:nvSpPr>
        <p:spPr>
          <a:xfrm>
            <a:off x="2831672" y="3013522"/>
            <a:ext cx="512064"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15" name="Text 11"/>
          <p:cNvSpPr/>
          <p:nvPr/>
        </p:nvSpPr>
        <p:spPr>
          <a:xfrm>
            <a:off x="2831672" y="3013522"/>
            <a:ext cx="512064"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MG </a:t>
            </a:r>
            <a:r>
              <a:rPr lang="en-US" sz="1000" b="1" dirty="0">
                <a:solidFill>
                  <a:srgbClr val="D7263D"/>
                </a:solidFill>
                <a:latin typeface="Calibri" pitchFamily="34" charset="0"/>
                <a:ea typeface="Calibri" pitchFamily="34" charset="-122"/>
                <a:cs typeface="Calibri" pitchFamily="34" charset="-120"/>
              </a:rPr>
              <a:t>200</a:t>
            </a:r>
            <a:endParaRPr lang="en-US" sz="1000" dirty="0"/>
          </a:p>
        </p:txBody>
      </p:sp>
      <p:sp>
        <p:nvSpPr>
          <p:cNvPr id="16" name="Shape 12"/>
          <p:cNvSpPr/>
          <p:nvPr/>
        </p:nvSpPr>
        <p:spPr>
          <a:xfrm>
            <a:off x="1875467" y="3224864"/>
            <a:ext cx="512064"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17" name="Text 13"/>
          <p:cNvSpPr/>
          <p:nvPr/>
        </p:nvSpPr>
        <p:spPr>
          <a:xfrm>
            <a:off x="1875467" y="3224864"/>
            <a:ext cx="512064"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MS </a:t>
            </a:r>
            <a:r>
              <a:rPr lang="en-US" sz="1000" b="1" dirty="0">
                <a:solidFill>
                  <a:srgbClr val="D7263D"/>
                </a:solidFill>
                <a:latin typeface="Calibri" pitchFamily="34" charset="0"/>
                <a:ea typeface="Calibri" pitchFamily="34" charset="-122"/>
                <a:cs typeface="Calibri" pitchFamily="34" charset="-120"/>
              </a:rPr>
              <a:t>161</a:t>
            </a:r>
            <a:endParaRPr lang="en-US" sz="1000" dirty="0"/>
          </a:p>
        </p:txBody>
      </p:sp>
      <p:sp>
        <p:nvSpPr>
          <p:cNvPr id="18" name="Shape 14"/>
          <p:cNvSpPr/>
          <p:nvPr/>
        </p:nvSpPr>
        <p:spPr>
          <a:xfrm>
            <a:off x="3086085" y="2494358"/>
            <a:ext cx="512064"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19" name="Text 15"/>
          <p:cNvSpPr/>
          <p:nvPr/>
        </p:nvSpPr>
        <p:spPr>
          <a:xfrm>
            <a:off x="3086085" y="2494358"/>
            <a:ext cx="512064"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BA </a:t>
            </a:r>
            <a:r>
              <a:rPr lang="en-US" sz="1000" b="1" dirty="0">
                <a:solidFill>
                  <a:srgbClr val="D7263D"/>
                </a:solidFill>
                <a:latin typeface="Calibri" pitchFamily="34" charset="0"/>
                <a:ea typeface="Calibri" pitchFamily="34" charset="-122"/>
                <a:cs typeface="Calibri" pitchFamily="34" charset="-120"/>
              </a:rPr>
              <a:t>117</a:t>
            </a:r>
            <a:endParaRPr lang="en-US" sz="1000" dirty="0"/>
          </a:p>
        </p:txBody>
      </p:sp>
      <p:sp>
        <p:nvSpPr>
          <p:cNvPr id="20" name="Shape 16"/>
          <p:cNvSpPr/>
          <p:nvPr/>
        </p:nvSpPr>
        <p:spPr>
          <a:xfrm>
            <a:off x="2195194" y="3638357"/>
            <a:ext cx="448056"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21" name="Text 17"/>
          <p:cNvSpPr/>
          <p:nvPr/>
        </p:nvSpPr>
        <p:spPr>
          <a:xfrm>
            <a:off x="2195194" y="3638357"/>
            <a:ext cx="448056"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PR </a:t>
            </a:r>
            <a:r>
              <a:rPr lang="en-US" sz="1000" b="1" dirty="0">
                <a:solidFill>
                  <a:srgbClr val="D7263D"/>
                </a:solidFill>
                <a:latin typeface="Calibri" pitchFamily="34" charset="0"/>
                <a:ea typeface="Calibri" pitchFamily="34" charset="-122"/>
                <a:cs typeface="Calibri" pitchFamily="34" charset="-120"/>
              </a:rPr>
              <a:t>94</a:t>
            </a:r>
            <a:endParaRPr lang="en-US" sz="1000" dirty="0"/>
          </a:p>
        </p:txBody>
      </p:sp>
      <p:sp>
        <p:nvSpPr>
          <p:cNvPr id="22" name="Shape 18"/>
          <p:cNvSpPr/>
          <p:nvPr/>
        </p:nvSpPr>
        <p:spPr>
          <a:xfrm>
            <a:off x="2319242" y="2875691"/>
            <a:ext cx="448056"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23" name="Text 19"/>
          <p:cNvSpPr/>
          <p:nvPr/>
        </p:nvSpPr>
        <p:spPr>
          <a:xfrm>
            <a:off x="2319242" y="2875691"/>
            <a:ext cx="448056"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GO </a:t>
            </a:r>
            <a:r>
              <a:rPr lang="en-US" sz="1000" b="1" dirty="0">
                <a:solidFill>
                  <a:srgbClr val="D7263D"/>
                </a:solidFill>
                <a:latin typeface="Calibri" pitchFamily="34" charset="0"/>
                <a:ea typeface="Calibri" pitchFamily="34" charset="-122"/>
                <a:cs typeface="Calibri" pitchFamily="34" charset="-120"/>
              </a:rPr>
              <a:t>93</a:t>
            </a:r>
            <a:endParaRPr lang="en-US" sz="1000" dirty="0"/>
          </a:p>
        </p:txBody>
      </p:sp>
      <p:sp>
        <p:nvSpPr>
          <p:cNvPr id="24" name="Shape 20"/>
          <p:cNvSpPr/>
          <p:nvPr/>
        </p:nvSpPr>
        <p:spPr>
          <a:xfrm>
            <a:off x="505038" y="2204338"/>
            <a:ext cx="448056"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25" name="Text 21"/>
          <p:cNvSpPr/>
          <p:nvPr/>
        </p:nvSpPr>
        <p:spPr>
          <a:xfrm>
            <a:off x="505038" y="2204338"/>
            <a:ext cx="448056"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AC </a:t>
            </a:r>
            <a:r>
              <a:rPr lang="en-US" sz="1000" b="1" dirty="0">
                <a:solidFill>
                  <a:srgbClr val="D7263D"/>
                </a:solidFill>
                <a:latin typeface="Calibri" pitchFamily="34" charset="0"/>
                <a:ea typeface="Calibri" pitchFamily="34" charset="-122"/>
                <a:cs typeface="Calibri" pitchFamily="34" charset="-120"/>
              </a:rPr>
              <a:t>78</a:t>
            </a:r>
            <a:endParaRPr lang="en-US" sz="1000" dirty="0"/>
          </a:p>
        </p:txBody>
      </p:sp>
      <p:sp>
        <p:nvSpPr>
          <p:cNvPr id="26" name="Shape 22"/>
          <p:cNvSpPr/>
          <p:nvPr/>
        </p:nvSpPr>
        <p:spPr>
          <a:xfrm>
            <a:off x="2047600" y="1804053"/>
            <a:ext cx="448056"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27" name="Text 23"/>
          <p:cNvSpPr/>
          <p:nvPr/>
        </p:nvSpPr>
        <p:spPr>
          <a:xfrm>
            <a:off x="2047600" y="1804053"/>
            <a:ext cx="448056"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PA </a:t>
            </a:r>
            <a:r>
              <a:rPr lang="en-US" sz="1000" b="1" dirty="0">
                <a:solidFill>
                  <a:srgbClr val="D7263D"/>
                </a:solidFill>
                <a:latin typeface="Calibri" pitchFamily="34" charset="0"/>
                <a:ea typeface="Calibri" pitchFamily="34" charset="-122"/>
                <a:cs typeface="Calibri" pitchFamily="34" charset="-120"/>
              </a:rPr>
              <a:t>77</a:t>
            </a:r>
            <a:endParaRPr lang="en-US" sz="1000" dirty="0"/>
          </a:p>
        </p:txBody>
      </p:sp>
      <p:sp>
        <p:nvSpPr>
          <p:cNvPr id="28" name="Shape 24"/>
          <p:cNvSpPr/>
          <p:nvPr/>
        </p:nvSpPr>
        <p:spPr>
          <a:xfrm>
            <a:off x="1021331" y="1804053"/>
            <a:ext cx="448056"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29" name="Text 25"/>
          <p:cNvSpPr/>
          <p:nvPr/>
        </p:nvSpPr>
        <p:spPr>
          <a:xfrm>
            <a:off x="1021331" y="1804053"/>
            <a:ext cx="448056"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AM </a:t>
            </a:r>
            <a:r>
              <a:rPr lang="en-US" sz="1000" b="1" dirty="0">
                <a:solidFill>
                  <a:srgbClr val="D7263D"/>
                </a:solidFill>
                <a:latin typeface="Calibri" pitchFamily="34" charset="0"/>
                <a:ea typeface="Calibri" pitchFamily="34" charset="-122"/>
                <a:cs typeface="Calibri" pitchFamily="34" charset="-120"/>
              </a:rPr>
              <a:t>34</a:t>
            </a:r>
            <a:endParaRPr lang="en-US" sz="1000" dirty="0"/>
          </a:p>
        </p:txBody>
      </p:sp>
      <p:sp>
        <p:nvSpPr>
          <p:cNvPr id="30" name="Shape 26"/>
          <p:cNvSpPr/>
          <p:nvPr/>
        </p:nvSpPr>
        <p:spPr>
          <a:xfrm>
            <a:off x="2490957" y="2279571"/>
            <a:ext cx="448056"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31" name="Text 27"/>
          <p:cNvSpPr/>
          <p:nvPr/>
        </p:nvSpPr>
        <p:spPr>
          <a:xfrm>
            <a:off x="2490957" y="2279571"/>
            <a:ext cx="448056"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TO </a:t>
            </a:r>
            <a:r>
              <a:rPr lang="en-US" sz="1000" b="1" dirty="0">
                <a:solidFill>
                  <a:srgbClr val="D7263D"/>
                </a:solidFill>
                <a:latin typeface="Calibri" pitchFamily="34" charset="0"/>
                <a:ea typeface="Calibri" pitchFamily="34" charset="-122"/>
                <a:cs typeface="Calibri" pitchFamily="34" charset="-120"/>
              </a:rPr>
              <a:t>34</a:t>
            </a:r>
            <a:endParaRPr lang="en-US" sz="1000" dirty="0"/>
          </a:p>
        </p:txBody>
      </p:sp>
      <p:sp>
        <p:nvSpPr>
          <p:cNvPr id="32" name="Shape 28"/>
          <p:cNvSpPr/>
          <p:nvPr/>
        </p:nvSpPr>
        <p:spPr>
          <a:xfrm>
            <a:off x="2295696" y="3897365"/>
            <a:ext cx="448056"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33" name="Text 29"/>
          <p:cNvSpPr/>
          <p:nvPr/>
        </p:nvSpPr>
        <p:spPr>
          <a:xfrm>
            <a:off x="2295696" y="3897365"/>
            <a:ext cx="448056"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SC </a:t>
            </a:r>
            <a:r>
              <a:rPr lang="en-US" sz="1000" b="1" dirty="0">
                <a:solidFill>
                  <a:srgbClr val="D7263D"/>
                </a:solidFill>
                <a:latin typeface="Calibri" pitchFamily="34" charset="0"/>
                <a:ea typeface="Calibri" pitchFamily="34" charset="-122"/>
                <a:cs typeface="Calibri" pitchFamily="34" charset="-120"/>
              </a:rPr>
              <a:t>18</a:t>
            </a:r>
            <a:endParaRPr lang="en-US" sz="1000" dirty="0"/>
          </a:p>
        </p:txBody>
      </p:sp>
      <p:sp>
        <p:nvSpPr>
          <p:cNvPr id="34" name="Shape 30"/>
          <p:cNvSpPr/>
          <p:nvPr/>
        </p:nvSpPr>
        <p:spPr>
          <a:xfrm>
            <a:off x="2120953" y="4151779"/>
            <a:ext cx="384048"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35" name="Text 31"/>
          <p:cNvSpPr/>
          <p:nvPr/>
        </p:nvSpPr>
        <p:spPr>
          <a:xfrm>
            <a:off x="2120953" y="4151779"/>
            <a:ext cx="384048"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RS </a:t>
            </a:r>
            <a:r>
              <a:rPr lang="en-US" sz="1000" b="1" dirty="0">
                <a:solidFill>
                  <a:srgbClr val="D7263D"/>
                </a:solidFill>
                <a:latin typeface="Calibri" pitchFamily="34" charset="0"/>
                <a:ea typeface="Calibri" pitchFamily="34" charset="-122"/>
                <a:cs typeface="Calibri" pitchFamily="34" charset="-120"/>
              </a:rPr>
              <a:t>8</a:t>
            </a:r>
            <a:endParaRPr lang="en-US" sz="1000" dirty="0"/>
          </a:p>
        </p:txBody>
      </p:sp>
      <p:sp>
        <p:nvSpPr>
          <p:cNvPr id="36" name="Shape 32"/>
          <p:cNvSpPr/>
          <p:nvPr/>
        </p:nvSpPr>
        <p:spPr>
          <a:xfrm>
            <a:off x="1350821" y="1187832"/>
            <a:ext cx="384048"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37" name="Text 33"/>
          <p:cNvSpPr/>
          <p:nvPr/>
        </p:nvSpPr>
        <p:spPr>
          <a:xfrm>
            <a:off x="1350821" y="1187832"/>
            <a:ext cx="384048"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RR </a:t>
            </a:r>
            <a:r>
              <a:rPr lang="en-US" sz="1000" b="1" dirty="0">
                <a:solidFill>
                  <a:srgbClr val="D7263D"/>
                </a:solidFill>
                <a:latin typeface="Calibri" pitchFamily="34" charset="0"/>
                <a:ea typeface="Calibri" pitchFamily="34" charset="-122"/>
                <a:cs typeface="Calibri" pitchFamily="34" charset="-120"/>
              </a:rPr>
              <a:t>8</a:t>
            </a:r>
            <a:endParaRPr lang="en-US" sz="1000" dirty="0"/>
          </a:p>
        </p:txBody>
      </p:sp>
      <p:sp>
        <p:nvSpPr>
          <p:cNvPr id="38" name="Shape 34"/>
          <p:cNvSpPr/>
          <p:nvPr/>
        </p:nvSpPr>
        <p:spPr>
          <a:xfrm>
            <a:off x="2736599" y="1850571"/>
            <a:ext cx="384048"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39" name="Text 35"/>
          <p:cNvSpPr/>
          <p:nvPr/>
        </p:nvSpPr>
        <p:spPr>
          <a:xfrm>
            <a:off x="2736599" y="1850571"/>
            <a:ext cx="384048"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MA </a:t>
            </a:r>
            <a:r>
              <a:rPr lang="en-US" sz="1000" b="1" dirty="0">
                <a:solidFill>
                  <a:srgbClr val="D7263D"/>
                </a:solidFill>
                <a:latin typeface="Calibri" pitchFamily="34" charset="0"/>
                <a:ea typeface="Calibri" pitchFamily="34" charset="-122"/>
                <a:cs typeface="Calibri" pitchFamily="34" charset="-120"/>
              </a:rPr>
              <a:t>1</a:t>
            </a:r>
            <a:endParaRPr lang="en-US" sz="1000" dirty="0"/>
          </a:p>
        </p:txBody>
      </p:sp>
      <p:sp>
        <p:nvSpPr>
          <p:cNvPr id="40" name="Shape 36"/>
          <p:cNvSpPr/>
          <p:nvPr/>
        </p:nvSpPr>
        <p:spPr>
          <a:xfrm>
            <a:off x="2979527" y="2067655"/>
            <a:ext cx="384048"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41" name="Text 37"/>
          <p:cNvSpPr/>
          <p:nvPr/>
        </p:nvSpPr>
        <p:spPr>
          <a:xfrm>
            <a:off x="2979527" y="2067655"/>
            <a:ext cx="384048"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PI </a:t>
            </a:r>
            <a:r>
              <a:rPr lang="en-US" sz="1000" b="1" dirty="0">
                <a:solidFill>
                  <a:srgbClr val="D7263D"/>
                </a:solidFill>
                <a:latin typeface="Calibri" pitchFamily="34" charset="0"/>
                <a:ea typeface="Calibri" pitchFamily="34" charset="-122"/>
                <a:cs typeface="Calibri" pitchFamily="34" charset="-120"/>
              </a:rPr>
              <a:t>3</a:t>
            </a:r>
            <a:endParaRPr lang="en-US" sz="1000" dirty="0"/>
          </a:p>
        </p:txBody>
      </p:sp>
      <p:sp>
        <p:nvSpPr>
          <p:cNvPr id="42" name="Shape 38"/>
          <p:cNvSpPr/>
          <p:nvPr/>
        </p:nvSpPr>
        <p:spPr>
          <a:xfrm>
            <a:off x="3758482" y="1998799"/>
            <a:ext cx="283166" cy="914"/>
          </a:xfrm>
          <a:prstGeom prst="line">
            <a:avLst/>
          </a:prstGeom>
          <a:noFill/>
          <a:ln w="9525">
            <a:solidFill>
              <a:srgbClr val="8A939C"/>
            </a:solidFill>
            <a:prstDash val="solid"/>
          </a:ln>
        </p:spPr>
        <p:txBody>
          <a:bodyPr/>
          <a:lstStyle/>
          <a:p>
            <a:endParaRPr/>
          </a:p>
        </p:txBody>
      </p:sp>
      <p:sp>
        <p:nvSpPr>
          <p:cNvPr id="43" name="Shape 39"/>
          <p:cNvSpPr/>
          <p:nvPr/>
        </p:nvSpPr>
        <p:spPr>
          <a:xfrm>
            <a:off x="3731050" y="1971367"/>
            <a:ext cx="54864" cy="54864"/>
          </a:xfrm>
          <a:prstGeom prst="ellipse">
            <a:avLst/>
          </a:prstGeom>
          <a:solidFill>
            <a:srgbClr val="D7263D"/>
          </a:solidFill>
          <a:ln/>
        </p:spPr>
        <p:txBody>
          <a:bodyPr/>
          <a:lstStyle/>
          <a:p>
            <a:endParaRPr/>
          </a:p>
        </p:txBody>
      </p:sp>
      <p:sp>
        <p:nvSpPr>
          <p:cNvPr id="44" name="Shape 40"/>
          <p:cNvSpPr/>
          <p:nvPr/>
        </p:nvSpPr>
        <p:spPr>
          <a:xfrm>
            <a:off x="4101084" y="1893643"/>
            <a:ext cx="448056"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45" name="Text 41"/>
          <p:cNvSpPr/>
          <p:nvPr/>
        </p:nvSpPr>
        <p:spPr>
          <a:xfrm>
            <a:off x="4101084" y="1893643"/>
            <a:ext cx="448056"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RN </a:t>
            </a:r>
            <a:r>
              <a:rPr lang="en-US" sz="1000" b="1" dirty="0">
                <a:solidFill>
                  <a:srgbClr val="D7263D"/>
                </a:solidFill>
                <a:latin typeface="Calibri" pitchFamily="34" charset="0"/>
                <a:ea typeface="Calibri" pitchFamily="34" charset="-122"/>
                <a:cs typeface="Calibri" pitchFamily="34" charset="-120"/>
              </a:rPr>
              <a:t>11</a:t>
            </a:r>
            <a:endParaRPr lang="en-US" sz="1000" dirty="0"/>
          </a:p>
        </p:txBody>
      </p:sp>
      <p:sp>
        <p:nvSpPr>
          <p:cNvPr id="46" name="Shape 42"/>
          <p:cNvSpPr/>
          <p:nvPr/>
        </p:nvSpPr>
        <p:spPr>
          <a:xfrm>
            <a:off x="3641326" y="2221627"/>
            <a:ext cx="400322" cy="33205"/>
          </a:xfrm>
          <a:prstGeom prst="line">
            <a:avLst/>
          </a:prstGeom>
          <a:noFill/>
          <a:ln w="9525">
            <a:solidFill>
              <a:srgbClr val="8A939C"/>
            </a:solidFill>
            <a:prstDash val="solid"/>
          </a:ln>
        </p:spPr>
        <p:txBody>
          <a:bodyPr/>
          <a:lstStyle/>
          <a:p>
            <a:endParaRPr/>
          </a:p>
        </p:txBody>
      </p:sp>
      <p:sp>
        <p:nvSpPr>
          <p:cNvPr id="47" name="Shape 43"/>
          <p:cNvSpPr/>
          <p:nvPr/>
        </p:nvSpPr>
        <p:spPr>
          <a:xfrm>
            <a:off x="3613894" y="2194195"/>
            <a:ext cx="54864" cy="54864"/>
          </a:xfrm>
          <a:prstGeom prst="ellipse">
            <a:avLst/>
          </a:prstGeom>
          <a:solidFill>
            <a:srgbClr val="D7263D"/>
          </a:solidFill>
          <a:ln/>
        </p:spPr>
        <p:txBody>
          <a:bodyPr/>
          <a:lstStyle/>
          <a:p>
            <a:endParaRPr/>
          </a:p>
        </p:txBody>
      </p:sp>
      <p:sp>
        <p:nvSpPr>
          <p:cNvPr id="48" name="Shape 44"/>
          <p:cNvSpPr/>
          <p:nvPr/>
        </p:nvSpPr>
        <p:spPr>
          <a:xfrm>
            <a:off x="4133088" y="2149675"/>
            <a:ext cx="384048"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49" name="Text 45"/>
          <p:cNvSpPr/>
          <p:nvPr/>
        </p:nvSpPr>
        <p:spPr>
          <a:xfrm>
            <a:off x="4133088" y="2149675"/>
            <a:ext cx="384048"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PE </a:t>
            </a:r>
            <a:r>
              <a:rPr lang="en-US" sz="1000" b="1" dirty="0">
                <a:solidFill>
                  <a:srgbClr val="D7263D"/>
                </a:solidFill>
                <a:latin typeface="Calibri" pitchFamily="34" charset="0"/>
                <a:ea typeface="Calibri" pitchFamily="34" charset="-122"/>
                <a:cs typeface="Calibri" pitchFamily="34" charset="-120"/>
              </a:rPr>
              <a:t>3</a:t>
            </a:r>
            <a:endParaRPr lang="en-US" sz="1000" dirty="0"/>
          </a:p>
        </p:txBody>
      </p:sp>
      <p:sp>
        <p:nvSpPr>
          <p:cNvPr id="50" name="Shape 46"/>
          <p:cNvSpPr/>
          <p:nvPr/>
        </p:nvSpPr>
        <p:spPr>
          <a:xfrm>
            <a:off x="3763077" y="2328446"/>
            <a:ext cx="278571" cy="182418"/>
          </a:xfrm>
          <a:prstGeom prst="line">
            <a:avLst/>
          </a:prstGeom>
          <a:noFill/>
          <a:ln w="9525">
            <a:solidFill>
              <a:srgbClr val="8A939C"/>
            </a:solidFill>
            <a:prstDash val="solid"/>
          </a:ln>
        </p:spPr>
        <p:txBody>
          <a:bodyPr/>
          <a:lstStyle/>
          <a:p>
            <a:endParaRPr/>
          </a:p>
        </p:txBody>
      </p:sp>
      <p:sp>
        <p:nvSpPr>
          <p:cNvPr id="51" name="Shape 47"/>
          <p:cNvSpPr/>
          <p:nvPr/>
        </p:nvSpPr>
        <p:spPr>
          <a:xfrm>
            <a:off x="3735645" y="2301014"/>
            <a:ext cx="54864" cy="54864"/>
          </a:xfrm>
          <a:prstGeom prst="ellipse">
            <a:avLst/>
          </a:prstGeom>
          <a:solidFill>
            <a:srgbClr val="D7263D"/>
          </a:solidFill>
          <a:ln/>
        </p:spPr>
        <p:txBody>
          <a:bodyPr/>
          <a:lstStyle/>
          <a:p>
            <a:endParaRPr/>
          </a:p>
        </p:txBody>
      </p:sp>
      <p:sp>
        <p:nvSpPr>
          <p:cNvPr id="52" name="Shape 48"/>
          <p:cNvSpPr/>
          <p:nvPr/>
        </p:nvSpPr>
        <p:spPr>
          <a:xfrm>
            <a:off x="4133088" y="2405707"/>
            <a:ext cx="384048"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53" name="Text 49"/>
          <p:cNvSpPr/>
          <p:nvPr/>
        </p:nvSpPr>
        <p:spPr>
          <a:xfrm>
            <a:off x="4133088" y="2405707"/>
            <a:ext cx="384048"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AL </a:t>
            </a:r>
            <a:r>
              <a:rPr lang="en-US" sz="1000" b="1" dirty="0">
                <a:solidFill>
                  <a:srgbClr val="D7263D"/>
                </a:solidFill>
                <a:latin typeface="Calibri" pitchFamily="34" charset="0"/>
                <a:ea typeface="Calibri" pitchFamily="34" charset="-122"/>
                <a:cs typeface="Calibri" pitchFamily="34" charset="-120"/>
              </a:rPr>
              <a:t>3</a:t>
            </a:r>
            <a:endParaRPr lang="en-US" sz="1000" dirty="0"/>
          </a:p>
        </p:txBody>
      </p:sp>
      <p:sp>
        <p:nvSpPr>
          <p:cNvPr id="54" name="Shape 50"/>
          <p:cNvSpPr/>
          <p:nvPr/>
        </p:nvSpPr>
        <p:spPr>
          <a:xfrm>
            <a:off x="3689567" y="2424928"/>
            <a:ext cx="352081" cy="341968"/>
          </a:xfrm>
          <a:prstGeom prst="line">
            <a:avLst/>
          </a:prstGeom>
          <a:noFill/>
          <a:ln w="9525">
            <a:solidFill>
              <a:srgbClr val="8A939C"/>
            </a:solidFill>
            <a:prstDash val="solid"/>
          </a:ln>
        </p:spPr>
        <p:txBody>
          <a:bodyPr/>
          <a:lstStyle/>
          <a:p>
            <a:endParaRPr/>
          </a:p>
        </p:txBody>
      </p:sp>
      <p:sp>
        <p:nvSpPr>
          <p:cNvPr id="55" name="Shape 51"/>
          <p:cNvSpPr/>
          <p:nvPr/>
        </p:nvSpPr>
        <p:spPr>
          <a:xfrm>
            <a:off x="3662135" y="2397496"/>
            <a:ext cx="54864" cy="54864"/>
          </a:xfrm>
          <a:prstGeom prst="ellipse">
            <a:avLst/>
          </a:prstGeom>
          <a:solidFill>
            <a:srgbClr val="D7263D"/>
          </a:solidFill>
          <a:ln/>
        </p:spPr>
        <p:txBody>
          <a:bodyPr/>
          <a:lstStyle/>
          <a:p>
            <a:endParaRPr/>
          </a:p>
        </p:txBody>
      </p:sp>
      <p:sp>
        <p:nvSpPr>
          <p:cNvPr id="56" name="Shape 52"/>
          <p:cNvSpPr/>
          <p:nvPr/>
        </p:nvSpPr>
        <p:spPr>
          <a:xfrm>
            <a:off x="4133088" y="2661739"/>
            <a:ext cx="384048"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57" name="Text 53"/>
          <p:cNvSpPr/>
          <p:nvPr/>
        </p:nvSpPr>
        <p:spPr>
          <a:xfrm>
            <a:off x="4133088" y="2661739"/>
            <a:ext cx="384048"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SE </a:t>
            </a:r>
            <a:r>
              <a:rPr lang="en-US" sz="1000" b="1" dirty="0">
                <a:solidFill>
                  <a:srgbClr val="D7263D"/>
                </a:solidFill>
                <a:latin typeface="Calibri" pitchFamily="34" charset="0"/>
                <a:ea typeface="Calibri" pitchFamily="34" charset="-122"/>
                <a:cs typeface="Calibri" pitchFamily="34" charset="-120"/>
              </a:rPr>
              <a:t>5</a:t>
            </a:r>
            <a:endParaRPr lang="en-US" sz="1000" dirty="0"/>
          </a:p>
        </p:txBody>
      </p:sp>
      <p:sp>
        <p:nvSpPr>
          <p:cNvPr id="58" name="Shape 54"/>
          <p:cNvSpPr/>
          <p:nvPr/>
        </p:nvSpPr>
        <p:spPr>
          <a:xfrm>
            <a:off x="2762652" y="2899871"/>
            <a:ext cx="1278996" cy="123056"/>
          </a:xfrm>
          <a:prstGeom prst="line">
            <a:avLst/>
          </a:prstGeom>
          <a:noFill/>
          <a:ln w="9525">
            <a:solidFill>
              <a:srgbClr val="8A939C"/>
            </a:solidFill>
            <a:prstDash val="solid"/>
          </a:ln>
        </p:spPr>
        <p:txBody>
          <a:bodyPr/>
          <a:lstStyle/>
          <a:p>
            <a:endParaRPr/>
          </a:p>
        </p:txBody>
      </p:sp>
      <p:sp>
        <p:nvSpPr>
          <p:cNvPr id="59" name="Shape 55"/>
          <p:cNvSpPr/>
          <p:nvPr/>
        </p:nvSpPr>
        <p:spPr>
          <a:xfrm>
            <a:off x="2735220" y="2872439"/>
            <a:ext cx="54864" cy="54864"/>
          </a:xfrm>
          <a:prstGeom prst="ellipse">
            <a:avLst/>
          </a:prstGeom>
          <a:solidFill>
            <a:srgbClr val="D7263D"/>
          </a:solidFill>
          <a:ln/>
        </p:spPr>
        <p:txBody>
          <a:bodyPr/>
          <a:lstStyle/>
          <a:p>
            <a:endParaRPr/>
          </a:p>
        </p:txBody>
      </p:sp>
      <p:sp>
        <p:nvSpPr>
          <p:cNvPr id="60" name="Shape 56"/>
          <p:cNvSpPr/>
          <p:nvPr/>
        </p:nvSpPr>
        <p:spPr>
          <a:xfrm>
            <a:off x="4133088" y="2917771"/>
            <a:ext cx="384048"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61" name="Text 57"/>
          <p:cNvSpPr/>
          <p:nvPr/>
        </p:nvSpPr>
        <p:spPr>
          <a:xfrm>
            <a:off x="4133088" y="2917771"/>
            <a:ext cx="384048"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DF </a:t>
            </a:r>
            <a:r>
              <a:rPr lang="en-US" sz="1000" b="1" dirty="0">
                <a:solidFill>
                  <a:srgbClr val="D7263D"/>
                </a:solidFill>
                <a:latin typeface="Calibri" pitchFamily="34" charset="0"/>
                <a:ea typeface="Calibri" pitchFamily="34" charset="-122"/>
                <a:cs typeface="Calibri" pitchFamily="34" charset="-120"/>
              </a:rPr>
              <a:t>4</a:t>
            </a:r>
            <a:endParaRPr lang="en-US" sz="1000" dirty="0"/>
          </a:p>
        </p:txBody>
      </p:sp>
      <p:sp>
        <p:nvSpPr>
          <p:cNvPr id="62" name="Shape 58"/>
          <p:cNvSpPr/>
          <p:nvPr/>
        </p:nvSpPr>
        <p:spPr>
          <a:xfrm>
            <a:off x="3400695" y="3255935"/>
            <a:ext cx="640953" cy="23024"/>
          </a:xfrm>
          <a:prstGeom prst="line">
            <a:avLst/>
          </a:prstGeom>
          <a:noFill/>
          <a:ln w="9525">
            <a:solidFill>
              <a:srgbClr val="8A939C"/>
            </a:solidFill>
            <a:prstDash val="solid"/>
          </a:ln>
        </p:spPr>
        <p:txBody>
          <a:bodyPr/>
          <a:lstStyle/>
          <a:p>
            <a:endParaRPr/>
          </a:p>
        </p:txBody>
      </p:sp>
      <p:sp>
        <p:nvSpPr>
          <p:cNvPr id="63" name="Shape 59"/>
          <p:cNvSpPr/>
          <p:nvPr/>
        </p:nvSpPr>
        <p:spPr>
          <a:xfrm>
            <a:off x="3373263" y="3228503"/>
            <a:ext cx="54864" cy="54864"/>
          </a:xfrm>
          <a:prstGeom prst="ellipse">
            <a:avLst/>
          </a:prstGeom>
          <a:solidFill>
            <a:srgbClr val="D7263D"/>
          </a:solidFill>
          <a:ln/>
        </p:spPr>
        <p:txBody>
          <a:bodyPr/>
          <a:lstStyle/>
          <a:p>
            <a:endParaRPr/>
          </a:p>
        </p:txBody>
      </p:sp>
      <p:sp>
        <p:nvSpPr>
          <p:cNvPr id="64" name="Shape 60"/>
          <p:cNvSpPr/>
          <p:nvPr/>
        </p:nvSpPr>
        <p:spPr>
          <a:xfrm>
            <a:off x="4101084" y="3173803"/>
            <a:ext cx="448056"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65" name="Text 61"/>
          <p:cNvSpPr/>
          <p:nvPr/>
        </p:nvSpPr>
        <p:spPr>
          <a:xfrm>
            <a:off x="4101084" y="3173803"/>
            <a:ext cx="448056"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ES </a:t>
            </a:r>
            <a:r>
              <a:rPr lang="en-US" sz="1000" b="1" dirty="0">
                <a:solidFill>
                  <a:srgbClr val="D7263D"/>
                </a:solidFill>
                <a:latin typeface="Calibri" pitchFamily="34" charset="0"/>
                <a:ea typeface="Calibri" pitchFamily="34" charset="-122"/>
                <a:cs typeface="Calibri" pitchFamily="34" charset="-120"/>
              </a:rPr>
              <a:t>13</a:t>
            </a:r>
            <a:endParaRPr lang="en-US" sz="1000" dirty="0"/>
          </a:p>
        </p:txBody>
      </p:sp>
      <p:sp>
        <p:nvSpPr>
          <p:cNvPr id="66" name="Shape 62"/>
          <p:cNvSpPr/>
          <p:nvPr/>
        </p:nvSpPr>
        <p:spPr>
          <a:xfrm>
            <a:off x="3222663" y="3505180"/>
            <a:ext cx="818985" cy="29811"/>
          </a:xfrm>
          <a:prstGeom prst="line">
            <a:avLst/>
          </a:prstGeom>
          <a:noFill/>
          <a:ln w="9525">
            <a:solidFill>
              <a:srgbClr val="8A939C"/>
            </a:solidFill>
            <a:prstDash val="solid"/>
          </a:ln>
        </p:spPr>
        <p:txBody>
          <a:bodyPr/>
          <a:lstStyle/>
          <a:p>
            <a:endParaRPr/>
          </a:p>
        </p:txBody>
      </p:sp>
      <p:sp>
        <p:nvSpPr>
          <p:cNvPr id="67" name="Shape 63"/>
          <p:cNvSpPr/>
          <p:nvPr/>
        </p:nvSpPr>
        <p:spPr>
          <a:xfrm>
            <a:off x="3195231" y="3477748"/>
            <a:ext cx="54864" cy="54864"/>
          </a:xfrm>
          <a:prstGeom prst="ellipse">
            <a:avLst/>
          </a:prstGeom>
          <a:solidFill>
            <a:srgbClr val="D7263D"/>
          </a:solidFill>
          <a:ln/>
        </p:spPr>
        <p:txBody>
          <a:bodyPr/>
          <a:lstStyle/>
          <a:p>
            <a:endParaRPr/>
          </a:p>
        </p:txBody>
      </p:sp>
      <p:sp>
        <p:nvSpPr>
          <p:cNvPr id="68" name="Shape 64"/>
          <p:cNvSpPr/>
          <p:nvPr/>
        </p:nvSpPr>
        <p:spPr>
          <a:xfrm>
            <a:off x="4133088" y="3429835"/>
            <a:ext cx="384048"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69" name="Text 65"/>
          <p:cNvSpPr/>
          <p:nvPr/>
        </p:nvSpPr>
        <p:spPr>
          <a:xfrm>
            <a:off x="4133088" y="3429835"/>
            <a:ext cx="384048"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RJ </a:t>
            </a:r>
            <a:r>
              <a:rPr lang="en-US" sz="1000" b="1" dirty="0">
                <a:solidFill>
                  <a:srgbClr val="D7263D"/>
                </a:solidFill>
                <a:latin typeface="Calibri" pitchFamily="34" charset="0"/>
                <a:ea typeface="Calibri" pitchFamily="34" charset="-122"/>
                <a:cs typeface="Calibri" pitchFamily="34" charset="-120"/>
              </a:rPr>
              <a:t>8</a:t>
            </a:r>
            <a:endParaRPr lang="en-US" sz="1000" dirty="0"/>
          </a:p>
        </p:txBody>
      </p:sp>
      <p:sp>
        <p:nvSpPr>
          <p:cNvPr id="70" name="Shape 66"/>
          <p:cNvSpPr/>
          <p:nvPr/>
        </p:nvSpPr>
        <p:spPr>
          <a:xfrm>
            <a:off x="411480" y="3840480"/>
            <a:ext cx="219456" cy="118872"/>
          </a:xfrm>
          <a:prstGeom prst="rect">
            <a:avLst/>
          </a:prstGeom>
          <a:solidFill>
            <a:srgbClr val="1B3A8C"/>
          </a:solidFill>
          <a:ln/>
        </p:spPr>
        <p:txBody>
          <a:bodyPr/>
          <a:lstStyle/>
          <a:p>
            <a:endParaRPr/>
          </a:p>
        </p:txBody>
      </p:sp>
      <p:sp>
        <p:nvSpPr>
          <p:cNvPr id="71" name="Text 67"/>
          <p:cNvSpPr/>
          <p:nvPr/>
        </p:nvSpPr>
        <p:spPr>
          <a:xfrm>
            <a:off x="685800" y="3813048"/>
            <a:ext cx="914400" cy="164592"/>
          </a:xfrm>
          <a:prstGeom prst="rect">
            <a:avLst/>
          </a:prstGeom>
          <a:noFill/>
          <a:ln/>
        </p:spPr>
        <p:txBody>
          <a:bodyPr wrap="square" lIns="0" tIns="0" rIns="0" bIns="0" rtlCol="0" anchor="ctr"/>
          <a:lstStyle/>
          <a:p>
            <a:pPr marL="0" indent="0">
              <a:buNone/>
            </a:pPr>
            <a:r>
              <a:rPr lang="en-US" sz="800" dirty="0">
                <a:solidFill>
                  <a:srgbClr val="4A5560"/>
                </a:solidFill>
                <a:latin typeface="Calibri" pitchFamily="34" charset="0"/>
                <a:ea typeface="Calibri" pitchFamily="34" charset="-122"/>
                <a:cs typeface="Calibri" pitchFamily="34" charset="-120"/>
              </a:rPr>
              <a:t>mais de 300</a:t>
            </a:r>
            <a:endParaRPr lang="en-US" sz="800" dirty="0"/>
          </a:p>
        </p:txBody>
      </p:sp>
      <p:sp>
        <p:nvSpPr>
          <p:cNvPr id="72" name="Shape 68"/>
          <p:cNvSpPr/>
          <p:nvPr/>
        </p:nvSpPr>
        <p:spPr>
          <a:xfrm>
            <a:off x="411480" y="3995928"/>
            <a:ext cx="219456" cy="118872"/>
          </a:xfrm>
          <a:prstGeom prst="rect">
            <a:avLst/>
          </a:prstGeom>
          <a:solidFill>
            <a:srgbClr val="4A79BF"/>
          </a:solidFill>
          <a:ln/>
        </p:spPr>
        <p:txBody>
          <a:bodyPr/>
          <a:lstStyle/>
          <a:p>
            <a:endParaRPr/>
          </a:p>
        </p:txBody>
      </p:sp>
      <p:sp>
        <p:nvSpPr>
          <p:cNvPr id="73" name="Text 69"/>
          <p:cNvSpPr/>
          <p:nvPr/>
        </p:nvSpPr>
        <p:spPr>
          <a:xfrm>
            <a:off x="685800" y="3968496"/>
            <a:ext cx="914400" cy="164592"/>
          </a:xfrm>
          <a:prstGeom prst="rect">
            <a:avLst/>
          </a:prstGeom>
          <a:noFill/>
          <a:ln/>
        </p:spPr>
        <p:txBody>
          <a:bodyPr wrap="square" lIns="0" tIns="0" rIns="0" bIns="0" rtlCol="0" anchor="ctr"/>
          <a:lstStyle/>
          <a:p>
            <a:pPr marL="0" indent="0">
              <a:buNone/>
            </a:pPr>
            <a:r>
              <a:rPr lang="en-US" sz="800" dirty="0">
                <a:solidFill>
                  <a:srgbClr val="4A5560"/>
                </a:solidFill>
                <a:latin typeface="Calibri" pitchFamily="34" charset="0"/>
                <a:ea typeface="Calibri" pitchFamily="34" charset="-122"/>
                <a:cs typeface="Calibri" pitchFamily="34" charset="-120"/>
              </a:rPr>
              <a:t>101 a 300</a:t>
            </a:r>
            <a:endParaRPr lang="en-US" sz="800" dirty="0"/>
          </a:p>
        </p:txBody>
      </p:sp>
      <p:sp>
        <p:nvSpPr>
          <p:cNvPr id="74" name="Shape 70"/>
          <p:cNvSpPr/>
          <p:nvPr/>
        </p:nvSpPr>
        <p:spPr>
          <a:xfrm>
            <a:off x="411480" y="4151376"/>
            <a:ext cx="219456" cy="118872"/>
          </a:xfrm>
          <a:prstGeom prst="rect">
            <a:avLst/>
          </a:prstGeom>
          <a:solidFill>
            <a:srgbClr val="9DBBDF"/>
          </a:solidFill>
          <a:ln/>
        </p:spPr>
        <p:txBody>
          <a:bodyPr/>
          <a:lstStyle/>
          <a:p>
            <a:endParaRPr/>
          </a:p>
        </p:txBody>
      </p:sp>
      <p:sp>
        <p:nvSpPr>
          <p:cNvPr id="75" name="Text 71"/>
          <p:cNvSpPr/>
          <p:nvPr/>
        </p:nvSpPr>
        <p:spPr>
          <a:xfrm>
            <a:off x="685800" y="4123944"/>
            <a:ext cx="914400" cy="164592"/>
          </a:xfrm>
          <a:prstGeom prst="rect">
            <a:avLst/>
          </a:prstGeom>
          <a:noFill/>
          <a:ln/>
        </p:spPr>
        <p:txBody>
          <a:bodyPr wrap="square" lIns="0" tIns="0" rIns="0" bIns="0" rtlCol="0" anchor="ctr"/>
          <a:lstStyle/>
          <a:p>
            <a:pPr marL="0" indent="0">
              <a:buNone/>
            </a:pPr>
            <a:r>
              <a:rPr lang="en-US" sz="800" dirty="0">
                <a:solidFill>
                  <a:srgbClr val="4A5560"/>
                </a:solidFill>
                <a:latin typeface="Calibri" pitchFamily="34" charset="0"/>
                <a:ea typeface="Calibri" pitchFamily="34" charset="-122"/>
                <a:cs typeface="Calibri" pitchFamily="34" charset="-120"/>
              </a:rPr>
              <a:t>21 a 100</a:t>
            </a:r>
            <a:endParaRPr lang="en-US" sz="800" dirty="0"/>
          </a:p>
        </p:txBody>
      </p:sp>
      <p:sp>
        <p:nvSpPr>
          <p:cNvPr id="76" name="Shape 72"/>
          <p:cNvSpPr/>
          <p:nvPr/>
        </p:nvSpPr>
        <p:spPr>
          <a:xfrm>
            <a:off x="411480" y="4306824"/>
            <a:ext cx="219456" cy="118872"/>
          </a:xfrm>
          <a:prstGeom prst="rect">
            <a:avLst/>
          </a:prstGeom>
          <a:solidFill>
            <a:srgbClr val="DCE7F3"/>
          </a:solidFill>
          <a:ln/>
        </p:spPr>
        <p:txBody>
          <a:bodyPr/>
          <a:lstStyle/>
          <a:p>
            <a:endParaRPr/>
          </a:p>
        </p:txBody>
      </p:sp>
      <p:sp>
        <p:nvSpPr>
          <p:cNvPr id="77" name="Text 73"/>
          <p:cNvSpPr/>
          <p:nvPr/>
        </p:nvSpPr>
        <p:spPr>
          <a:xfrm>
            <a:off x="685800" y="4279392"/>
            <a:ext cx="914400" cy="164592"/>
          </a:xfrm>
          <a:prstGeom prst="rect">
            <a:avLst/>
          </a:prstGeom>
          <a:noFill/>
          <a:ln/>
        </p:spPr>
        <p:txBody>
          <a:bodyPr wrap="square" lIns="0" tIns="0" rIns="0" bIns="0" rtlCol="0" anchor="ctr"/>
          <a:lstStyle/>
          <a:p>
            <a:pPr marL="0" indent="0">
              <a:buNone/>
            </a:pPr>
            <a:r>
              <a:rPr lang="en-US" sz="800" dirty="0">
                <a:solidFill>
                  <a:srgbClr val="4A5560"/>
                </a:solidFill>
                <a:latin typeface="Calibri" pitchFamily="34" charset="0"/>
                <a:ea typeface="Calibri" pitchFamily="34" charset="-122"/>
                <a:cs typeface="Calibri" pitchFamily="34" charset="-120"/>
              </a:rPr>
              <a:t>1 a 20</a:t>
            </a:r>
            <a:endParaRPr lang="en-US" sz="800" dirty="0"/>
          </a:p>
        </p:txBody>
      </p:sp>
      <p:sp>
        <p:nvSpPr>
          <p:cNvPr id="78" name="Shape 74"/>
          <p:cNvSpPr/>
          <p:nvPr/>
        </p:nvSpPr>
        <p:spPr>
          <a:xfrm>
            <a:off x="411480" y="4462272"/>
            <a:ext cx="219456" cy="118872"/>
          </a:xfrm>
          <a:prstGeom prst="rect">
            <a:avLst/>
          </a:prstGeom>
          <a:solidFill>
            <a:srgbClr val="EEF0F3"/>
          </a:solidFill>
          <a:ln/>
        </p:spPr>
        <p:txBody>
          <a:bodyPr/>
          <a:lstStyle/>
          <a:p>
            <a:endParaRPr/>
          </a:p>
        </p:txBody>
      </p:sp>
      <p:sp>
        <p:nvSpPr>
          <p:cNvPr id="79" name="Text 75"/>
          <p:cNvSpPr/>
          <p:nvPr/>
        </p:nvSpPr>
        <p:spPr>
          <a:xfrm>
            <a:off x="685800" y="4434840"/>
            <a:ext cx="914400" cy="164592"/>
          </a:xfrm>
          <a:prstGeom prst="rect">
            <a:avLst/>
          </a:prstGeom>
          <a:noFill/>
          <a:ln/>
        </p:spPr>
        <p:txBody>
          <a:bodyPr wrap="square" lIns="0" tIns="0" rIns="0" bIns="0" rtlCol="0" anchor="ctr"/>
          <a:lstStyle/>
          <a:p>
            <a:pPr marL="0" indent="0">
              <a:buNone/>
            </a:pPr>
            <a:r>
              <a:rPr lang="en-US" sz="800" dirty="0">
                <a:solidFill>
                  <a:srgbClr val="4A5560"/>
                </a:solidFill>
                <a:latin typeface="Calibri" pitchFamily="34" charset="0"/>
                <a:ea typeface="Calibri" pitchFamily="34" charset="-122"/>
                <a:cs typeface="Calibri" pitchFamily="34" charset="-120"/>
              </a:rPr>
              <a:t>sem dado</a:t>
            </a:r>
            <a:endParaRPr lang="en-US" sz="800" dirty="0"/>
          </a:p>
        </p:txBody>
      </p:sp>
      <p:sp>
        <p:nvSpPr>
          <p:cNvPr id="80" name="Shape 76"/>
          <p:cNvSpPr/>
          <p:nvPr/>
        </p:nvSpPr>
        <p:spPr>
          <a:xfrm>
            <a:off x="4846320" y="1097280"/>
            <a:ext cx="3840480" cy="658368"/>
          </a:xfrm>
          <a:prstGeom prst="rect">
            <a:avLst/>
          </a:prstGeom>
          <a:solidFill>
            <a:srgbClr val="1B3A8C"/>
          </a:solidFill>
          <a:ln/>
        </p:spPr>
        <p:txBody>
          <a:bodyPr/>
          <a:lstStyle/>
          <a:p>
            <a:endParaRPr/>
          </a:p>
        </p:txBody>
      </p:sp>
      <p:sp>
        <p:nvSpPr>
          <p:cNvPr id="81" name="Text 77"/>
          <p:cNvSpPr/>
          <p:nvPr/>
        </p:nvSpPr>
        <p:spPr>
          <a:xfrm>
            <a:off x="4983480" y="1097280"/>
            <a:ext cx="1463040" cy="65836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2.796</a:t>
            </a:r>
            <a:endParaRPr lang="en-US" sz="3000" dirty="0"/>
          </a:p>
        </p:txBody>
      </p:sp>
      <p:sp>
        <p:nvSpPr>
          <p:cNvPr id="82" name="Text 78"/>
          <p:cNvSpPr/>
          <p:nvPr/>
        </p:nvSpPr>
        <p:spPr>
          <a:xfrm>
            <a:off x="6446520" y="1097280"/>
            <a:ext cx="2148840" cy="6583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confinadores mapeados em 24 estados</a:t>
            </a:r>
            <a:endParaRPr lang="en-US" sz="1100" dirty="0"/>
          </a:p>
        </p:txBody>
      </p:sp>
      <p:sp>
        <p:nvSpPr>
          <p:cNvPr id="83" name="Text 79"/>
          <p:cNvSpPr/>
          <p:nvPr/>
        </p:nvSpPr>
        <p:spPr>
          <a:xfrm>
            <a:off x="4846320" y="1847088"/>
            <a:ext cx="2286000" cy="201168"/>
          </a:xfrm>
          <a:prstGeom prst="rect">
            <a:avLst/>
          </a:prstGeom>
          <a:noFill/>
          <a:ln/>
        </p:spPr>
        <p:txBody>
          <a:bodyPr wrap="square" lIns="0" tIns="0" rIns="0" bIns="0" rtlCol="0" anchor="t"/>
          <a:lstStyle/>
          <a:p>
            <a:pPr marL="0" indent="0">
              <a:buNone/>
            </a:pPr>
            <a:r>
              <a:rPr lang="en-US" sz="1000" b="1" dirty="0">
                <a:solidFill>
                  <a:srgbClr val="1B3A8C"/>
                </a:solidFill>
                <a:latin typeface="Calibri" pitchFamily="34" charset="0"/>
                <a:ea typeface="Calibri" pitchFamily="34" charset="-122"/>
                <a:cs typeface="Calibri" pitchFamily="34" charset="-120"/>
              </a:rPr>
              <a:t>Maiores estados</a:t>
            </a:r>
            <a:endParaRPr lang="en-US" sz="1000" dirty="0"/>
          </a:p>
        </p:txBody>
      </p:sp>
      <p:sp>
        <p:nvSpPr>
          <p:cNvPr id="84" name="Text 80"/>
          <p:cNvSpPr/>
          <p:nvPr/>
        </p:nvSpPr>
        <p:spPr>
          <a:xfrm>
            <a:off x="4846320" y="2084832"/>
            <a:ext cx="731520" cy="201168"/>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RO</a:t>
            </a:r>
            <a:endParaRPr lang="en-US" sz="950" dirty="0"/>
          </a:p>
        </p:txBody>
      </p:sp>
      <p:sp>
        <p:nvSpPr>
          <p:cNvPr id="85" name="Shape 81"/>
          <p:cNvSpPr/>
          <p:nvPr/>
        </p:nvSpPr>
        <p:spPr>
          <a:xfrm>
            <a:off x="5577840" y="2112264"/>
            <a:ext cx="2194560" cy="146304"/>
          </a:xfrm>
          <a:prstGeom prst="rect">
            <a:avLst/>
          </a:prstGeom>
          <a:solidFill>
            <a:srgbClr val="1B3A8C"/>
          </a:solidFill>
          <a:ln/>
        </p:spPr>
        <p:txBody>
          <a:bodyPr/>
          <a:lstStyle/>
          <a:p>
            <a:endParaRPr/>
          </a:p>
        </p:txBody>
      </p:sp>
      <p:sp>
        <p:nvSpPr>
          <p:cNvPr id="86" name="Text 82"/>
          <p:cNvSpPr/>
          <p:nvPr/>
        </p:nvSpPr>
        <p:spPr>
          <a:xfrm>
            <a:off x="7818120" y="2084832"/>
            <a:ext cx="548640" cy="201168"/>
          </a:xfrm>
          <a:prstGeom prst="rect">
            <a:avLst/>
          </a:prstGeom>
          <a:noFill/>
          <a:ln/>
        </p:spPr>
        <p:txBody>
          <a:bodyPr wrap="square" lIns="0" tIns="0" rIns="0" bIns="0" rtlCol="0" anchor="ctr"/>
          <a:lstStyle/>
          <a:p>
            <a:pPr marL="0" indent="0">
              <a:buNone/>
            </a:pPr>
            <a:r>
              <a:rPr lang="en-US" sz="950" b="1" dirty="0">
                <a:solidFill>
                  <a:srgbClr val="D7263D"/>
                </a:solidFill>
                <a:latin typeface="Calibri" pitchFamily="34" charset="0"/>
                <a:ea typeface="Calibri" pitchFamily="34" charset="-122"/>
                <a:cs typeface="Calibri" pitchFamily="34" charset="-120"/>
              </a:rPr>
              <a:t>1.022</a:t>
            </a:r>
            <a:endParaRPr lang="en-US" sz="950" dirty="0"/>
          </a:p>
        </p:txBody>
      </p:sp>
      <p:sp>
        <p:nvSpPr>
          <p:cNvPr id="87" name="Text 83"/>
          <p:cNvSpPr/>
          <p:nvPr/>
        </p:nvSpPr>
        <p:spPr>
          <a:xfrm>
            <a:off x="4846320" y="2313432"/>
            <a:ext cx="731520" cy="201168"/>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SP</a:t>
            </a:r>
            <a:endParaRPr lang="en-US" sz="950" dirty="0"/>
          </a:p>
        </p:txBody>
      </p:sp>
      <p:sp>
        <p:nvSpPr>
          <p:cNvPr id="88" name="Shape 84"/>
          <p:cNvSpPr/>
          <p:nvPr/>
        </p:nvSpPr>
        <p:spPr>
          <a:xfrm>
            <a:off x="5577840" y="2340864"/>
            <a:ext cx="989914" cy="146304"/>
          </a:xfrm>
          <a:prstGeom prst="rect">
            <a:avLst/>
          </a:prstGeom>
          <a:solidFill>
            <a:srgbClr val="1B3A8C"/>
          </a:solidFill>
          <a:ln/>
        </p:spPr>
        <p:txBody>
          <a:bodyPr/>
          <a:lstStyle/>
          <a:p>
            <a:endParaRPr/>
          </a:p>
        </p:txBody>
      </p:sp>
      <p:sp>
        <p:nvSpPr>
          <p:cNvPr id="89" name="Text 85"/>
          <p:cNvSpPr/>
          <p:nvPr/>
        </p:nvSpPr>
        <p:spPr>
          <a:xfrm>
            <a:off x="6613474" y="2313432"/>
            <a:ext cx="548640" cy="201168"/>
          </a:xfrm>
          <a:prstGeom prst="rect">
            <a:avLst/>
          </a:prstGeom>
          <a:noFill/>
          <a:ln/>
        </p:spPr>
        <p:txBody>
          <a:bodyPr wrap="square" lIns="0" tIns="0" rIns="0" bIns="0" rtlCol="0" anchor="ctr"/>
          <a:lstStyle/>
          <a:p>
            <a:pPr marL="0" indent="0">
              <a:buNone/>
            </a:pPr>
            <a:r>
              <a:rPr lang="en-US" sz="950" b="1" dirty="0">
                <a:solidFill>
                  <a:srgbClr val="D7263D"/>
                </a:solidFill>
                <a:latin typeface="Calibri" pitchFamily="34" charset="0"/>
                <a:ea typeface="Calibri" pitchFamily="34" charset="-122"/>
                <a:cs typeface="Calibri" pitchFamily="34" charset="-120"/>
              </a:rPr>
              <a:t>461</a:t>
            </a:r>
            <a:endParaRPr lang="en-US" sz="950" dirty="0"/>
          </a:p>
        </p:txBody>
      </p:sp>
      <p:sp>
        <p:nvSpPr>
          <p:cNvPr id="90" name="Text 86"/>
          <p:cNvSpPr/>
          <p:nvPr/>
        </p:nvSpPr>
        <p:spPr>
          <a:xfrm>
            <a:off x="4846320" y="2542032"/>
            <a:ext cx="731520" cy="201168"/>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MT</a:t>
            </a:r>
            <a:endParaRPr lang="en-US" sz="950" dirty="0"/>
          </a:p>
        </p:txBody>
      </p:sp>
      <p:sp>
        <p:nvSpPr>
          <p:cNvPr id="91" name="Shape 87"/>
          <p:cNvSpPr/>
          <p:nvPr/>
        </p:nvSpPr>
        <p:spPr>
          <a:xfrm>
            <a:off x="5577840" y="2569464"/>
            <a:ext cx="732236" cy="146304"/>
          </a:xfrm>
          <a:prstGeom prst="rect">
            <a:avLst/>
          </a:prstGeom>
          <a:solidFill>
            <a:srgbClr val="1B3A8C"/>
          </a:solidFill>
          <a:ln/>
        </p:spPr>
        <p:txBody>
          <a:bodyPr/>
          <a:lstStyle/>
          <a:p>
            <a:endParaRPr/>
          </a:p>
        </p:txBody>
      </p:sp>
      <p:sp>
        <p:nvSpPr>
          <p:cNvPr id="92" name="Text 88"/>
          <p:cNvSpPr/>
          <p:nvPr/>
        </p:nvSpPr>
        <p:spPr>
          <a:xfrm>
            <a:off x="6355796" y="2542032"/>
            <a:ext cx="548640" cy="201168"/>
          </a:xfrm>
          <a:prstGeom prst="rect">
            <a:avLst/>
          </a:prstGeom>
          <a:noFill/>
          <a:ln/>
        </p:spPr>
        <p:txBody>
          <a:bodyPr wrap="square" lIns="0" tIns="0" rIns="0" bIns="0" rtlCol="0" anchor="ctr"/>
          <a:lstStyle/>
          <a:p>
            <a:pPr marL="0" indent="0">
              <a:buNone/>
            </a:pPr>
            <a:r>
              <a:rPr lang="en-US" sz="950" b="1" dirty="0">
                <a:solidFill>
                  <a:srgbClr val="D7263D"/>
                </a:solidFill>
                <a:latin typeface="Calibri" pitchFamily="34" charset="0"/>
                <a:ea typeface="Calibri" pitchFamily="34" charset="-122"/>
                <a:cs typeface="Calibri" pitchFamily="34" charset="-120"/>
              </a:rPr>
              <a:t>341</a:t>
            </a:r>
            <a:endParaRPr lang="en-US" sz="950" dirty="0"/>
          </a:p>
        </p:txBody>
      </p:sp>
      <p:sp>
        <p:nvSpPr>
          <p:cNvPr id="93" name="Text 89"/>
          <p:cNvSpPr/>
          <p:nvPr/>
        </p:nvSpPr>
        <p:spPr>
          <a:xfrm>
            <a:off x="4846320" y="2770632"/>
            <a:ext cx="731520" cy="201168"/>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MG</a:t>
            </a:r>
            <a:endParaRPr lang="en-US" sz="950" dirty="0"/>
          </a:p>
        </p:txBody>
      </p:sp>
      <p:sp>
        <p:nvSpPr>
          <p:cNvPr id="94" name="Shape 90"/>
          <p:cNvSpPr/>
          <p:nvPr/>
        </p:nvSpPr>
        <p:spPr>
          <a:xfrm>
            <a:off x="5577840" y="2798064"/>
            <a:ext cx="429464" cy="146304"/>
          </a:xfrm>
          <a:prstGeom prst="rect">
            <a:avLst/>
          </a:prstGeom>
          <a:solidFill>
            <a:srgbClr val="4A79BF"/>
          </a:solidFill>
          <a:ln/>
        </p:spPr>
        <p:txBody>
          <a:bodyPr/>
          <a:lstStyle/>
          <a:p>
            <a:endParaRPr/>
          </a:p>
        </p:txBody>
      </p:sp>
      <p:sp>
        <p:nvSpPr>
          <p:cNvPr id="95" name="Text 91"/>
          <p:cNvSpPr/>
          <p:nvPr/>
        </p:nvSpPr>
        <p:spPr>
          <a:xfrm>
            <a:off x="6053024" y="2770632"/>
            <a:ext cx="548640" cy="201168"/>
          </a:xfrm>
          <a:prstGeom prst="rect">
            <a:avLst/>
          </a:prstGeom>
          <a:noFill/>
          <a:ln/>
        </p:spPr>
        <p:txBody>
          <a:bodyPr wrap="square" lIns="0" tIns="0" rIns="0" bIns="0" rtlCol="0" anchor="ctr"/>
          <a:lstStyle/>
          <a:p>
            <a:pPr marL="0" indent="0">
              <a:buNone/>
            </a:pPr>
            <a:r>
              <a:rPr lang="en-US" sz="950" b="1" dirty="0">
                <a:solidFill>
                  <a:srgbClr val="D7263D"/>
                </a:solidFill>
                <a:latin typeface="Calibri" pitchFamily="34" charset="0"/>
                <a:ea typeface="Calibri" pitchFamily="34" charset="-122"/>
                <a:cs typeface="Calibri" pitchFamily="34" charset="-120"/>
              </a:rPr>
              <a:t>200</a:t>
            </a:r>
            <a:endParaRPr lang="en-US" sz="950" dirty="0"/>
          </a:p>
        </p:txBody>
      </p:sp>
      <p:sp>
        <p:nvSpPr>
          <p:cNvPr id="96" name="Text 92"/>
          <p:cNvSpPr/>
          <p:nvPr/>
        </p:nvSpPr>
        <p:spPr>
          <a:xfrm>
            <a:off x="4846320" y="2999232"/>
            <a:ext cx="731520" cy="201168"/>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MS</a:t>
            </a:r>
            <a:endParaRPr lang="en-US" sz="950" dirty="0"/>
          </a:p>
        </p:txBody>
      </p:sp>
      <p:sp>
        <p:nvSpPr>
          <p:cNvPr id="97" name="Shape 93"/>
          <p:cNvSpPr/>
          <p:nvPr/>
        </p:nvSpPr>
        <p:spPr>
          <a:xfrm>
            <a:off x="5577840" y="3026664"/>
            <a:ext cx="345718" cy="146304"/>
          </a:xfrm>
          <a:prstGeom prst="rect">
            <a:avLst/>
          </a:prstGeom>
          <a:solidFill>
            <a:srgbClr val="4A79BF"/>
          </a:solidFill>
          <a:ln/>
        </p:spPr>
        <p:txBody>
          <a:bodyPr/>
          <a:lstStyle/>
          <a:p>
            <a:endParaRPr/>
          </a:p>
        </p:txBody>
      </p:sp>
      <p:sp>
        <p:nvSpPr>
          <p:cNvPr id="98" name="Text 94"/>
          <p:cNvSpPr/>
          <p:nvPr/>
        </p:nvSpPr>
        <p:spPr>
          <a:xfrm>
            <a:off x="5969278" y="2999232"/>
            <a:ext cx="548640" cy="201168"/>
          </a:xfrm>
          <a:prstGeom prst="rect">
            <a:avLst/>
          </a:prstGeom>
          <a:noFill/>
          <a:ln/>
        </p:spPr>
        <p:txBody>
          <a:bodyPr wrap="square" lIns="0" tIns="0" rIns="0" bIns="0" rtlCol="0" anchor="ctr"/>
          <a:lstStyle/>
          <a:p>
            <a:pPr marL="0" indent="0">
              <a:buNone/>
            </a:pPr>
            <a:r>
              <a:rPr lang="en-US" sz="950" b="1" dirty="0">
                <a:solidFill>
                  <a:srgbClr val="D7263D"/>
                </a:solidFill>
                <a:latin typeface="Calibri" pitchFamily="34" charset="0"/>
                <a:ea typeface="Calibri" pitchFamily="34" charset="-122"/>
                <a:cs typeface="Calibri" pitchFamily="34" charset="-120"/>
              </a:rPr>
              <a:t>161</a:t>
            </a:r>
            <a:endParaRPr lang="en-US" sz="950" dirty="0"/>
          </a:p>
        </p:txBody>
      </p:sp>
      <p:sp>
        <p:nvSpPr>
          <p:cNvPr id="99" name="Text 95"/>
          <p:cNvSpPr/>
          <p:nvPr/>
        </p:nvSpPr>
        <p:spPr>
          <a:xfrm>
            <a:off x="4846320" y="3227832"/>
            <a:ext cx="731520" cy="201168"/>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BA</a:t>
            </a:r>
            <a:endParaRPr lang="en-US" sz="950" dirty="0"/>
          </a:p>
        </p:txBody>
      </p:sp>
      <p:sp>
        <p:nvSpPr>
          <p:cNvPr id="100" name="Shape 96"/>
          <p:cNvSpPr/>
          <p:nvPr/>
        </p:nvSpPr>
        <p:spPr>
          <a:xfrm>
            <a:off x="5577840" y="3255264"/>
            <a:ext cx="251236" cy="146304"/>
          </a:xfrm>
          <a:prstGeom prst="rect">
            <a:avLst/>
          </a:prstGeom>
          <a:solidFill>
            <a:srgbClr val="4A79BF"/>
          </a:solidFill>
          <a:ln/>
        </p:spPr>
        <p:txBody>
          <a:bodyPr/>
          <a:lstStyle/>
          <a:p>
            <a:endParaRPr/>
          </a:p>
        </p:txBody>
      </p:sp>
      <p:sp>
        <p:nvSpPr>
          <p:cNvPr id="101" name="Text 97"/>
          <p:cNvSpPr/>
          <p:nvPr/>
        </p:nvSpPr>
        <p:spPr>
          <a:xfrm>
            <a:off x="5874796" y="3227832"/>
            <a:ext cx="548640" cy="201168"/>
          </a:xfrm>
          <a:prstGeom prst="rect">
            <a:avLst/>
          </a:prstGeom>
          <a:noFill/>
          <a:ln/>
        </p:spPr>
        <p:txBody>
          <a:bodyPr wrap="square" lIns="0" tIns="0" rIns="0" bIns="0" rtlCol="0" anchor="ctr"/>
          <a:lstStyle/>
          <a:p>
            <a:pPr marL="0" indent="0">
              <a:buNone/>
            </a:pPr>
            <a:r>
              <a:rPr lang="en-US" sz="950" b="1" dirty="0">
                <a:solidFill>
                  <a:srgbClr val="D7263D"/>
                </a:solidFill>
                <a:latin typeface="Calibri" pitchFamily="34" charset="0"/>
                <a:ea typeface="Calibri" pitchFamily="34" charset="-122"/>
                <a:cs typeface="Calibri" pitchFamily="34" charset="-120"/>
              </a:rPr>
              <a:t>117</a:t>
            </a:r>
            <a:endParaRPr lang="en-US" sz="950" dirty="0"/>
          </a:p>
        </p:txBody>
      </p:sp>
      <p:sp>
        <p:nvSpPr>
          <p:cNvPr id="102" name="Text 98"/>
          <p:cNvSpPr/>
          <p:nvPr/>
        </p:nvSpPr>
        <p:spPr>
          <a:xfrm>
            <a:off x="4846320" y="3456432"/>
            <a:ext cx="731520" cy="201168"/>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Outros 18</a:t>
            </a:r>
            <a:endParaRPr lang="en-US" sz="950" dirty="0"/>
          </a:p>
        </p:txBody>
      </p:sp>
      <p:sp>
        <p:nvSpPr>
          <p:cNvPr id="103" name="Shape 99"/>
          <p:cNvSpPr/>
          <p:nvPr/>
        </p:nvSpPr>
        <p:spPr>
          <a:xfrm>
            <a:off x="5577840" y="3483864"/>
            <a:ext cx="1062923" cy="146304"/>
          </a:xfrm>
          <a:prstGeom prst="rect">
            <a:avLst/>
          </a:prstGeom>
          <a:solidFill>
            <a:srgbClr val="0096B4"/>
          </a:solidFill>
          <a:ln/>
        </p:spPr>
        <p:txBody>
          <a:bodyPr/>
          <a:lstStyle/>
          <a:p>
            <a:endParaRPr/>
          </a:p>
        </p:txBody>
      </p:sp>
      <p:sp>
        <p:nvSpPr>
          <p:cNvPr id="104" name="Text 100"/>
          <p:cNvSpPr/>
          <p:nvPr/>
        </p:nvSpPr>
        <p:spPr>
          <a:xfrm>
            <a:off x="6686483" y="3456432"/>
            <a:ext cx="548640" cy="201168"/>
          </a:xfrm>
          <a:prstGeom prst="rect">
            <a:avLst/>
          </a:prstGeom>
          <a:noFill/>
          <a:ln/>
        </p:spPr>
        <p:txBody>
          <a:bodyPr wrap="square" lIns="0" tIns="0" rIns="0" bIns="0" rtlCol="0" anchor="ctr"/>
          <a:lstStyle/>
          <a:p>
            <a:pPr marL="0" indent="0">
              <a:buNone/>
            </a:pPr>
            <a:r>
              <a:rPr lang="en-US" sz="950" b="1" dirty="0">
                <a:solidFill>
                  <a:srgbClr val="D7263D"/>
                </a:solidFill>
                <a:latin typeface="Calibri" pitchFamily="34" charset="0"/>
                <a:ea typeface="Calibri" pitchFamily="34" charset="-122"/>
                <a:cs typeface="Calibri" pitchFamily="34" charset="-120"/>
              </a:rPr>
              <a:t>495</a:t>
            </a:r>
            <a:endParaRPr lang="en-US" sz="950" dirty="0"/>
          </a:p>
        </p:txBody>
      </p:sp>
      <p:sp>
        <p:nvSpPr>
          <p:cNvPr id="105" name="Shape 101"/>
          <p:cNvSpPr/>
          <p:nvPr/>
        </p:nvSpPr>
        <p:spPr>
          <a:xfrm>
            <a:off x="4846320" y="3749040"/>
            <a:ext cx="3840480" cy="566928"/>
          </a:xfrm>
          <a:prstGeom prst="rect">
            <a:avLst/>
          </a:prstGeom>
          <a:solidFill>
            <a:srgbClr val="FBE7F1"/>
          </a:solidFill>
          <a:ln/>
        </p:spPr>
        <p:txBody>
          <a:bodyPr/>
          <a:lstStyle/>
          <a:p>
            <a:endParaRPr/>
          </a:p>
        </p:txBody>
      </p:sp>
      <p:sp>
        <p:nvSpPr>
          <p:cNvPr id="106" name="Shape 102"/>
          <p:cNvSpPr/>
          <p:nvPr/>
        </p:nvSpPr>
        <p:spPr>
          <a:xfrm>
            <a:off x="4846320" y="3749040"/>
            <a:ext cx="54864" cy="566928"/>
          </a:xfrm>
          <a:prstGeom prst="rect">
            <a:avLst/>
          </a:prstGeom>
          <a:solidFill>
            <a:srgbClr val="C8106E"/>
          </a:solidFill>
          <a:ln/>
        </p:spPr>
        <p:txBody>
          <a:bodyPr/>
          <a:lstStyle/>
          <a:p>
            <a:endParaRPr/>
          </a:p>
        </p:txBody>
      </p:sp>
      <p:sp>
        <p:nvSpPr>
          <p:cNvPr id="107" name="Text 103"/>
          <p:cNvSpPr/>
          <p:nvPr/>
        </p:nvSpPr>
        <p:spPr>
          <a:xfrm>
            <a:off x="4983480" y="3749040"/>
            <a:ext cx="3657600" cy="566928"/>
          </a:xfrm>
          <a:prstGeom prst="rect">
            <a:avLst/>
          </a:prstGeom>
          <a:noFill/>
          <a:ln/>
        </p:spPr>
        <p:txBody>
          <a:bodyPr wrap="square" lIns="0" tIns="0" rIns="0" bIns="0" rtlCol="0" anchor="ctr"/>
          <a:lstStyle/>
          <a:p>
            <a:pPr marL="0" indent="0">
              <a:buNone/>
            </a:pPr>
            <a:r>
              <a:rPr lang="en-US" sz="900" b="1" dirty="0">
                <a:solidFill>
                  <a:srgbClr val="C8106E"/>
                </a:solidFill>
                <a:latin typeface="Calibri" pitchFamily="34" charset="0"/>
                <a:ea typeface="Calibri" pitchFamily="34" charset="-122"/>
                <a:cs typeface="Calibri" pitchFamily="34" charset="-120"/>
              </a:rPr>
              <a:t>Leitura: </a:t>
            </a:r>
            <a:r>
              <a:rPr lang="en-US" sz="900" dirty="0">
                <a:solidFill>
                  <a:srgbClr val="4A5560"/>
                </a:solidFill>
                <a:latin typeface="Calibri" pitchFamily="34" charset="0"/>
                <a:ea typeface="Calibri" pitchFamily="34" charset="-122"/>
                <a:cs typeface="Calibri" pitchFamily="34" charset="-120"/>
              </a:rPr>
              <a:t>Rondônia tem 37% dos confinadores, mas não está entre os 5 estados com mais cabeças confinadas. São operações menores, o perfil do TN Manager Web.</a:t>
            </a:r>
            <a:endParaRPr lang="en-US" sz="900" dirty="0"/>
          </a:p>
        </p:txBody>
      </p:sp>
      <p:sp>
        <p:nvSpPr>
          <p:cNvPr id="108" name="TextBox 107"/>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2  ·  PARA QUEM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A nova geração está assumindo o confinamento</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Sucessão familiar: quem chega quer praticidade, dados e decisão com cara de empresa.</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12</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indent="0" marL="0">
              <a:buNone/>
            </a:pPr>
            <a:r>
              <a:rPr lang="en-US" sz="800" dirty="0">
                <a:solidFill>
                  <a:srgbClr val="7A858F"/>
                </a:solidFill>
                <a:latin typeface="Calibri" pitchFamily="34" charset="0"/>
                <a:ea typeface="Calibri" pitchFamily="34" charset="-122"/>
                <a:cs typeface="Calibri" pitchFamily="34" charset="-120"/>
              </a:rPr>
              <a:t>Fontes: pesquisa Unicesumar com 119 filhos de produtores de 17 a 35 anos (Canal Rural, 2026); Embrapa Pecuária Sudeste (estudos com 184 e 130 confinamentos).</a:t>
            </a:r>
            <a:endParaRPr lang="en-US" sz="800" dirty="0"/>
          </a:p>
        </p:txBody>
      </p:sp>
      <p:sp>
        <p:nvSpPr>
          <p:cNvPr id="7" name="Shape 4"/>
          <p:cNvSpPr/>
          <p:nvPr/>
        </p:nvSpPr>
        <p:spPr>
          <a:xfrm>
            <a:off x="457200" y="1143000"/>
            <a:ext cx="2240280" cy="1600200"/>
          </a:xfrm>
          <a:prstGeom prst="rect">
            <a:avLst/>
          </a:prstGeom>
          <a:solidFill>
            <a:srgbClr val="1B3A8C"/>
          </a:solidFill>
          <a:ln/>
        </p:spPr>
        <p:txBody>
          <a:bodyPr/>
          <a:p/>
        </p:txBody>
      </p:sp>
      <p:sp>
        <p:nvSpPr>
          <p:cNvPr id="8" name="Text 5"/>
          <p:cNvSpPr/>
          <p:nvPr/>
        </p:nvSpPr>
        <p:spPr>
          <a:xfrm>
            <a:off x="594360" y="1207008"/>
            <a:ext cx="2011680" cy="566928"/>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90%</a:t>
            </a:r>
            <a:endParaRPr lang="en-US" sz="3600" dirty="0"/>
          </a:p>
        </p:txBody>
      </p:sp>
      <p:sp>
        <p:nvSpPr>
          <p:cNvPr id="9" name="Text 6"/>
          <p:cNvSpPr/>
          <p:nvPr/>
        </p:nvSpPr>
        <p:spPr>
          <a:xfrm>
            <a:off x="594360" y="1783080"/>
            <a:ext cx="2011680" cy="86868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dos filhos de produtores ouvidos pretendem assumir a gestão da propriedade da família</a:t>
            </a:r>
            <a:endParaRPr lang="en-US" sz="1000" dirty="0"/>
          </a:p>
        </p:txBody>
      </p:sp>
      <p:sp>
        <p:nvSpPr>
          <p:cNvPr id="10" name="Shape 7"/>
          <p:cNvSpPr/>
          <p:nvPr/>
        </p:nvSpPr>
        <p:spPr>
          <a:xfrm>
            <a:off x="457200" y="2834640"/>
            <a:ext cx="2240280" cy="1417320"/>
          </a:xfrm>
          <a:prstGeom prst="rect">
            <a:avLst/>
          </a:prstGeom>
          <a:solidFill>
            <a:srgbClr val="F4F6F8"/>
          </a:solidFill>
          <a:ln/>
        </p:spPr>
        <p:txBody>
          <a:bodyPr/>
          <a:p/>
        </p:txBody>
      </p:sp>
      <p:sp>
        <p:nvSpPr>
          <p:cNvPr id="11" name="Shape 8"/>
          <p:cNvSpPr/>
          <p:nvPr/>
        </p:nvSpPr>
        <p:spPr>
          <a:xfrm>
            <a:off x="457200" y="2834640"/>
            <a:ext cx="54864" cy="1417320"/>
          </a:xfrm>
          <a:prstGeom prst="rect">
            <a:avLst/>
          </a:prstGeom>
          <a:solidFill>
            <a:srgbClr val="26668F"/>
          </a:solidFill>
          <a:ln/>
        </p:spPr>
        <p:txBody>
          <a:bodyPr/>
          <a:p/>
        </p:txBody>
      </p:sp>
      <p:sp>
        <p:nvSpPr>
          <p:cNvPr id="12" name="Text 9"/>
          <p:cNvSpPr/>
          <p:nvPr/>
        </p:nvSpPr>
        <p:spPr>
          <a:xfrm>
            <a:off x="621792" y="2926080"/>
            <a:ext cx="2011680" cy="237744"/>
          </a:xfrm>
          <a:prstGeom prst="rect">
            <a:avLst/>
          </a:prstGeom>
          <a:noFill/>
          <a:ln/>
        </p:spPr>
        <p:txBody>
          <a:bodyPr wrap="square" lIns="0" tIns="0" rIns="0" bIns="0" rtlCol="0" anchor="t"/>
          <a:lstStyle/>
          <a:p>
            <a:pPr indent="0" marL="0">
              <a:buNone/>
            </a:pPr>
            <a:r>
              <a:rPr lang="en-US" sz="1100" b="1" dirty="0">
                <a:solidFill>
                  <a:srgbClr val="26668F"/>
                </a:solidFill>
                <a:latin typeface="Calibri" pitchFamily="34" charset="0"/>
                <a:ea typeface="Calibri" pitchFamily="34" charset="-122"/>
                <a:cs typeface="Calibri" pitchFamily="34" charset="-120"/>
              </a:rPr>
              <a:t>Embrapa</a:t>
            </a:r>
            <a:endParaRPr lang="en-US" sz="1100" dirty="0"/>
          </a:p>
        </p:txBody>
      </p:sp>
      <p:sp>
        <p:nvSpPr>
          <p:cNvPr id="13" name="Text 10"/>
          <p:cNvSpPr/>
          <p:nvPr/>
        </p:nvSpPr>
        <p:spPr>
          <a:xfrm>
            <a:off x="621792" y="3182112"/>
            <a:ext cx="2011680" cy="100584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Escolaridade e consultoria aumentam a adoção de tecnologia digital nos confinamentos. Quem adota software tem mais eficiência técnica.</a:t>
            </a:r>
            <a:endParaRPr lang="en-US" sz="950" dirty="0"/>
          </a:p>
        </p:txBody>
      </p:sp>
      <p:sp>
        <p:nvSpPr>
          <p:cNvPr id="14" name="Text 11"/>
          <p:cNvSpPr/>
          <p:nvPr/>
        </p:nvSpPr>
        <p:spPr>
          <a:xfrm>
            <a:off x="2926080" y="1097280"/>
            <a:ext cx="2926080" cy="237744"/>
          </a:xfrm>
          <a:prstGeom prst="rect">
            <a:avLst/>
          </a:prstGeom>
          <a:noFill/>
          <a:ln/>
        </p:spPr>
        <p:txBody>
          <a:bodyPr wrap="square" lIns="0" tIns="0" rIns="0" bIns="0" rtlCol="0" anchor="t"/>
          <a:lstStyle/>
          <a:p>
            <a:pPr indent="0" marL="0">
              <a:buNone/>
            </a:pPr>
            <a:r>
              <a:rPr lang="en-US" sz="1200" b="1" dirty="0">
                <a:solidFill>
                  <a:srgbClr val="1B3A8C"/>
                </a:solidFill>
                <a:latin typeface="Calibri" pitchFamily="34" charset="0"/>
                <a:ea typeface="Calibri" pitchFamily="34" charset="-122"/>
                <a:cs typeface="Calibri" pitchFamily="34" charset="-120"/>
              </a:rPr>
              <a:t>O que muda com a sucessão</a:t>
            </a:r>
            <a:endParaRPr lang="en-US" sz="1200" dirty="0"/>
          </a:p>
        </p:txBody>
      </p:sp>
      <p:sp>
        <p:nvSpPr>
          <p:cNvPr id="15" name="Shape 12"/>
          <p:cNvSpPr/>
          <p:nvPr/>
        </p:nvSpPr>
        <p:spPr>
          <a:xfrm>
            <a:off x="2926080" y="1417320"/>
            <a:ext cx="1234440" cy="603504"/>
          </a:xfrm>
          <a:prstGeom prst="rect">
            <a:avLst/>
          </a:prstGeom>
          <a:solidFill>
            <a:srgbClr val="E3E7EC"/>
          </a:solidFill>
          <a:ln/>
        </p:spPr>
        <p:txBody>
          <a:bodyPr/>
          <a:p/>
        </p:txBody>
      </p:sp>
      <p:sp>
        <p:nvSpPr>
          <p:cNvPr id="16" name="Text 13"/>
          <p:cNvSpPr/>
          <p:nvPr/>
        </p:nvSpPr>
        <p:spPr>
          <a:xfrm>
            <a:off x="2971800" y="1417320"/>
            <a:ext cx="1143000" cy="603504"/>
          </a:xfrm>
          <a:prstGeom prst="rect">
            <a:avLst/>
          </a:prstGeom>
          <a:noFill/>
          <a:ln/>
        </p:spPr>
        <p:txBody>
          <a:bodyPr wrap="square" lIns="0" tIns="0" rIns="0" bIns="0" rtlCol="0" anchor="ctr"/>
          <a:lstStyle/>
          <a:p>
            <a:pPr algn="ctr" indent="0" marL="0">
              <a:buNone/>
            </a:pPr>
            <a:r>
              <a:rPr lang="en-US" sz="950" dirty="0">
                <a:solidFill>
                  <a:srgbClr val="7A858F"/>
                </a:solidFill>
                <a:latin typeface="Calibri" pitchFamily="34" charset="0"/>
                <a:ea typeface="Calibri" pitchFamily="34" charset="-122"/>
                <a:cs typeface="Calibri" pitchFamily="34" charset="-120"/>
              </a:rPr>
              <a:t>Caderno e memória</a:t>
            </a:r>
            <a:endParaRPr lang="en-US" sz="950" dirty="0"/>
          </a:p>
        </p:txBody>
      </p:sp>
      <p:pic>
        <p:nvPicPr>
          <p:cNvPr id="17" name="Image 1" descr="preencoded.png">    </p:cNvPr>
          <p:cNvPicPr>
            <a:picLocks noChangeAspect="1"/>
          </p:cNvPicPr>
          <p:nvPr/>
        </p:nvPicPr>
        <p:blipFill>
          <a:blip r:embed="rId3"/>
          <a:stretch>
            <a:fillRect/>
          </a:stretch>
        </p:blipFill>
        <p:spPr>
          <a:xfrm>
            <a:off x="4224528" y="1627632"/>
            <a:ext cx="182880" cy="182880"/>
          </a:xfrm>
          <a:prstGeom prst="rect">
            <a:avLst/>
          </a:prstGeom>
        </p:spPr>
      </p:pic>
      <p:sp>
        <p:nvSpPr>
          <p:cNvPr id="18" name="Shape 14"/>
          <p:cNvSpPr/>
          <p:nvPr/>
        </p:nvSpPr>
        <p:spPr>
          <a:xfrm>
            <a:off x="4480560" y="1417320"/>
            <a:ext cx="1463040" cy="603504"/>
          </a:xfrm>
          <a:prstGeom prst="rect">
            <a:avLst/>
          </a:prstGeom>
          <a:solidFill>
            <a:srgbClr val="1B3A8C"/>
          </a:solidFill>
          <a:ln/>
        </p:spPr>
        <p:txBody>
          <a:bodyPr/>
          <a:p/>
        </p:txBody>
      </p:sp>
      <p:sp>
        <p:nvSpPr>
          <p:cNvPr id="19" name="Text 15"/>
          <p:cNvSpPr/>
          <p:nvPr/>
        </p:nvSpPr>
        <p:spPr>
          <a:xfrm>
            <a:off x="4526280" y="1417320"/>
            <a:ext cx="1371600" cy="60350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Celular e painel</a:t>
            </a:r>
            <a:endParaRPr lang="en-US" sz="1000" dirty="0"/>
          </a:p>
        </p:txBody>
      </p:sp>
      <p:sp>
        <p:nvSpPr>
          <p:cNvPr id="20" name="Shape 16"/>
          <p:cNvSpPr/>
          <p:nvPr/>
        </p:nvSpPr>
        <p:spPr>
          <a:xfrm>
            <a:off x="2926080" y="2130552"/>
            <a:ext cx="1234440" cy="603504"/>
          </a:xfrm>
          <a:prstGeom prst="rect">
            <a:avLst/>
          </a:prstGeom>
          <a:solidFill>
            <a:srgbClr val="E3E7EC"/>
          </a:solidFill>
          <a:ln/>
        </p:spPr>
        <p:txBody>
          <a:bodyPr/>
          <a:p/>
        </p:txBody>
      </p:sp>
      <p:sp>
        <p:nvSpPr>
          <p:cNvPr id="21" name="Text 17"/>
          <p:cNvSpPr/>
          <p:nvPr/>
        </p:nvSpPr>
        <p:spPr>
          <a:xfrm>
            <a:off x="2971800" y="2130552"/>
            <a:ext cx="1143000" cy="603504"/>
          </a:xfrm>
          <a:prstGeom prst="rect">
            <a:avLst/>
          </a:prstGeom>
          <a:noFill/>
          <a:ln/>
        </p:spPr>
        <p:txBody>
          <a:bodyPr wrap="square" lIns="0" tIns="0" rIns="0" bIns="0" rtlCol="0" anchor="ctr"/>
          <a:lstStyle/>
          <a:p>
            <a:pPr algn="ctr" indent="0" marL="0">
              <a:buNone/>
            </a:pPr>
            <a:r>
              <a:rPr lang="en-US" sz="950" dirty="0">
                <a:solidFill>
                  <a:srgbClr val="7A858F"/>
                </a:solidFill>
                <a:latin typeface="Calibri" pitchFamily="34" charset="0"/>
                <a:ea typeface="Calibri" pitchFamily="34" charset="-122"/>
                <a:cs typeface="Calibri" pitchFamily="34" charset="-120"/>
              </a:rPr>
              <a:t>"Sempre fiz assim"</a:t>
            </a:r>
            <a:endParaRPr lang="en-US" sz="950" dirty="0"/>
          </a:p>
        </p:txBody>
      </p:sp>
      <p:pic>
        <p:nvPicPr>
          <p:cNvPr id="22" name="Image 2" descr="preencoded.png">    </p:cNvPr>
          <p:cNvPicPr>
            <a:picLocks noChangeAspect="1"/>
          </p:cNvPicPr>
          <p:nvPr/>
        </p:nvPicPr>
        <p:blipFill>
          <a:blip r:embed="rId3"/>
          <a:stretch>
            <a:fillRect/>
          </a:stretch>
        </p:blipFill>
        <p:spPr>
          <a:xfrm>
            <a:off x="4224528" y="2340864"/>
            <a:ext cx="182880" cy="182880"/>
          </a:xfrm>
          <a:prstGeom prst="rect">
            <a:avLst/>
          </a:prstGeom>
        </p:spPr>
      </p:pic>
      <p:sp>
        <p:nvSpPr>
          <p:cNvPr id="23" name="Shape 18"/>
          <p:cNvSpPr/>
          <p:nvPr/>
        </p:nvSpPr>
        <p:spPr>
          <a:xfrm>
            <a:off x="4480560" y="2130552"/>
            <a:ext cx="1463040" cy="603504"/>
          </a:xfrm>
          <a:prstGeom prst="rect">
            <a:avLst/>
          </a:prstGeom>
          <a:solidFill>
            <a:srgbClr val="1B3A8C"/>
          </a:solidFill>
          <a:ln/>
        </p:spPr>
        <p:txBody>
          <a:bodyPr/>
          <a:p/>
        </p:txBody>
      </p:sp>
      <p:sp>
        <p:nvSpPr>
          <p:cNvPr id="24" name="Text 19"/>
          <p:cNvSpPr/>
          <p:nvPr/>
        </p:nvSpPr>
        <p:spPr>
          <a:xfrm>
            <a:off x="4526280" y="2130552"/>
            <a:ext cx="1371600" cy="60350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Indicador e meta</a:t>
            </a:r>
            <a:endParaRPr lang="en-US" sz="1000" dirty="0"/>
          </a:p>
        </p:txBody>
      </p:sp>
      <p:sp>
        <p:nvSpPr>
          <p:cNvPr id="25" name="Shape 20"/>
          <p:cNvSpPr/>
          <p:nvPr/>
        </p:nvSpPr>
        <p:spPr>
          <a:xfrm>
            <a:off x="2926080" y="2843784"/>
            <a:ext cx="1234440" cy="603504"/>
          </a:xfrm>
          <a:prstGeom prst="rect">
            <a:avLst/>
          </a:prstGeom>
          <a:solidFill>
            <a:srgbClr val="E3E7EC"/>
          </a:solidFill>
          <a:ln/>
        </p:spPr>
        <p:txBody>
          <a:bodyPr/>
          <a:p/>
        </p:txBody>
      </p:sp>
      <p:sp>
        <p:nvSpPr>
          <p:cNvPr id="26" name="Text 21"/>
          <p:cNvSpPr/>
          <p:nvPr/>
        </p:nvSpPr>
        <p:spPr>
          <a:xfrm>
            <a:off x="2971800" y="2843784"/>
            <a:ext cx="1143000" cy="603504"/>
          </a:xfrm>
          <a:prstGeom prst="rect">
            <a:avLst/>
          </a:prstGeom>
          <a:noFill/>
          <a:ln/>
        </p:spPr>
        <p:txBody>
          <a:bodyPr wrap="square" lIns="0" tIns="0" rIns="0" bIns="0" rtlCol="0" anchor="ctr"/>
          <a:lstStyle/>
          <a:p>
            <a:pPr algn="ctr" indent="0" marL="0">
              <a:buNone/>
            </a:pPr>
            <a:r>
              <a:rPr lang="en-US" sz="950" dirty="0">
                <a:solidFill>
                  <a:srgbClr val="7A858F"/>
                </a:solidFill>
                <a:latin typeface="Calibri" pitchFamily="34" charset="0"/>
                <a:ea typeface="Calibri" pitchFamily="34" charset="-122"/>
                <a:cs typeface="Calibri" pitchFamily="34" charset="-120"/>
              </a:rPr>
              <a:t>Decisão no olho</a:t>
            </a:r>
            <a:endParaRPr lang="en-US" sz="950" dirty="0"/>
          </a:p>
        </p:txBody>
      </p:sp>
      <p:pic>
        <p:nvPicPr>
          <p:cNvPr id="27" name="Image 3" descr="preencoded.png">    </p:cNvPr>
          <p:cNvPicPr>
            <a:picLocks noChangeAspect="1"/>
          </p:cNvPicPr>
          <p:nvPr/>
        </p:nvPicPr>
        <p:blipFill>
          <a:blip r:embed="rId3"/>
          <a:stretch>
            <a:fillRect/>
          </a:stretch>
        </p:blipFill>
        <p:spPr>
          <a:xfrm>
            <a:off x="4224528" y="3054096"/>
            <a:ext cx="182880" cy="182880"/>
          </a:xfrm>
          <a:prstGeom prst="rect">
            <a:avLst/>
          </a:prstGeom>
        </p:spPr>
      </p:pic>
      <p:sp>
        <p:nvSpPr>
          <p:cNvPr id="28" name="Shape 22"/>
          <p:cNvSpPr/>
          <p:nvPr/>
        </p:nvSpPr>
        <p:spPr>
          <a:xfrm>
            <a:off x="4480560" y="2843784"/>
            <a:ext cx="1463040" cy="603504"/>
          </a:xfrm>
          <a:prstGeom prst="rect">
            <a:avLst/>
          </a:prstGeom>
          <a:solidFill>
            <a:srgbClr val="1B3A8C"/>
          </a:solidFill>
          <a:ln/>
        </p:spPr>
        <p:txBody>
          <a:bodyPr/>
          <a:p/>
        </p:txBody>
      </p:sp>
      <p:sp>
        <p:nvSpPr>
          <p:cNvPr id="29" name="Text 23"/>
          <p:cNvSpPr/>
          <p:nvPr/>
        </p:nvSpPr>
        <p:spPr>
          <a:xfrm>
            <a:off x="4526280" y="2843784"/>
            <a:ext cx="1371600" cy="60350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Decisão com número</a:t>
            </a:r>
            <a:endParaRPr lang="en-US" sz="1000" dirty="0"/>
          </a:p>
        </p:txBody>
      </p:sp>
      <p:sp>
        <p:nvSpPr>
          <p:cNvPr id="30" name="Shape 24"/>
          <p:cNvSpPr/>
          <p:nvPr/>
        </p:nvSpPr>
        <p:spPr>
          <a:xfrm>
            <a:off x="2926080" y="3557016"/>
            <a:ext cx="1234440" cy="603504"/>
          </a:xfrm>
          <a:prstGeom prst="rect">
            <a:avLst/>
          </a:prstGeom>
          <a:solidFill>
            <a:srgbClr val="E3E7EC"/>
          </a:solidFill>
          <a:ln/>
        </p:spPr>
        <p:txBody>
          <a:bodyPr/>
          <a:p/>
        </p:txBody>
      </p:sp>
      <p:sp>
        <p:nvSpPr>
          <p:cNvPr id="31" name="Text 25"/>
          <p:cNvSpPr/>
          <p:nvPr/>
        </p:nvSpPr>
        <p:spPr>
          <a:xfrm>
            <a:off x="2971800" y="3557016"/>
            <a:ext cx="1143000" cy="603504"/>
          </a:xfrm>
          <a:prstGeom prst="rect">
            <a:avLst/>
          </a:prstGeom>
          <a:noFill/>
          <a:ln/>
        </p:spPr>
        <p:txBody>
          <a:bodyPr wrap="square" lIns="0" tIns="0" rIns="0" bIns="0" rtlCol="0" anchor="ctr"/>
          <a:lstStyle/>
          <a:p>
            <a:pPr algn="ctr" indent="0" marL="0">
              <a:buNone/>
            </a:pPr>
            <a:r>
              <a:rPr lang="en-US" sz="950" dirty="0">
                <a:solidFill>
                  <a:srgbClr val="7A858F"/>
                </a:solidFill>
                <a:latin typeface="Calibri" pitchFamily="34" charset="0"/>
                <a:ea typeface="Calibri" pitchFamily="34" charset="-122"/>
                <a:cs typeface="Calibri" pitchFamily="34" charset="-120"/>
              </a:rPr>
              <a:t>Fazenda da família</a:t>
            </a:r>
            <a:endParaRPr lang="en-US" sz="950" dirty="0"/>
          </a:p>
        </p:txBody>
      </p:sp>
      <p:pic>
        <p:nvPicPr>
          <p:cNvPr id="32" name="Image 4" descr="preencoded.png">    </p:cNvPr>
          <p:cNvPicPr>
            <a:picLocks noChangeAspect="1"/>
          </p:cNvPicPr>
          <p:nvPr/>
        </p:nvPicPr>
        <p:blipFill>
          <a:blip r:embed="rId3"/>
          <a:stretch>
            <a:fillRect/>
          </a:stretch>
        </p:blipFill>
        <p:spPr>
          <a:xfrm>
            <a:off x="4224528" y="3767328"/>
            <a:ext cx="182880" cy="182880"/>
          </a:xfrm>
          <a:prstGeom prst="rect">
            <a:avLst/>
          </a:prstGeom>
        </p:spPr>
      </p:pic>
      <p:sp>
        <p:nvSpPr>
          <p:cNvPr id="33" name="Shape 26"/>
          <p:cNvSpPr/>
          <p:nvPr/>
        </p:nvSpPr>
        <p:spPr>
          <a:xfrm>
            <a:off x="4480560" y="3557016"/>
            <a:ext cx="1463040" cy="603504"/>
          </a:xfrm>
          <a:prstGeom prst="rect">
            <a:avLst/>
          </a:prstGeom>
          <a:solidFill>
            <a:srgbClr val="1B3A8C"/>
          </a:solidFill>
          <a:ln/>
        </p:spPr>
        <p:txBody>
          <a:bodyPr/>
          <a:p/>
        </p:txBody>
      </p:sp>
      <p:sp>
        <p:nvSpPr>
          <p:cNvPr id="34" name="Text 27"/>
          <p:cNvSpPr/>
          <p:nvPr/>
        </p:nvSpPr>
        <p:spPr>
          <a:xfrm>
            <a:off x="4526280" y="3557016"/>
            <a:ext cx="1371600" cy="60350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Empresa rural com fechamento de safra</a:t>
            </a:r>
            <a:endParaRPr lang="en-US" sz="1000" dirty="0"/>
          </a:p>
        </p:txBody>
      </p:sp>
      <p:sp>
        <p:nvSpPr>
          <p:cNvPr id="35" name="Shape 28"/>
          <p:cNvSpPr/>
          <p:nvPr/>
        </p:nvSpPr>
        <p:spPr>
          <a:xfrm>
            <a:off x="6172200" y="1097280"/>
            <a:ext cx="2514600" cy="3154680"/>
          </a:xfrm>
          <a:prstGeom prst="rect">
            <a:avLst/>
          </a:prstGeom>
          <a:solidFill>
            <a:srgbClr val="FBE7F1"/>
          </a:solidFill>
          <a:ln/>
        </p:spPr>
        <p:txBody>
          <a:bodyPr/>
          <a:p/>
        </p:txBody>
      </p:sp>
      <p:sp>
        <p:nvSpPr>
          <p:cNvPr id="36" name="Shape 29"/>
          <p:cNvSpPr/>
          <p:nvPr/>
        </p:nvSpPr>
        <p:spPr>
          <a:xfrm>
            <a:off x="6172200" y="1097280"/>
            <a:ext cx="54864" cy="3154680"/>
          </a:xfrm>
          <a:prstGeom prst="rect">
            <a:avLst/>
          </a:prstGeom>
          <a:solidFill>
            <a:srgbClr val="C8106E"/>
          </a:solidFill>
          <a:ln/>
        </p:spPr>
        <p:txBody>
          <a:bodyPr/>
          <a:p/>
        </p:txBody>
      </p:sp>
      <p:sp>
        <p:nvSpPr>
          <p:cNvPr id="37" name="Text 30"/>
          <p:cNvSpPr/>
          <p:nvPr/>
        </p:nvSpPr>
        <p:spPr>
          <a:xfrm>
            <a:off x="6327648" y="1188720"/>
            <a:ext cx="2286000" cy="411480"/>
          </a:xfrm>
          <a:prstGeom prst="rect">
            <a:avLst/>
          </a:prstGeom>
          <a:noFill/>
          <a:ln/>
        </p:spPr>
        <p:txBody>
          <a:bodyPr wrap="square" lIns="0" tIns="0" rIns="0" bIns="0" rtlCol="0" anchor="t"/>
          <a:lstStyle/>
          <a:p>
            <a:pPr indent="0" marL="0">
              <a:buNone/>
            </a:pPr>
            <a:r>
              <a:rPr lang="en-US" sz="1150" b="1" dirty="0">
                <a:solidFill>
                  <a:srgbClr val="C8106E"/>
                </a:solidFill>
                <a:latin typeface="Calibri" pitchFamily="34" charset="0"/>
                <a:ea typeface="Calibri" pitchFamily="34" charset="-122"/>
                <a:cs typeface="Calibri" pitchFamily="34" charset="-120"/>
              </a:rPr>
              <a:t>Como o TN Manager Web responde</a:t>
            </a:r>
            <a:endParaRPr lang="en-US" sz="1150" dirty="0"/>
          </a:p>
        </p:txBody>
      </p:sp>
      <p:sp>
        <p:nvSpPr>
          <p:cNvPr id="38" name="Text 31"/>
          <p:cNvSpPr/>
          <p:nvPr/>
        </p:nvSpPr>
        <p:spPr>
          <a:xfrm>
            <a:off x="6327648" y="1691640"/>
            <a:ext cx="2286000" cy="219456"/>
          </a:xfrm>
          <a:prstGeom prst="rect">
            <a:avLst/>
          </a:prstGeom>
          <a:noFill/>
          <a:ln/>
        </p:spPr>
        <p:txBody>
          <a:bodyPr wrap="square" lIns="0" tIns="0" rIns="0" bIns="0" rtlCol="0" anchor="t"/>
          <a:lstStyle/>
          <a:p>
            <a:pPr indent="0" marL="0">
              <a:buNone/>
            </a:pPr>
            <a:r>
              <a:rPr lang="en-US" sz="1050" b="1" dirty="0">
                <a:solidFill>
                  <a:srgbClr val="1B3A8C"/>
                </a:solidFill>
                <a:latin typeface="Calibri" pitchFamily="34" charset="0"/>
                <a:ea typeface="Calibri" pitchFamily="34" charset="-122"/>
                <a:cs typeface="Calibri" pitchFamily="34" charset="-120"/>
              </a:rPr>
              <a:t>Praticidade</a:t>
            </a:r>
            <a:endParaRPr lang="en-US" sz="1050" dirty="0"/>
          </a:p>
        </p:txBody>
      </p:sp>
      <p:sp>
        <p:nvSpPr>
          <p:cNvPr id="39" name="Text 32"/>
          <p:cNvSpPr/>
          <p:nvPr/>
        </p:nvSpPr>
        <p:spPr>
          <a:xfrm>
            <a:off x="6327648" y="1911096"/>
            <a:ext cx="2286000" cy="36576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10 minutos por dia, no celular</a:t>
            </a:r>
            <a:endParaRPr lang="en-US" sz="950" dirty="0"/>
          </a:p>
        </p:txBody>
      </p:sp>
      <p:sp>
        <p:nvSpPr>
          <p:cNvPr id="40" name="Text 33"/>
          <p:cNvSpPr/>
          <p:nvPr/>
        </p:nvSpPr>
        <p:spPr>
          <a:xfrm>
            <a:off x="6327648" y="2313432"/>
            <a:ext cx="2286000" cy="219456"/>
          </a:xfrm>
          <a:prstGeom prst="rect">
            <a:avLst/>
          </a:prstGeom>
          <a:noFill/>
          <a:ln/>
        </p:spPr>
        <p:txBody>
          <a:bodyPr wrap="square" lIns="0" tIns="0" rIns="0" bIns="0" rtlCol="0" anchor="t"/>
          <a:lstStyle/>
          <a:p>
            <a:pPr indent="0" marL="0">
              <a:buNone/>
            </a:pPr>
            <a:r>
              <a:rPr lang="en-US" sz="1050" b="1" dirty="0">
                <a:solidFill>
                  <a:srgbClr val="1B3A8C"/>
                </a:solidFill>
                <a:latin typeface="Calibri" pitchFamily="34" charset="0"/>
                <a:ea typeface="Calibri" pitchFamily="34" charset="-122"/>
                <a:cs typeface="Calibri" pitchFamily="34" charset="-120"/>
              </a:rPr>
              <a:t>Dados</a:t>
            </a:r>
            <a:endParaRPr lang="en-US" sz="1050" dirty="0"/>
          </a:p>
        </p:txBody>
      </p:sp>
      <p:sp>
        <p:nvSpPr>
          <p:cNvPr id="41" name="Text 34"/>
          <p:cNvSpPr/>
          <p:nvPr/>
        </p:nvSpPr>
        <p:spPr>
          <a:xfrm>
            <a:off x="6327648" y="2532888"/>
            <a:ext cx="2286000" cy="36576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Painel semanal e benchmark com fazendas parecidas</a:t>
            </a:r>
            <a:endParaRPr lang="en-US" sz="950" dirty="0"/>
          </a:p>
        </p:txBody>
      </p:sp>
      <p:sp>
        <p:nvSpPr>
          <p:cNvPr id="42" name="Text 35"/>
          <p:cNvSpPr/>
          <p:nvPr/>
        </p:nvSpPr>
        <p:spPr>
          <a:xfrm>
            <a:off x="6327648" y="2935224"/>
            <a:ext cx="2286000" cy="219456"/>
          </a:xfrm>
          <a:prstGeom prst="rect">
            <a:avLst/>
          </a:prstGeom>
          <a:noFill/>
          <a:ln/>
        </p:spPr>
        <p:txBody>
          <a:bodyPr wrap="square" lIns="0" tIns="0" rIns="0" bIns="0" rtlCol="0" anchor="t"/>
          <a:lstStyle/>
          <a:p>
            <a:pPr indent="0" marL="0">
              <a:buNone/>
            </a:pPr>
            <a:r>
              <a:rPr lang="en-US" sz="1050" b="1" dirty="0">
                <a:solidFill>
                  <a:srgbClr val="1B3A8C"/>
                </a:solidFill>
                <a:latin typeface="Calibri" pitchFamily="34" charset="0"/>
                <a:ea typeface="Calibri" pitchFamily="34" charset="-122"/>
                <a:cs typeface="Calibri" pitchFamily="34" charset="-120"/>
              </a:rPr>
              <a:t>Decisão</a:t>
            </a:r>
            <a:endParaRPr lang="en-US" sz="1050" dirty="0"/>
          </a:p>
        </p:txBody>
      </p:sp>
      <p:sp>
        <p:nvSpPr>
          <p:cNvPr id="43" name="Text 36"/>
          <p:cNvSpPr/>
          <p:nvPr/>
        </p:nvSpPr>
        <p:spPr>
          <a:xfrm>
            <a:off x="6327648" y="3154680"/>
            <a:ext cx="2286000" cy="36576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Analista TN junto, toda semana</a:t>
            </a:r>
            <a:endParaRPr lang="en-US" sz="950" dirty="0"/>
          </a:p>
        </p:txBody>
      </p:sp>
      <p:sp>
        <p:nvSpPr>
          <p:cNvPr id="44" name="Text 37"/>
          <p:cNvSpPr/>
          <p:nvPr/>
        </p:nvSpPr>
        <p:spPr>
          <a:xfrm>
            <a:off x="6327648" y="3557016"/>
            <a:ext cx="2286000" cy="219456"/>
          </a:xfrm>
          <a:prstGeom prst="rect">
            <a:avLst/>
          </a:prstGeom>
          <a:noFill/>
          <a:ln/>
        </p:spPr>
        <p:txBody>
          <a:bodyPr wrap="square" lIns="0" tIns="0" rIns="0" bIns="0" rtlCol="0" anchor="t"/>
          <a:lstStyle/>
          <a:p>
            <a:pPr indent="0" marL="0">
              <a:buNone/>
            </a:pPr>
            <a:r>
              <a:rPr lang="en-US" sz="1050" b="1" dirty="0">
                <a:solidFill>
                  <a:srgbClr val="1B3A8C"/>
                </a:solidFill>
                <a:latin typeface="Calibri" pitchFamily="34" charset="0"/>
                <a:ea typeface="Calibri" pitchFamily="34" charset="-122"/>
                <a:cs typeface="Calibri" pitchFamily="34" charset="-120"/>
              </a:rPr>
              <a:t>Gestão empresarial</a:t>
            </a:r>
            <a:endParaRPr lang="en-US" sz="1050" dirty="0"/>
          </a:p>
        </p:txBody>
      </p:sp>
      <p:sp>
        <p:nvSpPr>
          <p:cNvPr id="45" name="Text 38"/>
          <p:cNvSpPr/>
          <p:nvPr/>
        </p:nvSpPr>
        <p:spPr>
          <a:xfrm>
            <a:off x="6327648" y="3776472"/>
            <a:ext cx="2286000" cy="36576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Fechamento de safra e evolução ano a ano</a:t>
            </a:r>
            <a:endParaRPr lang="en-US" sz="950" dirty="0"/>
          </a:p>
        </p:txBody>
      </p:sp>
      <p:sp>
        <p:nvSpPr>
          <p:cNvPr id="46" name="TextBox 45"/>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2  ·  PARA QUEM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Estamos no caminho certo?</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Sim, com uma ressalva: o público é o maior em número de fazendas, mas menor em volume de cabeças.</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13</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marL="0" indent="0">
              <a:buNone/>
            </a:pPr>
            <a:r>
              <a:rPr lang="en-US" sz="800" dirty="0">
                <a:solidFill>
                  <a:srgbClr val="7A858F"/>
                </a:solidFill>
                <a:latin typeface="Calibri" pitchFamily="34" charset="0"/>
                <a:ea typeface="Calibri" pitchFamily="34" charset="-122"/>
                <a:cs typeface="Calibri" pitchFamily="34" charset="-120"/>
              </a:rPr>
              <a:t>Fontes: dsm-firmenich, Censo de Confinamento 2025 (fev/2026) e 2024; Embrapa Pecuária Sudeste (2023; 2024); Embrapa, Censos Agropecuários 2006 e 2017.</a:t>
            </a:r>
            <a:endParaRPr lang="en-US" sz="800" dirty="0"/>
          </a:p>
        </p:txBody>
      </p:sp>
      <p:sp>
        <p:nvSpPr>
          <p:cNvPr id="7" name="Shape 4"/>
          <p:cNvSpPr/>
          <p:nvPr/>
        </p:nvSpPr>
        <p:spPr>
          <a:xfrm>
            <a:off x="457200" y="1143000"/>
            <a:ext cx="2606040" cy="384048"/>
          </a:xfrm>
          <a:prstGeom prst="rect">
            <a:avLst/>
          </a:prstGeom>
          <a:solidFill>
            <a:srgbClr val="1B3A8C"/>
          </a:solidFill>
          <a:ln/>
        </p:spPr>
        <p:txBody>
          <a:bodyPr/>
          <a:lstStyle/>
          <a:p>
            <a:endParaRPr/>
          </a:p>
        </p:txBody>
      </p:sp>
      <p:sp>
        <p:nvSpPr>
          <p:cNvPr id="8" name="Text 5"/>
          <p:cNvSpPr/>
          <p:nvPr/>
        </p:nvSpPr>
        <p:spPr>
          <a:xfrm>
            <a:off x="566928" y="1143000"/>
            <a:ext cx="2386584"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 que os dados confirmam</a:t>
            </a:r>
            <a:endParaRPr lang="en-US" sz="1200" dirty="0"/>
          </a:p>
        </p:txBody>
      </p:sp>
      <p:sp>
        <p:nvSpPr>
          <p:cNvPr id="9" name="Shape 6"/>
          <p:cNvSpPr/>
          <p:nvPr/>
        </p:nvSpPr>
        <p:spPr>
          <a:xfrm>
            <a:off x="457200" y="1527048"/>
            <a:ext cx="2606040" cy="2130552"/>
          </a:xfrm>
          <a:prstGeom prst="rect">
            <a:avLst/>
          </a:prstGeom>
          <a:solidFill>
            <a:srgbClr val="F4F6F8"/>
          </a:solidFill>
          <a:ln/>
        </p:spPr>
        <p:txBody>
          <a:bodyPr/>
          <a:lstStyle/>
          <a:p>
            <a:endParaRPr/>
          </a:p>
        </p:txBody>
      </p:sp>
      <p:sp>
        <p:nvSpPr>
          <p:cNvPr id="10" name="Text 7"/>
          <p:cNvSpPr/>
          <p:nvPr/>
        </p:nvSpPr>
        <p:spPr>
          <a:xfrm>
            <a:off x="530352" y="1618488"/>
            <a:ext cx="2441448" cy="1993392"/>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Os pequenos são a maioria: 11.194 confinamentos de até 1.500 cabeças, 85% dos classificados (Bússola Farm 2025)</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Os grandes já estão concentrados e disputados: os 100 maiores têm 45% das cabeças</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A adoção digital cresce com escala e consultoria (Embrapa): o pequeno fica sem ferramenta, e o técnico TN é o elo</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A Embrapa indica que o vagão forrageiro se justifica a partir de cerca de 200 cabeças: coerente com o nosso piso</a:t>
            </a:r>
            <a:endParaRPr lang="en-US" sz="950" dirty="0"/>
          </a:p>
        </p:txBody>
      </p:sp>
      <p:sp>
        <p:nvSpPr>
          <p:cNvPr id="11" name="Shape 8"/>
          <p:cNvSpPr/>
          <p:nvPr/>
        </p:nvSpPr>
        <p:spPr>
          <a:xfrm>
            <a:off x="3246120" y="1143000"/>
            <a:ext cx="2606040" cy="384048"/>
          </a:xfrm>
          <a:prstGeom prst="rect">
            <a:avLst/>
          </a:prstGeom>
          <a:solidFill>
            <a:srgbClr val="C8106E"/>
          </a:solidFill>
          <a:ln/>
        </p:spPr>
        <p:txBody>
          <a:bodyPr/>
          <a:lstStyle/>
          <a:p>
            <a:endParaRPr/>
          </a:p>
        </p:txBody>
      </p:sp>
      <p:sp>
        <p:nvSpPr>
          <p:cNvPr id="12" name="Text 9"/>
          <p:cNvSpPr/>
          <p:nvPr/>
        </p:nvSpPr>
        <p:spPr>
          <a:xfrm>
            <a:off x="3355848" y="1143000"/>
            <a:ext cx="2386584"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 que pede cuidado</a:t>
            </a:r>
            <a:endParaRPr lang="en-US" sz="1200" dirty="0"/>
          </a:p>
        </p:txBody>
      </p:sp>
      <p:sp>
        <p:nvSpPr>
          <p:cNvPr id="13" name="Shape 10"/>
          <p:cNvSpPr/>
          <p:nvPr/>
        </p:nvSpPr>
        <p:spPr>
          <a:xfrm>
            <a:off x="3246120" y="1527048"/>
            <a:ext cx="2606040" cy="2130552"/>
          </a:xfrm>
          <a:prstGeom prst="rect">
            <a:avLst/>
          </a:prstGeom>
          <a:solidFill>
            <a:srgbClr val="F4F6F8"/>
          </a:solidFill>
          <a:ln/>
        </p:spPr>
        <p:txBody>
          <a:bodyPr/>
          <a:lstStyle/>
          <a:p>
            <a:endParaRPr/>
          </a:p>
        </p:txBody>
      </p:sp>
      <p:sp>
        <p:nvSpPr>
          <p:cNvPr id="14" name="Text 11"/>
          <p:cNvSpPr/>
          <p:nvPr/>
        </p:nvSpPr>
        <p:spPr>
          <a:xfrm>
            <a:off x="3319272" y="1618488"/>
            <a:ext cx="2441448" cy="1993392"/>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Em volume, o pequeno pesa menos: 23% da capacidade estática projetada (Bússola Farm 2025)</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Abaixo de 10 mil cabeças o volume ficou estável em 2024 (3,3 mi), enquanto os grandes cresceram</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O valor vem do número de fazendas e da fidelização, não do Sales Profit por cliente</a:t>
            </a:r>
            <a:endParaRPr lang="en-US" sz="950" dirty="0"/>
          </a:p>
        </p:txBody>
      </p:sp>
      <p:sp>
        <p:nvSpPr>
          <p:cNvPr id="15" name="Shape 12"/>
          <p:cNvSpPr/>
          <p:nvPr/>
        </p:nvSpPr>
        <p:spPr>
          <a:xfrm>
            <a:off x="6035040" y="1143000"/>
            <a:ext cx="2606040" cy="384048"/>
          </a:xfrm>
          <a:prstGeom prst="rect">
            <a:avLst/>
          </a:prstGeom>
          <a:solidFill>
            <a:srgbClr val="26668F"/>
          </a:solidFill>
          <a:ln/>
        </p:spPr>
        <p:txBody>
          <a:bodyPr/>
          <a:lstStyle/>
          <a:p>
            <a:endParaRPr/>
          </a:p>
        </p:txBody>
      </p:sp>
      <p:sp>
        <p:nvSpPr>
          <p:cNvPr id="16" name="Text 13"/>
          <p:cNvSpPr/>
          <p:nvPr/>
        </p:nvSpPr>
        <p:spPr>
          <a:xfrm>
            <a:off x="6144768" y="1143000"/>
            <a:ext cx="2386584"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 que ainda não sabemos</a:t>
            </a:r>
            <a:endParaRPr lang="en-US" sz="1200" dirty="0"/>
          </a:p>
        </p:txBody>
      </p:sp>
      <p:sp>
        <p:nvSpPr>
          <p:cNvPr id="17" name="Shape 14"/>
          <p:cNvSpPr/>
          <p:nvPr/>
        </p:nvSpPr>
        <p:spPr>
          <a:xfrm>
            <a:off x="6035040" y="1527048"/>
            <a:ext cx="2606040" cy="2130552"/>
          </a:xfrm>
          <a:prstGeom prst="rect">
            <a:avLst/>
          </a:prstGeom>
          <a:solidFill>
            <a:srgbClr val="F4F6F8"/>
          </a:solidFill>
          <a:ln/>
        </p:spPr>
        <p:txBody>
          <a:bodyPr/>
          <a:lstStyle/>
          <a:p>
            <a:endParaRPr/>
          </a:p>
        </p:txBody>
      </p:sp>
      <p:sp>
        <p:nvSpPr>
          <p:cNvPr id="18" name="Text 15"/>
          <p:cNvSpPr/>
          <p:nvPr/>
        </p:nvSpPr>
        <p:spPr>
          <a:xfrm>
            <a:off x="6108192" y="1618488"/>
            <a:ext cx="2441448" cy="1993392"/>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Percentual nacional de confinamentos com automação: não há dado público</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As fontes divergem no total: 2.445 no censo dsm-firmenich e 14.014 no Bússola Farm. Entender a diferença de método</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Recorte de 1.000 a 2.000 cabeças e distribuição por bioma</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A pesquisa com 30 fazendas preenche essas lacunas</a:t>
            </a:r>
            <a:endParaRPr lang="en-US" sz="950" dirty="0"/>
          </a:p>
        </p:txBody>
      </p:sp>
      <p:sp>
        <p:nvSpPr>
          <p:cNvPr id="19" name="Shape 16"/>
          <p:cNvSpPr/>
          <p:nvPr/>
        </p:nvSpPr>
        <p:spPr>
          <a:xfrm>
            <a:off x="457200" y="3749040"/>
            <a:ext cx="8229600" cy="530352"/>
          </a:xfrm>
          <a:prstGeom prst="rect">
            <a:avLst/>
          </a:prstGeom>
          <a:solidFill>
            <a:srgbClr val="1B3A8C"/>
          </a:solidFill>
          <a:ln/>
        </p:spPr>
        <p:txBody>
          <a:bodyPr/>
          <a:lstStyle/>
          <a:p>
            <a:endParaRPr/>
          </a:p>
        </p:txBody>
      </p:sp>
      <p:sp>
        <p:nvSpPr>
          <p:cNvPr id="20" name="Text 17"/>
          <p:cNvSpPr/>
          <p:nvPr/>
        </p:nvSpPr>
        <p:spPr>
          <a:xfrm>
            <a:off x="621792" y="3749040"/>
            <a:ext cx="7955280" cy="530352"/>
          </a:xfrm>
          <a:prstGeom prst="rect">
            <a:avLst/>
          </a:prstGeom>
          <a:noFill/>
          <a:ln/>
        </p:spPr>
        <p:txBody>
          <a:bodyPr wrap="square" lIns="0" tIns="0" rIns="0" bIns="0" rtlCol="0" anchor="ctr"/>
          <a:lstStyle/>
          <a:p>
            <a:pPr marL="0" indent="0">
              <a:buNone/>
            </a:pPr>
            <a:r>
              <a:rPr lang="en-US" sz="1100" b="1" dirty="0">
                <a:solidFill>
                  <a:srgbClr val="C5D300"/>
                </a:solidFill>
                <a:latin typeface="Calibri" pitchFamily="34" charset="0"/>
                <a:ea typeface="Calibri" pitchFamily="34" charset="-122"/>
                <a:cs typeface="Calibri" pitchFamily="34" charset="-120"/>
              </a:rPr>
              <a:t>Conclusão: </a:t>
            </a:r>
            <a:r>
              <a:rPr lang="en-US" sz="1100" dirty="0">
                <a:solidFill>
                  <a:srgbClr val="FFFFFF"/>
                </a:solidFill>
                <a:latin typeface="Calibri" pitchFamily="34" charset="0"/>
                <a:ea typeface="Calibri" pitchFamily="34" charset="-122"/>
                <a:cs typeface="Calibri" pitchFamily="34" charset="-120"/>
              </a:rPr>
              <a:t>o público de 200 a 2.000 cabeças é o maior em número de fazendas e o menos atendido. O caso se sustenta com custo baixo por cliente e escala de fazendas.</a:t>
            </a:r>
            <a:endParaRPr lang="en-US" sz="1100" dirty="0"/>
          </a:p>
        </p:txBody>
      </p:sp>
      <p:sp>
        <p:nvSpPr>
          <p:cNvPr id="21" name="TextBox 20"/>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2  ·  PARA QUEM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Mapa de valor: quem ganha o quê com o TN Manager Web</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Quatro públicos, quatro tipos de valor. Todos são hipóteses a validar no discovery.</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14</a:t>
            </a:r>
            <a:endParaRPr lang="en-US" sz="900" dirty="0"/>
          </a:p>
        </p:txBody>
      </p:sp>
      <p:sp>
        <p:nvSpPr>
          <p:cNvPr id="6" name="Shape 3"/>
          <p:cNvSpPr/>
          <p:nvPr/>
        </p:nvSpPr>
        <p:spPr>
          <a:xfrm>
            <a:off x="1920240" y="1874520"/>
            <a:ext cx="2651760" cy="731520"/>
          </a:xfrm>
          <a:prstGeom prst="line">
            <a:avLst/>
          </a:prstGeom>
          <a:noFill/>
          <a:ln w="25400">
            <a:solidFill>
              <a:srgbClr val="1B3A8C"/>
            </a:solidFill>
            <a:prstDash val="solid"/>
          </a:ln>
        </p:spPr>
        <p:txBody>
          <a:bodyPr/>
          <a:lstStyle/>
          <a:p>
            <a:endParaRPr lang="pt-BR"/>
          </a:p>
        </p:txBody>
      </p:sp>
      <p:sp>
        <p:nvSpPr>
          <p:cNvPr id="7" name="Shape 4"/>
          <p:cNvSpPr/>
          <p:nvPr/>
        </p:nvSpPr>
        <p:spPr>
          <a:xfrm flipV="1">
            <a:off x="1920240" y="2606040"/>
            <a:ext cx="2651760" cy="731520"/>
          </a:xfrm>
          <a:prstGeom prst="line">
            <a:avLst/>
          </a:prstGeom>
          <a:noFill/>
          <a:ln w="25400">
            <a:solidFill>
              <a:srgbClr val="26668F"/>
            </a:solidFill>
            <a:prstDash val="solid"/>
          </a:ln>
        </p:spPr>
        <p:txBody>
          <a:bodyPr/>
          <a:lstStyle/>
          <a:p>
            <a:endParaRPr lang="pt-BR"/>
          </a:p>
        </p:txBody>
      </p:sp>
      <p:sp>
        <p:nvSpPr>
          <p:cNvPr id="8" name="Shape 5"/>
          <p:cNvSpPr/>
          <p:nvPr/>
        </p:nvSpPr>
        <p:spPr>
          <a:xfrm flipV="1">
            <a:off x="4572000" y="1874520"/>
            <a:ext cx="2651760" cy="731520"/>
          </a:xfrm>
          <a:prstGeom prst="line">
            <a:avLst/>
          </a:prstGeom>
          <a:noFill/>
          <a:ln w="25400">
            <a:solidFill>
              <a:srgbClr val="0096B4"/>
            </a:solidFill>
            <a:prstDash val="solid"/>
          </a:ln>
        </p:spPr>
        <p:txBody>
          <a:bodyPr/>
          <a:lstStyle/>
          <a:p>
            <a:endParaRPr lang="pt-BR"/>
          </a:p>
        </p:txBody>
      </p:sp>
      <p:sp>
        <p:nvSpPr>
          <p:cNvPr id="9" name="Shape 6"/>
          <p:cNvSpPr/>
          <p:nvPr/>
        </p:nvSpPr>
        <p:spPr>
          <a:xfrm>
            <a:off x="4572000" y="2606040"/>
            <a:ext cx="2651760" cy="731520"/>
          </a:xfrm>
          <a:prstGeom prst="line">
            <a:avLst/>
          </a:prstGeom>
          <a:noFill/>
          <a:ln w="25400">
            <a:solidFill>
              <a:srgbClr val="C8106E"/>
            </a:solidFill>
            <a:prstDash val="solid"/>
          </a:ln>
        </p:spPr>
        <p:txBody>
          <a:bodyPr/>
          <a:lstStyle/>
          <a:p>
            <a:endParaRPr lang="pt-BR"/>
          </a:p>
        </p:txBody>
      </p:sp>
      <p:sp>
        <p:nvSpPr>
          <p:cNvPr id="10" name="Shape 7"/>
          <p:cNvSpPr/>
          <p:nvPr/>
        </p:nvSpPr>
        <p:spPr>
          <a:xfrm>
            <a:off x="3657600" y="2103120"/>
            <a:ext cx="1828800" cy="1005840"/>
          </a:xfrm>
          <a:prstGeom prst="ellipse">
            <a:avLst/>
          </a:prstGeom>
          <a:solidFill>
            <a:srgbClr val="1B3A8C"/>
          </a:solidFill>
          <a:ln/>
        </p:spPr>
        <p:txBody>
          <a:bodyPr/>
          <a:lstStyle/>
          <a:p>
            <a:endParaRPr lang="pt-BR"/>
          </a:p>
        </p:txBody>
      </p:sp>
      <p:sp>
        <p:nvSpPr>
          <p:cNvPr id="11" name="Text 8"/>
          <p:cNvSpPr/>
          <p:nvPr/>
        </p:nvSpPr>
        <p:spPr>
          <a:xfrm>
            <a:off x="3657600" y="2103120"/>
            <a:ext cx="1828800" cy="10058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TN Manager Web</a:t>
            </a:r>
            <a:endParaRPr lang="en-US" sz="1600" dirty="0"/>
          </a:p>
        </p:txBody>
      </p:sp>
      <p:sp>
        <p:nvSpPr>
          <p:cNvPr id="12" name="Shape 9"/>
          <p:cNvSpPr/>
          <p:nvPr/>
        </p:nvSpPr>
        <p:spPr>
          <a:xfrm>
            <a:off x="1645920" y="1600200"/>
            <a:ext cx="548640" cy="548640"/>
          </a:xfrm>
          <a:prstGeom prst="ellipse">
            <a:avLst/>
          </a:prstGeom>
          <a:solidFill>
            <a:srgbClr val="1B3A8C"/>
          </a:solidFill>
          <a:ln/>
        </p:spPr>
        <p:txBody>
          <a:bodyPr/>
          <a:lstStyle/>
          <a:p>
            <a:endParaRPr lang="pt-BR"/>
          </a:p>
        </p:txBody>
      </p:sp>
      <p:pic>
        <p:nvPicPr>
          <p:cNvPr id="13" name="Image 1" descr="preencoded.png"/>
          <p:cNvPicPr>
            <a:picLocks noChangeAspect="1"/>
          </p:cNvPicPr>
          <p:nvPr/>
        </p:nvPicPr>
        <p:blipFill>
          <a:blip r:embed="rId4"/>
          <a:stretch>
            <a:fillRect/>
          </a:stretch>
        </p:blipFill>
        <p:spPr>
          <a:xfrm>
            <a:off x="1783080" y="1737360"/>
            <a:ext cx="274320" cy="274320"/>
          </a:xfrm>
          <a:prstGeom prst="rect">
            <a:avLst/>
          </a:prstGeom>
        </p:spPr>
      </p:pic>
      <p:sp>
        <p:nvSpPr>
          <p:cNvPr id="14" name="Text 10"/>
          <p:cNvSpPr/>
          <p:nvPr/>
        </p:nvSpPr>
        <p:spPr>
          <a:xfrm>
            <a:off x="2267712" y="1755648"/>
            <a:ext cx="1572768" cy="237744"/>
          </a:xfrm>
          <a:prstGeom prst="rect">
            <a:avLst/>
          </a:prstGeom>
          <a:noFill/>
          <a:ln/>
        </p:spPr>
        <p:txBody>
          <a:bodyPr wrap="square" lIns="0" tIns="0" rIns="0" bIns="0" rtlCol="0" anchor="t"/>
          <a:lstStyle/>
          <a:p>
            <a:pPr marL="0" indent="0" algn="l">
              <a:buNone/>
            </a:pPr>
            <a:r>
              <a:rPr lang="en-US" sz="1150" b="1" dirty="0">
                <a:solidFill>
                  <a:srgbClr val="1B3A8C"/>
                </a:solidFill>
                <a:latin typeface="Calibri" pitchFamily="34" charset="0"/>
                <a:ea typeface="Calibri" pitchFamily="34" charset="-122"/>
                <a:cs typeface="Calibri" pitchFamily="34" charset="-120"/>
              </a:rPr>
              <a:t>Gestor do confinamento</a:t>
            </a:r>
            <a:endParaRPr lang="en-US" sz="1150" dirty="0"/>
          </a:p>
        </p:txBody>
      </p:sp>
      <p:sp>
        <p:nvSpPr>
          <p:cNvPr id="15" name="Shape 11"/>
          <p:cNvSpPr/>
          <p:nvPr/>
        </p:nvSpPr>
        <p:spPr>
          <a:xfrm>
            <a:off x="411480" y="1078992"/>
            <a:ext cx="1170432" cy="502920"/>
          </a:xfrm>
          <a:prstGeom prst="roundRect">
            <a:avLst>
              <a:gd name="adj" fmla="val 14545"/>
            </a:avLst>
          </a:prstGeom>
          <a:solidFill>
            <a:srgbClr val="F4F6F8"/>
          </a:solidFill>
          <a:ln w="9525">
            <a:solidFill>
              <a:srgbClr val="1B3A8C"/>
            </a:solidFill>
            <a:prstDash val="solid"/>
          </a:ln>
        </p:spPr>
        <p:txBody>
          <a:bodyPr/>
          <a:lstStyle/>
          <a:p>
            <a:endParaRPr lang="pt-BR"/>
          </a:p>
        </p:txBody>
      </p:sp>
      <p:sp>
        <p:nvSpPr>
          <p:cNvPr id="16" name="Text 12"/>
          <p:cNvSpPr/>
          <p:nvPr/>
        </p:nvSpPr>
        <p:spPr>
          <a:xfrm>
            <a:off x="466344" y="1097280"/>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Custo e desempenho por lote sem montar planilha</a:t>
            </a:r>
            <a:endParaRPr lang="en-US" sz="850" dirty="0"/>
          </a:p>
        </p:txBody>
      </p:sp>
      <p:sp>
        <p:nvSpPr>
          <p:cNvPr id="17" name="Shape 13"/>
          <p:cNvSpPr/>
          <p:nvPr/>
        </p:nvSpPr>
        <p:spPr>
          <a:xfrm>
            <a:off x="1645920" y="1078992"/>
            <a:ext cx="1170432" cy="502920"/>
          </a:xfrm>
          <a:prstGeom prst="roundRect">
            <a:avLst>
              <a:gd name="adj" fmla="val 14545"/>
            </a:avLst>
          </a:prstGeom>
          <a:solidFill>
            <a:srgbClr val="F4F6F8"/>
          </a:solidFill>
          <a:ln w="9525">
            <a:solidFill>
              <a:srgbClr val="1B3A8C"/>
            </a:solidFill>
            <a:prstDash val="solid"/>
          </a:ln>
        </p:spPr>
        <p:txBody>
          <a:bodyPr/>
          <a:lstStyle/>
          <a:p>
            <a:endParaRPr lang="pt-BR"/>
          </a:p>
        </p:txBody>
      </p:sp>
      <p:sp>
        <p:nvSpPr>
          <p:cNvPr id="18" name="Text 14"/>
          <p:cNvSpPr/>
          <p:nvPr/>
        </p:nvSpPr>
        <p:spPr>
          <a:xfrm>
            <a:off x="1700784" y="1097280"/>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Decidir com o dados da semana, não do mês</a:t>
            </a:r>
            <a:endParaRPr lang="en-US" sz="850" dirty="0"/>
          </a:p>
        </p:txBody>
      </p:sp>
      <p:sp>
        <p:nvSpPr>
          <p:cNvPr id="19" name="Shape 15"/>
          <p:cNvSpPr/>
          <p:nvPr/>
        </p:nvSpPr>
        <p:spPr>
          <a:xfrm>
            <a:off x="1645920" y="3063240"/>
            <a:ext cx="548640" cy="548640"/>
          </a:xfrm>
          <a:prstGeom prst="ellipse">
            <a:avLst/>
          </a:prstGeom>
          <a:solidFill>
            <a:srgbClr val="26668F"/>
          </a:solidFill>
          <a:ln/>
        </p:spPr>
        <p:txBody>
          <a:bodyPr/>
          <a:lstStyle/>
          <a:p>
            <a:endParaRPr lang="pt-BR"/>
          </a:p>
        </p:txBody>
      </p:sp>
      <p:pic>
        <p:nvPicPr>
          <p:cNvPr id="20" name="Image 2" descr="preencoded.png"/>
          <p:cNvPicPr>
            <a:picLocks noChangeAspect="1"/>
          </p:cNvPicPr>
          <p:nvPr/>
        </p:nvPicPr>
        <p:blipFill>
          <a:blip r:embed="rId5"/>
          <a:stretch>
            <a:fillRect/>
          </a:stretch>
        </p:blipFill>
        <p:spPr>
          <a:xfrm>
            <a:off x="1783080" y="3200400"/>
            <a:ext cx="274320" cy="274320"/>
          </a:xfrm>
          <a:prstGeom prst="rect">
            <a:avLst/>
          </a:prstGeom>
        </p:spPr>
      </p:pic>
      <p:sp>
        <p:nvSpPr>
          <p:cNvPr id="21" name="Text 16"/>
          <p:cNvSpPr/>
          <p:nvPr/>
        </p:nvSpPr>
        <p:spPr>
          <a:xfrm>
            <a:off x="2267712" y="3218688"/>
            <a:ext cx="1572768" cy="237744"/>
          </a:xfrm>
          <a:prstGeom prst="rect">
            <a:avLst/>
          </a:prstGeom>
          <a:noFill/>
          <a:ln/>
        </p:spPr>
        <p:txBody>
          <a:bodyPr wrap="square" lIns="0" tIns="0" rIns="0" bIns="0" rtlCol="0" anchor="t"/>
          <a:lstStyle/>
          <a:p>
            <a:pPr marL="0" indent="0" algn="l">
              <a:buNone/>
            </a:pPr>
            <a:r>
              <a:rPr lang="en-US" sz="1150" b="1" dirty="0">
                <a:solidFill>
                  <a:srgbClr val="26668F"/>
                </a:solidFill>
                <a:latin typeface="Calibri" pitchFamily="34" charset="0"/>
                <a:ea typeface="Calibri" pitchFamily="34" charset="-122"/>
                <a:cs typeface="Calibri" pitchFamily="34" charset="-120"/>
              </a:rPr>
              <a:t>Equipe do curral</a:t>
            </a:r>
            <a:endParaRPr lang="en-US" sz="1150" dirty="0"/>
          </a:p>
        </p:txBody>
      </p:sp>
      <p:sp>
        <p:nvSpPr>
          <p:cNvPr id="22" name="Shape 17"/>
          <p:cNvSpPr/>
          <p:nvPr/>
        </p:nvSpPr>
        <p:spPr>
          <a:xfrm>
            <a:off x="411480" y="3675888"/>
            <a:ext cx="1170432" cy="502920"/>
          </a:xfrm>
          <a:prstGeom prst="roundRect">
            <a:avLst>
              <a:gd name="adj" fmla="val 14545"/>
            </a:avLst>
          </a:prstGeom>
          <a:solidFill>
            <a:srgbClr val="F4F6F8"/>
          </a:solidFill>
          <a:ln w="9525">
            <a:solidFill>
              <a:srgbClr val="26668F"/>
            </a:solidFill>
            <a:prstDash val="solid"/>
          </a:ln>
        </p:spPr>
        <p:txBody>
          <a:bodyPr/>
          <a:lstStyle/>
          <a:p>
            <a:endParaRPr lang="pt-BR"/>
          </a:p>
        </p:txBody>
      </p:sp>
      <p:sp>
        <p:nvSpPr>
          <p:cNvPr id="23" name="Text 18"/>
          <p:cNvSpPr/>
          <p:nvPr/>
        </p:nvSpPr>
        <p:spPr>
          <a:xfrm>
            <a:off x="466344" y="3694176"/>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Lançar leitura de cocho e trato em poucos minutos</a:t>
            </a:r>
            <a:endParaRPr lang="en-US" sz="850" dirty="0"/>
          </a:p>
        </p:txBody>
      </p:sp>
      <p:sp>
        <p:nvSpPr>
          <p:cNvPr id="24" name="Shape 19"/>
          <p:cNvSpPr/>
          <p:nvPr/>
        </p:nvSpPr>
        <p:spPr>
          <a:xfrm>
            <a:off x="1645920" y="3675888"/>
            <a:ext cx="1170432" cy="502920"/>
          </a:xfrm>
          <a:prstGeom prst="roundRect">
            <a:avLst>
              <a:gd name="adj" fmla="val 14545"/>
            </a:avLst>
          </a:prstGeom>
          <a:solidFill>
            <a:srgbClr val="F4F6F8"/>
          </a:solidFill>
          <a:ln w="9525">
            <a:solidFill>
              <a:srgbClr val="26668F"/>
            </a:solidFill>
            <a:prstDash val="solid"/>
          </a:ln>
        </p:spPr>
        <p:txBody>
          <a:bodyPr/>
          <a:lstStyle/>
          <a:p>
            <a:endParaRPr lang="pt-BR"/>
          </a:p>
        </p:txBody>
      </p:sp>
      <p:sp>
        <p:nvSpPr>
          <p:cNvPr id="25" name="Text 20"/>
          <p:cNvSpPr/>
          <p:nvPr/>
        </p:nvSpPr>
        <p:spPr>
          <a:xfrm>
            <a:off x="1700784" y="3694176"/>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Tela simples, no celular ou no computador</a:t>
            </a:r>
            <a:endParaRPr lang="en-US" sz="850" dirty="0"/>
          </a:p>
        </p:txBody>
      </p:sp>
      <p:sp>
        <p:nvSpPr>
          <p:cNvPr id="26" name="Shape 21"/>
          <p:cNvSpPr/>
          <p:nvPr/>
        </p:nvSpPr>
        <p:spPr>
          <a:xfrm>
            <a:off x="6949440" y="1600200"/>
            <a:ext cx="548640" cy="548640"/>
          </a:xfrm>
          <a:prstGeom prst="ellipse">
            <a:avLst/>
          </a:prstGeom>
          <a:solidFill>
            <a:srgbClr val="0096B4"/>
          </a:solidFill>
          <a:ln/>
        </p:spPr>
        <p:txBody>
          <a:bodyPr/>
          <a:lstStyle/>
          <a:p>
            <a:endParaRPr lang="pt-BR"/>
          </a:p>
        </p:txBody>
      </p:sp>
      <p:pic>
        <p:nvPicPr>
          <p:cNvPr id="27" name="Image 3" descr="preencoded.png"/>
          <p:cNvPicPr>
            <a:picLocks noChangeAspect="1"/>
          </p:cNvPicPr>
          <p:nvPr/>
        </p:nvPicPr>
        <p:blipFill>
          <a:blip r:embed="rId6"/>
          <a:stretch>
            <a:fillRect/>
          </a:stretch>
        </p:blipFill>
        <p:spPr>
          <a:xfrm>
            <a:off x="7086600" y="1737360"/>
            <a:ext cx="274320" cy="274320"/>
          </a:xfrm>
          <a:prstGeom prst="rect">
            <a:avLst/>
          </a:prstGeom>
        </p:spPr>
      </p:pic>
      <p:sp>
        <p:nvSpPr>
          <p:cNvPr id="28" name="Text 22"/>
          <p:cNvSpPr/>
          <p:nvPr/>
        </p:nvSpPr>
        <p:spPr>
          <a:xfrm>
            <a:off x="5303520" y="1755648"/>
            <a:ext cx="1572768" cy="237744"/>
          </a:xfrm>
          <a:prstGeom prst="rect">
            <a:avLst/>
          </a:prstGeom>
          <a:noFill/>
          <a:ln/>
        </p:spPr>
        <p:txBody>
          <a:bodyPr wrap="square" lIns="0" tIns="0" rIns="0" bIns="0" rtlCol="0" anchor="t"/>
          <a:lstStyle/>
          <a:p>
            <a:pPr marL="0" indent="0" algn="r">
              <a:buNone/>
            </a:pPr>
            <a:r>
              <a:rPr lang="en-US" sz="1150" b="1" dirty="0">
                <a:solidFill>
                  <a:srgbClr val="0096B4"/>
                </a:solidFill>
                <a:latin typeface="Calibri" pitchFamily="34" charset="0"/>
                <a:ea typeface="Calibri" pitchFamily="34" charset="-122"/>
                <a:cs typeface="Calibri" pitchFamily="34" charset="-120"/>
              </a:rPr>
              <a:t>Técnico TN</a:t>
            </a:r>
            <a:endParaRPr lang="en-US" sz="1150" dirty="0"/>
          </a:p>
        </p:txBody>
      </p:sp>
      <p:sp>
        <p:nvSpPr>
          <p:cNvPr id="29" name="Shape 23"/>
          <p:cNvSpPr/>
          <p:nvPr/>
        </p:nvSpPr>
        <p:spPr>
          <a:xfrm>
            <a:off x="6309360" y="1078992"/>
            <a:ext cx="1170432" cy="502920"/>
          </a:xfrm>
          <a:prstGeom prst="roundRect">
            <a:avLst>
              <a:gd name="adj" fmla="val 14545"/>
            </a:avLst>
          </a:prstGeom>
          <a:solidFill>
            <a:srgbClr val="F4F6F8"/>
          </a:solidFill>
          <a:ln w="9525">
            <a:solidFill>
              <a:srgbClr val="0096B4"/>
            </a:solidFill>
            <a:prstDash val="solid"/>
          </a:ln>
        </p:spPr>
        <p:txBody>
          <a:bodyPr/>
          <a:lstStyle/>
          <a:p>
            <a:endParaRPr lang="pt-BR"/>
          </a:p>
        </p:txBody>
      </p:sp>
      <p:sp>
        <p:nvSpPr>
          <p:cNvPr id="30" name="Text 24"/>
          <p:cNvSpPr/>
          <p:nvPr/>
        </p:nvSpPr>
        <p:spPr>
          <a:xfrm>
            <a:off x="6364224" y="1097280"/>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Acompanhar várias fazendas à distância</a:t>
            </a:r>
            <a:endParaRPr lang="en-US" sz="850" dirty="0"/>
          </a:p>
        </p:txBody>
      </p:sp>
      <p:sp>
        <p:nvSpPr>
          <p:cNvPr id="31" name="Shape 25"/>
          <p:cNvSpPr/>
          <p:nvPr/>
        </p:nvSpPr>
        <p:spPr>
          <a:xfrm>
            <a:off x="7543800" y="1078992"/>
            <a:ext cx="1170432" cy="502920"/>
          </a:xfrm>
          <a:prstGeom prst="roundRect">
            <a:avLst>
              <a:gd name="adj" fmla="val 14545"/>
            </a:avLst>
          </a:prstGeom>
          <a:solidFill>
            <a:srgbClr val="F4F6F8"/>
          </a:solidFill>
          <a:ln w="9525">
            <a:solidFill>
              <a:srgbClr val="0096B4"/>
            </a:solidFill>
            <a:prstDash val="solid"/>
          </a:ln>
        </p:spPr>
        <p:txBody>
          <a:bodyPr/>
          <a:lstStyle/>
          <a:p>
            <a:endParaRPr lang="pt-BR"/>
          </a:p>
        </p:txBody>
      </p:sp>
      <p:sp>
        <p:nvSpPr>
          <p:cNvPr id="32" name="Text 26"/>
          <p:cNvSpPr/>
          <p:nvPr/>
        </p:nvSpPr>
        <p:spPr>
          <a:xfrm>
            <a:off x="7598664" y="1097280"/>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Recomendar ajuste de dieta com dado real</a:t>
            </a:r>
            <a:endParaRPr lang="en-US" sz="850" dirty="0"/>
          </a:p>
        </p:txBody>
      </p:sp>
      <p:sp>
        <p:nvSpPr>
          <p:cNvPr id="33" name="Shape 27"/>
          <p:cNvSpPr/>
          <p:nvPr/>
        </p:nvSpPr>
        <p:spPr>
          <a:xfrm>
            <a:off x="6949440" y="3063240"/>
            <a:ext cx="548640" cy="548640"/>
          </a:xfrm>
          <a:prstGeom prst="ellipse">
            <a:avLst/>
          </a:prstGeom>
          <a:solidFill>
            <a:srgbClr val="C8106E"/>
          </a:solidFill>
          <a:ln/>
        </p:spPr>
        <p:txBody>
          <a:bodyPr/>
          <a:lstStyle/>
          <a:p>
            <a:endParaRPr lang="pt-BR"/>
          </a:p>
        </p:txBody>
      </p:sp>
      <p:pic>
        <p:nvPicPr>
          <p:cNvPr id="34" name="Image 4" descr="preencoded.png"/>
          <p:cNvPicPr>
            <a:picLocks noChangeAspect="1"/>
          </p:cNvPicPr>
          <p:nvPr/>
        </p:nvPicPr>
        <p:blipFill>
          <a:blip r:embed="rId7"/>
          <a:stretch>
            <a:fillRect/>
          </a:stretch>
        </p:blipFill>
        <p:spPr>
          <a:xfrm>
            <a:off x="7086600" y="3200400"/>
            <a:ext cx="274320" cy="274320"/>
          </a:xfrm>
          <a:prstGeom prst="rect">
            <a:avLst/>
          </a:prstGeom>
        </p:spPr>
      </p:pic>
      <p:sp>
        <p:nvSpPr>
          <p:cNvPr id="35" name="Text 28"/>
          <p:cNvSpPr/>
          <p:nvPr/>
        </p:nvSpPr>
        <p:spPr>
          <a:xfrm>
            <a:off x="5303520" y="3218688"/>
            <a:ext cx="1572768" cy="237744"/>
          </a:xfrm>
          <a:prstGeom prst="rect">
            <a:avLst/>
          </a:prstGeom>
          <a:noFill/>
          <a:ln/>
        </p:spPr>
        <p:txBody>
          <a:bodyPr wrap="square" lIns="0" tIns="0" rIns="0" bIns="0" rtlCol="0" anchor="t"/>
          <a:lstStyle/>
          <a:p>
            <a:pPr marL="0" indent="0" algn="r">
              <a:buNone/>
            </a:pPr>
            <a:r>
              <a:rPr lang="en-US" sz="1150" b="1" dirty="0">
                <a:solidFill>
                  <a:srgbClr val="C8106E"/>
                </a:solidFill>
                <a:latin typeface="Calibri" pitchFamily="34" charset="0"/>
                <a:ea typeface="Calibri" pitchFamily="34" charset="-122"/>
                <a:cs typeface="Calibri" pitchFamily="34" charset="-120"/>
              </a:rPr>
              <a:t>Trouw Nutrition</a:t>
            </a:r>
            <a:endParaRPr lang="en-US" sz="1150" dirty="0"/>
          </a:p>
        </p:txBody>
      </p:sp>
      <p:sp>
        <p:nvSpPr>
          <p:cNvPr id="36" name="Shape 29"/>
          <p:cNvSpPr/>
          <p:nvPr/>
        </p:nvSpPr>
        <p:spPr>
          <a:xfrm>
            <a:off x="6309360" y="3675888"/>
            <a:ext cx="1170432" cy="502920"/>
          </a:xfrm>
          <a:prstGeom prst="roundRect">
            <a:avLst>
              <a:gd name="adj" fmla="val 14545"/>
            </a:avLst>
          </a:prstGeom>
          <a:solidFill>
            <a:srgbClr val="F4F6F8"/>
          </a:solidFill>
          <a:ln w="9525">
            <a:solidFill>
              <a:srgbClr val="C8106E"/>
            </a:solidFill>
            <a:prstDash val="solid"/>
          </a:ln>
        </p:spPr>
        <p:txBody>
          <a:bodyPr/>
          <a:lstStyle/>
          <a:p>
            <a:endParaRPr lang="pt-BR"/>
          </a:p>
        </p:txBody>
      </p:sp>
      <p:sp>
        <p:nvSpPr>
          <p:cNvPr id="37" name="Text 30"/>
          <p:cNvSpPr/>
          <p:nvPr/>
        </p:nvSpPr>
        <p:spPr>
          <a:xfrm>
            <a:off x="6364224" y="3694176"/>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Fidelizar </a:t>
            </a:r>
            <a:r>
              <a:rPr lang="en-US" sz="850" dirty="0" err="1">
                <a:solidFill>
                  <a:srgbClr val="4A5560"/>
                </a:solidFill>
                <a:latin typeface="Calibri" pitchFamily="34" charset="0"/>
                <a:ea typeface="Calibri" pitchFamily="34" charset="-122"/>
                <a:cs typeface="Calibri" pitchFamily="34" charset="-120"/>
              </a:rPr>
              <a:t>clientes</a:t>
            </a:r>
            <a:r>
              <a:rPr lang="en-US" sz="850" dirty="0">
                <a:solidFill>
                  <a:srgbClr val="4A5560"/>
                </a:solidFill>
                <a:latin typeface="Calibri" pitchFamily="34" charset="0"/>
                <a:ea typeface="Calibri" pitchFamily="34" charset="-122"/>
                <a:cs typeface="Calibri" pitchFamily="34" charset="-120"/>
              </a:rPr>
              <a:t> em </a:t>
            </a:r>
            <a:r>
              <a:rPr lang="en-US" sz="850" dirty="0" err="1">
                <a:solidFill>
                  <a:srgbClr val="4A5560"/>
                </a:solidFill>
                <a:latin typeface="Calibri" pitchFamily="34" charset="0"/>
                <a:ea typeface="Calibri" pitchFamily="34" charset="-122"/>
                <a:cs typeface="Calibri" pitchFamily="34" charset="-120"/>
              </a:rPr>
              <a:t>nutrição</a:t>
            </a:r>
            <a:endParaRPr lang="en-US" sz="850" dirty="0"/>
          </a:p>
        </p:txBody>
      </p:sp>
      <p:sp>
        <p:nvSpPr>
          <p:cNvPr id="38" name="Shape 31"/>
          <p:cNvSpPr/>
          <p:nvPr/>
        </p:nvSpPr>
        <p:spPr>
          <a:xfrm>
            <a:off x="7543800" y="3675888"/>
            <a:ext cx="1170432" cy="502920"/>
          </a:xfrm>
          <a:prstGeom prst="roundRect">
            <a:avLst>
              <a:gd name="adj" fmla="val 14545"/>
            </a:avLst>
          </a:prstGeom>
          <a:solidFill>
            <a:srgbClr val="F4F6F8"/>
          </a:solidFill>
          <a:ln w="9525">
            <a:solidFill>
              <a:srgbClr val="C8106E"/>
            </a:solidFill>
            <a:prstDash val="solid"/>
          </a:ln>
        </p:spPr>
        <p:txBody>
          <a:bodyPr/>
          <a:lstStyle/>
          <a:p>
            <a:endParaRPr lang="pt-BR"/>
          </a:p>
        </p:txBody>
      </p:sp>
      <p:sp>
        <p:nvSpPr>
          <p:cNvPr id="39" name="Text 32"/>
          <p:cNvSpPr/>
          <p:nvPr/>
        </p:nvSpPr>
        <p:spPr>
          <a:xfrm>
            <a:off x="7598664" y="3694176"/>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Porta de entrada para não clientes</a:t>
            </a:r>
            <a:endParaRPr lang="en-US" sz="850" dirty="0"/>
          </a:p>
        </p:txBody>
      </p:sp>
      <p:sp>
        <p:nvSpPr>
          <p:cNvPr id="40" name="TextBox 39"/>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3  ·  O QUE ENTREGAMOS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Nosso diferencial é a entrega técnica, não a ferramenta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Software de gestão virou item de prateleira. O cliente paga pela decisão que sai dos dados.</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15</a:t>
            </a:r>
            <a:endParaRPr lang="en-US" sz="900" dirty="0"/>
          </a:p>
        </p:txBody>
      </p:sp>
      <p:sp>
        <p:nvSpPr>
          <p:cNvPr id="6" name="Shape 3"/>
          <p:cNvSpPr/>
          <p:nvPr/>
        </p:nvSpPr>
        <p:spPr>
          <a:xfrm>
            <a:off x="457200" y="1188720"/>
            <a:ext cx="3291840" cy="658368"/>
          </a:xfrm>
          <a:prstGeom prst="rect">
            <a:avLst/>
          </a:prstGeom>
          <a:solidFill>
            <a:srgbClr val="D5DAE0"/>
          </a:solidFill>
          <a:ln/>
        </p:spPr>
        <p:txBody>
          <a:bodyPr/>
          <a:lstStyle/>
          <a:p>
            <a:endParaRPr/>
          </a:p>
        </p:txBody>
      </p:sp>
      <p:sp>
        <p:nvSpPr>
          <p:cNvPr id="7" name="Text 4"/>
          <p:cNvSpPr/>
          <p:nvPr/>
        </p:nvSpPr>
        <p:spPr>
          <a:xfrm>
            <a:off x="566928" y="1188720"/>
            <a:ext cx="320040" cy="658368"/>
          </a:xfrm>
          <a:prstGeom prst="rect">
            <a:avLst/>
          </a:prstGeom>
          <a:noFill/>
          <a:ln/>
        </p:spPr>
        <p:txBody>
          <a:bodyPr wrap="square" lIns="0" tIns="0" rIns="0" bIns="0" rtlCol="0" anchor="ctr"/>
          <a:lstStyle/>
          <a:p>
            <a:pPr marL="0" indent="0">
              <a:buNone/>
            </a:pPr>
            <a:r>
              <a:rPr lang="en-US" sz="2200" b="1" dirty="0">
                <a:solidFill>
                  <a:srgbClr val="4A5560"/>
                </a:solidFill>
                <a:latin typeface="Calibri" pitchFamily="34" charset="0"/>
                <a:ea typeface="Calibri" pitchFamily="34" charset="-122"/>
                <a:cs typeface="Calibri" pitchFamily="34" charset="-120"/>
              </a:rPr>
              <a:t>1</a:t>
            </a:r>
            <a:endParaRPr lang="en-US" sz="2200" dirty="0"/>
          </a:p>
        </p:txBody>
      </p:sp>
      <p:sp>
        <p:nvSpPr>
          <p:cNvPr id="8" name="Text 5"/>
          <p:cNvSpPr/>
          <p:nvPr/>
        </p:nvSpPr>
        <p:spPr>
          <a:xfrm>
            <a:off x="960120" y="1261872"/>
            <a:ext cx="2651760" cy="237744"/>
          </a:xfrm>
          <a:prstGeom prst="rect">
            <a:avLst/>
          </a:prstGeom>
          <a:noFill/>
          <a:ln/>
        </p:spPr>
        <p:txBody>
          <a:bodyPr wrap="square" lIns="0" tIns="0" rIns="0" bIns="0" rtlCol="0" anchor="t"/>
          <a:lstStyle/>
          <a:p>
            <a:pPr marL="0" indent="0">
              <a:buNone/>
            </a:pPr>
            <a:r>
              <a:rPr lang="en-US" sz="1250" b="1" dirty="0">
                <a:solidFill>
                  <a:srgbClr val="4A5560"/>
                </a:solidFill>
                <a:latin typeface="Calibri" pitchFamily="34" charset="0"/>
                <a:ea typeface="Calibri" pitchFamily="34" charset="-122"/>
                <a:cs typeface="Calibri" pitchFamily="34" charset="-120"/>
              </a:rPr>
              <a:t>Ferramenta</a:t>
            </a:r>
            <a:endParaRPr lang="en-US" sz="1250" dirty="0"/>
          </a:p>
        </p:txBody>
      </p:sp>
      <p:sp>
        <p:nvSpPr>
          <p:cNvPr id="9" name="Text 6"/>
          <p:cNvSpPr/>
          <p:nvPr/>
        </p:nvSpPr>
        <p:spPr>
          <a:xfrm>
            <a:off x="960120" y="1508760"/>
            <a:ext cx="2651760" cy="310896"/>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Lançamento, painel e relatório. Cargill, DSM, TGC e outros já oferecem.</a:t>
            </a:r>
            <a:endParaRPr lang="en-US" sz="950" dirty="0"/>
          </a:p>
        </p:txBody>
      </p:sp>
      <p:sp>
        <p:nvSpPr>
          <p:cNvPr id="10" name="Shape 7"/>
          <p:cNvSpPr/>
          <p:nvPr/>
        </p:nvSpPr>
        <p:spPr>
          <a:xfrm>
            <a:off x="3840480" y="1408176"/>
            <a:ext cx="1417320" cy="219456"/>
          </a:xfrm>
          <a:prstGeom prst="roundRect">
            <a:avLst>
              <a:gd name="adj" fmla="val 50000"/>
            </a:avLst>
          </a:prstGeom>
          <a:solidFill>
            <a:srgbClr val="7A858F"/>
          </a:solidFill>
          <a:ln/>
        </p:spPr>
        <p:txBody>
          <a:bodyPr/>
          <a:lstStyle/>
          <a:p>
            <a:endParaRPr/>
          </a:p>
        </p:txBody>
      </p:sp>
      <p:sp>
        <p:nvSpPr>
          <p:cNvPr id="11" name="Text 8"/>
          <p:cNvSpPr/>
          <p:nvPr/>
        </p:nvSpPr>
        <p:spPr>
          <a:xfrm>
            <a:off x="3840480" y="1408176"/>
            <a:ext cx="141732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Item de prateleira</a:t>
            </a:r>
            <a:endParaRPr lang="en-US" sz="900" dirty="0"/>
          </a:p>
        </p:txBody>
      </p:sp>
      <p:sp>
        <p:nvSpPr>
          <p:cNvPr id="12" name="Shape 9"/>
          <p:cNvSpPr/>
          <p:nvPr/>
        </p:nvSpPr>
        <p:spPr>
          <a:xfrm>
            <a:off x="457200" y="1956816"/>
            <a:ext cx="3566160" cy="658368"/>
          </a:xfrm>
          <a:prstGeom prst="rect">
            <a:avLst/>
          </a:prstGeom>
          <a:solidFill>
            <a:srgbClr val="26668F"/>
          </a:solidFill>
          <a:ln/>
        </p:spPr>
        <p:txBody>
          <a:bodyPr/>
          <a:lstStyle/>
          <a:p>
            <a:endParaRPr/>
          </a:p>
        </p:txBody>
      </p:sp>
      <p:sp>
        <p:nvSpPr>
          <p:cNvPr id="13" name="Text 10"/>
          <p:cNvSpPr/>
          <p:nvPr/>
        </p:nvSpPr>
        <p:spPr>
          <a:xfrm>
            <a:off x="566928" y="1956816"/>
            <a:ext cx="32004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4" name="Text 11"/>
          <p:cNvSpPr/>
          <p:nvPr/>
        </p:nvSpPr>
        <p:spPr>
          <a:xfrm>
            <a:off x="960120" y="2029968"/>
            <a:ext cx="2926080" cy="237744"/>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Dados confiáveis</a:t>
            </a:r>
            <a:endParaRPr lang="en-US" sz="1250" dirty="0"/>
          </a:p>
        </p:txBody>
      </p:sp>
      <p:sp>
        <p:nvSpPr>
          <p:cNvPr id="15" name="Text 12"/>
          <p:cNvSpPr/>
          <p:nvPr/>
        </p:nvSpPr>
        <p:spPr>
          <a:xfrm>
            <a:off x="960120" y="2276856"/>
            <a:ext cx="2926080" cy="310896"/>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Lançamento diário conferido por auditoria mensal da rotina.</a:t>
            </a:r>
            <a:endParaRPr lang="en-US" sz="950" dirty="0"/>
          </a:p>
        </p:txBody>
      </p:sp>
      <p:sp>
        <p:nvSpPr>
          <p:cNvPr id="16" name="Shape 13"/>
          <p:cNvSpPr/>
          <p:nvPr/>
        </p:nvSpPr>
        <p:spPr>
          <a:xfrm>
            <a:off x="457200" y="2724912"/>
            <a:ext cx="3840480" cy="658368"/>
          </a:xfrm>
          <a:prstGeom prst="rect">
            <a:avLst/>
          </a:prstGeom>
          <a:solidFill>
            <a:srgbClr val="1B3A8C"/>
          </a:solidFill>
          <a:ln/>
        </p:spPr>
        <p:txBody>
          <a:bodyPr/>
          <a:lstStyle/>
          <a:p>
            <a:endParaRPr/>
          </a:p>
        </p:txBody>
      </p:sp>
      <p:sp>
        <p:nvSpPr>
          <p:cNvPr id="17" name="Text 14"/>
          <p:cNvSpPr/>
          <p:nvPr/>
        </p:nvSpPr>
        <p:spPr>
          <a:xfrm>
            <a:off x="566928" y="2724912"/>
            <a:ext cx="32004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8" name="Text 15"/>
          <p:cNvSpPr/>
          <p:nvPr/>
        </p:nvSpPr>
        <p:spPr>
          <a:xfrm>
            <a:off x="960120" y="2798064"/>
            <a:ext cx="3200400" cy="237744"/>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Análise técnica TN</a:t>
            </a:r>
            <a:endParaRPr lang="en-US" sz="1250" dirty="0"/>
          </a:p>
        </p:txBody>
      </p:sp>
      <p:sp>
        <p:nvSpPr>
          <p:cNvPr id="19" name="Text 16"/>
          <p:cNvSpPr/>
          <p:nvPr/>
        </p:nvSpPr>
        <p:spPr>
          <a:xfrm>
            <a:off x="960120" y="3044952"/>
            <a:ext cx="3200400" cy="310896"/>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O analista lê os números toda semana e compara com fazendas parecidas (benchmark).</a:t>
            </a:r>
            <a:endParaRPr lang="en-US" sz="950" dirty="0"/>
          </a:p>
        </p:txBody>
      </p:sp>
      <p:sp>
        <p:nvSpPr>
          <p:cNvPr id="20" name="Shape 17"/>
          <p:cNvSpPr/>
          <p:nvPr/>
        </p:nvSpPr>
        <p:spPr>
          <a:xfrm>
            <a:off x="457200" y="3493008"/>
            <a:ext cx="4114800" cy="658368"/>
          </a:xfrm>
          <a:prstGeom prst="rect">
            <a:avLst/>
          </a:prstGeom>
          <a:solidFill>
            <a:srgbClr val="C8106E"/>
          </a:solidFill>
          <a:ln/>
        </p:spPr>
        <p:txBody>
          <a:bodyPr/>
          <a:lstStyle/>
          <a:p>
            <a:endParaRPr/>
          </a:p>
        </p:txBody>
      </p:sp>
      <p:sp>
        <p:nvSpPr>
          <p:cNvPr id="21" name="Text 18"/>
          <p:cNvSpPr/>
          <p:nvPr/>
        </p:nvSpPr>
        <p:spPr>
          <a:xfrm>
            <a:off x="566928" y="3493008"/>
            <a:ext cx="32004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2" name="Text 19"/>
          <p:cNvSpPr/>
          <p:nvPr/>
        </p:nvSpPr>
        <p:spPr>
          <a:xfrm>
            <a:off x="960120" y="3566160"/>
            <a:ext cx="3474720" cy="237744"/>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Decisão na fazenda</a:t>
            </a:r>
            <a:endParaRPr lang="en-US" sz="1250" dirty="0"/>
          </a:p>
        </p:txBody>
      </p:sp>
      <p:sp>
        <p:nvSpPr>
          <p:cNvPr id="23" name="Text 20"/>
          <p:cNvSpPr/>
          <p:nvPr/>
        </p:nvSpPr>
        <p:spPr>
          <a:xfrm>
            <a:off x="960120" y="3813048"/>
            <a:ext cx="3474720" cy="310896"/>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Ajuste de dieta, trato, lotação, compra e venda de animais.</a:t>
            </a:r>
            <a:endParaRPr lang="en-US" sz="950" dirty="0"/>
          </a:p>
        </p:txBody>
      </p:sp>
      <p:sp>
        <p:nvSpPr>
          <p:cNvPr id="24" name="Shape 21"/>
          <p:cNvSpPr/>
          <p:nvPr/>
        </p:nvSpPr>
        <p:spPr>
          <a:xfrm>
            <a:off x="4663440" y="3712464"/>
            <a:ext cx="1417320" cy="219456"/>
          </a:xfrm>
          <a:prstGeom prst="roundRect">
            <a:avLst>
              <a:gd name="adj" fmla="val 50000"/>
            </a:avLst>
          </a:prstGeom>
          <a:solidFill>
            <a:srgbClr val="C8106E"/>
          </a:solidFill>
          <a:ln/>
        </p:spPr>
        <p:txBody>
          <a:bodyPr/>
          <a:lstStyle/>
          <a:p>
            <a:endParaRPr/>
          </a:p>
        </p:txBody>
      </p:sp>
      <p:sp>
        <p:nvSpPr>
          <p:cNvPr id="25" name="Text 22"/>
          <p:cNvSpPr/>
          <p:nvPr/>
        </p:nvSpPr>
        <p:spPr>
          <a:xfrm>
            <a:off x="4663440" y="3712464"/>
            <a:ext cx="141732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Onde está o nosso valor</a:t>
            </a:r>
            <a:endParaRPr lang="en-US" sz="900" dirty="0"/>
          </a:p>
        </p:txBody>
      </p:sp>
      <p:sp>
        <p:nvSpPr>
          <p:cNvPr id="26" name="Shape 23"/>
          <p:cNvSpPr/>
          <p:nvPr/>
        </p:nvSpPr>
        <p:spPr>
          <a:xfrm>
            <a:off x="6263640" y="1188720"/>
            <a:ext cx="2423160" cy="2962656"/>
          </a:xfrm>
          <a:prstGeom prst="rect">
            <a:avLst/>
          </a:prstGeom>
          <a:solidFill>
            <a:srgbClr val="F4F6F8"/>
          </a:solidFill>
          <a:ln/>
        </p:spPr>
        <p:txBody>
          <a:bodyPr/>
          <a:lstStyle/>
          <a:p>
            <a:endParaRPr/>
          </a:p>
        </p:txBody>
      </p:sp>
      <p:sp>
        <p:nvSpPr>
          <p:cNvPr id="27" name="Shape 24"/>
          <p:cNvSpPr/>
          <p:nvPr/>
        </p:nvSpPr>
        <p:spPr>
          <a:xfrm>
            <a:off x="6263640" y="1188720"/>
            <a:ext cx="54864" cy="2962656"/>
          </a:xfrm>
          <a:prstGeom prst="rect">
            <a:avLst/>
          </a:prstGeom>
          <a:solidFill>
            <a:srgbClr val="C8106E"/>
          </a:solidFill>
          <a:ln/>
        </p:spPr>
        <p:txBody>
          <a:bodyPr/>
          <a:lstStyle/>
          <a:p>
            <a:endParaRPr/>
          </a:p>
        </p:txBody>
      </p:sp>
      <p:sp>
        <p:nvSpPr>
          <p:cNvPr id="28" name="Text 25"/>
          <p:cNvSpPr/>
          <p:nvPr/>
        </p:nvSpPr>
        <p:spPr>
          <a:xfrm>
            <a:off x="6428232" y="1280160"/>
            <a:ext cx="2194560" cy="274320"/>
          </a:xfrm>
          <a:prstGeom prst="rect">
            <a:avLst/>
          </a:prstGeom>
          <a:noFill/>
          <a:ln/>
        </p:spPr>
        <p:txBody>
          <a:bodyPr wrap="square" lIns="0" tIns="0" rIns="0" bIns="0" rtlCol="0" anchor="t"/>
          <a:lstStyle/>
          <a:p>
            <a:pPr marL="0" indent="0">
              <a:buNone/>
            </a:pPr>
            <a:r>
              <a:rPr lang="en-US" sz="1200" b="1" dirty="0">
                <a:solidFill>
                  <a:srgbClr val="1B3A8C"/>
                </a:solidFill>
                <a:latin typeface="Calibri" pitchFamily="34" charset="0"/>
                <a:ea typeface="Calibri" pitchFamily="34" charset="-122"/>
                <a:cs typeface="Calibri" pitchFamily="34" charset="-120"/>
              </a:rPr>
              <a:t>Como explicar</a:t>
            </a:r>
            <a:endParaRPr lang="en-US" sz="1200" dirty="0"/>
          </a:p>
        </p:txBody>
      </p:sp>
      <p:sp>
        <p:nvSpPr>
          <p:cNvPr id="29" name="Text 26"/>
          <p:cNvSpPr/>
          <p:nvPr/>
        </p:nvSpPr>
        <p:spPr>
          <a:xfrm>
            <a:off x="6400800" y="1627632"/>
            <a:ext cx="2212848" cy="246888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4A5560"/>
                </a:solidFill>
                <a:latin typeface="Calibri" pitchFamily="34" charset="0"/>
                <a:ea typeface="Calibri" pitchFamily="34" charset="-122"/>
                <a:cs typeface="Calibri" pitchFamily="34" charset="-120"/>
              </a:rPr>
              <a:t>A ferramenta é o meio. O produto é o acompanhamento técnico</a:t>
            </a:r>
            <a:endParaRPr lang="en-US" sz="950" dirty="0"/>
          </a:p>
          <a:p>
            <a:pPr marL="114300" indent="-114300">
              <a:spcAft>
                <a:spcPts val="300"/>
              </a:spcAft>
              <a:buSzPct val="100000"/>
              <a:buChar char="•"/>
            </a:pPr>
            <a:r>
              <a:rPr lang="en-US" sz="950" dirty="0">
                <a:solidFill>
                  <a:srgbClr val="4A5560"/>
                </a:solidFill>
                <a:latin typeface="Calibri" pitchFamily="34" charset="0"/>
                <a:ea typeface="Calibri" pitchFamily="34" charset="-122"/>
                <a:cs typeface="Calibri" pitchFamily="34" charset="-120"/>
              </a:rPr>
              <a:t>Medimos sucesso pelo resultado do cliente (ganho de peso, custo da arroba), não por acessos ao sistema</a:t>
            </a:r>
            <a:endParaRPr lang="en-US" sz="950" dirty="0"/>
          </a:p>
          <a:p>
            <a:pPr marL="114300" indent="-114300">
              <a:spcAft>
                <a:spcPts val="300"/>
              </a:spcAft>
              <a:buSzPct val="100000"/>
              <a:buChar char="•"/>
            </a:pPr>
            <a:r>
              <a:rPr lang="en-US" sz="950" dirty="0">
                <a:solidFill>
                  <a:srgbClr val="4A5560"/>
                </a:solidFill>
                <a:latin typeface="Calibri" pitchFamily="34" charset="0"/>
                <a:ea typeface="Calibri" pitchFamily="34" charset="-122"/>
                <a:cs typeface="Calibri" pitchFamily="34" charset="-120"/>
              </a:rPr>
              <a:t>Benchmark entre fazendas só existe com a base de clientes da TN</a:t>
            </a:r>
            <a:endParaRPr lang="en-US" sz="950" dirty="0"/>
          </a:p>
          <a:p>
            <a:pPr marL="114300" indent="-114300">
              <a:spcAft>
                <a:spcPts val="300"/>
              </a:spcAft>
              <a:buSzPct val="100000"/>
              <a:buChar char="•"/>
            </a:pPr>
            <a:r>
              <a:rPr lang="en-US" sz="950" dirty="0">
                <a:solidFill>
                  <a:srgbClr val="4A5560"/>
                </a:solidFill>
                <a:latin typeface="Calibri" pitchFamily="34" charset="0"/>
                <a:ea typeface="Calibri" pitchFamily="34" charset="-122"/>
                <a:cs typeface="Calibri" pitchFamily="34" charset="-120"/>
              </a:rPr>
              <a:t>A ferramenta pode mudar de fornecedor; o método de análise fica com a TN</a:t>
            </a:r>
            <a:endParaRPr lang="en-US" sz="950" dirty="0"/>
          </a:p>
        </p:txBody>
      </p:sp>
      <p:sp>
        <p:nvSpPr>
          <p:cNvPr id="30" name="TextBox 29"/>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3  ·  O QUE ENTREGAMOS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Como o produto funciona na rotina da fazenda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A fazenda registra (passos 1 a 3). A TN transforma em decisão (passos 4 e 5), toda semana.</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16</a:t>
            </a:r>
            <a:endParaRPr lang="en-US" sz="900" dirty="0"/>
          </a:p>
        </p:txBody>
      </p:sp>
      <p:sp>
        <p:nvSpPr>
          <p:cNvPr id="6" name="Shape 3"/>
          <p:cNvSpPr/>
          <p:nvPr/>
        </p:nvSpPr>
        <p:spPr>
          <a:xfrm>
            <a:off x="5010912" y="1078992"/>
            <a:ext cx="3721608" cy="2240280"/>
          </a:xfrm>
          <a:prstGeom prst="rect">
            <a:avLst/>
          </a:prstGeom>
          <a:solidFill>
            <a:srgbClr val="FBE7F1"/>
          </a:solidFill>
          <a:ln/>
        </p:spPr>
        <p:txBody>
          <a:bodyPr/>
          <a:lstStyle/>
          <a:p>
            <a:endParaRPr/>
          </a:p>
        </p:txBody>
      </p:sp>
      <p:sp>
        <p:nvSpPr>
          <p:cNvPr id="7" name="Text 4"/>
          <p:cNvSpPr/>
          <p:nvPr/>
        </p:nvSpPr>
        <p:spPr>
          <a:xfrm>
            <a:off x="5120640" y="1133856"/>
            <a:ext cx="3474720" cy="201168"/>
          </a:xfrm>
          <a:prstGeom prst="rect">
            <a:avLst/>
          </a:prstGeom>
          <a:noFill/>
          <a:ln/>
        </p:spPr>
        <p:txBody>
          <a:bodyPr wrap="square" lIns="0" tIns="0" rIns="0" bIns="0" rtlCol="0" anchor="t"/>
          <a:lstStyle/>
          <a:p>
            <a:pPr marL="0" indent="0">
              <a:buNone/>
            </a:pPr>
            <a:r>
              <a:rPr lang="en-US" sz="900" b="1" kern="0" spc="200" dirty="0">
                <a:solidFill>
                  <a:srgbClr val="C8106E"/>
                </a:solidFill>
                <a:latin typeface="Calibri" pitchFamily="34" charset="0"/>
                <a:ea typeface="Calibri" pitchFamily="34" charset="-122"/>
                <a:cs typeface="Calibri" pitchFamily="34" charset="-120"/>
              </a:rPr>
              <a:t>ENTREGA TÉCNICA TN</a:t>
            </a:r>
            <a:endParaRPr lang="en-US" sz="900" dirty="0"/>
          </a:p>
        </p:txBody>
      </p:sp>
      <p:sp>
        <p:nvSpPr>
          <p:cNvPr id="8" name="Text 5"/>
          <p:cNvSpPr/>
          <p:nvPr/>
        </p:nvSpPr>
        <p:spPr>
          <a:xfrm>
            <a:off x="457200" y="1133856"/>
            <a:ext cx="3474720" cy="201168"/>
          </a:xfrm>
          <a:prstGeom prst="rect">
            <a:avLst/>
          </a:prstGeom>
          <a:noFill/>
          <a:ln/>
        </p:spPr>
        <p:txBody>
          <a:bodyPr wrap="square" lIns="0" tIns="0" rIns="0" bIns="0" rtlCol="0" anchor="t"/>
          <a:lstStyle/>
          <a:p>
            <a:pPr marL="0" indent="0">
              <a:buNone/>
            </a:pPr>
            <a:r>
              <a:rPr lang="en-US" sz="900" b="1" kern="0" spc="200" dirty="0">
                <a:solidFill>
                  <a:srgbClr val="7A858F"/>
                </a:solidFill>
                <a:latin typeface="Calibri" pitchFamily="34" charset="0"/>
                <a:ea typeface="Calibri" pitchFamily="34" charset="-122"/>
                <a:cs typeface="Calibri" pitchFamily="34" charset="-120"/>
              </a:rPr>
              <a:t>A FAZENDA REGISTRA</a:t>
            </a:r>
            <a:endParaRPr lang="en-US" sz="900" dirty="0"/>
          </a:p>
        </p:txBody>
      </p:sp>
      <p:sp>
        <p:nvSpPr>
          <p:cNvPr id="9" name="Shape 6"/>
          <p:cNvSpPr/>
          <p:nvPr/>
        </p:nvSpPr>
        <p:spPr>
          <a:xfrm>
            <a:off x="868680" y="1499616"/>
            <a:ext cx="548640" cy="548640"/>
          </a:xfrm>
          <a:prstGeom prst="ellipse">
            <a:avLst/>
          </a:prstGeom>
          <a:solidFill>
            <a:srgbClr val="7A858F"/>
          </a:solidFill>
          <a:ln/>
        </p:spPr>
        <p:txBody>
          <a:bodyPr/>
          <a:lstStyle/>
          <a:p>
            <a:endParaRPr/>
          </a:p>
        </p:txBody>
      </p:sp>
      <p:sp>
        <p:nvSpPr>
          <p:cNvPr id="10" name="Text 7"/>
          <p:cNvSpPr/>
          <p:nvPr/>
        </p:nvSpPr>
        <p:spPr>
          <a:xfrm>
            <a:off x="868680" y="1499616"/>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1" name="Text 8"/>
          <p:cNvSpPr/>
          <p:nvPr/>
        </p:nvSpPr>
        <p:spPr>
          <a:xfrm>
            <a:off x="365760" y="2212848"/>
            <a:ext cx="1554480" cy="237744"/>
          </a:xfrm>
          <a:prstGeom prst="rect">
            <a:avLst/>
          </a:prstGeom>
          <a:noFill/>
          <a:ln/>
        </p:spPr>
        <p:txBody>
          <a:bodyPr wrap="square" lIns="0" tIns="0" rIns="0" bIns="0" rtlCol="0" anchor="t"/>
          <a:lstStyle/>
          <a:p>
            <a:pPr marL="0" indent="0" algn="ctr">
              <a:buNone/>
            </a:pPr>
            <a:r>
              <a:rPr lang="en-US" sz="1150" b="1" dirty="0">
                <a:solidFill>
                  <a:srgbClr val="7A858F"/>
                </a:solidFill>
                <a:latin typeface="Calibri" pitchFamily="34" charset="0"/>
                <a:ea typeface="Calibri" pitchFamily="34" charset="-122"/>
                <a:cs typeface="Calibri" pitchFamily="34" charset="-120"/>
              </a:rPr>
              <a:t>Cadastrar</a:t>
            </a:r>
            <a:endParaRPr lang="en-US" sz="1150" dirty="0"/>
          </a:p>
        </p:txBody>
      </p:sp>
      <p:sp>
        <p:nvSpPr>
          <p:cNvPr id="12" name="Text 9"/>
          <p:cNvSpPr/>
          <p:nvPr/>
        </p:nvSpPr>
        <p:spPr>
          <a:xfrm>
            <a:off x="365760" y="2441448"/>
            <a:ext cx="1554480" cy="182880"/>
          </a:xfrm>
          <a:prstGeom prst="rect">
            <a:avLst/>
          </a:prstGeom>
          <a:noFill/>
          <a:ln/>
        </p:spPr>
        <p:txBody>
          <a:bodyPr wrap="square" lIns="0" tIns="0" rIns="0" bIns="0" rtlCol="0" anchor="t"/>
          <a:lstStyle/>
          <a:p>
            <a:pPr marL="0" indent="0" algn="ctr">
              <a:buNone/>
            </a:pPr>
            <a:r>
              <a:rPr lang="en-US" sz="900" i="1" dirty="0">
                <a:solidFill>
                  <a:srgbClr val="7A858F"/>
                </a:solidFill>
                <a:latin typeface="Calibri" pitchFamily="34" charset="0"/>
                <a:ea typeface="Calibri" pitchFamily="34" charset="-122"/>
                <a:cs typeface="Calibri" pitchFamily="34" charset="-120"/>
              </a:rPr>
              <a:t>uma vez</a:t>
            </a:r>
            <a:endParaRPr lang="en-US" sz="900" dirty="0"/>
          </a:p>
        </p:txBody>
      </p:sp>
      <p:sp>
        <p:nvSpPr>
          <p:cNvPr id="13" name="Text 10"/>
          <p:cNvSpPr/>
          <p:nvPr/>
        </p:nvSpPr>
        <p:spPr>
          <a:xfrm>
            <a:off x="365760" y="2633472"/>
            <a:ext cx="1554480" cy="548640"/>
          </a:xfrm>
          <a:prstGeom prst="rect">
            <a:avLst/>
          </a:prstGeom>
          <a:noFill/>
          <a:ln/>
        </p:spPr>
        <p:txBody>
          <a:bodyPr wrap="square" lIns="0" tIns="0" rIns="0" bIns="0" rtlCol="0" anchor="t"/>
          <a:lstStyle/>
          <a:p>
            <a:pPr marL="0" indent="0" algn="ctr">
              <a:buNone/>
            </a:pPr>
            <a:r>
              <a:rPr lang="en-US" sz="900" dirty="0">
                <a:solidFill>
                  <a:srgbClr val="4A5560"/>
                </a:solidFill>
                <a:latin typeface="Calibri" pitchFamily="34" charset="0"/>
                <a:ea typeface="Calibri" pitchFamily="34" charset="-122"/>
                <a:cs typeface="Calibri" pitchFamily="34" charset="-120"/>
              </a:rPr>
              <a:t>Fazenda, currais, lotes e dieta</a:t>
            </a:r>
            <a:endParaRPr lang="en-US" sz="900" dirty="0"/>
          </a:p>
        </p:txBody>
      </p:sp>
      <p:pic>
        <p:nvPicPr>
          <p:cNvPr id="14" name="Image 1" descr="preencoded.png"/>
          <p:cNvPicPr>
            <a:picLocks noChangeAspect="1"/>
          </p:cNvPicPr>
          <p:nvPr/>
        </p:nvPicPr>
        <p:blipFill>
          <a:blip r:embed="rId4"/>
          <a:stretch>
            <a:fillRect/>
          </a:stretch>
        </p:blipFill>
        <p:spPr>
          <a:xfrm>
            <a:off x="1764792" y="1691640"/>
            <a:ext cx="182880" cy="182880"/>
          </a:xfrm>
          <a:prstGeom prst="rect">
            <a:avLst/>
          </a:prstGeom>
        </p:spPr>
      </p:pic>
      <p:sp>
        <p:nvSpPr>
          <p:cNvPr id="15" name="Shape 11"/>
          <p:cNvSpPr/>
          <p:nvPr/>
        </p:nvSpPr>
        <p:spPr>
          <a:xfrm>
            <a:off x="2587752" y="1499616"/>
            <a:ext cx="548640" cy="548640"/>
          </a:xfrm>
          <a:prstGeom prst="ellipse">
            <a:avLst/>
          </a:prstGeom>
          <a:solidFill>
            <a:srgbClr val="7A858F"/>
          </a:solidFill>
          <a:ln/>
        </p:spPr>
        <p:txBody>
          <a:bodyPr/>
          <a:lstStyle/>
          <a:p>
            <a:endParaRPr/>
          </a:p>
        </p:txBody>
      </p:sp>
      <p:sp>
        <p:nvSpPr>
          <p:cNvPr id="16" name="Text 12"/>
          <p:cNvSpPr/>
          <p:nvPr/>
        </p:nvSpPr>
        <p:spPr>
          <a:xfrm>
            <a:off x="2587752" y="1499616"/>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7" name="Text 13"/>
          <p:cNvSpPr/>
          <p:nvPr/>
        </p:nvSpPr>
        <p:spPr>
          <a:xfrm>
            <a:off x="2084832" y="2212848"/>
            <a:ext cx="1554480" cy="237744"/>
          </a:xfrm>
          <a:prstGeom prst="rect">
            <a:avLst/>
          </a:prstGeom>
          <a:noFill/>
          <a:ln/>
        </p:spPr>
        <p:txBody>
          <a:bodyPr wrap="square" lIns="0" tIns="0" rIns="0" bIns="0" rtlCol="0" anchor="t"/>
          <a:lstStyle/>
          <a:p>
            <a:pPr marL="0" indent="0" algn="ctr">
              <a:buNone/>
            </a:pPr>
            <a:r>
              <a:rPr lang="en-US" sz="1150" b="1" dirty="0">
                <a:solidFill>
                  <a:srgbClr val="7A858F"/>
                </a:solidFill>
                <a:latin typeface="Calibri" pitchFamily="34" charset="0"/>
                <a:ea typeface="Calibri" pitchFamily="34" charset="-122"/>
                <a:cs typeface="Calibri" pitchFamily="34" charset="-120"/>
              </a:rPr>
              <a:t>Registrar</a:t>
            </a:r>
            <a:endParaRPr lang="en-US" sz="1150" dirty="0"/>
          </a:p>
        </p:txBody>
      </p:sp>
      <p:sp>
        <p:nvSpPr>
          <p:cNvPr id="18" name="Text 14"/>
          <p:cNvSpPr/>
          <p:nvPr/>
        </p:nvSpPr>
        <p:spPr>
          <a:xfrm>
            <a:off x="2084832" y="2441448"/>
            <a:ext cx="1554480" cy="182880"/>
          </a:xfrm>
          <a:prstGeom prst="rect">
            <a:avLst/>
          </a:prstGeom>
          <a:noFill/>
          <a:ln/>
        </p:spPr>
        <p:txBody>
          <a:bodyPr wrap="square" lIns="0" tIns="0" rIns="0" bIns="0" rtlCol="0" anchor="t"/>
          <a:lstStyle/>
          <a:p>
            <a:pPr marL="0" indent="0" algn="ctr">
              <a:buNone/>
            </a:pPr>
            <a:r>
              <a:rPr lang="en-US" sz="900" i="1" dirty="0">
                <a:solidFill>
                  <a:srgbClr val="7A858F"/>
                </a:solidFill>
                <a:latin typeface="Calibri" pitchFamily="34" charset="0"/>
                <a:ea typeface="Calibri" pitchFamily="34" charset="-122"/>
                <a:cs typeface="Calibri" pitchFamily="34" charset="-120"/>
              </a:rPr>
              <a:t>todo dia</a:t>
            </a:r>
            <a:endParaRPr lang="en-US" sz="900" dirty="0"/>
          </a:p>
        </p:txBody>
      </p:sp>
      <p:sp>
        <p:nvSpPr>
          <p:cNvPr id="19" name="Text 15"/>
          <p:cNvSpPr/>
          <p:nvPr/>
        </p:nvSpPr>
        <p:spPr>
          <a:xfrm>
            <a:off x="2084832" y="2633472"/>
            <a:ext cx="1554480" cy="548640"/>
          </a:xfrm>
          <a:prstGeom prst="rect">
            <a:avLst/>
          </a:prstGeom>
          <a:noFill/>
          <a:ln/>
        </p:spPr>
        <p:txBody>
          <a:bodyPr wrap="square" lIns="0" tIns="0" rIns="0" bIns="0" rtlCol="0" anchor="t"/>
          <a:lstStyle/>
          <a:p>
            <a:pPr marL="0" indent="0" algn="ctr">
              <a:buNone/>
            </a:pPr>
            <a:r>
              <a:rPr lang="en-US" sz="900" dirty="0">
                <a:solidFill>
                  <a:srgbClr val="4A5560"/>
                </a:solidFill>
                <a:latin typeface="Calibri" pitchFamily="34" charset="0"/>
                <a:ea typeface="Calibri" pitchFamily="34" charset="-122"/>
                <a:cs typeface="Calibri" pitchFamily="34" charset="-120"/>
              </a:rPr>
              <a:t>Trato fornecido e leitura de cocho</a:t>
            </a:r>
            <a:endParaRPr lang="en-US" sz="900" dirty="0"/>
          </a:p>
        </p:txBody>
      </p:sp>
      <p:pic>
        <p:nvPicPr>
          <p:cNvPr id="20" name="Image 2" descr="preencoded.png"/>
          <p:cNvPicPr>
            <a:picLocks noChangeAspect="1"/>
          </p:cNvPicPr>
          <p:nvPr/>
        </p:nvPicPr>
        <p:blipFill>
          <a:blip r:embed="rId4"/>
          <a:stretch>
            <a:fillRect/>
          </a:stretch>
        </p:blipFill>
        <p:spPr>
          <a:xfrm>
            <a:off x="3483864" y="1691640"/>
            <a:ext cx="182880" cy="182880"/>
          </a:xfrm>
          <a:prstGeom prst="rect">
            <a:avLst/>
          </a:prstGeom>
        </p:spPr>
      </p:pic>
      <p:sp>
        <p:nvSpPr>
          <p:cNvPr id="21" name="Shape 16"/>
          <p:cNvSpPr/>
          <p:nvPr/>
        </p:nvSpPr>
        <p:spPr>
          <a:xfrm>
            <a:off x="4306824" y="1499616"/>
            <a:ext cx="548640" cy="548640"/>
          </a:xfrm>
          <a:prstGeom prst="ellipse">
            <a:avLst/>
          </a:prstGeom>
          <a:solidFill>
            <a:srgbClr val="7A858F"/>
          </a:solidFill>
          <a:ln/>
        </p:spPr>
        <p:txBody>
          <a:bodyPr/>
          <a:lstStyle/>
          <a:p>
            <a:endParaRPr/>
          </a:p>
        </p:txBody>
      </p:sp>
      <p:sp>
        <p:nvSpPr>
          <p:cNvPr id="22" name="Text 17"/>
          <p:cNvSpPr/>
          <p:nvPr/>
        </p:nvSpPr>
        <p:spPr>
          <a:xfrm>
            <a:off x="4306824" y="1499616"/>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3" name="Text 18"/>
          <p:cNvSpPr/>
          <p:nvPr/>
        </p:nvSpPr>
        <p:spPr>
          <a:xfrm>
            <a:off x="3803904" y="2212848"/>
            <a:ext cx="1554480" cy="237744"/>
          </a:xfrm>
          <a:prstGeom prst="rect">
            <a:avLst/>
          </a:prstGeom>
          <a:noFill/>
          <a:ln/>
        </p:spPr>
        <p:txBody>
          <a:bodyPr wrap="square" lIns="0" tIns="0" rIns="0" bIns="0" rtlCol="0" anchor="t"/>
          <a:lstStyle/>
          <a:p>
            <a:pPr marL="0" indent="0" algn="ctr">
              <a:buNone/>
            </a:pPr>
            <a:r>
              <a:rPr lang="en-US" sz="1150" b="1" dirty="0">
                <a:solidFill>
                  <a:srgbClr val="7A858F"/>
                </a:solidFill>
                <a:latin typeface="Calibri" pitchFamily="34" charset="0"/>
                <a:ea typeface="Calibri" pitchFamily="34" charset="-122"/>
                <a:cs typeface="Calibri" pitchFamily="34" charset="-120"/>
              </a:rPr>
              <a:t>Movimentar</a:t>
            </a:r>
            <a:endParaRPr lang="en-US" sz="1150" dirty="0"/>
          </a:p>
        </p:txBody>
      </p:sp>
      <p:sp>
        <p:nvSpPr>
          <p:cNvPr id="24" name="Text 19"/>
          <p:cNvSpPr/>
          <p:nvPr/>
        </p:nvSpPr>
        <p:spPr>
          <a:xfrm>
            <a:off x="3803904" y="2441448"/>
            <a:ext cx="1554480" cy="182880"/>
          </a:xfrm>
          <a:prstGeom prst="rect">
            <a:avLst/>
          </a:prstGeom>
          <a:noFill/>
          <a:ln/>
        </p:spPr>
        <p:txBody>
          <a:bodyPr wrap="square" lIns="0" tIns="0" rIns="0" bIns="0" rtlCol="0" anchor="t"/>
          <a:lstStyle/>
          <a:p>
            <a:pPr marL="0" indent="0" algn="ctr">
              <a:buNone/>
            </a:pPr>
            <a:r>
              <a:rPr lang="en-US" sz="900" i="1" dirty="0">
                <a:solidFill>
                  <a:srgbClr val="7A858F"/>
                </a:solidFill>
                <a:latin typeface="Calibri" pitchFamily="34" charset="0"/>
                <a:ea typeface="Calibri" pitchFamily="34" charset="-122"/>
                <a:cs typeface="Calibri" pitchFamily="34" charset="-120"/>
              </a:rPr>
              <a:t>quando ocorre</a:t>
            </a:r>
            <a:endParaRPr lang="en-US" sz="900" dirty="0"/>
          </a:p>
        </p:txBody>
      </p:sp>
      <p:sp>
        <p:nvSpPr>
          <p:cNvPr id="25" name="Text 20"/>
          <p:cNvSpPr/>
          <p:nvPr/>
        </p:nvSpPr>
        <p:spPr>
          <a:xfrm>
            <a:off x="3803904" y="2633472"/>
            <a:ext cx="1554480" cy="548640"/>
          </a:xfrm>
          <a:prstGeom prst="rect">
            <a:avLst/>
          </a:prstGeom>
          <a:noFill/>
          <a:ln/>
        </p:spPr>
        <p:txBody>
          <a:bodyPr wrap="square" lIns="0" tIns="0" rIns="0" bIns="0" rtlCol="0" anchor="t"/>
          <a:lstStyle/>
          <a:p>
            <a:pPr marL="0" indent="0" algn="ctr">
              <a:buNone/>
            </a:pPr>
            <a:r>
              <a:rPr lang="en-US" sz="900" dirty="0">
                <a:solidFill>
                  <a:srgbClr val="4A5560"/>
                </a:solidFill>
                <a:latin typeface="Calibri" pitchFamily="34" charset="0"/>
                <a:ea typeface="Calibri" pitchFamily="34" charset="-122"/>
                <a:cs typeface="Calibri" pitchFamily="34" charset="-120"/>
              </a:rPr>
              <a:t>Entradas, pesagens, saídas e mortes</a:t>
            </a:r>
            <a:endParaRPr lang="en-US" sz="900" dirty="0"/>
          </a:p>
        </p:txBody>
      </p:sp>
      <p:pic>
        <p:nvPicPr>
          <p:cNvPr id="26" name="Image 3" descr="preencoded.png"/>
          <p:cNvPicPr>
            <a:picLocks noChangeAspect="1"/>
          </p:cNvPicPr>
          <p:nvPr/>
        </p:nvPicPr>
        <p:blipFill>
          <a:blip r:embed="rId4"/>
          <a:stretch>
            <a:fillRect/>
          </a:stretch>
        </p:blipFill>
        <p:spPr>
          <a:xfrm>
            <a:off x="5312664" y="1691640"/>
            <a:ext cx="182880" cy="182880"/>
          </a:xfrm>
          <a:prstGeom prst="rect">
            <a:avLst/>
          </a:prstGeom>
        </p:spPr>
      </p:pic>
      <p:sp>
        <p:nvSpPr>
          <p:cNvPr id="27" name="Shape 21"/>
          <p:cNvSpPr/>
          <p:nvPr/>
        </p:nvSpPr>
        <p:spPr>
          <a:xfrm>
            <a:off x="6053328" y="1417320"/>
            <a:ext cx="713232" cy="713232"/>
          </a:xfrm>
          <a:prstGeom prst="ellipse">
            <a:avLst/>
          </a:prstGeom>
          <a:solidFill>
            <a:srgbClr val="1B3A8C"/>
          </a:solidFill>
          <a:ln/>
        </p:spPr>
        <p:txBody>
          <a:bodyPr/>
          <a:lstStyle/>
          <a:p>
            <a:endParaRPr/>
          </a:p>
        </p:txBody>
      </p:sp>
      <p:sp>
        <p:nvSpPr>
          <p:cNvPr id="28" name="Text 22"/>
          <p:cNvSpPr/>
          <p:nvPr/>
        </p:nvSpPr>
        <p:spPr>
          <a:xfrm>
            <a:off x="6053328" y="141732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29" name="Text 23"/>
          <p:cNvSpPr/>
          <p:nvPr/>
        </p:nvSpPr>
        <p:spPr>
          <a:xfrm>
            <a:off x="5632704" y="2212848"/>
            <a:ext cx="1554480" cy="237744"/>
          </a:xfrm>
          <a:prstGeom prst="rect">
            <a:avLst/>
          </a:prstGeom>
          <a:noFill/>
          <a:ln/>
        </p:spPr>
        <p:txBody>
          <a:bodyPr wrap="square" lIns="0" tIns="0" rIns="0" bIns="0" rtlCol="0" anchor="t"/>
          <a:lstStyle/>
          <a:p>
            <a:pPr marL="0" indent="0" algn="ctr">
              <a:buNone/>
            </a:pPr>
            <a:r>
              <a:rPr lang="en-US" sz="1300" b="1" dirty="0">
                <a:solidFill>
                  <a:srgbClr val="1B3A8C"/>
                </a:solidFill>
                <a:latin typeface="Calibri" pitchFamily="34" charset="0"/>
                <a:ea typeface="Calibri" pitchFamily="34" charset="-122"/>
                <a:cs typeface="Calibri" pitchFamily="34" charset="-120"/>
              </a:rPr>
              <a:t>Analisar</a:t>
            </a:r>
            <a:endParaRPr lang="en-US" sz="1300" dirty="0"/>
          </a:p>
        </p:txBody>
      </p:sp>
      <p:sp>
        <p:nvSpPr>
          <p:cNvPr id="30" name="Text 24"/>
          <p:cNvSpPr/>
          <p:nvPr/>
        </p:nvSpPr>
        <p:spPr>
          <a:xfrm>
            <a:off x="5632704" y="2441448"/>
            <a:ext cx="1554480" cy="182880"/>
          </a:xfrm>
          <a:prstGeom prst="rect">
            <a:avLst/>
          </a:prstGeom>
          <a:noFill/>
          <a:ln/>
        </p:spPr>
        <p:txBody>
          <a:bodyPr wrap="square" lIns="0" tIns="0" rIns="0" bIns="0" rtlCol="0" anchor="t"/>
          <a:lstStyle/>
          <a:p>
            <a:pPr marL="0" indent="0" algn="ctr">
              <a:buNone/>
            </a:pPr>
            <a:r>
              <a:rPr lang="en-US" sz="900" i="1" dirty="0">
                <a:solidFill>
                  <a:srgbClr val="7A858F"/>
                </a:solidFill>
                <a:latin typeface="Calibri" pitchFamily="34" charset="0"/>
                <a:ea typeface="Calibri" pitchFamily="34" charset="-122"/>
                <a:cs typeface="Calibri" pitchFamily="34" charset="-120"/>
              </a:rPr>
              <a:t>toda semana</a:t>
            </a:r>
            <a:endParaRPr lang="en-US" sz="900" dirty="0"/>
          </a:p>
        </p:txBody>
      </p:sp>
      <p:sp>
        <p:nvSpPr>
          <p:cNvPr id="31" name="Text 25"/>
          <p:cNvSpPr/>
          <p:nvPr/>
        </p:nvSpPr>
        <p:spPr>
          <a:xfrm>
            <a:off x="5632704" y="2633472"/>
            <a:ext cx="1554480" cy="548640"/>
          </a:xfrm>
          <a:prstGeom prst="rect">
            <a:avLst/>
          </a:prstGeom>
          <a:noFill/>
          <a:ln/>
        </p:spPr>
        <p:txBody>
          <a:bodyPr wrap="square" lIns="0" tIns="0" rIns="0" bIns="0" rtlCol="0" anchor="t"/>
          <a:lstStyle/>
          <a:p>
            <a:pPr marL="0" indent="0" algn="ctr">
              <a:buNone/>
            </a:pPr>
            <a:r>
              <a:rPr lang="en-US" sz="900" dirty="0">
                <a:solidFill>
                  <a:srgbClr val="4A5560"/>
                </a:solidFill>
                <a:latin typeface="Calibri" pitchFamily="34" charset="0"/>
                <a:ea typeface="Calibri" pitchFamily="34" charset="-122"/>
                <a:cs typeface="Calibri" pitchFamily="34" charset="-120"/>
              </a:rPr>
              <a:t>Painel e relatório prontos. O analista compara com o benchmark</a:t>
            </a:r>
            <a:endParaRPr lang="en-US" sz="900" dirty="0"/>
          </a:p>
        </p:txBody>
      </p:sp>
      <p:pic>
        <p:nvPicPr>
          <p:cNvPr id="32" name="Image 4" descr="preencoded.png"/>
          <p:cNvPicPr>
            <a:picLocks noChangeAspect="1"/>
          </p:cNvPicPr>
          <p:nvPr/>
        </p:nvPicPr>
        <p:blipFill>
          <a:blip r:embed="rId4"/>
          <a:stretch>
            <a:fillRect/>
          </a:stretch>
        </p:blipFill>
        <p:spPr>
          <a:xfrm>
            <a:off x="7031736" y="1691640"/>
            <a:ext cx="182880" cy="182880"/>
          </a:xfrm>
          <a:prstGeom prst="rect">
            <a:avLst/>
          </a:prstGeom>
        </p:spPr>
      </p:pic>
      <p:sp>
        <p:nvSpPr>
          <p:cNvPr id="33" name="Shape 26"/>
          <p:cNvSpPr/>
          <p:nvPr/>
        </p:nvSpPr>
        <p:spPr>
          <a:xfrm>
            <a:off x="7772400" y="1417320"/>
            <a:ext cx="713232" cy="713232"/>
          </a:xfrm>
          <a:prstGeom prst="ellipse">
            <a:avLst/>
          </a:prstGeom>
          <a:solidFill>
            <a:srgbClr val="C8106E"/>
          </a:solidFill>
          <a:ln/>
        </p:spPr>
        <p:txBody>
          <a:bodyPr/>
          <a:lstStyle/>
          <a:p>
            <a:endParaRPr/>
          </a:p>
        </p:txBody>
      </p:sp>
      <p:sp>
        <p:nvSpPr>
          <p:cNvPr id="34" name="Text 27"/>
          <p:cNvSpPr/>
          <p:nvPr/>
        </p:nvSpPr>
        <p:spPr>
          <a:xfrm>
            <a:off x="7772400" y="141732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35" name="Text 28"/>
          <p:cNvSpPr/>
          <p:nvPr/>
        </p:nvSpPr>
        <p:spPr>
          <a:xfrm>
            <a:off x="7351776" y="2212848"/>
            <a:ext cx="1554480" cy="237744"/>
          </a:xfrm>
          <a:prstGeom prst="rect">
            <a:avLst/>
          </a:prstGeom>
          <a:noFill/>
          <a:ln/>
        </p:spPr>
        <p:txBody>
          <a:bodyPr wrap="square" lIns="0" tIns="0" rIns="0" bIns="0" rtlCol="0" anchor="t"/>
          <a:lstStyle/>
          <a:p>
            <a:pPr marL="0" indent="0" algn="ctr">
              <a:buNone/>
            </a:pPr>
            <a:r>
              <a:rPr lang="en-US" sz="1300" b="1" dirty="0">
                <a:solidFill>
                  <a:srgbClr val="C8106E"/>
                </a:solidFill>
                <a:latin typeface="Calibri" pitchFamily="34" charset="0"/>
                <a:ea typeface="Calibri" pitchFamily="34" charset="-122"/>
                <a:cs typeface="Calibri" pitchFamily="34" charset="-120"/>
              </a:rPr>
              <a:t>Ajustar</a:t>
            </a:r>
            <a:endParaRPr lang="en-US" sz="1300" dirty="0"/>
          </a:p>
        </p:txBody>
      </p:sp>
      <p:sp>
        <p:nvSpPr>
          <p:cNvPr id="36" name="Text 29"/>
          <p:cNvSpPr/>
          <p:nvPr/>
        </p:nvSpPr>
        <p:spPr>
          <a:xfrm>
            <a:off x="7351776" y="2441448"/>
            <a:ext cx="1554480" cy="182880"/>
          </a:xfrm>
          <a:prstGeom prst="rect">
            <a:avLst/>
          </a:prstGeom>
          <a:noFill/>
          <a:ln/>
        </p:spPr>
        <p:txBody>
          <a:bodyPr wrap="square" lIns="0" tIns="0" rIns="0" bIns="0" rtlCol="0" anchor="t"/>
          <a:lstStyle/>
          <a:p>
            <a:pPr marL="0" indent="0" algn="ctr">
              <a:buNone/>
            </a:pPr>
            <a:r>
              <a:rPr lang="en-US" sz="900" i="1" dirty="0">
                <a:solidFill>
                  <a:srgbClr val="7A858F"/>
                </a:solidFill>
                <a:latin typeface="Calibri" pitchFamily="34" charset="0"/>
                <a:ea typeface="Calibri" pitchFamily="34" charset="-122"/>
                <a:cs typeface="Calibri" pitchFamily="34" charset="-120"/>
              </a:rPr>
              <a:t>com o técnico TN</a:t>
            </a:r>
            <a:endParaRPr lang="en-US" sz="900" dirty="0"/>
          </a:p>
        </p:txBody>
      </p:sp>
      <p:sp>
        <p:nvSpPr>
          <p:cNvPr id="37" name="Text 30"/>
          <p:cNvSpPr/>
          <p:nvPr/>
        </p:nvSpPr>
        <p:spPr>
          <a:xfrm>
            <a:off x="7351776" y="2633472"/>
            <a:ext cx="1554480" cy="548640"/>
          </a:xfrm>
          <a:prstGeom prst="rect">
            <a:avLst/>
          </a:prstGeom>
          <a:noFill/>
          <a:ln/>
        </p:spPr>
        <p:txBody>
          <a:bodyPr wrap="square" lIns="0" tIns="0" rIns="0" bIns="0" rtlCol="0" anchor="t"/>
          <a:lstStyle/>
          <a:p>
            <a:pPr marL="0" indent="0" algn="ctr">
              <a:buNone/>
            </a:pPr>
            <a:r>
              <a:rPr lang="en-US" sz="900" dirty="0">
                <a:solidFill>
                  <a:srgbClr val="4A5560"/>
                </a:solidFill>
                <a:latin typeface="Calibri" pitchFamily="34" charset="0"/>
                <a:ea typeface="Calibri" pitchFamily="34" charset="-122"/>
                <a:cs typeface="Calibri" pitchFamily="34" charset="-120"/>
              </a:rPr>
              <a:t>Recomendação de dieta, trato e manejo; revisão no mês</a:t>
            </a:r>
            <a:endParaRPr lang="en-US" sz="900" dirty="0"/>
          </a:p>
        </p:txBody>
      </p:sp>
      <p:sp>
        <p:nvSpPr>
          <p:cNvPr id="38" name="Shape 31"/>
          <p:cNvSpPr/>
          <p:nvPr/>
        </p:nvSpPr>
        <p:spPr>
          <a:xfrm>
            <a:off x="2651760" y="3401568"/>
            <a:ext cx="5669280" cy="914"/>
          </a:xfrm>
          <a:prstGeom prst="line">
            <a:avLst/>
          </a:prstGeom>
          <a:noFill/>
          <a:ln w="15875">
            <a:solidFill>
              <a:srgbClr val="C8106E"/>
            </a:solidFill>
            <a:prstDash val="dash"/>
          </a:ln>
        </p:spPr>
        <p:txBody>
          <a:bodyPr/>
          <a:lstStyle/>
          <a:p>
            <a:endParaRPr/>
          </a:p>
        </p:txBody>
      </p:sp>
      <p:sp>
        <p:nvSpPr>
          <p:cNvPr id="39" name="Shape 32"/>
          <p:cNvSpPr/>
          <p:nvPr/>
        </p:nvSpPr>
        <p:spPr>
          <a:xfrm>
            <a:off x="2651760" y="3218688"/>
            <a:ext cx="914" cy="182880"/>
          </a:xfrm>
          <a:prstGeom prst="line">
            <a:avLst/>
          </a:prstGeom>
          <a:noFill/>
          <a:ln w="15875">
            <a:solidFill>
              <a:srgbClr val="C8106E"/>
            </a:solidFill>
            <a:prstDash val="dash"/>
          </a:ln>
        </p:spPr>
        <p:txBody>
          <a:bodyPr/>
          <a:lstStyle/>
          <a:p>
            <a:endParaRPr/>
          </a:p>
        </p:txBody>
      </p:sp>
      <p:sp>
        <p:nvSpPr>
          <p:cNvPr id="40" name="Shape 33"/>
          <p:cNvSpPr/>
          <p:nvPr/>
        </p:nvSpPr>
        <p:spPr>
          <a:xfrm>
            <a:off x="8321040" y="3218688"/>
            <a:ext cx="914" cy="182880"/>
          </a:xfrm>
          <a:prstGeom prst="line">
            <a:avLst/>
          </a:prstGeom>
          <a:noFill/>
          <a:ln w="15875">
            <a:solidFill>
              <a:srgbClr val="C8106E"/>
            </a:solidFill>
            <a:prstDash val="dash"/>
          </a:ln>
        </p:spPr>
        <p:txBody>
          <a:bodyPr/>
          <a:lstStyle/>
          <a:p>
            <a:endParaRPr/>
          </a:p>
        </p:txBody>
      </p:sp>
      <p:sp>
        <p:nvSpPr>
          <p:cNvPr id="41" name="Text 34"/>
          <p:cNvSpPr/>
          <p:nvPr/>
        </p:nvSpPr>
        <p:spPr>
          <a:xfrm>
            <a:off x="3749040" y="3310128"/>
            <a:ext cx="3474720" cy="182880"/>
          </a:xfrm>
          <a:prstGeom prst="rect">
            <a:avLst/>
          </a:prstGeom>
          <a:solidFill>
            <a:srgbClr val="FFFFFF"/>
          </a:solidFill>
          <a:ln/>
        </p:spPr>
        <p:txBody>
          <a:bodyPr wrap="square" lIns="0" tIns="0" rIns="0" bIns="0" rtlCol="0" anchor="t"/>
          <a:lstStyle/>
          <a:p>
            <a:pPr marL="0" indent="0" algn="ctr">
              <a:buNone/>
            </a:pPr>
            <a:r>
              <a:rPr lang="en-US" sz="900" i="1" dirty="0">
                <a:solidFill>
                  <a:srgbClr val="C8106E"/>
                </a:solidFill>
                <a:latin typeface="Calibri" pitchFamily="34" charset="0"/>
                <a:ea typeface="Calibri" pitchFamily="34" charset="-122"/>
                <a:cs typeface="Calibri" pitchFamily="34" charset="-120"/>
              </a:rPr>
              <a:t>Ciclo semanal: o ajuste volta para o trato do dia seguinte</a:t>
            </a:r>
            <a:endParaRPr lang="en-US" sz="900" dirty="0"/>
          </a:p>
        </p:txBody>
      </p:sp>
      <p:sp>
        <p:nvSpPr>
          <p:cNvPr id="42" name="Text 35"/>
          <p:cNvSpPr/>
          <p:nvPr/>
        </p:nvSpPr>
        <p:spPr>
          <a:xfrm>
            <a:off x="457200" y="3611880"/>
            <a:ext cx="2743200" cy="228600"/>
          </a:xfrm>
          <a:prstGeom prst="rect">
            <a:avLst/>
          </a:prstGeom>
          <a:noFill/>
          <a:ln/>
        </p:spPr>
        <p:txBody>
          <a:bodyPr wrap="square" lIns="0" tIns="0" rIns="0" bIns="0" rtlCol="0" anchor="t"/>
          <a:lstStyle/>
          <a:p>
            <a:pPr marL="0" indent="0">
              <a:buNone/>
            </a:pPr>
            <a:r>
              <a:rPr lang="en-US" sz="1100" b="1" dirty="0">
                <a:solidFill>
                  <a:srgbClr val="1B3A8C"/>
                </a:solidFill>
                <a:latin typeface="Calibri" pitchFamily="34" charset="0"/>
                <a:ea typeface="Calibri" pitchFamily="34" charset="-122"/>
                <a:cs typeface="Calibri" pitchFamily="34" charset="-120"/>
              </a:rPr>
              <a:t>Quem faz os passos 4 e 5</a:t>
            </a:r>
            <a:endParaRPr lang="en-US" sz="1100" dirty="0"/>
          </a:p>
        </p:txBody>
      </p:sp>
      <p:sp>
        <p:nvSpPr>
          <p:cNvPr id="43" name="Shape 36"/>
          <p:cNvSpPr/>
          <p:nvPr/>
        </p:nvSpPr>
        <p:spPr>
          <a:xfrm>
            <a:off x="457200" y="3877056"/>
            <a:ext cx="2377440" cy="512064"/>
          </a:xfrm>
          <a:prstGeom prst="rect">
            <a:avLst/>
          </a:prstGeom>
          <a:solidFill>
            <a:srgbClr val="F4F6F8"/>
          </a:solidFill>
          <a:ln/>
        </p:spPr>
        <p:txBody>
          <a:bodyPr/>
          <a:lstStyle/>
          <a:p>
            <a:endParaRPr/>
          </a:p>
        </p:txBody>
      </p:sp>
      <p:sp>
        <p:nvSpPr>
          <p:cNvPr id="44" name="Shape 37"/>
          <p:cNvSpPr/>
          <p:nvPr/>
        </p:nvSpPr>
        <p:spPr>
          <a:xfrm>
            <a:off x="457200" y="3877056"/>
            <a:ext cx="54864" cy="512064"/>
          </a:xfrm>
          <a:prstGeom prst="rect">
            <a:avLst/>
          </a:prstGeom>
          <a:solidFill>
            <a:srgbClr val="26668F"/>
          </a:solidFill>
          <a:ln/>
        </p:spPr>
        <p:txBody>
          <a:bodyPr/>
          <a:lstStyle/>
          <a:p>
            <a:endParaRPr/>
          </a:p>
        </p:txBody>
      </p:sp>
      <p:sp>
        <p:nvSpPr>
          <p:cNvPr id="45" name="Text 38"/>
          <p:cNvSpPr/>
          <p:nvPr/>
        </p:nvSpPr>
        <p:spPr>
          <a:xfrm>
            <a:off x="594360" y="3904488"/>
            <a:ext cx="2194560" cy="182880"/>
          </a:xfrm>
          <a:prstGeom prst="rect">
            <a:avLst/>
          </a:prstGeom>
          <a:noFill/>
          <a:ln/>
        </p:spPr>
        <p:txBody>
          <a:bodyPr wrap="square" lIns="0" tIns="0" rIns="0" bIns="0" rtlCol="0" anchor="t"/>
          <a:lstStyle/>
          <a:p>
            <a:pPr marL="0" indent="0">
              <a:buNone/>
            </a:pPr>
            <a:r>
              <a:rPr lang="en-US" sz="950" b="1" dirty="0">
                <a:solidFill>
                  <a:srgbClr val="26668F"/>
                </a:solidFill>
                <a:latin typeface="Calibri" pitchFamily="34" charset="0"/>
                <a:ea typeface="Calibri" pitchFamily="34" charset="-122"/>
                <a:cs typeface="Calibri" pitchFamily="34" charset="-120"/>
              </a:rPr>
              <a:t>Meses 1 e 2</a:t>
            </a:r>
            <a:endParaRPr lang="en-US" sz="950" dirty="0"/>
          </a:p>
        </p:txBody>
      </p:sp>
      <p:sp>
        <p:nvSpPr>
          <p:cNvPr id="46" name="Text 39"/>
          <p:cNvSpPr/>
          <p:nvPr/>
        </p:nvSpPr>
        <p:spPr>
          <a:xfrm>
            <a:off x="594360" y="4087368"/>
            <a:ext cx="2194560" cy="256032"/>
          </a:xfrm>
          <a:prstGeom prst="rect">
            <a:avLst/>
          </a:prstGeom>
          <a:noFill/>
          <a:ln/>
        </p:spPr>
        <p:txBody>
          <a:bodyPr wrap="square" lIns="0" tIns="0" rIns="0" bIns="0" rtlCol="0" anchor="t"/>
          <a:lstStyle/>
          <a:p>
            <a:pPr marL="0" indent="0">
              <a:buNone/>
            </a:pPr>
            <a:r>
              <a:rPr lang="en-US" sz="850" dirty="0">
                <a:solidFill>
                  <a:srgbClr val="4A5560"/>
                </a:solidFill>
                <a:latin typeface="Calibri" pitchFamily="34" charset="0"/>
                <a:ea typeface="Calibri" pitchFamily="34" charset="-122"/>
                <a:cs typeface="Calibri" pitchFamily="34" charset="-120"/>
              </a:rPr>
              <a:t>Piloto: Rodrigo e técnico de campo em 3 a 5 fazendas</a:t>
            </a:r>
            <a:endParaRPr lang="en-US" sz="850" dirty="0"/>
          </a:p>
        </p:txBody>
      </p:sp>
      <p:sp>
        <p:nvSpPr>
          <p:cNvPr id="47" name="Shape 40"/>
          <p:cNvSpPr/>
          <p:nvPr/>
        </p:nvSpPr>
        <p:spPr>
          <a:xfrm>
            <a:off x="2971800" y="3877056"/>
            <a:ext cx="2377440" cy="512064"/>
          </a:xfrm>
          <a:prstGeom prst="rect">
            <a:avLst/>
          </a:prstGeom>
          <a:solidFill>
            <a:srgbClr val="F4F6F8"/>
          </a:solidFill>
          <a:ln/>
        </p:spPr>
        <p:txBody>
          <a:bodyPr/>
          <a:lstStyle/>
          <a:p>
            <a:endParaRPr/>
          </a:p>
        </p:txBody>
      </p:sp>
      <p:sp>
        <p:nvSpPr>
          <p:cNvPr id="48" name="Shape 41"/>
          <p:cNvSpPr/>
          <p:nvPr/>
        </p:nvSpPr>
        <p:spPr>
          <a:xfrm>
            <a:off x="2971800" y="3877056"/>
            <a:ext cx="54864" cy="512064"/>
          </a:xfrm>
          <a:prstGeom prst="rect">
            <a:avLst/>
          </a:prstGeom>
          <a:solidFill>
            <a:srgbClr val="1B3A8C"/>
          </a:solidFill>
          <a:ln/>
        </p:spPr>
        <p:txBody>
          <a:bodyPr/>
          <a:lstStyle/>
          <a:p>
            <a:endParaRPr/>
          </a:p>
        </p:txBody>
      </p:sp>
      <p:sp>
        <p:nvSpPr>
          <p:cNvPr id="49" name="Text 42"/>
          <p:cNvSpPr/>
          <p:nvPr/>
        </p:nvSpPr>
        <p:spPr>
          <a:xfrm>
            <a:off x="3108960" y="3904488"/>
            <a:ext cx="2194560" cy="182880"/>
          </a:xfrm>
          <a:prstGeom prst="rect">
            <a:avLst/>
          </a:prstGeom>
          <a:noFill/>
          <a:ln/>
        </p:spPr>
        <p:txBody>
          <a:bodyPr wrap="square" lIns="0" tIns="0" rIns="0" bIns="0" rtlCol="0" anchor="t"/>
          <a:lstStyle/>
          <a:p>
            <a:pPr marL="0" indent="0">
              <a:buNone/>
            </a:pPr>
            <a:r>
              <a:rPr lang="en-US" sz="950" b="1" dirty="0">
                <a:solidFill>
                  <a:srgbClr val="1B3A8C"/>
                </a:solidFill>
                <a:latin typeface="Calibri" pitchFamily="34" charset="0"/>
                <a:ea typeface="Calibri" pitchFamily="34" charset="-122"/>
                <a:cs typeface="Calibri" pitchFamily="34" charset="-120"/>
              </a:rPr>
              <a:t>Meses 3 a 6</a:t>
            </a:r>
            <a:endParaRPr lang="en-US" sz="950" dirty="0"/>
          </a:p>
        </p:txBody>
      </p:sp>
      <p:sp>
        <p:nvSpPr>
          <p:cNvPr id="50" name="Text 43"/>
          <p:cNvSpPr/>
          <p:nvPr/>
        </p:nvSpPr>
        <p:spPr>
          <a:xfrm>
            <a:off x="3108960" y="4087368"/>
            <a:ext cx="2194560" cy="256032"/>
          </a:xfrm>
          <a:prstGeom prst="rect">
            <a:avLst/>
          </a:prstGeom>
          <a:noFill/>
          <a:ln/>
        </p:spPr>
        <p:txBody>
          <a:bodyPr wrap="square" lIns="0" tIns="0" rIns="0" bIns="0" rtlCol="0" anchor="t"/>
          <a:lstStyle/>
          <a:p>
            <a:pPr marL="0" indent="0">
              <a:buNone/>
            </a:pPr>
            <a:r>
              <a:rPr lang="en-US" sz="850" dirty="0">
                <a:solidFill>
                  <a:srgbClr val="4A5560"/>
                </a:solidFill>
                <a:latin typeface="Calibri" pitchFamily="34" charset="0"/>
                <a:ea typeface="Calibri" pitchFamily="34" charset="-122"/>
                <a:cs typeface="Calibri" pitchFamily="34" charset="-120"/>
              </a:rPr>
              <a:t>Rodrigo analisa até 20 fazendas, com auditoria mensal</a:t>
            </a:r>
            <a:endParaRPr lang="en-US" sz="850" dirty="0"/>
          </a:p>
        </p:txBody>
      </p:sp>
      <p:sp>
        <p:nvSpPr>
          <p:cNvPr id="51" name="Shape 44"/>
          <p:cNvSpPr/>
          <p:nvPr/>
        </p:nvSpPr>
        <p:spPr>
          <a:xfrm>
            <a:off x="5486400" y="3877056"/>
            <a:ext cx="2377440" cy="512064"/>
          </a:xfrm>
          <a:prstGeom prst="rect">
            <a:avLst/>
          </a:prstGeom>
          <a:solidFill>
            <a:srgbClr val="F4F6F8"/>
          </a:solidFill>
          <a:ln/>
        </p:spPr>
        <p:txBody>
          <a:bodyPr/>
          <a:lstStyle/>
          <a:p>
            <a:endParaRPr/>
          </a:p>
        </p:txBody>
      </p:sp>
      <p:sp>
        <p:nvSpPr>
          <p:cNvPr id="52" name="Shape 45"/>
          <p:cNvSpPr/>
          <p:nvPr/>
        </p:nvSpPr>
        <p:spPr>
          <a:xfrm>
            <a:off x="5486400" y="3877056"/>
            <a:ext cx="54864" cy="512064"/>
          </a:xfrm>
          <a:prstGeom prst="rect">
            <a:avLst/>
          </a:prstGeom>
          <a:solidFill>
            <a:srgbClr val="C8106E"/>
          </a:solidFill>
          <a:ln/>
        </p:spPr>
        <p:txBody>
          <a:bodyPr/>
          <a:lstStyle/>
          <a:p>
            <a:endParaRPr/>
          </a:p>
        </p:txBody>
      </p:sp>
      <p:sp>
        <p:nvSpPr>
          <p:cNvPr id="53" name="Text 46"/>
          <p:cNvSpPr/>
          <p:nvPr/>
        </p:nvSpPr>
        <p:spPr>
          <a:xfrm>
            <a:off x="5623560" y="3904488"/>
            <a:ext cx="2194560" cy="182880"/>
          </a:xfrm>
          <a:prstGeom prst="rect">
            <a:avLst/>
          </a:prstGeom>
          <a:noFill/>
          <a:ln/>
        </p:spPr>
        <p:txBody>
          <a:bodyPr wrap="square" lIns="0" tIns="0" rIns="0" bIns="0" rtlCol="0" anchor="t"/>
          <a:lstStyle/>
          <a:p>
            <a:pPr marL="0" indent="0">
              <a:buNone/>
            </a:pPr>
            <a:r>
              <a:rPr lang="en-US" sz="950" b="1" dirty="0">
                <a:solidFill>
                  <a:srgbClr val="C8106E"/>
                </a:solidFill>
                <a:latin typeface="Calibri" pitchFamily="34" charset="0"/>
                <a:ea typeface="Calibri" pitchFamily="34" charset="-122"/>
                <a:cs typeface="Calibri" pitchFamily="34" charset="-120"/>
              </a:rPr>
              <a:t>A partir do mês 7</a:t>
            </a:r>
            <a:endParaRPr lang="en-US" sz="950" dirty="0"/>
          </a:p>
        </p:txBody>
      </p:sp>
      <p:sp>
        <p:nvSpPr>
          <p:cNvPr id="54" name="Text 47"/>
          <p:cNvSpPr/>
          <p:nvPr/>
        </p:nvSpPr>
        <p:spPr>
          <a:xfrm>
            <a:off x="5623560" y="4087368"/>
            <a:ext cx="2194560" cy="256032"/>
          </a:xfrm>
          <a:prstGeom prst="rect">
            <a:avLst/>
          </a:prstGeom>
          <a:noFill/>
          <a:ln/>
        </p:spPr>
        <p:txBody>
          <a:bodyPr wrap="square" lIns="0" tIns="0" rIns="0" bIns="0" rtlCol="0" anchor="t"/>
          <a:lstStyle/>
          <a:p>
            <a:pPr marL="0" indent="0">
              <a:buNone/>
            </a:pPr>
            <a:r>
              <a:rPr lang="en-US" sz="850" dirty="0">
                <a:solidFill>
                  <a:srgbClr val="4A5560"/>
                </a:solidFill>
                <a:latin typeface="Calibri" pitchFamily="34" charset="0"/>
                <a:ea typeface="Calibri" pitchFamily="34" charset="-122"/>
                <a:cs typeface="Calibri" pitchFamily="34" charset="-120"/>
              </a:rPr>
              <a:t>Analistas online: 1 para cada 20 fazendas</a:t>
            </a:r>
            <a:endParaRPr lang="en-US" sz="850" dirty="0"/>
          </a:p>
        </p:txBody>
      </p:sp>
      <p:sp>
        <p:nvSpPr>
          <p:cNvPr id="55" name="TextBox 54"/>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3  ·  O QUE ENTREGAMOS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Na prática: o dia a dia e a arquitetura do sistema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Como o dado sai do curral, chega à TN e volta como recomendação.</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17</a:t>
            </a:r>
            <a:endParaRPr lang="en-US" sz="900" dirty="0"/>
          </a:p>
        </p:txBody>
      </p:sp>
      <p:sp>
        <p:nvSpPr>
          <p:cNvPr id="6" name="Text 3"/>
          <p:cNvSpPr/>
          <p:nvPr/>
        </p:nvSpPr>
        <p:spPr>
          <a:xfrm>
            <a:off x="457200" y="1097280"/>
            <a:ext cx="3291840" cy="237744"/>
          </a:xfrm>
          <a:prstGeom prst="rect">
            <a:avLst/>
          </a:prstGeom>
          <a:noFill/>
          <a:ln/>
        </p:spPr>
        <p:txBody>
          <a:bodyPr wrap="square" lIns="0" tIns="0" rIns="0" bIns="0" rtlCol="0" anchor="t"/>
          <a:lstStyle/>
          <a:p>
            <a:pPr marL="0" indent="0">
              <a:buNone/>
            </a:pPr>
            <a:r>
              <a:rPr lang="en-US" sz="1200" b="1" dirty="0">
                <a:solidFill>
                  <a:srgbClr val="1B3A8C"/>
                </a:solidFill>
                <a:latin typeface="Calibri" pitchFamily="34" charset="0"/>
                <a:ea typeface="Calibri" pitchFamily="34" charset="-122"/>
                <a:cs typeface="Calibri" pitchFamily="34" charset="-120"/>
              </a:rPr>
              <a:t>Um dia na fazenda</a:t>
            </a:r>
            <a:endParaRPr lang="en-US" sz="1200" dirty="0"/>
          </a:p>
        </p:txBody>
      </p:sp>
      <p:sp>
        <p:nvSpPr>
          <p:cNvPr id="7" name="Shape 4"/>
          <p:cNvSpPr/>
          <p:nvPr/>
        </p:nvSpPr>
        <p:spPr>
          <a:xfrm>
            <a:off x="475488" y="1435608"/>
            <a:ext cx="146304" cy="146304"/>
          </a:xfrm>
          <a:prstGeom prst="ellipse">
            <a:avLst/>
          </a:prstGeom>
          <a:solidFill>
            <a:srgbClr val="1B3A8C"/>
          </a:solidFill>
          <a:ln/>
        </p:spPr>
        <p:txBody>
          <a:bodyPr/>
          <a:lstStyle/>
          <a:p>
            <a:endParaRPr/>
          </a:p>
        </p:txBody>
      </p:sp>
      <p:sp>
        <p:nvSpPr>
          <p:cNvPr id="8" name="Shape 5"/>
          <p:cNvSpPr/>
          <p:nvPr/>
        </p:nvSpPr>
        <p:spPr>
          <a:xfrm>
            <a:off x="548640" y="1581912"/>
            <a:ext cx="914" cy="402336"/>
          </a:xfrm>
          <a:prstGeom prst="line">
            <a:avLst/>
          </a:prstGeom>
          <a:noFill/>
          <a:ln w="12700">
            <a:solidFill>
              <a:srgbClr val="D9DEE3"/>
            </a:solidFill>
            <a:prstDash val="solid"/>
          </a:ln>
        </p:spPr>
        <p:txBody>
          <a:bodyPr/>
          <a:lstStyle/>
          <a:p>
            <a:endParaRPr/>
          </a:p>
        </p:txBody>
      </p:sp>
      <p:sp>
        <p:nvSpPr>
          <p:cNvPr id="9" name="Text 6"/>
          <p:cNvSpPr/>
          <p:nvPr/>
        </p:nvSpPr>
        <p:spPr>
          <a:xfrm>
            <a:off x="731520" y="1389888"/>
            <a:ext cx="2926080" cy="182880"/>
          </a:xfrm>
          <a:prstGeom prst="rect">
            <a:avLst/>
          </a:prstGeom>
          <a:noFill/>
          <a:ln/>
        </p:spPr>
        <p:txBody>
          <a:bodyPr wrap="square" lIns="0" tIns="0" rIns="0" bIns="0" rtlCol="0" anchor="t"/>
          <a:lstStyle/>
          <a:p>
            <a:pPr marL="0" indent="0">
              <a:buNone/>
            </a:pPr>
            <a:r>
              <a:rPr lang="en-US" sz="1000" b="1" dirty="0">
                <a:solidFill>
                  <a:srgbClr val="1B3A8C"/>
                </a:solidFill>
                <a:latin typeface="Calibri" pitchFamily="34" charset="0"/>
                <a:ea typeface="Calibri" pitchFamily="34" charset="-122"/>
                <a:cs typeface="Calibri" pitchFamily="34" charset="-120"/>
              </a:rPr>
              <a:t>Início da manhã</a:t>
            </a:r>
            <a:endParaRPr lang="en-US" sz="1000" dirty="0"/>
          </a:p>
        </p:txBody>
      </p:sp>
      <p:sp>
        <p:nvSpPr>
          <p:cNvPr id="10" name="Text 7"/>
          <p:cNvSpPr/>
          <p:nvPr/>
        </p:nvSpPr>
        <p:spPr>
          <a:xfrm>
            <a:off x="731520" y="1572768"/>
            <a:ext cx="2971800" cy="347472"/>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Leitura de cocho antes do 1º trato: o tratador dá a nota de cada baia (escala adotada pela TN)</a:t>
            </a:r>
            <a:endParaRPr lang="en-US" sz="900" dirty="0"/>
          </a:p>
        </p:txBody>
      </p:sp>
      <p:sp>
        <p:nvSpPr>
          <p:cNvPr id="11" name="Shape 8"/>
          <p:cNvSpPr/>
          <p:nvPr/>
        </p:nvSpPr>
        <p:spPr>
          <a:xfrm>
            <a:off x="475488" y="1984248"/>
            <a:ext cx="146304" cy="146304"/>
          </a:xfrm>
          <a:prstGeom prst="ellipse">
            <a:avLst/>
          </a:prstGeom>
          <a:solidFill>
            <a:srgbClr val="1B3A8C"/>
          </a:solidFill>
          <a:ln/>
        </p:spPr>
        <p:txBody>
          <a:bodyPr/>
          <a:lstStyle/>
          <a:p>
            <a:endParaRPr/>
          </a:p>
        </p:txBody>
      </p:sp>
      <p:sp>
        <p:nvSpPr>
          <p:cNvPr id="12" name="Shape 9"/>
          <p:cNvSpPr/>
          <p:nvPr/>
        </p:nvSpPr>
        <p:spPr>
          <a:xfrm>
            <a:off x="548640" y="2130552"/>
            <a:ext cx="914" cy="402336"/>
          </a:xfrm>
          <a:prstGeom prst="line">
            <a:avLst/>
          </a:prstGeom>
          <a:noFill/>
          <a:ln w="12700">
            <a:solidFill>
              <a:srgbClr val="D9DEE3"/>
            </a:solidFill>
            <a:prstDash val="solid"/>
          </a:ln>
        </p:spPr>
        <p:txBody>
          <a:bodyPr/>
          <a:lstStyle/>
          <a:p>
            <a:endParaRPr/>
          </a:p>
        </p:txBody>
      </p:sp>
      <p:sp>
        <p:nvSpPr>
          <p:cNvPr id="13" name="Text 10"/>
          <p:cNvSpPr/>
          <p:nvPr/>
        </p:nvSpPr>
        <p:spPr>
          <a:xfrm>
            <a:off x="731520" y="1938528"/>
            <a:ext cx="2926080" cy="182880"/>
          </a:xfrm>
          <a:prstGeom prst="rect">
            <a:avLst/>
          </a:prstGeom>
          <a:noFill/>
          <a:ln/>
        </p:spPr>
        <p:txBody>
          <a:bodyPr wrap="square" lIns="0" tIns="0" rIns="0" bIns="0" rtlCol="0" anchor="t"/>
          <a:lstStyle/>
          <a:p>
            <a:pPr marL="0" indent="0">
              <a:buNone/>
            </a:pPr>
            <a:r>
              <a:rPr lang="en-US" sz="1000" b="1" dirty="0">
                <a:solidFill>
                  <a:srgbClr val="1B3A8C"/>
                </a:solidFill>
                <a:latin typeface="Calibri" pitchFamily="34" charset="0"/>
                <a:ea typeface="Calibri" pitchFamily="34" charset="-122"/>
                <a:cs typeface="Calibri" pitchFamily="34" charset="-120"/>
              </a:rPr>
              <a:t>Durante o dia</a:t>
            </a:r>
            <a:endParaRPr lang="en-US" sz="1000" dirty="0"/>
          </a:p>
        </p:txBody>
      </p:sp>
      <p:sp>
        <p:nvSpPr>
          <p:cNvPr id="14" name="Text 11"/>
          <p:cNvSpPr/>
          <p:nvPr/>
        </p:nvSpPr>
        <p:spPr>
          <a:xfrm>
            <a:off x="731520" y="2121408"/>
            <a:ext cx="2971800" cy="347472"/>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Trato fornecido por baia, anotado na hora</a:t>
            </a:r>
            <a:endParaRPr lang="en-US" sz="900" dirty="0"/>
          </a:p>
        </p:txBody>
      </p:sp>
      <p:sp>
        <p:nvSpPr>
          <p:cNvPr id="15" name="Shape 12"/>
          <p:cNvSpPr/>
          <p:nvPr/>
        </p:nvSpPr>
        <p:spPr>
          <a:xfrm>
            <a:off x="475488" y="2532888"/>
            <a:ext cx="146304" cy="146304"/>
          </a:xfrm>
          <a:prstGeom prst="ellipse">
            <a:avLst/>
          </a:prstGeom>
          <a:solidFill>
            <a:srgbClr val="1B3A8C"/>
          </a:solidFill>
          <a:ln/>
        </p:spPr>
        <p:txBody>
          <a:bodyPr/>
          <a:lstStyle/>
          <a:p>
            <a:endParaRPr/>
          </a:p>
        </p:txBody>
      </p:sp>
      <p:sp>
        <p:nvSpPr>
          <p:cNvPr id="16" name="Shape 13"/>
          <p:cNvSpPr/>
          <p:nvPr/>
        </p:nvSpPr>
        <p:spPr>
          <a:xfrm>
            <a:off x="548640" y="2679192"/>
            <a:ext cx="914" cy="402336"/>
          </a:xfrm>
          <a:prstGeom prst="line">
            <a:avLst/>
          </a:prstGeom>
          <a:noFill/>
          <a:ln w="12700">
            <a:solidFill>
              <a:srgbClr val="D9DEE3"/>
            </a:solidFill>
            <a:prstDash val="solid"/>
          </a:ln>
        </p:spPr>
        <p:txBody>
          <a:bodyPr/>
          <a:lstStyle/>
          <a:p>
            <a:endParaRPr/>
          </a:p>
        </p:txBody>
      </p:sp>
      <p:sp>
        <p:nvSpPr>
          <p:cNvPr id="17" name="Text 14"/>
          <p:cNvSpPr/>
          <p:nvPr/>
        </p:nvSpPr>
        <p:spPr>
          <a:xfrm>
            <a:off x="731520" y="2487168"/>
            <a:ext cx="2926080" cy="182880"/>
          </a:xfrm>
          <a:prstGeom prst="rect">
            <a:avLst/>
          </a:prstGeom>
          <a:noFill/>
          <a:ln/>
        </p:spPr>
        <p:txBody>
          <a:bodyPr wrap="square" lIns="0" tIns="0" rIns="0" bIns="0" rtlCol="0" anchor="t"/>
          <a:lstStyle/>
          <a:p>
            <a:pPr marL="0" indent="0">
              <a:buNone/>
            </a:pPr>
            <a:r>
              <a:rPr lang="en-US" sz="1000" b="1" dirty="0">
                <a:solidFill>
                  <a:srgbClr val="1B3A8C"/>
                </a:solidFill>
                <a:latin typeface="Calibri" pitchFamily="34" charset="0"/>
                <a:ea typeface="Calibri" pitchFamily="34" charset="-122"/>
                <a:cs typeface="Calibri" pitchFamily="34" charset="-120"/>
              </a:rPr>
              <a:t>Quando ocorre</a:t>
            </a:r>
            <a:endParaRPr lang="en-US" sz="1000" dirty="0"/>
          </a:p>
        </p:txBody>
      </p:sp>
      <p:sp>
        <p:nvSpPr>
          <p:cNvPr id="18" name="Text 15"/>
          <p:cNvSpPr/>
          <p:nvPr/>
        </p:nvSpPr>
        <p:spPr>
          <a:xfrm>
            <a:off x="731520" y="2670048"/>
            <a:ext cx="2971800" cy="347472"/>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Entradas, pesagens, saídas, mortes e troca de baia</a:t>
            </a:r>
            <a:endParaRPr lang="en-US" sz="900" dirty="0"/>
          </a:p>
        </p:txBody>
      </p:sp>
      <p:sp>
        <p:nvSpPr>
          <p:cNvPr id="19" name="Shape 16"/>
          <p:cNvSpPr/>
          <p:nvPr/>
        </p:nvSpPr>
        <p:spPr>
          <a:xfrm>
            <a:off x="475488" y="3081528"/>
            <a:ext cx="146304" cy="146304"/>
          </a:xfrm>
          <a:prstGeom prst="ellipse">
            <a:avLst/>
          </a:prstGeom>
          <a:solidFill>
            <a:srgbClr val="1B3A8C"/>
          </a:solidFill>
          <a:ln/>
        </p:spPr>
        <p:txBody>
          <a:bodyPr/>
          <a:lstStyle/>
          <a:p>
            <a:endParaRPr/>
          </a:p>
        </p:txBody>
      </p:sp>
      <p:sp>
        <p:nvSpPr>
          <p:cNvPr id="20" name="Shape 17"/>
          <p:cNvSpPr/>
          <p:nvPr/>
        </p:nvSpPr>
        <p:spPr>
          <a:xfrm>
            <a:off x="548640" y="3227832"/>
            <a:ext cx="914" cy="402336"/>
          </a:xfrm>
          <a:prstGeom prst="line">
            <a:avLst/>
          </a:prstGeom>
          <a:noFill/>
          <a:ln w="12700">
            <a:solidFill>
              <a:srgbClr val="D9DEE3"/>
            </a:solidFill>
            <a:prstDash val="solid"/>
          </a:ln>
        </p:spPr>
        <p:txBody>
          <a:bodyPr/>
          <a:lstStyle/>
          <a:p>
            <a:endParaRPr/>
          </a:p>
        </p:txBody>
      </p:sp>
      <p:sp>
        <p:nvSpPr>
          <p:cNvPr id="21" name="Text 18"/>
          <p:cNvSpPr/>
          <p:nvPr/>
        </p:nvSpPr>
        <p:spPr>
          <a:xfrm>
            <a:off x="731520" y="3035808"/>
            <a:ext cx="2926080" cy="182880"/>
          </a:xfrm>
          <a:prstGeom prst="rect">
            <a:avLst/>
          </a:prstGeom>
          <a:noFill/>
          <a:ln/>
        </p:spPr>
        <p:txBody>
          <a:bodyPr wrap="square" lIns="0" tIns="0" rIns="0" bIns="0" rtlCol="0" anchor="t"/>
          <a:lstStyle/>
          <a:p>
            <a:pPr marL="0" indent="0">
              <a:buNone/>
            </a:pPr>
            <a:r>
              <a:rPr lang="en-US" sz="1000" b="1" dirty="0">
                <a:solidFill>
                  <a:srgbClr val="1B3A8C"/>
                </a:solidFill>
                <a:latin typeface="Calibri" pitchFamily="34" charset="0"/>
                <a:ea typeface="Calibri" pitchFamily="34" charset="-122"/>
                <a:cs typeface="Calibri" pitchFamily="34" charset="-120"/>
              </a:rPr>
              <a:t>Fim do dia</a:t>
            </a:r>
            <a:endParaRPr lang="en-US" sz="1000" dirty="0"/>
          </a:p>
        </p:txBody>
      </p:sp>
      <p:sp>
        <p:nvSpPr>
          <p:cNvPr id="22" name="Text 19"/>
          <p:cNvSpPr/>
          <p:nvPr/>
        </p:nvSpPr>
        <p:spPr>
          <a:xfrm>
            <a:off x="731520" y="3218688"/>
            <a:ext cx="2971800" cy="347472"/>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Escritório confere e envia. Meta: até 10 minutos</a:t>
            </a:r>
            <a:endParaRPr lang="en-US" sz="900" dirty="0"/>
          </a:p>
        </p:txBody>
      </p:sp>
      <p:sp>
        <p:nvSpPr>
          <p:cNvPr id="23" name="Shape 20"/>
          <p:cNvSpPr/>
          <p:nvPr/>
        </p:nvSpPr>
        <p:spPr>
          <a:xfrm>
            <a:off x="475488" y="3630168"/>
            <a:ext cx="146304" cy="146304"/>
          </a:xfrm>
          <a:prstGeom prst="ellipse">
            <a:avLst/>
          </a:prstGeom>
          <a:solidFill>
            <a:srgbClr val="C8106E"/>
          </a:solidFill>
          <a:ln/>
        </p:spPr>
        <p:txBody>
          <a:bodyPr/>
          <a:lstStyle/>
          <a:p>
            <a:endParaRPr/>
          </a:p>
        </p:txBody>
      </p:sp>
      <p:sp>
        <p:nvSpPr>
          <p:cNvPr id="24" name="Text 21"/>
          <p:cNvSpPr/>
          <p:nvPr/>
        </p:nvSpPr>
        <p:spPr>
          <a:xfrm>
            <a:off x="731520" y="3584448"/>
            <a:ext cx="2926080" cy="182880"/>
          </a:xfrm>
          <a:prstGeom prst="rect">
            <a:avLst/>
          </a:prstGeom>
          <a:noFill/>
          <a:ln/>
        </p:spPr>
        <p:txBody>
          <a:bodyPr wrap="square" lIns="0" tIns="0" rIns="0" bIns="0" rtlCol="0" anchor="t"/>
          <a:lstStyle/>
          <a:p>
            <a:pPr marL="0" indent="0">
              <a:buNone/>
            </a:pPr>
            <a:r>
              <a:rPr lang="en-US" sz="1000" b="1" dirty="0">
                <a:solidFill>
                  <a:srgbClr val="C8106E"/>
                </a:solidFill>
                <a:latin typeface="Calibri" pitchFamily="34" charset="0"/>
                <a:ea typeface="Calibri" pitchFamily="34" charset="-122"/>
                <a:cs typeface="Calibri" pitchFamily="34" charset="-120"/>
              </a:rPr>
              <a:t>Toda semana</a:t>
            </a:r>
            <a:endParaRPr lang="en-US" sz="1000" dirty="0"/>
          </a:p>
        </p:txBody>
      </p:sp>
      <p:sp>
        <p:nvSpPr>
          <p:cNvPr id="25" name="Text 22"/>
          <p:cNvSpPr/>
          <p:nvPr/>
        </p:nvSpPr>
        <p:spPr>
          <a:xfrm>
            <a:off x="731520" y="3767328"/>
            <a:ext cx="2971800" cy="347472"/>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Relatório automático e análise do analista TN</a:t>
            </a:r>
            <a:endParaRPr lang="en-US" sz="900" dirty="0"/>
          </a:p>
        </p:txBody>
      </p:sp>
      <p:sp>
        <p:nvSpPr>
          <p:cNvPr id="26" name="Text 23"/>
          <p:cNvSpPr/>
          <p:nvPr/>
        </p:nvSpPr>
        <p:spPr>
          <a:xfrm>
            <a:off x="4023360" y="1097280"/>
            <a:ext cx="4572000" cy="237744"/>
          </a:xfrm>
          <a:prstGeom prst="rect">
            <a:avLst/>
          </a:prstGeom>
          <a:noFill/>
          <a:ln/>
        </p:spPr>
        <p:txBody>
          <a:bodyPr wrap="square" lIns="0" tIns="0" rIns="0" bIns="0" rtlCol="0" anchor="t"/>
          <a:lstStyle/>
          <a:p>
            <a:pPr marL="0" indent="0">
              <a:buNone/>
            </a:pPr>
            <a:r>
              <a:rPr lang="en-US" sz="1200" b="1" dirty="0">
                <a:solidFill>
                  <a:srgbClr val="1B3A8C"/>
                </a:solidFill>
                <a:latin typeface="Calibri" pitchFamily="34" charset="0"/>
                <a:ea typeface="Calibri" pitchFamily="34" charset="-122"/>
                <a:cs typeface="Calibri" pitchFamily="34" charset="-120"/>
              </a:rPr>
              <a:t>Arquitetura proposta</a:t>
            </a:r>
            <a:endParaRPr lang="en-US" sz="1200" dirty="0"/>
          </a:p>
        </p:txBody>
      </p:sp>
      <p:sp>
        <p:nvSpPr>
          <p:cNvPr id="27" name="Shape 24"/>
          <p:cNvSpPr/>
          <p:nvPr/>
        </p:nvSpPr>
        <p:spPr>
          <a:xfrm>
            <a:off x="4023360" y="1417320"/>
            <a:ext cx="1691640" cy="603504"/>
          </a:xfrm>
          <a:prstGeom prst="rect">
            <a:avLst/>
          </a:prstGeom>
          <a:solidFill>
            <a:srgbClr val="26668F"/>
          </a:solidFill>
          <a:ln/>
        </p:spPr>
        <p:txBody>
          <a:bodyPr/>
          <a:lstStyle/>
          <a:p>
            <a:endParaRPr/>
          </a:p>
        </p:txBody>
      </p:sp>
      <p:pic>
        <p:nvPicPr>
          <p:cNvPr id="28" name="Image 1" descr="preencoded.png"/>
          <p:cNvPicPr>
            <a:picLocks noChangeAspect="1"/>
          </p:cNvPicPr>
          <p:nvPr/>
        </p:nvPicPr>
        <p:blipFill>
          <a:blip r:embed="rId4"/>
          <a:stretch>
            <a:fillRect/>
          </a:stretch>
        </p:blipFill>
        <p:spPr>
          <a:xfrm>
            <a:off x="4114800" y="1527048"/>
            <a:ext cx="274320" cy="274320"/>
          </a:xfrm>
          <a:prstGeom prst="rect">
            <a:avLst/>
          </a:prstGeom>
        </p:spPr>
      </p:pic>
      <p:sp>
        <p:nvSpPr>
          <p:cNvPr id="29" name="Text 25"/>
          <p:cNvSpPr/>
          <p:nvPr/>
        </p:nvSpPr>
        <p:spPr>
          <a:xfrm>
            <a:off x="4462272" y="1472184"/>
            <a:ext cx="1188720" cy="201168"/>
          </a:xfrm>
          <a:prstGeom prst="rect">
            <a:avLst/>
          </a:prstGeom>
          <a:noFill/>
          <a:ln/>
        </p:spPr>
        <p:txBody>
          <a:bodyPr wrap="square" lIns="0" tIns="0" rIns="0" bIns="0" rtlCol="0" anchor="t"/>
          <a:lstStyle/>
          <a:p>
            <a:pPr marL="0" indent="0">
              <a:buNone/>
            </a:pPr>
            <a:r>
              <a:rPr lang="en-US" sz="950" b="1" dirty="0">
                <a:solidFill>
                  <a:srgbClr val="FFFFFF"/>
                </a:solidFill>
                <a:latin typeface="Calibri" pitchFamily="34" charset="0"/>
                <a:ea typeface="Calibri" pitchFamily="34" charset="-122"/>
                <a:cs typeface="Calibri" pitchFamily="34" charset="-120"/>
              </a:rPr>
              <a:t>Celular no curral</a:t>
            </a:r>
            <a:endParaRPr lang="en-US" sz="950" dirty="0"/>
          </a:p>
        </p:txBody>
      </p:sp>
      <p:sp>
        <p:nvSpPr>
          <p:cNvPr id="30" name="Text 26"/>
          <p:cNvSpPr/>
          <p:nvPr/>
        </p:nvSpPr>
        <p:spPr>
          <a:xfrm>
            <a:off x="4462272" y="1664208"/>
            <a:ext cx="1188720" cy="329184"/>
          </a:xfrm>
          <a:prstGeom prst="rect">
            <a:avLst/>
          </a:prstGeom>
          <a:noFill/>
          <a:ln/>
        </p:spPr>
        <p:txBody>
          <a:bodyPr wrap="square" lIns="0" tIns="0" rIns="0" bIns="0" rtlCol="0" anchor="t"/>
          <a:lstStyle/>
          <a:p>
            <a:pPr marL="0" indent="0">
              <a:buNone/>
            </a:pPr>
            <a:r>
              <a:rPr lang="en-US" sz="800" dirty="0">
                <a:solidFill>
                  <a:srgbClr val="FFFFFF"/>
                </a:solidFill>
                <a:latin typeface="Calibri" pitchFamily="34" charset="0"/>
                <a:ea typeface="Calibri" pitchFamily="34" charset="-122"/>
                <a:cs typeface="Calibri" pitchFamily="34" charset="-120"/>
              </a:rPr>
              <a:t>Navegador; sem sinal, guarda e envia depois</a:t>
            </a:r>
            <a:endParaRPr lang="en-US" sz="800" dirty="0"/>
          </a:p>
        </p:txBody>
      </p:sp>
      <p:sp>
        <p:nvSpPr>
          <p:cNvPr id="31" name="Shape 27"/>
          <p:cNvSpPr/>
          <p:nvPr/>
        </p:nvSpPr>
        <p:spPr>
          <a:xfrm>
            <a:off x="4023360" y="2121408"/>
            <a:ext cx="1691640" cy="603504"/>
          </a:xfrm>
          <a:prstGeom prst="rect">
            <a:avLst/>
          </a:prstGeom>
          <a:solidFill>
            <a:srgbClr val="26668F"/>
          </a:solidFill>
          <a:ln/>
        </p:spPr>
        <p:txBody>
          <a:bodyPr/>
          <a:lstStyle/>
          <a:p>
            <a:endParaRPr/>
          </a:p>
        </p:txBody>
      </p:sp>
      <p:pic>
        <p:nvPicPr>
          <p:cNvPr id="32" name="Image 2" descr="preencoded.png"/>
          <p:cNvPicPr>
            <a:picLocks noChangeAspect="1"/>
          </p:cNvPicPr>
          <p:nvPr/>
        </p:nvPicPr>
        <p:blipFill>
          <a:blip r:embed="rId5"/>
          <a:stretch>
            <a:fillRect/>
          </a:stretch>
        </p:blipFill>
        <p:spPr>
          <a:xfrm>
            <a:off x="4114800" y="2231136"/>
            <a:ext cx="274320" cy="274320"/>
          </a:xfrm>
          <a:prstGeom prst="rect">
            <a:avLst/>
          </a:prstGeom>
        </p:spPr>
      </p:pic>
      <p:sp>
        <p:nvSpPr>
          <p:cNvPr id="33" name="Text 28"/>
          <p:cNvSpPr/>
          <p:nvPr/>
        </p:nvSpPr>
        <p:spPr>
          <a:xfrm>
            <a:off x="4462272" y="2176272"/>
            <a:ext cx="1188720" cy="201168"/>
          </a:xfrm>
          <a:prstGeom prst="rect">
            <a:avLst/>
          </a:prstGeom>
          <a:noFill/>
          <a:ln/>
        </p:spPr>
        <p:txBody>
          <a:bodyPr wrap="square" lIns="0" tIns="0" rIns="0" bIns="0" rtlCol="0" anchor="t"/>
          <a:lstStyle/>
          <a:p>
            <a:pPr marL="0" indent="0">
              <a:buNone/>
            </a:pPr>
            <a:r>
              <a:rPr lang="en-US" sz="950" b="1" dirty="0">
                <a:solidFill>
                  <a:srgbClr val="FFFFFF"/>
                </a:solidFill>
                <a:latin typeface="Calibri" pitchFamily="34" charset="0"/>
                <a:ea typeface="Calibri" pitchFamily="34" charset="-122"/>
                <a:cs typeface="Calibri" pitchFamily="34" charset="-120"/>
              </a:rPr>
              <a:t>Ficha de papel</a:t>
            </a:r>
            <a:endParaRPr lang="en-US" sz="950" dirty="0"/>
          </a:p>
        </p:txBody>
      </p:sp>
      <p:sp>
        <p:nvSpPr>
          <p:cNvPr id="34" name="Text 29"/>
          <p:cNvSpPr/>
          <p:nvPr/>
        </p:nvSpPr>
        <p:spPr>
          <a:xfrm>
            <a:off x="4462272" y="2368296"/>
            <a:ext cx="1188720" cy="329184"/>
          </a:xfrm>
          <a:prstGeom prst="rect">
            <a:avLst/>
          </a:prstGeom>
          <a:noFill/>
          <a:ln/>
        </p:spPr>
        <p:txBody>
          <a:bodyPr wrap="square" lIns="0" tIns="0" rIns="0" bIns="0" rtlCol="0" anchor="t"/>
          <a:lstStyle/>
          <a:p>
            <a:pPr marL="0" indent="0">
              <a:buNone/>
            </a:pPr>
            <a:r>
              <a:rPr lang="en-US" sz="800" dirty="0">
                <a:solidFill>
                  <a:srgbClr val="FFFFFF"/>
                </a:solidFill>
                <a:latin typeface="Calibri" pitchFamily="34" charset="0"/>
                <a:ea typeface="Calibri" pitchFamily="34" charset="-122"/>
                <a:cs typeface="Calibri" pitchFamily="34" charset="-120"/>
              </a:rPr>
              <a:t>Digitada no computador da sede</a:t>
            </a:r>
            <a:endParaRPr lang="en-US" sz="800" dirty="0"/>
          </a:p>
        </p:txBody>
      </p:sp>
      <p:sp>
        <p:nvSpPr>
          <p:cNvPr id="35" name="Shape 30"/>
          <p:cNvSpPr/>
          <p:nvPr/>
        </p:nvSpPr>
        <p:spPr>
          <a:xfrm>
            <a:off x="5989320" y="1417320"/>
            <a:ext cx="1188720" cy="1307592"/>
          </a:xfrm>
          <a:prstGeom prst="rect">
            <a:avLst/>
          </a:prstGeom>
          <a:solidFill>
            <a:srgbClr val="1B3A8C"/>
          </a:solidFill>
          <a:ln/>
        </p:spPr>
        <p:txBody>
          <a:bodyPr/>
          <a:lstStyle/>
          <a:p>
            <a:endParaRPr/>
          </a:p>
        </p:txBody>
      </p:sp>
      <p:pic>
        <p:nvPicPr>
          <p:cNvPr id="36" name="Image 3" descr="preencoded.png"/>
          <p:cNvPicPr>
            <a:picLocks noChangeAspect="1"/>
          </p:cNvPicPr>
          <p:nvPr/>
        </p:nvPicPr>
        <p:blipFill>
          <a:blip r:embed="rId6"/>
          <a:stretch>
            <a:fillRect/>
          </a:stretch>
        </p:blipFill>
        <p:spPr>
          <a:xfrm>
            <a:off x="6080760" y="1527048"/>
            <a:ext cx="274320" cy="274320"/>
          </a:xfrm>
          <a:prstGeom prst="rect">
            <a:avLst/>
          </a:prstGeom>
        </p:spPr>
      </p:pic>
      <p:sp>
        <p:nvSpPr>
          <p:cNvPr id="37" name="Text 31"/>
          <p:cNvSpPr/>
          <p:nvPr/>
        </p:nvSpPr>
        <p:spPr>
          <a:xfrm>
            <a:off x="6428232" y="1472184"/>
            <a:ext cx="685800" cy="201168"/>
          </a:xfrm>
          <a:prstGeom prst="rect">
            <a:avLst/>
          </a:prstGeom>
          <a:noFill/>
          <a:ln/>
        </p:spPr>
        <p:txBody>
          <a:bodyPr wrap="square" lIns="0" tIns="0" rIns="0" bIns="0" rtlCol="0" anchor="t"/>
          <a:lstStyle/>
          <a:p>
            <a:pPr marL="0" indent="0">
              <a:buNone/>
            </a:pPr>
            <a:r>
              <a:rPr lang="en-US" sz="950" b="1" dirty="0">
                <a:solidFill>
                  <a:srgbClr val="FFFFFF"/>
                </a:solidFill>
                <a:latin typeface="Calibri" pitchFamily="34" charset="0"/>
                <a:ea typeface="Calibri" pitchFamily="34" charset="-122"/>
                <a:cs typeface="Calibri" pitchFamily="34" charset="-120"/>
              </a:rPr>
              <a:t>Nuvem</a:t>
            </a:r>
            <a:endParaRPr lang="en-US" sz="950" dirty="0"/>
          </a:p>
        </p:txBody>
      </p:sp>
      <p:sp>
        <p:nvSpPr>
          <p:cNvPr id="38" name="Text 32"/>
          <p:cNvSpPr/>
          <p:nvPr/>
        </p:nvSpPr>
        <p:spPr>
          <a:xfrm>
            <a:off x="6428232" y="1664208"/>
            <a:ext cx="685800" cy="1033272"/>
          </a:xfrm>
          <a:prstGeom prst="rect">
            <a:avLst/>
          </a:prstGeom>
          <a:noFill/>
          <a:ln/>
        </p:spPr>
        <p:txBody>
          <a:bodyPr wrap="square" lIns="0" tIns="0" rIns="0" bIns="0" rtlCol="0" anchor="t"/>
          <a:lstStyle/>
          <a:p>
            <a:pPr marL="0" indent="0">
              <a:buNone/>
            </a:pPr>
            <a:r>
              <a:rPr lang="en-US" sz="800" dirty="0">
                <a:solidFill>
                  <a:srgbClr val="FFFFFF"/>
                </a:solidFill>
                <a:latin typeface="Calibri" pitchFamily="34" charset="0"/>
                <a:ea typeface="Calibri" pitchFamily="34" charset="-122"/>
                <a:cs typeface="Calibri" pitchFamily="34" charset="-120"/>
              </a:rPr>
              <a:t>Banco de dados e cálculos: consumo, GMD, dias de cocho</a:t>
            </a:r>
            <a:endParaRPr lang="en-US" sz="800" dirty="0"/>
          </a:p>
        </p:txBody>
      </p:sp>
      <p:sp>
        <p:nvSpPr>
          <p:cNvPr id="39" name="Shape 33"/>
          <p:cNvSpPr/>
          <p:nvPr/>
        </p:nvSpPr>
        <p:spPr>
          <a:xfrm>
            <a:off x="7452360" y="1417320"/>
            <a:ext cx="1280160" cy="603504"/>
          </a:xfrm>
          <a:prstGeom prst="rect">
            <a:avLst/>
          </a:prstGeom>
          <a:solidFill>
            <a:srgbClr val="1B3A8C"/>
          </a:solidFill>
          <a:ln/>
        </p:spPr>
        <p:txBody>
          <a:bodyPr/>
          <a:lstStyle/>
          <a:p>
            <a:endParaRPr/>
          </a:p>
        </p:txBody>
      </p:sp>
      <p:pic>
        <p:nvPicPr>
          <p:cNvPr id="40" name="Image 4" descr="preencoded.png"/>
          <p:cNvPicPr>
            <a:picLocks noChangeAspect="1"/>
          </p:cNvPicPr>
          <p:nvPr/>
        </p:nvPicPr>
        <p:blipFill>
          <a:blip r:embed="rId7"/>
          <a:stretch>
            <a:fillRect/>
          </a:stretch>
        </p:blipFill>
        <p:spPr>
          <a:xfrm>
            <a:off x="7543800" y="1527048"/>
            <a:ext cx="274320" cy="274320"/>
          </a:xfrm>
          <a:prstGeom prst="rect">
            <a:avLst/>
          </a:prstGeom>
        </p:spPr>
      </p:pic>
      <p:sp>
        <p:nvSpPr>
          <p:cNvPr id="41" name="Text 34"/>
          <p:cNvSpPr/>
          <p:nvPr/>
        </p:nvSpPr>
        <p:spPr>
          <a:xfrm>
            <a:off x="7891272" y="1472184"/>
            <a:ext cx="777240" cy="201168"/>
          </a:xfrm>
          <a:prstGeom prst="rect">
            <a:avLst/>
          </a:prstGeom>
          <a:noFill/>
          <a:ln/>
        </p:spPr>
        <p:txBody>
          <a:bodyPr wrap="square" lIns="0" tIns="0" rIns="0" bIns="0" rtlCol="0" anchor="t"/>
          <a:lstStyle/>
          <a:p>
            <a:pPr marL="0" indent="0">
              <a:buNone/>
            </a:pPr>
            <a:r>
              <a:rPr lang="en-US" sz="950" b="1" dirty="0">
                <a:solidFill>
                  <a:srgbClr val="FFFFFF"/>
                </a:solidFill>
                <a:latin typeface="Calibri" pitchFamily="34" charset="0"/>
                <a:ea typeface="Calibri" pitchFamily="34" charset="-122"/>
                <a:cs typeface="Calibri" pitchFamily="34" charset="-120"/>
              </a:rPr>
              <a:t>Painel</a:t>
            </a:r>
            <a:endParaRPr lang="en-US" sz="950" dirty="0"/>
          </a:p>
        </p:txBody>
      </p:sp>
      <p:sp>
        <p:nvSpPr>
          <p:cNvPr id="42" name="Text 35"/>
          <p:cNvSpPr/>
          <p:nvPr/>
        </p:nvSpPr>
        <p:spPr>
          <a:xfrm>
            <a:off x="7891272" y="1664208"/>
            <a:ext cx="777240" cy="329184"/>
          </a:xfrm>
          <a:prstGeom prst="rect">
            <a:avLst/>
          </a:prstGeom>
          <a:noFill/>
          <a:ln/>
        </p:spPr>
        <p:txBody>
          <a:bodyPr wrap="square" lIns="0" tIns="0" rIns="0" bIns="0" rtlCol="0" anchor="t"/>
          <a:lstStyle/>
          <a:p>
            <a:pPr marL="0" indent="0">
              <a:buNone/>
            </a:pPr>
            <a:r>
              <a:rPr lang="en-US" sz="800" dirty="0">
                <a:solidFill>
                  <a:srgbClr val="FFFFFF"/>
                </a:solidFill>
                <a:latin typeface="Calibri" pitchFamily="34" charset="0"/>
                <a:ea typeface="Calibri" pitchFamily="34" charset="-122"/>
                <a:cs typeface="Calibri" pitchFamily="34" charset="-120"/>
              </a:rPr>
              <a:t>Relatório semanal automático</a:t>
            </a:r>
            <a:endParaRPr lang="en-US" sz="800" dirty="0"/>
          </a:p>
        </p:txBody>
      </p:sp>
      <p:sp>
        <p:nvSpPr>
          <p:cNvPr id="43" name="Shape 36"/>
          <p:cNvSpPr/>
          <p:nvPr/>
        </p:nvSpPr>
        <p:spPr>
          <a:xfrm>
            <a:off x="7452360" y="2121408"/>
            <a:ext cx="1280160" cy="603504"/>
          </a:xfrm>
          <a:prstGeom prst="rect">
            <a:avLst/>
          </a:prstGeom>
          <a:solidFill>
            <a:srgbClr val="C8106E"/>
          </a:solidFill>
          <a:ln/>
        </p:spPr>
        <p:txBody>
          <a:bodyPr/>
          <a:lstStyle/>
          <a:p>
            <a:endParaRPr/>
          </a:p>
        </p:txBody>
      </p:sp>
      <p:pic>
        <p:nvPicPr>
          <p:cNvPr id="44" name="Image 5" descr="preencoded.png"/>
          <p:cNvPicPr>
            <a:picLocks noChangeAspect="1"/>
          </p:cNvPicPr>
          <p:nvPr/>
        </p:nvPicPr>
        <p:blipFill>
          <a:blip r:embed="rId8"/>
          <a:stretch>
            <a:fillRect/>
          </a:stretch>
        </p:blipFill>
        <p:spPr>
          <a:xfrm>
            <a:off x="7543800" y="2231136"/>
            <a:ext cx="274320" cy="274320"/>
          </a:xfrm>
          <a:prstGeom prst="rect">
            <a:avLst/>
          </a:prstGeom>
        </p:spPr>
      </p:pic>
      <p:sp>
        <p:nvSpPr>
          <p:cNvPr id="45" name="Text 37"/>
          <p:cNvSpPr/>
          <p:nvPr/>
        </p:nvSpPr>
        <p:spPr>
          <a:xfrm>
            <a:off x="7891272" y="2176272"/>
            <a:ext cx="777240" cy="201168"/>
          </a:xfrm>
          <a:prstGeom prst="rect">
            <a:avLst/>
          </a:prstGeom>
          <a:noFill/>
          <a:ln/>
        </p:spPr>
        <p:txBody>
          <a:bodyPr wrap="square" lIns="0" tIns="0" rIns="0" bIns="0" rtlCol="0" anchor="t"/>
          <a:lstStyle/>
          <a:p>
            <a:pPr marL="0" indent="0">
              <a:buNone/>
            </a:pPr>
            <a:r>
              <a:rPr lang="en-US" sz="950" b="1" dirty="0">
                <a:solidFill>
                  <a:srgbClr val="FFFFFF"/>
                </a:solidFill>
                <a:latin typeface="Calibri" pitchFamily="34" charset="0"/>
                <a:ea typeface="Calibri" pitchFamily="34" charset="-122"/>
                <a:cs typeface="Calibri" pitchFamily="34" charset="-120"/>
              </a:rPr>
              <a:t>Analista TN</a:t>
            </a:r>
            <a:endParaRPr lang="en-US" sz="950" dirty="0"/>
          </a:p>
        </p:txBody>
      </p:sp>
      <p:sp>
        <p:nvSpPr>
          <p:cNvPr id="46" name="Text 38"/>
          <p:cNvSpPr/>
          <p:nvPr/>
        </p:nvSpPr>
        <p:spPr>
          <a:xfrm>
            <a:off x="7891272" y="2368296"/>
            <a:ext cx="777240" cy="329184"/>
          </a:xfrm>
          <a:prstGeom prst="rect">
            <a:avLst/>
          </a:prstGeom>
          <a:noFill/>
          <a:ln/>
        </p:spPr>
        <p:txBody>
          <a:bodyPr wrap="square" lIns="0" tIns="0" rIns="0" bIns="0" rtlCol="0" anchor="t"/>
          <a:lstStyle/>
          <a:p>
            <a:pPr marL="0" indent="0">
              <a:buNone/>
            </a:pPr>
            <a:r>
              <a:rPr lang="en-US" sz="800" dirty="0">
                <a:solidFill>
                  <a:srgbClr val="FFFFFF"/>
                </a:solidFill>
                <a:latin typeface="Calibri" pitchFamily="34" charset="0"/>
                <a:ea typeface="Calibri" pitchFamily="34" charset="-122"/>
                <a:cs typeface="Calibri" pitchFamily="34" charset="-120"/>
              </a:rPr>
              <a:t>Lê, compara e recomenda</a:t>
            </a:r>
            <a:endParaRPr lang="en-US" sz="800" dirty="0"/>
          </a:p>
        </p:txBody>
      </p:sp>
      <p:pic>
        <p:nvPicPr>
          <p:cNvPr id="47" name="Image 6" descr="preencoded.png"/>
          <p:cNvPicPr>
            <a:picLocks noChangeAspect="1"/>
          </p:cNvPicPr>
          <p:nvPr/>
        </p:nvPicPr>
        <p:blipFill>
          <a:blip r:embed="rId9"/>
          <a:stretch>
            <a:fillRect/>
          </a:stretch>
        </p:blipFill>
        <p:spPr>
          <a:xfrm>
            <a:off x="5760720" y="1627632"/>
            <a:ext cx="182880" cy="182880"/>
          </a:xfrm>
          <a:prstGeom prst="rect">
            <a:avLst/>
          </a:prstGeom>
        </p:spPr>
      </p:pic>
      <p:pic>
        <p:nvPicPr>
          <p:cNvPr id="48" name="Image 7" descr="preencoded.png"/>
          <p:cNvPicPr>
            <a:picLocks noChangeAspect="1"/>
          </p:cNvPicPr>
          <p:nvPr/>
        </p:nvPicPr>
        <p:blipFill>
          <a:blip r:embed="rId9"/>
          <a:stretch>
            <a:fillRect/>
          </a:stretch>
        </p:blipFill>
        <p:spPr>
          <a:xfrm>
            <a:off x="5760720" y="2331720"/>
            <a:ext cx="182880" cy="182880"/>
          </a:xfrm>
          <a:prstGeom prst="rect">
            <a:avLst/>
          </a:prstGeom>
        </p:spPr>
      </p:pic>
      <p:pic>
        <p:nvPicPr>
          <p:cNvPr id="49" name="Image 8" descr="preencoded.png"/>
          <p:cNvPicPr>
            <a:picLocks noChangeAspect="1"/>
          </p:cNvPicPr>
          <p:nvPr/>
        </p:nvPicPr>
        <p:blipFill>
          <a:blip r:embed="rId9"/>
          <a:stretch>
            <a:fillRect/>
          </a:stretch>
        </p:blipFill>
        <p:spPr>
          <a:xfrm>
            <a:off x="7223760" y="1627632"/>
            <a:ext cx="182880" cy="182880"/>
          </a:xfrm>
          <a:prstGeom prst="rect">
            <a:avLst/>
          </a:prstGeom>
        </p:spPr>
      </p:pic>
      <p:sp>
        <p:nvSpPr>
          <p:cNvPr id="50" name="Shape 39"/>
          <p:cNvSpPr/>
          <p:nvPr/>
        </p:nvSpPr>
        <p:spPr>
          <a:xfrm>
            <a:off x="8092440" y="2020824"/>
            <a:ext cx="914" cy="100584"/>
          </a:xfrm>
          <a:prstGeom prst="line">
            <a:avLst/>
          </a:prstGeom>
          <a:noFill/>
          <a:ln w="15875">
            <a:solidFill>
              <a:srgbClr val="7A858F"/>
            </a:solidFill>
            <a:prstDash val="solid"/>
          </a:ln>
        </p:spPr>
        <p:txBody>
          <a:bodyPr/>
          <a:lstStyle/>
          <a:p>
            <a:endParaRPr/>
          </a:p>
        </p:txBody>
      </p:sp>
      <p:sp>
        <p:nvSpPr>
          <p:cNvPr id="51" name="Shape 40"/>
          <p:cNvSpPr/>
          <p:nvPr/>
        </p:nvSpPr>
        <p:spPr>
          <a:xfrm>
            <a:off x="8092440" y="2724912"/>
            <a:ext cx="914" cy="164592"/>
          </a:xfrm>
          <a:prstGeom prst="line">
            <a:avLst/>
          </a:prstGeom>
          <a:noFill/>
          <a:ln w="15875">
            <a:solidFill>
              <a:srgbClr val="C8106E"/>
            </a:solidFill>
            <a:prstDash val="solid"/>
          </a:ln>
        </p:spPr>
        <p:txBody>
          <a:bodyPr/>
          <a:lstStyle/>
          <a:p>
            <a:endParaRPr/>
          </a:p>
        </p:txBody>
      </p:sp>
      <p:sp>
        <p:nvSpPr>
          <p:cNvPr id="52" name="Shape 41"/>
          <p:cNvSpPr/>
          <p:nvPr/>
        </p:nvSpPr>
        <p:spPr>
          <a:xfrm>
            <a:off x="4846320" y="2889504"/>
            <a:ext cx="3246120" cy="914"/>
          </a:xfrm>
          <a:prstGeom prst="line">
            <a:avLst/>
          </a:prstGeom>
          <a:noFill/>
          <a:ln w="15875">
            <a:solidFill>
              <a:srgbClr val="C8106E"/>
            </a:solidFill>
            <a:prstDash val="solid"/>
          </a:ln>
        </p:spPr>
        <p:txBody>
          <a:bodyPr/>
          <a:lstStyle/>
          <a:p>
            <a:endParaRPr/>
          </a:p>
        </p:txBody>
      </p:sp>
      <p:sp>
        <p:nvSpPr>
          <p:cNvPr id="53" name="Shape 42"/>
          <p:cNvSpPr/>
          <p:nvPr/>
        </p:nvSpPr>
        <p:spPr>
          <a:xfrm>
            <a:off x="4846320" y="2724912"/>
            <a:ext cx="914" cy="164592"/>
          </a:xfrm>
          <a:prstGeom prst="line">
            <a:avLst/>
          </a:prstGeom>
          <a:noFill/>
          <a:ln w="15875">
            <a:solidFill>
              <a:srgbClr val="C8106E"/>
            </a:solidFill>
            <a:prstDash val="solid"/>
          </a:ln>
        </p:spPr>
        <p:txBody>
          <a:bodyPr/>
          <a:lstStyle/>
          <a:p>
            <a:endParaRPr/>
          </a:p>
        </p:txBody>
      </p:sp>
      <p:sp>
        <p:nvSpPr>
          <p:cNvPr id="54" name="Text 43"/>
          <p:cNvSpPr/>
          <p:nvPr/>
        </p:nvSpPr>
        <p:spPr>
          <a:xfrm>
            <a:off x="4937760" y="2916936"/>
            <a:ext cx="3108960" cy="182880"/>
          </a:xfrm>
          <a:prstGeom prst="rect">
            <a:avLst/>
          </a:prstGeom>
          <a:noFill/>
          <a:ln/>
        </p:spPr>
        <p:txBody>
          <a:bodyPr wrap="square" lIns="0" tIns="0" rIns="0" bIns="0" rtlCol="0" anchor="t"/>
          <a:lstStyle/>
          <a:p>
            <a:pPr marL="0" indent="0" algn="ctr">
              <a:buNone/>
            </a:pPr>
            <a:r>
              <a:rPr lang="en-US" sz="850" i="1" dirty="0">
                <a:solidFill>
                  <a:srgbClr val="C8106E"/>
                </a:solidFill>
                <a:latin typeface="Calibri" pitchFamily="34" charset="0"/>
                <a:ea typeface="Calibri" pitchFamily="34" charset="-122"/>
                <a:cs typeface="Calibri" pitchFamily="34" charset="-120"/>
              </a:rPr>
              <a:t>Recomendação volta ao gestor: WhatsApp, ligação ou visita</a:t>
            </a:r>
            <a:endParaRPr lang="en-US" sz="850" dirty="0"/>
          </a:p>
        </p:txBody>
      </p:sp>
      <p:sp>
        <p:nvSpPr>
          <p:cNvPr id="55" name="Shape 44"/>
          <p:cNvSpPr/>
          <p:nvPr/>
        </p:nvSpPr>
        <p:spPr>
          <a:xfrm>
            <a:off x="4023360" y="3218688"/>
            <a:ext cx="4709160" cy="1097280"/>
          </a:xfrm>
          <a:prstGeom prst="rect">
            <a:avLst/>
          </a:prstGeom>
          <a:solidFill>
            <a:srgbClr val="F4F6F8"/>
          </a:solidFill>
          <a:ln/>
        </p:spPr>
        <p:txBody>
          <a:bodyPr/>
          <a:lstStyle/>
          <a:p>
            <a:endParaRPr/>
          </a:p>
        </p:txBody>
      </p:sp>
      <p:pic>
        <p:nvPicPr>
          <p:cNvPr id="56" name="Image 9" descr="preencoded.png"/>
          <p:cNvPicPr>
            <a:picLocks noChangeAspect="1"/>
          </p:cNvPicPr>
          <p:nvPr/>
        </p:nvPicPr>
        <p:blipFill>
          <a:blip r:embed="rId10"/>
          <a:stretch>
            <a:fillRect/>
          </a:stretch>
        </p:blipFill>
        <p:spPr>
          <a:xfrm>
            <a:off x="4133088" y="3310128"/>
            <a:ext cx="274320" cy="274320"/>
          </a:xfrm>
          <a:prstGeom prst="rect">
            <a:avLst/>
          </a:prstGeom>
        </p:spPr>
      </p:pic>
      <p:sp>
        <p:nvSpPr>
          <p:cNvPr id="57" name="Text 45"/>
          <p:cNvSpPr/>
          <p:nvPr/>
        </p:nvSpPr>
        <p:spPr>
          <a:xfrm>
            <a:off x="4498848" y="3291840"/>
            <a:ext cx="4114800" cy="219456"/>
          </a:xfrm>
          <a:prstGeom prst="rect">
            <a:avLst/>
          </a:prstGeom>
          <a:noFill/>
          <a:ln/>
        </p:spPr>
        <p:txBody>
          <a:bodyPr wrap="square" lIns="0" tIns="0" rIns="0" bIns="0" rtlCol="0" anchor="t"/>
          <a:lstStyle/>
          <a:p>
            <a:pPr marL="0" indent="0">
              <a:buNone/>
            </a:pPr>
            <a:r>
              <a:rPr lang="en-US" sz="1100" b="1" dirty="0">
                <a:solidFill>
                  <a:srgbClr val="1B3A8C"/>
                </a:solidFill>
                <a:latin typeface="Calibri" pitchFamily="34" charset="0"/>
                <a:ea typeface="Calibri" pitchFamily="34" charset="-122"/>
                <a:cs typeface="Calibri" pitchFamily="34" charset="-120"/>
              </a:rPr>
              <a:t>Precisa de internet?</a:t>
            </a:r>
            <a:endParaRPr lang="en-US" sz="1100" dirty="0"/>
          </a:p>
        </p:txBody>
      </p:sp>
      <p:sp>
        <p:nvSpPr>
          <p:cNvPr id="58" name="Text 46"/>
          <p:cNvSpPr/>
          <p:nvPr/>
        </p:nvSpPr>
        <p:spPr>
          <a:xfrm>
            <a:off x="4160520" y="3566160"/>
            <a:ext cx="4480560" cy="731520"/>
          </a:xfrm>
          <a:prstGeom prst="rect">
            <a:avLst/>
          </a:prstGeom>
          <a:noFill/>
          <a:ln/>
        </p:spPr>
        <p:txBody>
          <a:bodyPr wrap="square" lIns="0" tIns="0" rIns="0" bIns="0" rtlCol="0" anchor="t"/>
          <a:lstStyle/>
          <a:p>
            <a:pPr marL="114300" indent="-114300">
              <a:spcAft>
                <a:spcPts val="300"/>
              </a:spcAft>
              <a:buSzPct val="100000"/>
              <a:buChar char="•"/>
            </a:pPr>
            <a:r>
              <a:rPr lang="en-US" sz="850" dirty="0">
                <a:solidFill>
                  <a:srgbClr val="4A5560"/>
                </a:solidFill>
                <a:latin typeface="Calibri" pitchFamily="34" charset="0"/>
                <a:ea typeface="Calibri" pitchFamily="34" charset="-122"/>
                <a:cs typeface="Calibri" pitchFamily="34" charset="-120"/>
              </a:rPr>
              <a:t>No curral, não: ficha de papel ou celular que guarda o lançamento e envia ao ter sinal</a:t>
            </a:r>
            <a:endParaRPr lang="en-US" sz="850" dirty="0"/>
          </a:p>
          <a:p>
            <a:pPr marL="114300" indent="-114300">
              <a:spcAft>
                <a:spcPts val="300"/>
              </a:spcAft>
              <a:buSzPct val="100000"/>
              <a:buChar char="•"/>
            </a:pPr>
            <a:r>
              <a:rPr lang="en-US" sz="850" dirty="0">
                <a:solidFill>
                  <a:srgbClr val="4A5560"/>
                </a:solidFill>
                <a:latin typeface="Calibri" pitchFamily="34" charset="0"/>
                <a:ea typeface="Calibri" pitchFamily="34" charset="-122"/>
                <a:cs typeface="Calibri" pitchFamily="34" charset="-120"/>
              </a:rPr>
              <a:t>Na sede, sim: uma conexão por dia basta para enviar dados e ver o painel</a:t>
            </a:r>
            <a:endParaRPr lang="en-US" sz="850" dirty="0"/>
          </a:p>
          <a:p>
            <a:pPr marL="114300" indent="-114300">
              <a:spcAft>
                <a:spcPts val="300"/>
              </a:spcAft>
              <a:buSzPct val="100000"/>
              <a:buChar char="•"/>
            </a:pPr>
            <a:r>
              <a:rPr lang="en-US" sz="850" dirty="0">
                <a:solidFill>
                  <a:srgbClr val="4A5560"/>
                </a:solidFill>
                <a:latin typeface="Calibri" pitchFamily="34" charset="0"/>
                <a:ea typeface="Calibri" pitchFamily="34" charset="-122"/>
                <a:cs typeface="Calibri" pitchFamily="34" charset="-120"/>
              </a:rPr>
              <a:t>Celular sem sinal e app nativo offline: validar com a Dreamer na imersão técnica (16 a 27/11)</a:t>
            </a:r>
            <a:endParaRPr lang="en-US" sz="850" dirty="0"/>
          </a:p>
        </p:txBody>
      </p:sp>
      <p:sp>
        <p:nvSpPr>
          <p:cNvPr id="59" name="TextBox 58"/>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3  ·  O QUE ENTREGAMOS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Concorrência: software todos têm</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A diferença está em quem transforma o dado em resultado para o confinador médio.</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18</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indent="0" marL="0">
              <a:buNone/>
            </a:pPr>
            <a:r>
              <a:rPr lang="en-US" sz="800" dirty="0">
                <a:solidFill>
                  <a:srgbClr val="7A858F"/>
                </a:solidFill>
                <a:latin typeface="Calibri" pitchFamily="34" charset="0"/>
                <a:ea typeface="Calibri" pitchFamily="34" charset="-122"/>
                <a:cs typeface="Calibri" pitchFamily="34" charset="-120"/>
              </a:rPr>
              <a:t>Fontes: Cargill; Integra Software (Feed Manager 1.3, 2026); AgFeed e dsm-firmenich (FarmTell, 2025); Ponta Agro; AgFeed (Tecnobeef); Baguete (JetBov); Embrapa (2018); UFV; avaliação interna TN.</a:t>
            </a:r>
            <a:endParaRPr lang="en-US" sz="800" dirty="0"/>
          </a:p>
        </p:txBody>
      </p:sp>
      <p:sp>
        <p:nvSpPr>
          <p:cNvPr id="7" name="Shape 4"/>
          <p:cNvSpPr/>
          <p:nvPr/>
        </p:nvSpPr>
        <p:spPr>
          <a:xfrm>
            <a:off x="1554480" y="1078992"/>
            <a:ext cx="2020824" cy="274320"/>
          </a:xfrm>
          <a:prstGeom prst="rect">
            <a:avLst/>
          </a:prstGeom>
          <a:solidFill>
            <a:srgbClr val="1B3A8C"/>
          </a:solidFill>
          <a:ln/>
        </p:spPr>
        <p:txBody>
          <a:bodyPr/>
          <a:p/>
        </p:txBody>
      </p:sp>
      <p:sp>
        <p:nvSpPr>
          <p:cNvPr id="8" name="Text 5"/>
          <p:cNvSpPr/>
          <p:nvPr/>
        </p:nvSpPr>
        <p:spPr>
          <a:xfrm>
            <a:off x="1645920" y="1078992"/>
            <a:ext cx="1837944"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Ferramenta</a:t>
            </a:r>
            <a:endParaRPr lang="en-US" sz="1000" dirty="0"/>
          </a:p>
        </p:txBody>
      </p:sp>
      <p:sp>
        <p:nvSpPr>
          <p:cNvPr id="9" name="Shape 6"/>
          <p:cNvSpPr/>
          <p:nvPr/>
        </p:nvSpPr>
        <p:spPr>
          <a:xfrm>
            <a:off x="3611880" y="1078992"/>
            <a:ext cx="2478024" cy="274320"/>
          </a:xfrm>
          <a:prstGeom prst="rect">
            <a:avLst/>
          </a:prstGeom>
          <a:solidFill>
            <a:srgbClr val="1B3A8C"/>
          </a:solidFill>
          <a:ln/>
        </p:spPr>
        <p:txBody>
          <a:bodyPr/>
          <a:p/>
        </p:txBody>
      </p:sp>
      <p:sp>
        <p:nvSpPr>
          <p:cNvPr id="10" name="Text 7"/>
          <p:cNvSpPr/>
          <p:nvPr/>
        </p:nvSpPr>
        <p:spPr>
          <a:xfrm>
            <a:off x="3703320" y="1078992"/>
            <a:ext cx="2295144"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Pontos positivos</a:t>
            </a:r>
            <a:endParaRPr lang="en-US" sz="1000" dirty="0"/>
          </a:p>
        </p:txBody>
      </p:sp>
      <p:sp>
        <p:nvSpPr>
          <p:cNvPr id="11" name="Shape 8"/>
          <p:cNvSpPr/>
          <p:nvPr/>
        </p:nvSpPr>
        <p:spPr>
          <a:xfrm>
            <a:off x="6126480" y="1078992"/>
            <a:ext cx="2523744" cy="274320"/>
          </a:xfrm>
          <a:prstGeom prst="rect">
            <a:avLst/>
          </a:prstGeom>
          <a:solidFill>
            <a:srgbClr val="1B3A8C"/>
          </a:solidFill>
          <a:ln/>
        </p:spPr>
        <p:txBody>
          <a:bodyPr/>
          <a:p/>
        </p:txBody>
      </p:sp>
      <p:sp>
        <p:nvSpPr>
          <p:cNvPr id="12" name="Text 9"/>
          <p:cNvSpPr/>
          <p:nvPr/>
        </p:nvSpPr>
        <p:spPr>
          <a:xfrm>
            <a:off x="6217920" y="1078992"/>
            <a:ext cx="2340864"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Pontos negativos</a:t>
            </a:r>
            <a:endParaRPr lang="en-US" sz="1000" dirty="0"/>
          </a:p>
        </p:txBody>
      </p:sp>
      <p:sp>
        <p:nvSpPr>
          <p:cNvPr id="13" name="Shape 10"/>
          <p:cNvSpPr/>
          <p:nvPr/>
        </p:nvSpPr>
        <p:spPr>
          <a:xfrm>
            <a:off x="457200" y="1389888"/>
            <a:ext cx="8229600" cy="457200"/>
          </a:xfrm>
          <a:prstGeom prst="rect">
            <a:avLst/>
          </a:prstGeom>
          <a:solidFill>
            <a:srgbClr val="F4F6F8"/>
          </a:solidFill>
          <a:ln/>
        </p:spPr>
        <p:txBody>
          <a:bodyPr/>
          <a:p/>
        </p:txBody>
      </p:sp>
      <p:sp>
        <p:nvSpPr>
          <p:cNvPr id="14" name="Text 11"/>
          <p:cNvSpPr/>
          <p:nvPr/>
        </p:nvSpPr>
        <p:spPr>
          <a:xfrm>
            <a:off x="530352" y="1389888"/>
            <a:ext cx="1005840" cy="457200"/>
          </a:xfrm>
          <a:prstGeom prst="rect">
            <a:avLst/>
          </a:prstGeom>
          <a:noFill/>
          <a:ln/>
        </p:spPr>
        <p:txBody>
          <a:bodyPr wrap="square" lIns="0" tIns="0" rIns="0" bIns="0" rtlCol="0" anchor="ctr"/>
          <a:lstStyle/>
          <a:p>
            <a:pPr indent="0" marL="0">
              <a:buNone/>
            </a:pPr>
            <a:r>
              <a:rPr lang="en-US" sz="1000" b="1" dirty="0">
                <a:solidFill>
                  <a:srgbClr val="1B3A8C"/>
                </a:solidFill>
                <a:latin typeface="Calibri" pitchFamily="34" charset="0"/>
                <a:ea typeface="Calibri" pitchFamily="34" charset="-122"/>
                <a:cs typeface="Calibri" pitchFamily="34" charset="-120"/>
              </a:rPr>
              <a:t>Cargill</a:t>
            </a:r>
            <a:endParaRPr lang="en-US" sz="1000" dirty="0"/>
          </a:p>
        </p:txBody>
      </p:sp>
      <p:sp>
        <p:nvSpPr>
          <p:cNvPr id="15" name="Text 12"/>
          <p:cNvSpPr/>
          <p:nvPr/>
        </p:nvSpPr>
        <p:spPr>
          <a:xfrm>
            <a:off x="1600200" y="1389888"/>
            <a:ext cx="19385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Feed Manager (manejo, nutrição, trato, fábrica de ração, SISBOV) com Feed Tracer e CattleView (câmeras, drones e IA)</a:t>
            </a:r>
            <a:endParaRPr lang="en-US" sz="780" dirty="0"/>
          </a:p>
        </p:txBody>
      </p:sp>
      <p:sp>
        <p:nvSpPr>
          <p:cNvPr id="16" name="Text 13"/>
          <p:cNvSpPr/>
          <p:nvPr/>
        </p:nvSpPr>
        <p:spPr>
          <a:xfrm>
            <a:off x="3657600" y="1389888"/>
            <a:ext cx="23957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Solução completa e automatizada; previsão de abate; forte nos grandes confinamentos</a:t>
            </a:r>
            <a:endParaRPr lang="en-US" sz="780" dirty="0"/>
          </a:p>
        </p:txBody>
      </p:sp>
      <p:sp>
        <p:nvSpPr>
          <p:cNvPr id="17" name="Text 14"/>
          <p:cNvSpPr/>
          <p:nvPr/>
        </p:nvSpPr>
        <p:spPr>
          <a:xfrm>
            <a:off x="6172200" y="1389888"/>
            <a:ext cx="244144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Pensado para quem já tem automação e estrutura; software mantido por terceira (Integra); leitura de sobra por imagem ainda em ajuste (UFV)</a:t>
            </a:r>
            <a:endParaRPr lang="en-US" sz="780" dirty="0"/>
          </a:p>
        </p:txBody>
      </p:sp>
      <p:sp>
        <p:nvSpPr>
          <p:cNvPr id="18" name="Shape 15"/>
          <p:cNvSpPr/>
          <p:nvPr/>
        </p:nvSpPr>
        <p:spPr>
          <a:xfrm>
            <a:off x="457200" y="1883664"/>
            <a:ext cx="8229600" cy="457200"/>
          </a:xfrm>
          <a:prstGeom prst="rect">
            <a:avLst/>
          </a:prstGeom>
          <a:solidFill>
            <a:srgbClr val="F4F6F8"/>
          </a:solidFill>
          <a:ln/>
        </p:spPr>
        <p:txBody>
          <a:bodyPr/>
          <a:p/>
        </p:txBody>
      </p:sp>
      <p:sp>
        <p:nvSpPr>
          <p:cNvPr id="19" name="Text 16"/>
          <p:cNvSpPr/>
          <p:nvPr/>
        </p:nvSpPr>
        <p:spPr>
          <a:xfrm>
            <a:off x="530352" y="1883664"/>
            <a:ext cx="1005840" cy="457200"/>
          </a:xfrm>
          <a:prstGeom prst="rect">
            <a:avLst/>
          </a:prstGeom>
          <a:noFill/>
          <a:ln/>
        </p:spPr>
        <p:txBody>
          <a:bodyPr wrap="square" lIns="0" tIns="0" rIns="0" bIns="0" rtlCol="0" anchor="ctr"/>
          <a:lstStyle/>
          <a:p>
            <a:pPr indent="0" marL="0">
              <a:buNone/>
            </a:pPr>
            <a:r>
              <a:rPr lang="en-US" sz="1000" b="1" dirty="0">
                <a:solidFill>
                  <a:srgbClr val="1B3A8C"/>
                </a:solidFill>
                <a:latin typeface="Calibri" pitchFamily="34" charset="0"/>
                <a:ea typeface="Calibri" pitchFamily="34" charset="-122"/>
                <a:cs typeface="Calibri" pitchFamily="34" charset="-120"/>
              </a:rPr>
              <a:t>DSM-firmenich</a:t>
            </a:r>
            <a:endParaRPr lang="en-US" sz="1000" dirty="0"/>
          </a:p>
        </p:txBody>
      </p:sp>
      <p:sp>
        <p:nvSpPr>
          <p:cNvPr id="20" name="Text 17"/>
          <p:cNvSpPr/>
          <p:nvPr/>
        </p:nvSpPr>
        <p:spPr>
          <a:xfrm>
            <a:off x="1600200" y="1883664"/>
            <a:ext cx="19385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FarmTell, ex-Prodap: Beef, Views e Beef Smart; quase 10 softwares e uma plataforma de IA</a:t>
            </a:r>
            <a:endParaRPr lang="en-US" sz="780" dirty="0"/>
          </a:p>
        </p:txBody>
      </p:sp>
      <p:sp>
        <p:nvSpPr>
          <p:cNvPr id="21" name="Text 18"/>
          <p:cNvSpPr/>
          <p:nvPr/>
        </p:nvSpPr>
        <p:spPr>
          <a:xfrm>
            <a:off x="3657600" y="1883664"/>
            <a:ext cx="23957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Une tecnologia e consultoria; cresce de 20% a 30% ao ano; tem versão simples para fazendas menores (Beef Smart)</a:t>
            </a:r>
            <a:endParaRPr lang="en-US" sz="780" dirty="0"/>
          </a:p>
        </p:txBody>
      </p:sp>
      <p:sp>
        <p:nvSpPr>
          <p:cNvPr id="22" name="Text 19"/>
          <p:cNvSpPr/>
          <p:nvPr/>
        </p:nvSpPr>
        <p:spPr>
          <a:xfrm>
            <a:off x="6172200" y="1883664"/>
            <a:ext cx="244144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Marca em transição de Prodap para FarmTell; portfólio grande e fragmentado; Beef e Views voltados aos grandes</a:t>
            </a:r>
            <a:endParaRPr lang="en-US" sz="780" dirty="0"/>
          </a:p>
        </p:txBody>
      </p:sp>
      <p:sp>
        <p:nvSpPr>
          <p:cNvPr id="23" name="Shape 20"/>
          <p:cNvSpPr/>
          <p:nvPr/>
        </p:nvSpPr>
        <p:spPr>
          <a:xfrm>
            <a:off x="457200" y="2377440"/>
            <a:ext cx="8229600" cy="457200"/>
          </a:xfrm>
          <a:prstGeom prst="rect">
            <a:avLst/>
          </a:prstGeom>
          <a:solidFill>
            <a:srgbClr val="F4F6F8"/>
          </a:solidFill>
          <a:ln/>
        </p:spPr>
        <p:txBody>
          <a:bodyPr/>
          <a:p/>
        </p:txBody>
      </p:sp>
      <p:sp>
        <p:nvSpPr>
          <p:cNvPr id="24" name="Text 21"/>
          <p:cNvSpPr/>
          <p:nvPr/>
        </p:nvSpPr>
        <p:spPr>
          <a:xfrm>
            <a:off x="530352" y="2377440"/>
            <a:ext cx="1005840" cy="457200"/>
          </a:xfrm>
          <a:prstGeom prst="rect">
            <a:avLst/>
          </a:prstGeom>
          <a:noFill/>
          <a:ln/>
        </p:spPr>
        <p:txBody>
          <a:bodyPr wrap="square" lIns="0" tIns="0" rIns="0" bIns="0" rtlCol="0" anchor="ctr"/>
          <a:lstStyle/>
          <a:p>
            <a:pPr indent="0" marL="0">
              <a:buNone/>
            </a:pPr>
            <a:r>
              <a:rPr lang="en-US" sz="1000" b="1" dirty="0">
                <a:solidFill>
                  <a:srgbClr val="1B3A8C"/>
                </a:solidFill>
                <a:latin typeface="Calibri" pitchFamily="34" charset="0"/>
                <a:ea typeface="Calibri" pitchFamily="34" charset="-122"/>
                <a:cs typeface="Calibri" pitchFamily="34" charset="-120"/>
              </a:rPr>
              <a:t>Ponta (TGC)</a:t>
            </a:r>
            <a:endParaRPr lang="en-US" sz="1000" dirty="0"/>
          </a:p>
        </p:txBody>
      </p:sp>
      <p:sp>
        <p:nvSpPr>
          <p:cNvPr id="25" name="Text 22"/>
          <p:cNvSpPr/>
          <p:nvPr/>
        </p:nvSpPr>
        <p:spPr>
          <a:xfrm>
            <a:off x="1600200" y="2377440"/>
            <a:ext cx="19385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TGC, gestão de confinamento; parceiro da Assocon desde 2009</a:t>
            </a:r>
            <a:endParaRPr lang="en-US" sz="780" dirty="0"/>
          </a:p>
        </p:txBody>
      </p:sp>
      <p:sp>
        <p:nvSpPr>
          <p:cNvPr id="26" name="Text 23"/>
          <p:cNvSpPr/>
          <p:nvPr/>
        </p:nvSpPr>
        <p:spPr>
          <a:xfrm>
            <a:off x="3657600" y="2377440"/>
            <a:ext cx="23957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Referência nos grandes: diz atender 12 dos 20 maiores confinamentos</a:t>
            </a:r>
            <a:endParaRPr lang="en-US" sz="780" dirty="0"/>
          </a:p>
        </p:txBody>
      </p:sp>
      <p:sp>
        <p:nvSpPr>
          <p:cNvPr id="27" name="Text 24"/>
          <p:cNvSpPr/>
          <p:nvPr/>
        </p:nvSpPr>
        <p:spPr>
          <a:xfrm>
            <a:off x="6172200" y="2377440"/>
            <a:ext cx="244144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Licença cara para o pequeno (R$ 10 mil a 40 mil por ano nas nossas licenças); pós-venda decepcionou clientes TN</a:t>
            </a:r>
            <a:endParaRPr lang="en-US" sz="780" dirty="0"/>
          </a:p>
        </p:txBody>
      </p:sp>
      <p:sp>
        <p:nvSpPr>
          <p:cNvPr id="28" name="Shape 25"/>
          <p:cNvSpPr/>
          <p:nvPr/>
        </p:nvSpPr>
        <p:spPr>
          <a:xfrm>
            <a:off x="457200" y="2871216"/>
            <a:ext cx="8229600" cy="457200"/>
          </a:xfrm>
          <a:prstGeom prst="rect">
            <a:avLst/>
          </a:prstGeom>
          <a:solidFill>
            <a:srgbClr val="F4F6F8"/>
          </a:solidFill>
          <a:ln/>
        </p:spPr>
        <p:txBody>
          <a:bodyPr/>
          <a:p/>
        </p:txBody>
      </p:sp>
      <p:sp>
        <p:nvSpPr>
          <p:cNvPr id="29" name="Text 26"/>
          <p:cNvSpPr/>
          <p:nvPr/>
        </p:nvSpPr>
        <p:spPr>
          <a:xfrm>
            <a:off x="530352" y="2871216"/>
            <a:ext cx="1005840" cy="457200"/>
          </a:xfrm>
          <a:prstGeom prst="rect">
            <a:avLst/>
          </a:prstGeom>
          <a:noFill/>
          <a:ln/>
        </p:spPr>
        <p:txBody>
          <a:bodyPr wrap="square" lIns="0" tIns="0" rIns="0" bIns="0" rtlCol="0" anchor="ctr"/>
          <a:lstStyle/>
          <a:p>
            <a:pPr indent="0" marL="0">
              <a:buNone/>
            </a:pPr>
            <a:r>
              <a:rPr lang="en-US" sz="1000" b="1" dirty="0">
                <a:solidFill>
                  <a:srgbClr val="1B3A8C"/>
                </a:solidFill>
                <a:latin typeface="Calibri" pitchFamily="34" charset="0"/>
                <a:ea typeface="Calibri" pitchFamily="34" charset="-122"/>
                <a:cs typeface="Calibri" pitchFamily="34" charset="-120"/>
              </a:rPr>
              <a:t>Tecnobeef</a:t>
            </a:r>
            <a:endParaRPr lang="en-US" sz="1000" dirty="0"/>
          </a:p>
        </p:txBody>
      </p:sp>
      <p:sp>
        <p:nvSpPr>
          <p:cNvPr id="30" name="Text 27"/>
          <p:cNvSpPr/>
          <p:nvPr/>
        </p:nvSpPr>
        <p:spPr>
          <a:xfrm>
            <a:off x="1600200" y="2871216"/>
            <a:ext cx="19385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Nutrição sob medida; ferramenta digital para o cliente não identificada</a:t>
            </a:r>
            <a:endParaRPr lang="en-US" sz="780" dirty="0"/>
          </a:p>
        </p:txBody>
      </p:sp>
      <p:sp>
        <p:nvSpPr>
          <p:cNvPr id="31" name="Text 28"/>
          <p:cNvSpPr/>
          <p:nvPr/>
        </p:nvSpPr>
        <p:spPr>
          <a:xfrm>
            <a:off x="3657600" y="2871216"/>
            <a:ext cx="23957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Nasceu de confinador (grupo Campanelli, mais de 110 mil cabeças); atende cerca de 170 propriedades</a:t>
            </a:r>
            <a:endParaRPr lang="en-US" sz="780" dirty="0"/>
          </a:p>
        </p:txBody>
      </p:sp>
      <p:sp>
        <p:nvSpPr>
          <p:cNvPr id="32" name="Text 29"/>
          <p:cNvSpPr/>
          <p:nvPr/>
        </p:nvSpPr>
        <p:spPr>
          <a:xfrm>
            <a:off x="6172200" y="2871216"/>
            <a:ext cx="244144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Sem oferta digital para o cliente; escala menor e regional</a:t>
            </a:r>
            <a:endParaRPr lang="en-US" sz="780" dirty="0"/>
          </a:p>
        </p:txBody>
      </p:sp>
      <p:sp>
        <p:nvSpPr>
          <p:cNvPr id="33" name="Shape 30"/>
          <p:cNvSpPr/>
          <p:nvPr/>
        </p:nvSpPr>
        <p:spPr>
          <a:xfrm>
            <a:off x="457200" y="3364992"/>
            <a:ext cx="8229600" cy="457200"/>
          </a:xfrm>
          <a:prstGeom prst="rect">
            <a:avLst/>
          </a:prstGeom>
          <a:solidFill>
            <a:srgbClr val="F4F6F8"/>
          </a:solidFill>
          <a:ln/>
        </p:spPr>
        <p:txBody>
          <a:bodyPr/>
          <a:p/>
        </p:txBody>
      </p:sp>
      <p:sp>
        <p:nvSpPr>
          <p:cNvPr id="34" name="Text 31"/>
          <p:cNvSpPr/>
          <p:nvPr/>
        </p:nvSpPr>
        <p:spPr>
          <a:xfrm>
            <a:off x="530352" y="3364992"/>
            <a:ext cx="1005840" cy="457200"/>
          </a:xfrm>
          <a:prstGeom prst="rect">
            <a:avLst/>
          </a:prstGeom>
          <a:noFill/>
          <a:ln/>
        </p:spPr>
        <p:txBody>
          <a:bodyPr wrap="square" lIns="0" tIns="0" rIns="0" bIns="0" rtlCol="0" anchor="ctr"/>
          <a:lstStyle/>
          <a:p>
            <a:pPr indent="0" marL="0">
              <a:buNone/>
            </a:pPr>
            <a:r>
              <a:rPr lang="en-US" sz="1000" b="1" dirty="0">
                <a:solidFill>
                  <a:srgbClr val="1B3A8C"/>
                </a:solidFill>
                <a:latin typeface="Calibri" pitchFamily="34" charset="0"/>
                <a:ea typeface="Calibri" pitchFamily="34" charset="-122"/>
                <a:cs typeface="Calibri" pitchFamily="34" charset="-120"/>
              </a:rPr>
              <a:t>JetBov e outros</a:t>
            </a:r>
            <a:endParaRPr lang="en-US" sz="1000" dirty="0"/>
          </a:p>
        </p:txBody>
      </p:sp>
      <p:sp>
        <p:nvSpPr>
          <p:cNvPr id="35" name="Text 32"/>
          <p:cNvSpPr/>
          <p:nvPr/>
        </p:nvSpPr>
        <p:spPr>
          <a:xfrm>
            <a:off x="1600200" y="3364992"/>
            <a:ext cx="19385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Software em nuvem para pecuária (Berrante, iRancho e outros)</a:t>
            </a:r>
            <a:endParaRPr lang="en-US" sz="780" dirty="0"/>
          </a:p>
        </p:txBody>
      </p:sp>
      <p:sp>
        <p:nvSpPr>
          <p:cNvPr id="36" name="Text 33"/>
          <p:cNvSpPr/>
          <p:nvPr/>
        </p:nvSpPr>
        <p:spPr>
          <a:xfrm>
            <a:off x="3657600" y="3364992"/>
            <a:ext cx="23957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Barato e simples; foco em fazendas de até 3 mil animais</a:t>
            </a:r>
            <a:endParaRPr lang="en-US" sz="780" dirty="0"/>
          </a:p>
        </p:txBody>
      </p:sp>
      <p:sp>
        <p:nvSpPr>
          <p:cNvPr id="37" name="Text 34"/>
          <p:cNvSpPr/>
          <p:nvPr/>
        </p:nvSpPr>
        <p:spPr>
          <a:xfrm>
            <a:off x="6172200" y="3364992"/>
            <a:ext cx="244144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Só software: sem nutrição, sem técnico no campo e sem análise</a:t>
            </a:r>
            <a:endParaRPr lang="en-US" sz="780" dirty="0"/>
          </a:p>
        </p:txBody>
      </p:sp>
      <p:sp>
        <p:nvSpPr>
          <p:cNvPr id="38" name="Shape 35"/>
          <p:cNvSpPr/>
          <p:nvPr/>
        </p:nvSpPr>
        <p:spPr>
          <a:xfrm>
            <a:off x="457200" y="3858768"/>
            <a:ext cx="8229600" cy="457200"/>
          </a:xfrm>
          <a:prstGeom prst="rect">
            <a:avLst/>
          </a:prstGeom>
          <a:solidFill>
            <a:srgbClr val="FBE7F1"/>
          </a:solidFill>
          <a:ln/>
        </p:spPr>
        <p:txBody>
          <a:bodyPr/>
          <a:p/>
        </p:txBody>
      </p:sp>
      <p:sp>
        <p:nvSpPr>
          <p:cNvPr id="39" name="Text 36"/>
          <p:cNvSpPr/>
          <p:nvPr/>
        </p:nvSpPr>
        <p:spPr>
          <a:xfrm>
            <a:off x="530352" y="3858768"/>
            <a:ext cx="1005840" cy="457200"/>
          </a:xfrm>
          <a:prstGeom prst="rect">
            <a:avLst/>
          </a:prstGeom>
          <a:noFill/>
          <a:ln/>
        </p:spPr>
        <p:txBody>
          <a:bodyPr wrap="square" lIns="0" tIns="0" rIns="0" bIns="0" rtlCol="0" anchor="ctr"/>
          <a:lstStyle/>
          <a:p>
            <a:pPr indent="0" marL="0">
              <a:buNone/>
            </a:pPr>
            <a:r>
              <a:rPr lang="en-US" sz="1000" b="1" dirty="0">
                <a:solidFill>
                  <a:srgbClr val="C8106E"/>
                </a:solidFill>
                <a:latin typeface="Calibri" pitchFamily="34" charset="0"/>
                <a:ea typeface="Calibri" pitchFamily="34" charset="-122"/>
                <a:cs typeface="Calibri" pitchFamily="34" charset="-120"/>
              </a:rPr>
              <a:t>Trouw Nutrition</a:t>
            </a:r>
            <a:endParaRPr lang="en-US" sz="1000" dirty="0"/>
          </a:p>
        </p:txBody>
      </p:sp>
      <p:sp>
        <p:nvSpPr>
          <p:cNvPr id="40" name="Text 37"/>
          <p:cNvSpPr/>
          <p:nvPr/>
        </p:nvSpPr>
        <p:spPr>
          <a:xfrm>
            <a:off x="1600200" y="3858768"/>
            <a:ext cx="19385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Web para novos clientes pequenos e médios; PecCode (parceira) para quem quer automação</a:t>
            </a:r>
            <a:endParaRPr lang="en-US" sz="780" dirty="0"/>
          </a:p>
        </p:txBody>
      </p:sp>
      <p:sp>
        <p:nvSpPr>
          <p:cNvPr id="41" name="Text 38"/>
          <p:cNvSpPr/>
          <p:nvPr/>
        </p:nvSpPr>
        <p:spPr>
          <a:xfrm>
            <a:off x="3657600" y="3858768"/>
            <a:ext cx="23957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Equipe de campo, produtos premium, comunidade e benchmark</a:t>
            </a:r>
            <a:endParaRPr lang="en-US" sz="780" dirty="0"/>
          </a:p>
        </p:txBody>
      </p:sp>
      <p:sp>
        <p:nvSpPr>
          <p:cNvPr id="42" name="Text 39"/>
          <p:cNvSpPr/>
          <p:nvPr/>
        </p:nvSpPr>
        <p:spPr>
          <a:xfrm>
            <a:off x="6172200" y="3858768"/>
            <a:ext cx="244144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Ainda dependemos de fornecedor; ferramenta própria em construção</a:t>
            </a:r>
            <a:endParaRPr lang="en-US" sz="780" dirty="0"/>
          </a:p>
        </p:txBody>
      </p:sp>
      <p:sp>
        <p:nvSpPr>
          <p:cNvPr id="43" name="TextBox 42"/>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4  ·  CONTRA QUEM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Perfil do cliente-alvo para o piloto</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Critérios propostos para escolher as primeiras fazendas. A faixa de porte sai do discovery.</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19</a:t>
            </a:r>
            <a:endParaRPr lang="en-US" sz="900" dirty="0"/>
          </a:p>
        </p:txBody>
      </p:sp>
      <p:sp>
        <p:nvSpPr>
          <p:cNvPr id="6" name="Shape 3"/>
          <p:cNvSpPr/>
          <p:nvPr/>
        </p:nvSpPr>
        <p:spPr>
          <a:xfrm>
            <a:off x="457200" y="1188720"/>
            <a:ext cx="2606040" cy="411480"/>
          </a:xfrm>
          <a:prstGeom prst="rect">
            <a:avLst/>
          </a:prstGeom>
          <a:solidFill>
            <a:srgbClr val="1B3A8C"/>
          </a:solidFill>
          <a:ln/>
        </p:spPr>
        <p:txBody>
          <a:bodyPr/>
          <a:lstStyle/>
          <a:p>
            <a:endParaRPr lang="pt-BR"/>
          </a:p>
        </p:txBody>
      </p:sp>
      <p:sp>
        <p:nvSpPr>
          <p:cNvPr id="7" name="Text 4"/>
          <p:cNvSpPr/>
          <p:nvPr/>
        </p:nvSpPr>
        <p:spPr>
          <a:xfrm>
            <a:off x="594360" y="1188720"/>
            <a:ext cx="233172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Obrigatórios</a:t>
            </a:r>
            <a:endParaRPr lang="en-US" sz="1300" dirty="0"/>
          </a:p>
        </p:txBody>
      </p:sp>
      <p:sp>
        <p:nvSpPr>
          <p:cNvPr id="8" name="Shape 5"/>
          <p:cNvSpPr/>
          <p:nvPr/>
        </p:nvSpPr>
        <p:spPr>
          <a:xfrm>
            <a:off x="457200" y="1600200"/>
            <a:ext cx="2606040" cy="2331720"/>
          </a:xfrm>
          <a:prstGeom prst="rect">
            <a:avLst/>
          </a:prstGeom>
          <a:solidFill>
            <a:srgbClr val="F4F6F8"/>
          </a:solidFill>
          <a:ln/>
        </p:spPr>
        <p:txBody>
          <a:bodyPr/>
          <a:lstStyle/>
          <a:p>
            <a:endParaRPr lang="pt-BR"/>
          </a:p>
        </p:txBody>
      </p:sp>
      <p:sp>
        <p:nvSpPr>
          <p:cNvPr id="9" name="Text 6"/>
          <p:cNvSpPr/>
          <p:nvPr/>
        </p:nvSpPr>
        <p:spPr>
          <a:xfrm>
            <a:off x="548640" y="1719072"/>
            <a:ext cx="2404872" cy="21488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Confinamento ativo, com ciclo regular de entrada e saída</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Registro </a:t>
            </a:r>
            <a:r>
              <a:rPr lang="en-US" sz="1050" dirty="0" err="1">
                <a:solidFill>
                  <a:srgbClr val="4A5560"/>
                </a:solidFill>
                <a:latin typeface="Calibri" pitchFamily="34" charset="0"/>
                <a:ea typeface="Calibri" pitchFamily="34" charset="-122"/>
                <a:cs typeface="Calibri" pitchFamily="34" charset="-120"/>
              </a:rPr>
              <a:t>atual</a:t>
            </a:r>
            <a:r>
              <a:rPr lang="en-US" sz="1050" dirty="0">
                <a:solidFill>
                  <a:srgbClr val="4A5560"/>
                </a:solidFill>
                <a:latin typeface="Calibri" pitchFamily="34" charset="0"/>
                <a:ea typeface="Calibri" pitchFamily="34" charset="-122"/>
                <a:cs typeface="Calibri" pitchFamily="34" charset="-120"/>
              </a:rPr>
              <a:t> em </a:t>
            </a:r>
            <a:r>
              <a:rPr lang="en-US" sz="1050" dirty="0" err="1">
                <a:solidFill>
                  <a:srgbClr val="4A5560"/>
                </a:solidFill>
                <a:latin typeface="Calibri" pitchFamily="34" charset="0"/>
                <a:ea typeface="Calibri" pitchFamily="34" charset="-122"/>
                <a:cs typeface="Calibri" pitchFamily="34" charset="-120"/>
              </a:rPr>
              <a:t>caderno</a:t>
            </a:r>
            <a:r>
              <a:rPr lang="en-US" sz="1050" dirty="0">
                <a:solidFill>
                  <a:srgbClr val="4A5560"/>
                </a:solidFill>
                <a:latin typeface="Calibri" pitchFamily="34" charset="0"/>
                <a:ea typeface="Calibri" pitchFamily="34" charset="-122"/>
                <a:cs typeface="Calibri" pitchFamily="34" charset="-120"/>
              </a:rPr>
              <a:t>, </a:t>
            </a:r>
            <a:r>
              <a:rPr lang="en-US" sz="1050" dirty="0" err="1">
                <a:solidFill>
                  <a:srgbClr val="4A5560"/>
                </a:solidFill>
                <a:latin typeface="Calibri" pitchFamily="34" charset="0"/>
                <a:ea typeface="Calibri" pitchFamily="34" charset="-122"/>
                <a:cs typeface="Calibri" pitchFamily="34" charset="-120"/>
              </a:rPr>
              <a:t>planilhas</a:t>
            </a:r>
            <a:r>
              <a:rPr lang="en-US" sz="1050" dirty="0">
                <a:solidFill>
                  <a:srgbClr val="4A5560"/>
                </a:solidFill>
                <a:latin typeface="Calibri" pitchFamily="34" charset="0"/>
                <a:ea typeface="Calibri" pitchFamily="34" charset="-122"/>
                <a:cs typeface="Calibri" pitchFamily="34" charset="-120"/>
              </a:rPr>
              <a:t>, </a:t>
            </a:r>
            <a:r>
              <a:rPr lang="en-US" sz="1050" dirty="0" err="1">
                <a:solidFill>
                  <a:srgbClr val="4A5560"/>
                </a:solidFill>
                <a:latin typeface="Calibri" pitchFamily="34" charset="0"/>
                <a:ea typeface="Calibri" pitchFamily="34" charset="-122"/>
                <a:cs typeface="Calibri" pitchFamily="34" charset="-120"/>
              </a:rPr>
              <a:t>ou</a:t>
            </a:r>
            <a:r>
              <a:rPr lang="en-US" sz="1050" dirty="0">
                <a:solidFill>
                  <a:srgbClr val="4A5560"/>
                </a:solidFill>
                <a:latin typeface="Calibri" pitchFamily="34" charset="0"/>
                <a:ea typeface="Calibri" pitchFamily="34" charset="-122"/>
                <a:cs typeface="Calibri" pitchFamily="34" charset="-120"/>
              </a:rPr>
              <a:t> </a:t>
            </a:r>
            <a:r>
              <a:rPr lang="en-US" sz="1050" dirty="0" err="1">
                <a:solidFill>
                  <a:srgbClr val="4A5560"/>
                </a:solidFill>
                <a:latin typeface="Calibri" pitchFamily="34" charset="0"/>
                <a:ea typeface="Calibri" pitchFamily="34" charset="-122"/>
                <a:cs typeface="Calibri" pitchFamily="34" charset="-120"/>
              </a:rPr>
              <a:t>sistemas</a:t>
            </a:r>
            <a:r>
              <a:rPr lang="en-US" sz="1050" dirty="0">
                <a:solidFill>
                  <a:srgbClr val="4A5560"/>
                </a:solidFill>
                <a:latin typeface="Calibri" pitchFamily="34" charset="0"/>
                <a:ea typeface="Calibri" pitchFamily="34" charset="-122"/>
                <a:cs typeface="Calibri" pitchFamily="34" charset="-120"/>
              </a:rPr>
              <a:t> simples</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Uma pessoa responsável por lançar os dados todo dia</a:t>
            </a:r>
            <a:endParaRPr lang="en-US" sz="1050" dirty="0"/>
          </a:p>
          <a:p>
            <a:pPr marL="152400" indent="-152400">
              <a:spcAft>
                <a:spcPts val="500"/>
              </a:spcAft>
              <a:buSzPct val="100000"/>
              <a:buChar char="•"/>
            </a:pPr>
            <a:r>
              <a:rPr lang="en-US" sz="1050" dirty="0" err="1">
                <a:solidFill>
                  <a:srgbClr val="4A5560"/>
                </a:solidFill>
                <a:latin typeface="Calibri" pitchFamily="34" charset="0"/>
                <a:ea typeface="Calibri" pitchFamily="34" charset="-122"/>
                <a:cs typeface="Calibri" pitchFamily="34" charset="-120"/>
              </a:rPr>
              <a:t>Acompanhamento</a:t>
            </a:r>
            <a:r>
              <a:rPr lang="en-US" sz="1050" dirty="0">
                <a:solidFill>
                  <a:srgbClr val="4A5560"/>
                </a:solidFill>
                <a:latin typeface="Calibri" pitchFamily="34" charset="0"/>
                <a:ea typeface="Calibri" pitchFamily="34" charset="-122"/>
                <a:cs typeface="Calibri" pitchFamily="34" charset="-120"/>
              </a:rPr>
              <a:t> </a:t>
            </a:r>
            <a:r>
              <a:rPr lang="en-US" sz="1050" dirty="0" err="1">
                <a:solidFill>
                  <a:srgbClr val="4A5560"/>
                </a:solidFill>
                <a:latin typeface="Calibri" pitchFamily="34" charset="0"/>
                <a:ea typeface="Calibri" pitchFamily="34" charset="-122"/>
                <a:cs typeface="Calibri" pitchFamily="34" charset="-120"/>
              </a:rPr>
              <a:t>técnico</a:t>
            </a:r>
            <a:r>
              <a:rPr lang="en-US" sz="1050" dirty="0">
                <a:solidFill>
                  <a:srgbClr val="4A5560"/>
                </a:solidFill>
                <a:latin typeface="Calibri" pitchFamily="34" charset="0"/>
                <a:ea typeface="Calibri" pitchFamily="34" charset="-122"/>
                <a:cs typeface="Calibri" pitchFamily="34" charset="-120"/>
              </a:rPr>
              <a:t> com visita ou contato recorrente</a:t>
            </a:r>
            <a:endParaRPr lang="en-US" sz="1050" dirty="0"/>
          </a:p>
        </p:txBody>
      </p:sp>
      <p:sp>
        <p:nvSpPr>
          <p:cNvPr id="10" name="Shape 7"/>
          <p:cNvSpPr/>
          <p:nvPr/>
        </p:nvSpPr>
        <p:spPr>
          <a:xfrm>
            <a:off x="3246120" y="1188720"/>
            <a:ext cx="2606040" cy="411480"/>
          </a:xfrm>
          <a:prstGeom prst="rect">
            <a:avLst/>
          </a:prstGeom>
          <a:solidFill>
            <a:srgbClr val="0096B4"/>
          </a:solidFill>
          <a:ln/>
        </p:spPr>
        <p:txBody>
          <a:bodyPr/>
          <a:lstStyle/>
          <a:p>
            <a:endParaRPr lang="pt-BR"/>
          </a:p>
        </p:txBody>
      </p:sp>
      <p:sp>
        <p:nvSpPr>
          <p:cNvPr id="11" name="Text 8"/>
          <p:cNvSpPr/>
          <p:nvPr/>
        </p:nvSpPr>
        <p:spPr>
          <a:xfrm>
            <a:off x="3383280" y="1188720"/>
            <a:ext cx="233172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Desejáveis</a:t>
            </a:r>
            <a:endParaRPr lang="en-US" sz="1300" dirty="0"/>
          </a:p>
        </p:txBody>
      </p:sp>
      <p:sp>
        <p:nvSpPr>
          <p:cNvPr id="12" name="Shape 9"/>
          <p:cNvSpPr/>
          <p:nvPr/>
        </p:nvSpPr>
        <p:spPr>
          <a:xfrm>
            <a:off x="3246120" y="1600200"/>
            <a:ext cx="2606040" cy="2331720"/>
          </a:xfrm>
          <a:prstGeom prst="rect">
            <a:avLst/>
          </a:prstGeom>
          <a:solidFill>
            <a:srgbClr val="F4F6F8"/>
          </a:solidFill>
          <a:ln/>
        </p:spPr>
        <p:txBody>
          <a:bodyPr/>
          <a:lstStyle/>
          <a:p>
            <a:endParaRPr lang="pt-BR"/>
          </a:p>
        </p:txBody>
      </p:sp>
      <p:sp>
        <p:nvSpPr>
          <p:cNvPr id="13" name="Text 10"/>
          <p:cNvSpPr/>
          <p:nvPr/>
        </p:nvSpPr>
        <p:spPr>
          <a:xfrm>
            <a:off x="3337560" y="1719072"/>
            <a:ext cx="2404872" cy="21488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Pesagem na entrada e na saída dos animais</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Leitura de cocho diária</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Internet na sede da fazenda</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Gestor disposto a dar retorno a cada 15 dias</a:t>
            </a:r>
            <a:endParaRPr lang="en-US" sz="1050" dirty="0"/>
          </a:p>
        </p:txBody>
      </p:sp>
      <p:sp>
        <p:nvSpPr>
          <p:cNvPr id="14" name="Shape 11"/>
          <p:cNvSpPr/>
          <p:nvPr/>
        </p:nvSpPr>
        <p:spPr>
          <a:xfrm>
            <a:off x="6035040" y="1188720"/>
            <a:ext cx="2606040" cy="411480"/>
          </a:xfrm>
          <a:prstGeom prst="rect">
            <a:avLst/>
          </a:prstGeom>
          <a:solidFill>
            <a:srgbClr val="C8106E"/>
          </a:solidFill>
          <a:ln/>
        </p:spPr>
        <p:txBody>
          <a:bodyPr/>
          <a:lstStyle/>
          <a:p>
            <a:endParaRPr lang="pt-BR"/>
          </a:p>
        </p:txBody>
      </p:sp>
      <p:sp>
        <p:nvSpPr>
          <p:cNvPr id="15" name="Text 12"/>
          <p:cNvSpPr/>
          <p:nvPr/>
        </p:nvSpPr>
        <p:spPr>
          <a:xfrm>
            <a:off x="6172200" y="1188720"/>
            <a:ext cx="233172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Fora do perfil inicial</a:t>
            </a:r>
            <a:endParaRPr lang="en-US" sz="1300" dirty="0"/>
          </a:p>
        </p:txBody>
      </p:sp>
      <p:sp>
        <p:nvSpPr>
          <p:cNvPr id="16" name="Shape 13"/>
          <p:cNvSpPr/>
          <p:nvPr/>
        </p:nvSpPr>
        <p:spPr>
          <a:xfrm>
            <a:off x="6035040" y="1600200"/>
            <a:ext cx="2606040" cy="2331720"/>
          </a:xfrm>
          <a:prstGeom prst="rect">
            <a:avLst/>
          </a:prstGeom>
          <a:solidFill>
            <a:srgbClr val="F4F6F8"/>
          </a:solidFill>
          <a:ln/>
        </p:spPr>
        <p:txBody>
          <a:bodyPr/>
          <a:lstStyle/>
          <a:p>
            <a:endParaRPr lang="pt-BR"/>
          </a:p>
        </p:txBody>
      </p:sp>
      <p:sp>
        <p:nvSpPr>
          <p:cNvPr id="17" name="Text 14"/>
          <p:cNvSpPr/>
          <p:nvPr/>
        </p:nvSpPr>
        <p:spPr>
          <a:xfrm>
            <a:off x="6126480" y="1719072"/>
            <a:ext cx="2404872" cy="21488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Operações já integradas a balança, vagão e software</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Confinamentos sem rotina mínima de registro</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Recria a pasto, leite e outras espécies (mantido da v1.0)</a:t>
            </a:r>
            <a:endParaRPr lang="en-US" sz="1050" dirty="0"/>
          </a:p>
        </p:txBody>
      </p:sp>
      <p:sp>
        <p:nvSpPr>
          <p:cNvPr id="18" name="Shape 15"/>
          <p:cNvSpPr/>
          <p:nvPr/>
        </p:nvSpPr>
        <p:spPr>
          <a:xfrm>
            <a:off x="457200" y="4041648"/>
            <a:ext cx="8229600" cy="365760"/>
          </a:xfrm>
          <a:prstGeom prst="rect">
            <a:avLst/>
          </a:prstGeom>
          <a:solidFill>
            <a:srgbClr val="FBE7F1"/>
          </a:solidFill>
          <a:ln/>
        </p:spPr>
        <p:txBody>
          <a:bodyPr/>
          <a:lstStyle/>
          <a:p>
            <a:endParaRPr lang="pt-BR"/>
          </a:p>
        </p:txBody>
      </p:sp>
      <p:sp>
        <p:nvSpPr>
          <p:cNvPr id="19" name="Text 16"/>
          <p:cNvSpPr/>
          <p:nvPr/>
        </p:nvSpPr>
        <p:spPr>
          <a:xfrm>
            <a:off x="594360" y="4041648"/>
            <a:ext cx="7955280" cy="365760"/>
          </a:xfrm>
          <a:prstGeom prst="rect">
            <a:avLst/>
          </a:prstGeom>
          <a:noFill/>
          <a:ln/>
        </p:spPr>
        <p:txBody>
          <a:bodyPr wrap="square" lIns="0" tIns="0" rIns="0" bIns="0" rtlCol="0" anchor="ctr"/>
          <a:lstStyle/>
          <a:p>
            <a:pPr marL="0" indent="0">
              <a:buNone/>
            </a:pPr>
            <a:r>
              <a:rPr lang="en-US" sz="1050" b="1" dirty="0">
                <a:solidFill>
                  <a:srgbClr val="C8106E"/>
                </a:solidFill>
                <a:latin typeface="Calibri" pitchFamily="34" charset="0"/>
                <a:ea typeface="Calibri" pitchFamily="34" charset="-122"/>
                <a:cs typeface="Calibri" pitchFamily="34" charset="-120"/>
              </a:rPr>
              <a:t>Porte mínimo: </a:t>
            </a:r>
            <a:r>
              <a:rPr lang="en-US" sz="1050" dirty="0">
                <a:solidFill>
                  <a:srgbClr val="4A5560"/>
                </a:solidFill>
                <a:latin typeface="Calibri" pitchFamily="34" charset="0"/>
                <a:ea typeface="Calibri" pitchFamily="34" charset="-122"/>
                <a:cs typeface="Calibri" pitchFamily="34" charset="-120"/>
              </a:rPr>
              <a:t>a v1.0 usava 2.000 cabeças. Para a versão manual, a faixa ideal 200 a 2.000 </a:t>
            </a:r>
            <a:r>
              <a:rPr lang="en-US" sz="1050" dirty="0" err="1">
                <a:solidFill>
                  <a:srgbClr val="4A5560"/>
                </a:solidFill>
                <a:latin typeface="Calibri" pitchFamily="34" charset="0"/>
                <a:ea typeface="Calibri" pitchFamily="34" charset="-122"/>
                <a:cs typeface="Calibri" pitchFamily="34" charset="-120"/>
              </a:rPr>
              <a:t>cabeças</a:t>
            </a:r>
            <a:r>
              <a:rPr lang="en-US" sz="1050" dirty="0">
                <a:solidFill>
                  <a:srgbClr val="4A5560"/>
                </a:solidFill>
                <a:latin typeface="Calibri" pitchFamily="34" charset="0"/>
                <a:ea typeface="Calibri" pitchFamily="34" charset="-122"/>
                <a:cs typeface="Calibri" pitchFamily="34" charset="-120"/>
              </a:rPr>
              <a:t>.</a:t>
            </a:r>
            <a:endParaRPr lang="en-US" sz="1050" dirty="0"/>
          </a:p>
        </p:txBody>
      </p:sp>
      <p:sp>
        <p:nvSpPr>
          <p:cNvPr id="20" name="TextBox 19"/>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5  ·  COMO CRESCEMOS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Custo-benefício e cobrança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Pagamos 20 licenças hoje. O Web atende novos clientes sem automação; a PecCode segue com os maiores.</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20</a:t>
            </a:r>
            <a:endParaRPr lang="en-US" sz="900" dirty="0"/>
          </a:p>
        </p:txBody>
      </p:sp>
      <p:sp>
        <p:nvSpPr>
          <p:cNvPr id="6" name="Text 3"/>
          <p:cNvSpPr/>
          <p:nvPr/>
        </p:nvSpPr>
        <p:spPr>
          <a:xfrm>
            <a:off x="457200" y="1078992"/>
            <a:ext cx="3657600" cy="237744"/>
          </a:xfrm>
          <a:prstGeom prst="rect">
            <a:avLst/>
          </a:prstGeom>
          <a:noFill/>
          <a:ln/>
        </p:spPr>
        <p:txBody>
          <a:bodyPr wrap="square" lIns="0" tIns="0" rIns="0" bIns="0" rtlCol="0" anchor="t"/>
          <a:lstStyle/>
          <a:p>
            <a:pPr marL="0" indent="0">
              <a:buNone/>
            </a:pPr>
            <a:r>
              <a:rPr lang="en-US" sz="1200" b="1" dirty="0">
                <a:solidFill>
                  <a:srgbClr val="1B3A8C"/>
                </a:solidFill>
                <a:latin typeface="Calibri" pitchFamily="34" charset="0"/>
                <a:ea typeface="Calibri" pitchFamily="34" charset="-122"/>
                <a:cs typeface="Calibri" pitchFamily="34" charset="-120"/>
              </a:rPr>
              <a:t>O que pagamos hoje</a:t>
            </a:r>
            <a:endParaRPr lang="en-US" sz="1200" dirty="0"/>
          </a:p>
        </p:txBody>
      </p:sp>
      <p:sp>
        <p:nvSpPr>
          <p:cNvPr id="7" name="Shape 4"/>
          <p:cNvSpPr/>
          <p:nvPr/>
        </p:nvSpPr>
        <p:spPr>
          <a:xfrm>
            <a:off x="457200" y="1353312"/>
            <a:ext cx="1115568" cy="274320"/>
          </a:xfrm>
          <a:prstGeom prst="rect">
            <a:avLst/>
          </a:prstGeom>
          <a:solidFill>
            <a:srgbClr val="1B3A8C"/>
          </a:solidFill>
          <a:ln/>
        </p:spPr>
        <p:txBody>
          <a:bodyPr/>
          <a:lstStyle/>
          <a:p>
            <a:endParaRPr/>
          </a:p>
        </p:txBody>
      </p:sp>
      <p:sp>
        <p:nvSpPr>
          <p:cNvPr id="8" name="Text 5"/>
          <p:cNvSpPr/>
          <p:nvPr/>
        </p:nvSpPr>
        <p:spPr>
          <a:xfrm>
            <a:off x="548640" y="1353312"/>
            <a:ext cx="932688"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Fornecedor</a:t>
            </a:r>
            <a:endParaRPr lang="en-US" sz="900" dirty="0"/>
          </a:p>
        </p:txBody>
      </p:sp>
      <p:sp>
        <p:nvSpPr>
          <p:cNvPr id="9" name="Shape 6"/>
          <p:cNvSpPr/>
          <p:nvPr/>
        </p:nvSpPr>
        <p:spPr>
          <a:xfrm>
            <a:off x="1600200" y="1353312"/>
            <a:ext cx="704088" cy="274320"/>
          </a:xfrm>
          <a:prstGeom prst="rect">
            <a:avLst/>
          </a:prstGeom>
          <a:solidFill>
            <a:srgbClr val="1B3A8C"/>
          </a:solidFill>
          <a:ln/>
        </p:spPr>
        <p:txBody>
          <a:bodyPr/>
          <a:lstStyle/>
          <a:p>
            <a:endParaRPr/>
          </a:p>
        </p:txBody>
      </p:sp>
      <p:sp>
        <p:nvSpPr>
          <p:cNvPr id="10" name="Text 7"/>
          <p:cNvSpPr/>
          <p:nvPr/>
        </p:nvSpPr>
        <p:spPr>
          <a:xfrm>
            <a:off x="1691640" y="1353312"/>
            <a:ext cx="521208"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Licenças</a:t>
            </a:r>
            <a:endParaRPr lang="en-US" sz="900" dirty="0"/>
          </a:p>
        </p:txBody>
      </p:sp>
      <p:sp>
        <p:nvSpPr>
          <p:cNvPr id="11" name="Shape 8"/>
          <p:cNvSpPr/>
          <p:nvPr/>
        </p:nvSpPr>
        <p:spPr>
          <a:xfrm>
            <a:off x="2331720" y="1353312"/>
            <a:ext cx="1207008" cy="274320"/>
          </a:xfrm>
          <a:prstGeom prst="rect">
            <a:avLst/>
          </a:prstGeom>
          <a:solidFill>
            <a:srgbClr val="1B3A8C"/>
          </a:solidFill>
          <a:ln/>
        </p:spPr>
        <p:txBody>
          <a:bodyPr/>
          <a:lstStyle/>
          <a:p>
            <a:endParaRPr/>
          </a:p>
        </p:txBody>
      </p:sp>
      <p:sp>
        <p:nvSpPr>
          <p:cNvPr id="12" name="Text 9"/>
          <p:cNvSpPr/>
          <p:nvPr/>
        </p:nvSpPr>
        <p:spPr>
          <a:xfrm>
            <a:off x="2423160" y="1353312"/>
            <a:ext cx="1024128"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Por licença/ano</a:t>
            </a:r>
            <a:endParaRPr lang="en-US" sz="900" dirty="0"/>
          </a:p>
        </p:txBody>
      </p:sp>
      <p:sp>
        <p:nvSpPr>
          <p:cNvPr id="13" name="Shape 10"/>
          <p:cNvSpPr/>
          <p:nvPr/>
        </p:nvSpPr>
        <p:spPr>
          <a:xfrm>
            <a:off x="3566160" y="1353312"/>
            <a:ext cx="1069848" cy="274320"/>
          </a:xfrm>
          <a:prstGeom prst="rect">
            <a:avLst/>
          </a:prstGeom>
          <a:solidFill>
            <a:srgbClr val="1B3A8C"/>
          </a:solidFill>
          <a:ln/>
        </p:spPr>
        <p:txBody>
          <a:bodyPr/>
          <a:lstStyle/>
          <a:p>
            <a:endParaRPr/>
          </a:p>
        </p:txBody>
      </p:sp>
      <p:sp>
        <p:nvSpPr>
          <p:cNvPr id="14" name="Text 11"/>
          <p:cNvSpPr/>
          <p:nvPr/>
        </p:nvSpPr>
        <p:spPr>
          <a:xfrm>
            <a:off x="3657600" y="1353312"/>
            <a:ext cx="886968"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Total/ano</a:t>
            </a:r>
            <a:endParaRPr lang="en-US" sz="900" dirty="0"/>
          </a:p>
        </p:txBody>
      </p:sp>
      <p:sp>
        <p:nvSpPr>
          <p:cNvPr id="15" name="Shape 12"/>
          <p:cNvSpPr/>
          <p:nvPr/>
        </p:nvSpPr>
        <p:spPr>
          <a:xfrm>
            <a:off x="457200" y="1645920"/>
            <a:ext cx="4178808" cy="274320"/>
          </a:xfrm>
          <a:prstGeom prst="rect">
            <a:avLst/>
          </a:prstGeom>
          <a:solidFill>
            <a:srgbClr val="F4F6F8"/>
          </a:solidFill>
          <a:ln/>
        </p:spPr>
        <p:txBody>
          <a:bodyPr/>
          <a:lstStyle/>
          <a:p>
            <a:endParaRPr/>
          </a:p>
        </p:txBody>
      </p:sp>
      <p:sp>
        <p:nvSpPr>
          <p:cNvPr id="16" name="Text 13"/>
          <p:cNvSpPr/>
          <p:nvPr/>
        </p:nvSpPr>
        <p:spPr>
          <a:xfrm>
            <a:off x="530352" y="1645920"/>
            <a:ext cx="1033272" cy="274320"/>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TGC (Ponta)</a:t>
            </a:r>
            <a:endParaRPr lang="en-US" sz="950" dirty="0"/>
          </a:p>
        </p:txBody>
      </p:sp>
      <p:sp>
        <p:nvSpPr>
          <p:cNvPr id="17" name="Text 14"/>
          <p:cNvSpPr/>
          <p:nvPr/>
        </p:nvSpPr>
        <p:spPr>
          <a:xfrm>
            <a:off x="1673352" y="1645920"/>
            <a:ext cx="621792" cy="274320"/>
          </a:xfrm>
          <a:prstGeom prst="rect">
            <a:avLst/>
          </a:prstGeom>
          <a:noFill/>
          <a:ln/>
        </p:spPr>
        <p:txBody>
          <a:bodyPr wrap="square" lIns="0" tIns="0" rIns="0" bIns="0" rtlCol="0" anchor="ctr"/>
          <a:lstStyle/>
          <a:p>
            <a:pPr marL="0" indent="0">
              <a:buNone/>
            </a:pPr>
            <a:r>
              <a:rPr lang="en-US" sz="950" dirty="0">
                <a:solidFill>
                  <a:srgbClr val="4A5560"/>
                </a:solidFill>
                <a:latin typeface="Calibri" pitchFamily="34" charset="0"/>
                <a:ea typeface="Calibri" pitchFamily="34" charset="-122"/>
                <a:cs typeface="Calibri" pitchFamily="34" charset="-120"/>
              </a:rPr>
              <a:t>6</a:t>
            </a:r>
            <a:endParaRPr lang="en-US" sz="950" dirty="0"/>
          </a:p>
        </p:txBody>
      </p:sp>
      <p:sp>
        <p:nvSpPr>
          <p:cNvPr id="18" name="Text 15"/>
          <p:cNvSpPr/>
          <p:nvPr/>
        </p:nvSpPr>
        <p:spPr>
          <a:xfrm>
            <a:off x="2404872" y="1645920"/>
            <a:ext cx="1124712" cy="274320"/>
          </a:xfrm>
          <a:prstGeom prst="rect">
            <a:avLst/>
          </a:prstGeom>
          <a:noFill/>
          <a:ln/>
        </p:spPr>
        <p:txBody>
          <a:bodyPr wrap="square" lIns="0" tIns="0" rIns="0" bIns="0" rtlCol="0" anchor="ctr"/>
          <a:lstStyle/>
          <a:p>
            <a:pPr marL="0" indent="0">
              <a:buNone/>
            </a:pPr>
            <a:r>
              <a:rPr lang="en-US" sz="950" dirty="0">
                <a:solidFill>
                  <a:srgbClr val="4A5560"/>
                </a:solidFill>
                <a:latin typeface="Calibri" pitchFamily="34" charset="0"/>
                <a:ea typeface="Calibri" pitchFamily="34" charset="-122"/>
                <a:cs typeface="Calibri" pitchFamily="34" charset="-120"/>
              </a:rPr>
              <a:t>R$ 10 a 40 mil</a:t>
            </a:r>
            <a:endParaRPr lang="en-US" sz="950" dirty="0"/>
          </a:p>
        </p:txBody>
      </p:sp>
      <p:sp>
        <p:nvSpPr>
          <p:cNvPr id="19" name="Text 16"/>
          <p:cNvSpPr/>
          <p:nvPr/>
        </p:nvSpPr>
        <p:spPr>
          <a:xfrm>
            <a:off x="3639312" y="1645920"/>
            <a:ext cx="987552" cy="274320"/>
          </a:xfrm>
          <a:prstGeom prst="rect">
            <a:avLst/>
          </a:prstGeom>
          <a:noFill/>
          <a:ln/>
        </p:spPr>
        <p:txBody>
          <a:bodyPr wrap="square" lIns="0" tIns="0" rIns="0" bIns="0" rtlCol="0" anchor="ctr"/>
          <a:lstStyle/>
          <a:p>
            <a:pPr marL="0" indent="0">
              <a:buNone/>
            </a:pPr>
            <a:r>
              <a:rPr lang="en-US" sz="950" dirty="0">
                <a:solidFill>
                  <a:srgbClr val="4A5560"/>
                </a:solidFill>
                <a:latin typeface="Calibri" pitchFamily="34" charset="0"/>
                <a:ea typeface="Calibri" pitchFamily="34" charset="-122"/>
                <a:cs typeface="Calibri" pitchFamily="34" charset="-120"/>
              </a:rPr>
              <a:t>R$ 60 a 240 mil</a:t>
            </a:r>
            <a:endParaRPr lang="en-US" sz="950" dirty="0"/>
          </a:p>
        </p:txBody>
      </p:sp>
      <p:sp>
        <p:nvSpPr>
          <p:cNvPr id="20" name="Shape 17"/>
          <p:cNvSpPr/>
          <p:nvPr/>
        </p:nvSpPr>
        <p:spPr>
          <a:xfrm>
            <a:off x="457200" y="1956816"/>
            <a:ext cx="4178808" cy="274320"/>
          </a:xfrm>
          <a:prstGeom prst="rect">
            <a:avLst/>
          </a:prstGeom>
          <a:solidFill>
            <a:srgbClr val="F4F6F8"/>
          </a:solidFill>
          <a:ln/>
        </p:spPr>
        <p:txBody>
          <a:bodyPr/>
          <a:lstStyle/>
          <a:p>
            <a:endParaRPr/>
          </a:p>
        </p:txBody>
      </p:sp>
      <p:sp>
        <p:nvSpPr>
          <p:cNvPr id="21" name="Text 18"/>
          <p:cNvSpPr/>
          <p:nvPr/>
        </p:nvSpPr>
        <p:spPr>
          <a:xfrm>
            <a:off x="530352" y="1956816"/>
            <a:ext cx="1033272" cy="274320"/>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PecCode</a:t>
            </a:r>
            <a:endParaRPr lang="en-US" sz="950" dirty="0"/>
          </a:p>
        </p:txBody>
      </p:sp>
      <p:sp>
        <p:nvSpPr>
          <p:cNvPr id="22" name="Text 19"/>
          <p:cNvSpPr/>
          <p:nvPr/>
        </p:nvSpPr>
        <p:spPr>
          <a:xfrm>
            <a:off x="1673352" y="1956816"/>
            <a:ext cx="621792" cy="274320"/>
          </a:xfrm>
          <a:prstGeom prst="rect">
            <a:avLst/>
          </a:prstGeom>
          <a:noFill/>
          <a:ln/>
        </p:spPr>
        <p:txBody>
          <a:bodyPr wrap="square" lIns="0" tIns="0" rIns="0" bIns="0" rtlCol="0" anchor="ctr"/>
          <a:lstStyle/>
          <a:p>
            <a:pPr marL="0" indent="0">
              <a:buNone/>
            </a:pPr>
            <a:r>
              <a:rPr lang="en-US" sz="950" dirty="0">
                <a:solidFill>
                  <a:srgbClr val="4A5560"/>
                </a:solidFill>
                <a:latin typeface="Calibri" pitchFamily="34" charset="0"/>
                <a:ea typeface="Calibri" pitchFamily="34" charset="-122"/>
                <a:cs typeface="Calibri" pitchFamily="34" charset="-120"/>
              </a:rPr>
              <a:t>14</a:t>
            </a:r>
            <a:endParaRPr lang="en-US" sz="950" dirty="0"/>
          </a:p>
        </p:txBody>
      </p:sp>
      <p:sp>
        <p:nvSpPr>
          <p:cNvPr id="23" name="Text 20"/>
          <p:cNvSpPr/>
          <p:nvPr/>
        </p:nvSpPr>
        <p:spPr>
          <a:xfrm>
            <a:off x="2404872" y="1956816"/>
            <a:ext cx="1124712" cy="274320"/>
          </a:xfrm>
          <a:prstGeom prst="rect">
            <a:avLst/>
          </a:prstGeom>
          <a:noFill/>
          <a:ln/>
        </p:spPr>
        <p:txBody>
          <a:bodyPr wrap="square" lIns="0" tIns="0" rIns="0" bIns="0" rtlCol="0" anchor="ctr"/>
          <a:lstStyle/>
          <a:p>
            <a:pPr marL="0" indent="0">
              <a:buNone/>
            </a:pPr>
            <a:r>
              <a:rPr lang="en-US" sz="950" dirty="0">
                <a:solidFill>
                  <a:srgbClr val="4A5560"/>
                </a:solidFill>
                <a:latin typeface="Calibri" pitchFamily="34" charset="0"/>
                <a:ea typeface="Calibri" pitchFamily="34" charset="-122"/>
                <a:cs typeface="Calibri" pitchFamily="34" charset="-120"/>
              </a:rPr>
              <a:t>R$ 8 a 12,8 mil</a:t>
            </a:r>
            <a:endParaRPr lang="en-US" sz="950" dirty="0"/>
          </a:p>
        </p:txBody>
      </p:sp>
      <p:sp>
        <p:nvSpPr>
          <p:cNvPr id="24" name="Text 21"/>
          <p:cNvSpPr/>
          <p:nvPr/>
        </p:nvSpPr>
        <p:spPr>
          <a:xfrm>
            <a:off x="3639312" y="1956816"/>
            <a:ext cx="987552" cy="274320"/>
          </a:xfrm>
          <a:prstGeom prst="rect">
            <a:avLst/>
          </a:prstGeom>
          <a:noFill/>
          <a:ln/>
        </p:spPr>
        <p:txBody>
          <a:bodyPr wrap="square" lIns="0" tIns="0" rIns="0" bIns="0" rtlCol="0" anchor="ctr"/>
          <a:lstStyle/>
          <a:p>
            <a:pPr marL="0" indent="0">
              <a:buNone/>
            </a:pPr>
            <a:r>
              <a:rPr lang="en-US" sz="950" dirty="0">
                <a:solidFill>
                  <a:srgbClr val="4A5560"/>
                </a:solidFill>
                <a:latin typeface="Calibri" pitchFamily="34" charset="0"/>
                <a:ea typeface="Calibri" pitchFamily="34" charset="-122"/>
                <a:cs typeface="Calibri" pitchFamily="34" charset="-120"/>
              </a:rPr>
              <a:t>R$ 112 a 179 mil</a:t>
            </a:r>
            <a:endParaRPr lang="en-US" sz="950" dirty="0"/>
          </a:p>
        </p:txBody>
      </p:sp>
      <p:sp>
        <p:nvSpPr>
          <p:cNvPr id="25" name="Shape 22"/>
          <p:cNvSpPr/>
          <p:nvPr/>
        </p:nvSpPr>
        <p:spPr>
          <a:xfrm>
            <a:off x="457200" y="2267712"/>
            <a:ext cx="4178808" cy="274320"/>
          </a:xfrm>
          <a:prstGeom prst="rect">
            <a:avLst/>
          </a:prstGeom>
          <a:solidFill>
            <a:srgbClr val="FBE7F1"/>
          </a:solidFill>
          <a:ln/>
        </p:spPr>
        <p:txBody>
          <a:bodyPr/>
          <a:lstStyle/>
          <a:p>
            <a:endParaRPr/>
          </a:p>
        </p:txBody>
      </p:sp>
      <p:sp>
        <p:nvSpPr>
          <p:cNvPr id="26" name="Text 23"/>
          <p:cNvSpPr/>
          <p:nvPr/>
        </p:nvSpPr>
        <p:spPr>
          <a:xfrm>
            <a:off x="530352" y="2267712"/>
            <a:ext cx="1033272" cy="274320"/>
          </a:xfrm>
          <a:prstGeom prst="rect">
            <a:avLst/>
          </a:prstGeom>
          <a:noFill/>
          <a:ln/>
        </p:spPr>
        <p:txBody>
          <a:bodyPr wrap="square" lIns="0" tIns="0" rIns="0" bIns="0" rtlCol="0" anchor="ctr"/>
          <a:lstStyle/>
          <a:p>
            <a:pPr marL="0" indent="0">
              <a:buNone/>
            </a:pPr>
            <a:r>
              <a:rPr lang="en-US" sz="950" b="1" dirty="0">
                <a:solidFill>
                  <a:srgbClr val="C8106E"/>
                </a:solidFill>
                <a:latin typeface="Calibri" pitchFamily="34" charset="0"/>
                <a:ea typeface="Calibri" pitchFamily="34" charset="-122"/>
                <a:cs typeface="Calibri" pitchFamily="34" charset="-120"/>
              </a:rPr>
              <a:t>Total</a:t>
            </a:r>
            <a:endParaRPr lang="en-US" sz="950" dirty="0"/>
          </a:p>
        </p:txBody>
      </p:sp>
      <p:sp>
        <p:nvSpPr>
          <p:cNvPr id="27" name="Text 24"/>
          <p:cNvSpPr/>
          <p:nvPr/>
        </p:nvSpPr>
        <p:spPr>
          <a:xfrm>
            <a:off x="1673352" y="2267712"/>
            <a:ext cx="621792" cy="274320"/>
          </a:xfrm>
          <a:prstGeom prst="rect">
            <a:avLst/>
          </a:prstGeom>
          <a:noFill/>
          <a:ln/>
        </p:spPr>
        <p:txBody>
          <a:bodyPr wrap="square" lIns="0" tIns="0" rIns="0" bIns="0" rtlCol="0" anchor="ctr"/>
          <a:lstStyle/>
          <a:p>
            <a:pPr marL="0" indent="0">
              <a:buNone/>
            </a:pPr>
            <a:r>
              <a:rPr lang="en-US" sz="950" b="1" dirty="0">
                <a:solidFill>
                  <a:srgbClr val="C8106E"/>
                </a:solidFill>
                <a:latin typeface="Calibri" pitchFamily="34" charset="0"/>
                <a:ea typeface="Calibri" pitchFamily="34" charset="-122"/>
                <a:cs typeface="Calibri" pitchFamily="34" charset="-120"/>
              </a:rPr>
              <a:t>20</a:t>
            </a:r>
            <a:endParaRPr lang="en-US" sz="950" dirty="0"/>
          </a:p>
        </p:txBody>
      </p:sp>
      <p:sp>
        <p:nvSpPr>
          <p:cNvPr id="28" name="Text 25"/>
          <p:cNvSpPr/>
          <p:nvPr/>
        </p:nvSpPr>
        <p:spPr>
          <a:xfrm>
            <a:off x="2404872" y="2267712"/>
            <a:ext cx="1124712" cy="274320"/>
          </a:xfrm>
          <a:prstGeom prst="rect">
            <a:avLst/>
          </a:prstGeom>
          <a:noFill/>
          <a:ln/>
        </p:spPr>
        <p:txBody>
          <a:bodyPr wrap="square" lIns="0" tIns="0" rIns="0" bIns="0" rtlCol="0" anchor="ctr"/>
          <a:lstStyle/>
          <a:p>
            <a:pPr marL="0" indent="0">
              <a:buNone/>
            </a:pPr>
            <a:endParaRPr lang="en-US" sz="950" dirty="0"/>
          </a:p>
        </p:txBody>
      </p:sp>
      <p:sp>
        <p:nvSpPr>
          <p:cNvPr id="29" name="Text 26"/>
          <p:cNvSpPr/>
          <p:nvPr/>
        </p:nvSpPr>
        <p:spPr>
          <a:xfrm>
            <a:off x="3639312" y="2267712"/>
            <a:ext cx="987552" cy="274320"/>
          </a:xfrm>
          <a:prstGeom prst="rect">
            <a:avLst/>
          </a:prstGeom>
          <a:noFill/>
          <a:ln/>
        </p:spPr>
        <p:txBody>
          <a:bodyPr wrap="square" lIns="0" tIns="0" rIns="0" bIns="0" rtlCol="0" anchor="ctr"/>
          <a:lstStyle/>
          <a:p>
            <a:pPr marL="0" indent="0">
              <a:buNone/>
            </a:pPr>
            <a:r>
              <a:rPr lang="en-US" sz="950" b="1" dirty="0">
                <a:solidFill>
                  <a:srgbClr val="C8106E"/>
                </a:solidFill>
                <a:latin typeface="Calibri" pitchFamily="34" charset="0"/>
                <a:ea typeface="Calibri" pitchFamily="34" charset="-122"/>
                <a:cs typeface="Calibri" pitchFamily="34" charset="-120"/>
              </a:rPr>
              <a:t>R$ 172 a 419 mil</a:t>
            </a:r>
            <a:endParaRPr lang="en-US" sz="950" dirty="0"/>
          </a:p>
        </p:txBody>
      </p:sp>
      <p:sp>
        <p:nvSpPr>
          <p:cNvPr id="30" name="Shape 27"/>
          <p:cNvSpPr/>
          <p:nvPr/>
        </p:nvSpPr>
        <p:spPr>
          <a:xfrm>
            <a:off x="457200" y="2670048"/>
            <a:ext cx="987552" cy="713232"/>
          </a:xfrm>
          <a:prstGeom prst="rect">
            <a:avLst/>
          </a:prstGeom>
          <a:solidFill>
            <a:srgbClr val="F4F6F8"/>
          </a:solidFill>
          <a:ln/>
        </p:spPr>
        <p:txBody>
          <a:bodyPr/>
          <a:lstStyle/>
          <a:p>
            <a:endParaRPr/>
          </a:p>
        </p:txBody>
      </p:sp>
      <p:sp>
        <p:nvSpPr>
          <p:cNvPr id="31" name="Shape 28"/>
          <p:cNvSpPr/>
          <p:nvPr/>
        </p:nvSpPr>
        <p:spPr>
          <a:xfrm>
            <a:off x="457200" y="2670048"/>
            <a:ext cx="987552" cy="45720"/>
          </a:xfrm>
          <a:prstGeom prst="rect">
            <a:avLst/>
          </a:prstGeom>
          <a:solidFill>
            <a:srgbClr val="1B3A8C"/>
          </a:solidFill>
          <a:ln/>
        </p:spPr>
        <p:txBody>
          <a:bodyPr/>
          <a:lstStyle/>
          <a:p>
            <a:endParaRPr/>
          </a:p>
        </p:txBody>
      </p:sp>
      <p:sp>
        <p:nvSpPr>
          <p:cNvPr id="32" name="Text 29"/>
          <p:cNvSpPr/>
          <p:nvPr/>
        </p:nvSpPr>
        <p:spPr>
          <a:xfrm>
            <a:off x="512064" y="2761488"/>
            <a:ext cx="914400" cy="292608"/>
          </a:xfrm>
          <a:prstGeom prst="rect">
            <a:avLst/>
          </a:prstGeom>
          <a:noFill/>
          <a:ln/>
        </p:spPr>
        <p:txBody>
          <a:bodyPr wrap="square" lIns="0" tIns="0" rIns="0" bIns="0" rtlCol="0" anchor="t"/>
          <a:lstStyle/>
          <a:p>
            <a:pPr marL="0" indent="0">
              <a:buNone/>
            </a:pPr>
            <a:r>
              <a:rPr lang="en-US" sz="1300" b="1" dirty="0">
                <a:solidFill>
                  <a:srgbClr val="1B3A8C"/>
                </a:solidFill>
                <a:latin typeface="Calibri" pitchFamily="34" charset="0"/>
                <a:ea typeface="Calibri" pitchFamily="34" charset="-122"/>
                <a:cs typeface="Calibri" pitchFamily="34" charset="-120"/>
              </a:rPr>
              <a:t>R$ 364 mil</a:t>
            </a:r>
            <a:endParaRPr lang="en-US" sz="1300" dirty="0"/>
          </a:p>
        </p:txBody>
      </p:sp>
      <p:sp>
        <p:nvSpPr>
          <p:cNvPr id="33" name="Text 30"/>
          <p:cNvSpPr/>
          <p:nvPr/>
        </p:nvSpPr>
        <p:spPr>
          <a:xfrm>
            <a:off x="512064" y="3054096"/>
            <a:ext cx="914400" cy="292608"/>
          </a:xfrm>
          <a:prstGeom prst="rect">
            <a:avLst/>
          </a:prstGeom>
          <a:noFill/>
          <a:ln/>
        </p:spPr>
        <p:txBody>
          <a:bodyPr wrap="square" lIns="0" tIns="0" rIns="0" bIns="0" rtlCol="0" anchor="t"/>
          <a:lstStyle/>
          <a:p>
            <a:pPr marL="0" indent="0">
              <a:buNone/>
            </a:pPr>
            <a:r>
              <a:rPr lang="en-US" sz="850" dirty="0">
                <a:solidFill>
                  <a:srgbClr val="4A5560"/>
                </a:solidFill>
                <a:latin typeface="Calibri" pitchFamily="34" charset="0"/>
                <a:ea typeface="Calibri" pitchFamily="34" charset="-122"/>
                <a:cs typeface="Calibri" pitchFamily="34" charset="-120"/>
              </a:rPr>
              <a:t>orçados</a:t>
            </a:r>
            <a:endParaRPr lang="en-US" sz="850" dirty="0"/>
          </a:p>
        </p:txBody>
      </p:sp>
      <p:sp>
        <p:nvSpPr>
          <p:cNvPr id="34" name="Shape 31"/>
          <p:cNvSpPr/>
          <p:nvPr/>
        </p:nvSpPr>
        <p:spPr>
          <a:xfrm>
            <a:off x="1513332" y="2670048"/>
            <a:ext cx="987552" cy="713232"/>
          </a:xfrm>
          <a:prstGeom prst="rect">
            <a:avLst/>
          </a:prstGeom>
          <a:solidFill>
            <a:srgbClr val="F4F6F8"/>
          </a:solidFill>
          <a:ln/>
        </p:spPr>
        <p:txBody>
          <a:bodyPr/>
          <a:lstStyle/>
          <a:p>
            <a:endParaRPr/>
          </a:p>
        </p:txBody>
      </p:sp>
      <p:sp>
        <p:nvSpPr>
          <p:cNvPr id="35" name="Shape 32"/>
          <p:cNvSpPr/>
          <p:nvPr/>
        </p:nvSpPr>
        <p:spPr>
          <a:xfrm>
            <a:off x="1513332" y="2670048"/>
            <a:ext cx="987552" cy="45720"/>
          </a:xfrm>
          <a:prstGeom prst="rect">
            <a:avLst/>
          </a:prstGeom>
          <a:solidFill>
            <a:srgbClr val="26668F"/>
          </a:solidFill>
          <a:ln/>
        </p:spPr>
        <p:txBody>
          <a:bodyPr/>
          <a:lstStyle/>
          <a:p>
            <a:endParaRPr/>
          </a:p>
        </p:txBody>
      </p:sp>
      <p:sp>
        <p:nvSpPr>
          <p:cNvPr id="36" name="Text 33"/>
          <p:cNvSpPr/>
          <p:nvPr/>
        </p:nvSpPr>
        <p:spPr>
          <a:xfrm>
            <a:off x="1568196" y="2761488"/>
            <a:ext cx="914400" cy="292608"/>
          </a:xfrm>
          <a:prstGeom prst="rect">
            <a:avLst/>
          </a:prstGeom>
          <a:noFill/>
          <a:ln/>
        </p:spPr>
        <p:txBody>
          <a:bodyPr wrap="square" lIns="0" tIns="0" rIns="0" bIns="0" rtlCol="0" anchor="t"/>
          <a:lstStyle/>
          <a:p>
            <a:pPr marL="0" indent="0">
              <a:buNone/>
            </a:pPr>
            <a:r>
              <a:rPr lang="en-US" sz="1300" b="1" dirty="0">
                <a:solidFill>
                  <a:srgbClr val="26668F"/>
                </a:solidFill>
                <a:latin typeface="Calibri" pitchFamily="34" charset="0"/>
                <a:ea typeface="Calibri" pitchFamily="34" charset="-122"/>
                <a:cs typeface="Calibri" pitchFamily="34" charset="-120"/>
              </a:rPr>
              <a:t>R$ 64 mil</a:t>
            </a:r>
            <a:endParaRPr lang="en-US" sz="1300" dirty="0"/>
          </a:p>
        </p:txBody>
      </p:sp>
      <p:sp>
        <p:nvSpPr>
          <p:cNvPr id="37" name="Text 34"/>
          <p:cNvSpPr/>
          <p:nvPr/>
        </p:nvSpPr>
        <p:spPr>
          <a:xfrm>
            <a:off x="1568196" y="3054096"/>
            <a:ext cx="914400" cy="292608"/>
          </a:xfrm>
          <a:prstGeom prst="rect">
            <a:avLst/>
          </a:prstGeom>
          <a:noFill/>
          <a:ln/>
        </p:spPr>
        <p:txBody>
          <a:bodyPr wrap="square" lIns="0" tIns="0" rIns="0" bIns="0" rtlCol="0" anchor="t"/>
          <a:lstStyle/>
          <a:p>
            <a:pPr marL="0" indent="0">
              <a:buNone/>
            </a:pPr>
            <a:r>
              <a:rPr lang="en-US" sz="850" dirty="0">
                <a:solidFill>
                  <a:srgbClr val="4A5560"/>
                </a:solidFill>
                <a:latin typeface="Calibri" pitchFamily="34" charset="0"/>
                <a:ea typeface="Calibri" pitchFamily="34" charset="-122"/>
                <a:cs typeface="Calibri" pitchFamily="34" charset="-120"/>
              </a:rPr>
              <a:t>pagos até agora</a:t>
            </a:r>
            <a:endParaRPr lang="en-US" sz="850" dirty="0"/>
          </a:p>
        </p:txBody>
      </p:sp>
      <p:sp>
        <p:nvSpPr>
          <p:cNvPr id="38" name="Shape 35"/>
          <p:cNvSpPr/>
          <p:nvPr/>
        </p:nvSpPr>
        <p:spPr>
          <a:xfrm>
            <a:off x="2569464" y="2670048"/>
            <a:ext cx="987552" cy="713232"/>
          </a:xfrm>
          <a:prstGeom prst="rect">
            <a:avLst/>
          </a:prstGeom>
          <a:solidFill>
            <a:srgbClr val="F4F6F8"/>
          </a:solidFill>
          <a:ln/>
        </p:spPr>
        <p:txBody>
          <a:bodyPr/>
          <a:lstStyle/>
          <a:p>
            <a:endParaRPr/>
          </a:p>
        </p:txBody>
      </p:sp>
      <p:sp>
        <p:nvSpPr>
          <p:cNvPr id="39" name="Shape 36"/>
          <p:cNvSpPr/>
          <p:nvPr/>
        </p:nvSpPr>
        <p:spPr>
          <a:xfrm>
            <a:off x="2569464" y="2670048"/>
            <a:ext cx="987552" cy="45720"/>
          </a:xfrm>
          <a:prstGeom prst="rect">
            <a:avLst/>
          </a:prstGeom>
          <a:solidFill>
            <a:srgbClr val="C8106E"/>
          </a:solidFill>
          <a:ln/>
        </p:spPr>
        <p:txBody>
          <a:bodyPr/>
          <a:lstStyle/>
          <a:p>
            <a:endParaRPr/>
          </a:p>
        </p:txBody>
      </p:sp>
      <p:sp>
        <p:nvSpPr>
          <p:cNvPr id="40" name="Text 37"/>
          <p:cNvSpPr/>
          <p:nvPr/>
        </p:nvSpPr>
        <p:spPr>
          <a:xfrm>
            <a:off x="2624328" y="2761488"/>
            <a:ext cx="914400" cy="292608"/>
          </a:xfrm>
          <a:prstGeom prst="rect">
            <a:avLst/>
          </a:prstGeom>
          <a:noFill/>
          <a:ln/>
        </p:spPr>
        <p:txBody>
          <a:bodyPr wrap="square" lIns="0" tIns="0" rIns="0" bIns="0" rtlCol="0" anchor="t"/>
          <a:lstStyle/>
          <a:p>
            <a:pPr marL="0" indent="0">
              <a:buNone/>
            </a:pPr>
            <a:r>
              <a:rPr lang="en-US" sz="1300" b="1" dirty="0">
                <a:solidFill>
                  <a:srgbClr val="C8106E"/>
                </a:solidFill>
                <a:latin typeface="Calibri" pitchFamily="34" charset="0"/>
                <a:ea typeface="Calibri" pitchFamily="34" charset="-122"/>
                <a:cs typeface="Calibri" pitchFamily="34" charset="-120"/>
              </a:rPr>
              <a:t>R$ 300 mil</a:t>
            </a:r>
            <a:endParaRPr lang="en-US" sz="1300" dirty="0"/>
          </a:p>
        </p:txBody>
      </p:sp>
      <p:sp>
        <p:nvSpPr>
          <p:cNvPr id="41" name="Text 38"/>
          <p:cNvSpPr/>
          <p:nvPr/>
        </p:nvSpPr>
        <p:spPr>
          <a:xfrm>
            <a:off x="2624328" y="3054096"/>
            <a:ext cx="914400" cy="292608"/>
          </a:xfrm>
          <a:prstGeom prst="rect">
            <a:avLst/>
          </a:prstGeom>
          <a:noFill/>
          <a:ln/>
        </p:spPr>
        <p:txBody>
          <a:bodyPr wrap="square" lIns="0" tIns="0" rIns="0" bIns="0" rtlCol="0" anchor="t"/>
          <a:lstStyle/>
          <a:p>
            <a:pPr marL="0" indent="0">
              <a:buNone/>
            </a:pPr>
            <a:r>
              <a:rPr lang="en-US" sz="850" dirty="0">
                <a:solidFill>
                  <a:srgbClr val="4A5560"/>
                </a:solidFill>
                <a:latin typeface="Calibri" pitchFamily="34" charset="0"/>
                <a:ea typeface="Calibri" pitchFamily="34" charset="-122"/>
                <a:cs typeface="Calibri" pitchFamily="34" charset="-120"/>
              </a:rPr>
              <a:t>ainda a pagar</a:t>
            </a:r>
            <a:endParaRPr lang="en-US" sz="850" dirty="0"/>
          </a:p>
        </p:txBody>
      </p:sp>
      <p:sp>
        <p:nvSpPr>
          <p:cNvPr id="42" name="Shape 39"/>
          <p:cNvSpPr/>
          <p:nvPr/>
        </p:nvSpPr>
        <p:spPr>
          <a:xfrm>
            <a:off x="3625596" y="2670048"/>
            <a:ext cx="987552" cy="713232"/>
          </a:xfrm>
          <a:prstGeom prst="rect">
            <a:avLst/>
          </a:prstGeom>
          <a:solidFill>
            <a:srgbClr val="F4F6F8"/>
          </a:solidFill>
          <a:ln/>
        </p:spPr>
        <p:txBody>
          <a:bodyPr/>
          <a:lstStyle/>
          <a:p>
            <a:endParaRPr/>
          </a:p>
        </p:txBody>
      </p:sp>
      <p:sp>
        <p:nvSpPr>
          <p:cNvPr id="43" name="Shape 40"/>
          <p:cNvSpPr/>
          <p:nvPr/>
        </p:nvSpPr>
        <p:spPr>
          <a:xfrm>
            <a:off x="3625596" y="2670048"/>
            <a:ext cx="987552" cy="45720"/>
          </a:xfrm>
          <a:prstGeom prst="rect">
            <a:avLst/>
          </a:prstGeom>
          <a:solidFill>
            <a:srgbClr val="1B3A8C"/>
          </a:solidFill>
          <a:ln/>
        </p:spPr>
        <p:txBody>
          <a:bodyPr/>
          <a:lstStyle/>
          <a:p>
            <a:endParaRPr/>
          </a:p>
        </p:txBody>
      </p:sp>
      <p:sp>
        <p:nvSpPr>
          <p:cNvPr id="44" name="Text 41"/>
          <p:cNvSpPr/>
          <p:nvPr/>
        </p:nvSpPr>
        <p:spPr>
          <a:xfrm>
            <a:off x="3680460" y="2761488"/>
            <a:ext cx="914400" cy="292608"/>
          </a:xfrm>
          <a:prstGeom prst="rect">
            <a:avLst/>
          </a:prstGeom>
          <a:noFill/>
          <a:ln/>
        </p:spPr>
        <p:txBody>
          <a:bodyPr wrap="square" lIns="0" tIns="0" rIns="0" bIns="0" rtlCol="0" anchor="t"/>
          <a:lstStyle/>
          <a:p>
            <a:pPr marL="0" indent="0">
              <a:buNone/>
            </a:pPr>
            <a:r>
              <a:rPr lang="en-US" sz="1300" b="1" dirty="0">
                <a:solidFill>
                  <a:srgbClr val="1B3A8C"/>
                </a:solidFill>
                <a:latin typeface="Calibri" pitchFamily="34" charset="0"/>
                <a:ea typeface="Calibri" pitchFamily="34" charset="-122"/>
                <a:cs typeface="Calibri" pitchFamily="34" charset="-120"/>
              </a:rPr>
              <a:t>R$ 18,2 mil</a:t>
            </a:r>
            <a:endParaRPr lang="en-US" sz="1300" dirty="0"/>
          </a:p>
        </p:txBody>
      </p:sp>
      <p:sp>
        <p:nvSpPr>
          <p:cNvPr id="45" name="Text 42"/>
          <p:cNvSpPr/>
          <p:nvPr/>
        </p:nvSpPr>
        <p:spPr>
          <a:xfrm>
            <a:off x="3680460" y="3054096"/>
            <a:ext cx="914400" cy="292608"/>
          </a:xfrm>
          <a:prstGeom prst="rect">
            <a:avLst/>
          </a:prstGeom>
          <a:noFill/>
          <a:ln/>
        </p:spPr>
        <p:txBody>
          <a:bodyPr wrap="square" lIns="0" tIns="0" rIns="0" bIns="0" rtlCol="0" anchor="t"/>
          <a:lstStyle/>
          <a:p>
            <a:pPr marL="0" indent="0">
              <a:buNone/>
            </a:pPr>
            <a:r>
              <a:rPr lang="en-US" sz="850" dirty="0">
                <a:solidFill>
                  <a:srgbClr val="4A5560"/>
                </a:solidFill>
                <a:latin typeface="Calibri" pitchFamily="34" charset="0"/>
                <a:ea typeface="Calibri" pitchFamily="34" charset="-122"/>
                <a:cs typeface="Calibri" pitchFamily="34" charset="-120"/>
              </a:rPr>
              <a:t>média por fazenda/ano</a:t>
            </a:r>
            <a:endParaRPr lang="en-US" sz="850" dirty="0"/>
          </a:p>
        </p:txBody>
      </p:sp>
      <p:sp>
        <p:nvSpPr>
          <p:cNvPr id="46" name="Text 43"/>
          <p:cNvSpPr/>
          <p:nvPr/>
        </p:nvSpPr>
        <p:spPr>
          <a:xfrm>
            <a:off x="457200" y="3493008"/>
            <a:ext cx="4178808" cy="502920"/>
          </a:xfrm>
          <a:prstGeom prst="rect">
            <a:avLst/>
          </a:prstGeom>
          <a:noFill/>
          <a:ln/>
        </p:spPr>
        <p:txBody>
          <a:bodyPr wrap="square" lIns="0" tIns="0" rIns="0" bIns="0" rtlCol="0" anchor="t"/>
          <a:lstStyle/>
          <a:p>
            <a:pPr marL="0" indent="0">
              <a:buNone/>
            </a:pPr>
            <a:r>
              <a:rPr lang="en-US" sz="900" i="1" dirty="0">
                <a:solidFill>
                  <a:srgbClr val="1B3A8C"/>
                </a:solidFill>
                <a:latin typeface="Calibri" pitchFamily="34" charset="0"/>
                <a:ea typeface="Calibri" pitchFamily="34" charset="-122"/>
                <a:cs typeface="Calibri" pitchFamily="34" charset="-120"/>
              </a:rPr>
              <a:t>A licença média por fazenda supera o resultado que muitos confinamentos pequenos geram para a TN. Por isso a licença de terceiros não escala para esse público.</a:t>
            </a:r>
            <a:endParaRPr lang="en-US" sz="900" dirty="0"/>
          </a:p>
        </p:txBody>
      </p:sp>
      <p:sp>
        <p:nvSpPr>
          <p:cNvPr id="47" name="Shape 44"/>
          <p:cNvSpPr/>
          <p:nvPr/>
        </p:nvSpPr>
        <p:spPr>
          <a:xfrm>
            <a:off x="4937760" y="1078992"/>
            <a:ext cx="3749040" cy="310896"/>
          </a:xfrm>
          <a:prstGeom prst="rect">
            <a:avLst/>
          </a:prstGeom>
          <a:solidFill>
            <a:srgbClr val="1B3A8C"/>
          </a:solidFill>
          <a:ln/>
        </p:spPr>
        <p:txBody>
          <a:bodyPr/>
          <a:lstStyle/>
          <a:p>
            <a:endParaRPr/>
          </a:p>
        </p:txBody>
      </p:sp>
      <p:sp>
        <p:nvSpPr>
          <p:cNvPr id="48" name="Text 45"/>
          <p:cNvSpPr/>
          <p:nvPr/>
        </p:nvSpPr>
        <p:spPr>
          <a:xfrm>
            <a:off x="5029200" y="1078992"/>
            <a:ext cx="3566160" cy="31089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O que muda com o TN Manager Web</a:t>
            </a:r>
            <a:endParaRPr lang="en-US" sz="1050" dirty="0"/>
          </a:p>
        </p:txBody>
      </p:sp>
      <p:sp>
        <p:nvSpPr>
          <p:cNvPr id="49" name="Shape 46"/>
          <p:cNvSpPr/>
          <p:nvPr/>
        </p:nvSpPr>
        <p:spPr>
          <a:xfrm>
            <a:off x="4937760" y="1389888"/>
            <a:ext cx="3749040" cy="987552"/>
          </a:xfrm>
          <a:prstGeom prst="rect">
            <a:avLst/>
          </a:prstGeom>
          <a:solidFill>
            <a:srgbClr val="F4F6F8"/>
          </a:solidFill>
          <a:ln/>
        </p:spPr>
        <p:txBody>
          <a:bodyPr/>
          <a:lstStyle/>
          <a:p>
            <a:endParaRPr/>
          </a:p>
        </p:txBody>
      </p:sp>
      <p:sp>
        <p:nvSpPr>
          <p:cNvPr id="50" name="Text 47"/>
          <p:cNvSpPr/>
          <p:nvPr/>
        </p:nvSpPr>
        <p:spPr>
          <a:xfrm>
            <a:off x="5029200" y="1444752"/>
            <a:ext cx="3584448" cy="914400"/>
          </a:xfrm>
          <a:prstGeom prst="rect">
            <a:avLst/>
          </a:prstGeom>
          <a:noFill/>
          <a:ln/>
        </p:spPr>
        <p:txBody>
          <a:bodyPr wrap="square" lIns="0" tIns="0" rIns="0" bIns="0" rtlCol="0" anchor="t"/>
          <a:lstStyle/>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Novos clientes pequenos e médios, sem automação: TN Manager Web</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Fazendas atuais sem automação podem migrar e deixar de custar de R$ 8 mil a R$ 40 mil por ano em licença</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O projeto se paga quando o custo anual do TN Manager Web ficar abaixo das licenças que substitui (orçamento da Dreamer em nov/2026)</a:t>
            </a:r>
            <a:endParaRPr lang="en-US" sz="900" dirty="0"/>
          </a:p>
        </p:txBody>
      </p:sp>
      <p:sp>
        <p:nvSpPr>
          <p:cNvPr id="51" name="Shape 48"/>
          <p:cNvSpPr/>
          <p:nvPr/>
        </p:nvSpPr>
        <p:spPr>
          <a:xfrm>
            <a:off x="4937760" y="2450592"/>
            <a:ext cx="3749040" cy="566928"/>
          </a:xfrm>
          <a:prstGeom prst="rect">
            <a:avLst/>
          </a:prstGeom>
          <a:solidFill>
            <a:srgbClr val="E3F3F7"/>
          </a:solidFill>
          <a:ln/>
        </p:spPr>
        <p:txBody>
          <a:bodyPr/>
          <a:lstStyle/>
          <a:p>
            <a:endParaRPr/>
          </a:p>
        </p:txBody>
      </p:sp>
      <p:sp>
        <p:nvSpPr>
          <p:cNvPr id="52" name="Shape 49"/>
          <p:cNvSpPr/>
          <p:nvPr/>
        </p:nvSpPr>
        <p:spPr>
          <a:xfrm>
            <a:off x="4937760" y="2450592"/>
            <a:ext cx="54864" cy="566928"/>
          </a:xfrm>
          <a:prstGeom prst="rect">
            <a:avLst/>
          </a:prstGeom>
          <a:solidFill>
            <a:srgbClr val="0096B4"/>
          </a:solidFill>
          <a:ln/>
        </p:spPr>
        <p:txBody>
          <a:bodyPr/>
          <a:lstStyle/>
          <a:p>
            <a:endParaRPr/>
          </a:p>
        </p:txBody>
      </p:sp>
      <p:sp>
        <p:nvSpPr>
          <p:cNvPr id="53" name="Text 50"/>
          <p:cNvSpPr/>
          <p:nvPr/>
        </p:nvSpPr>
        <p:spPr>
          <a:xfrm>
            <a:off x="5074920" y="2450592"/>
            <a:ext cx="3566160" cy="566928"/>
          </a:xfrm>
          <a:prstGeom prst="rect">
            <a:avLst/>
          </a:prstGeom>
          <a:noFill/>
          <a:ln/>
        </p:spPr>
        <p:txBody>
          <a:bodyPr wrap="square" lIns="0" tIns="0" rIns="0" bIns="0" rtlCol="0" anchor="ctr"/>
          <a:lstStyle/>
          <a:p>
            <a:pPr marL="0" indent="0">
              <a:buNone/>
            </a:pPr>
            <a:r>
              <a:rPr lang="en-US" sz="900" b="1" dirty="0">
                <a:solidFill>
                  <a:srgbClr val="26668F"/>
                </a:solidFill>
                <a:latin typeface="Calibri" pitchFamily="34" charset="0"/>
                <a:ea typeface="Calibri" pitchFamily="34" charset="-122"/>
                <a:cs typeface="Calibri" pitchFamily="34" charset="-120"/>
              </a:rPr>
              <a:t>PecCode, parceria consolidada: </a:t>
            </a:r>
            <a:r>
              <a:rPr lang="en-US" sz="900" dirty="0">
                <a:solidFill>
                  <a:srgbClr val="4A5560"/>
                </a:solidFill>
                <a:latin typeface="Calibri" pitchFamily="34" charset="0"/>
                <a:ea typeface="Calibri" pitchFamily="34" charset="-122"/>
                <a:cs typeface="Calibri" pitchFamily="34" charset="-120"/>
              </a:rPr>
              <a:t>clientes maiores que querem automação continuam com a PecCode, que está rodando bem. O TN Manager Automação volta no futuro, em paralelo com a Web.</a:t>
            </a:r>
            <a:endParaRPr lang="en-US" sz="900" dirty="0"/>
          </a:p>
        </p:txBody>
      </p:sp>
      <p:sp>
        <p:nvSpPr>
          <p:cNvPr id="54" name="Shape 51"/>
          <p:cNvSpPr/>
          <p:nvPr/>
        </p:nvSpPr>
        <p:spPr>
          <a:xfrm>
            <a:off x="4937760" y="3090672"/>
            <a:ext cx="3749040" cy="292608"/>
          </a:xfrm>
          <a:prstGeom prst="rect">
            <a:avLst/>
          </a:prstGeom>
          <a:solidFill>
            <a:srgbClr val="C8106E"/>
          </a:solidFill>
          <a:ln/>
        </p:spPr>
        <p:txBody>
          <a:bodyPr/>
          <a:lstStyle/>
          <a:p>
            <a:endParaRPr/>
          </a:p>
        </p:txBody>
      </p:sp>
      <p:sp>
        <p:nvSpPr>
          <p:cNvPr id="55" name="Text 52"/>
          <p:cNvSpPr/>
          <p:nvPr/>
        </p:nvSpPr>
        <p:spPr>
          <a:xfrm>
            <a:off x="5029200" y="3090672"/>
            <a:ext cx="3566160" cy="29260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Cobrança do cliente (proposta)</a:t>
            </a:r>
            <a:endParaRPr lang="en-US" sz="1050" dirty="0"/>
          </a:p>
        </p:txBody>
      </p:sp>
      <p:sp>
        <p:nvSpPr>
          <p:cNvPr id="56" name="Shape 53"/>
          <p:cNvSpPr/>
          <p:nvPr/>
        </p:nvSpPr>
        <p:spPr>
          <a:xfrm>
            <a:off x="4937760" y="3383280"/>
            <a:ext cx="3749040" cy="932688"/>
          </a:xfrm>
          <a:prstGeom prst="rect">
            <a:avLst/>
          </a:prstGeom>
          <a:solidFill>
            <a:srgbClr val="FBE7F1"/>
          </a:solidFill>
          <a:ln/>
        </p:spPr>
        <p:txBody>
          <a:bodyPr/>
          <a:lstStyle/>
          <a:p>
            <a:endParaRPr/>
          </a:p>
        </p:txBody>
      </p:sp>
      <p:sp>
        <p:nvSpPr>
          <p:cNvPr id="57" name="Text 54"/>
          <p:cNvSpPr/>
          <p:nvPr/>
        </p:nvSpPr>
        <p:spPr>
          <a:xfrm>
            <a:off x="5029200" y="3429000"/>
            <a:ext cx="3584448" cy="868680"/>
          </a:xfrm>
          <a:prstGeom prst="rect">
            <a:avLst/>
          </a:prstGeom>
          <a:noFill/>
          <a:ln/>
        </p:spPr>
        <p:txBody>
          <a:bodyPr wrap="square" lIns="0" tIns="0" rIns="0" bIns="0" rtlCol="0" anchor="t"/>
          <a:lstStyle/>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Sem licença para o cliente</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Custo embutido no pacote de nutrição e serviço técnico, como previsto na v1.0</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Quem não compra nutrição TN: mensalidade de serviço técnico</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Modelo final na etapa de monetização (jan/2027)</a:t>
            </a:r>
            <a:endParaRPr lang="en-US" sz="900" dirty="0"/>
          </a:p>
        </p:txBody>
      </p:sp>
      <p:sp>
        <p:nvSpPr>
          <p:cNvPr id="58" name="TextBox 57"/>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5  ·  COMO CRESCEMOS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Análise SWOT: TN Manager Web</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Atualizada da v1.0 (2023) para a v2.0. Itens marcados em magenta são novos na v2.0.</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21</a:t>
            </a:r>
            <a:endParaRPr lang="en-US" sz="900" dirty="0"/>
          </a:p>
        </p:txBody>
      </p:sp>
      <p:sp>
        <p:nvSpPr>
          <p:cNvPr id="6" name="Shape 3"/>
          <p:cNvSpPr/>
          <p:nvPr/>
        </p:nvSpPr>
        <p:spPr>
          <a:xfrm>
            <a:off x="457200" y="1097280"/>
            <a:ext cx="4069080" cy="1554480"/>
          </a:xfrm>
          <a:prstGeom prst="rect">
            <a:avLst/>
          </a:prstGeom>
          <a:solidFill>
            <a:srgbClr val="F4F6F8"/>
          </a:solidFill>
          <a:ln/>
        </p:spPr>
        <p:txBody>
          <a:bodyPr/>
          <a:p/>
        </p:txBody>
      </p:sp>
      <p:sp>
        <p:nvSpPr>
          <p:cNvPr id="7" name="Shape 4"/>
          <p:cNvSpPr/>
          <p:nvPr/>
        </p:nvSpPr>
        <p:spPr>
          <a:xfrm>
            <a:off x="457200" y="1097280"/>
            <a:ext cx="54864" cy="1554480"/>
          </a:xfrm>
          <a:prstGeom prst="rect">
            <a:avLst/>
          </a:prstGeom>
          <a:solidFill>
            <a:srgbClr val="1B3A8C"/>
          </a:solidFill>
          <a:ln/>
        </p:spPr>
        <p:txBody>
          <a:bodyPr/>
          <a:p/>
        </p:txBody>
      </p:sp>
      <p:sp>
        <p:nvSpPr>
          <p:cNvPr id="8" name="Shape 5"/>
          <p:cNvSpPr/>
          <p:nvPr/>
        </p:nvSpPr>
        <p:spPr>
          <a:xfrm>
            <a:off x="594360" y="1188720"/>
            <a:ext cx="329184" cy="329184"/>
          </a:xfrm>
          <a:prstGeom prst="ellipse">
            <a:avLst/>
          </a:prstGeom>
          <a:solidFill>
            <a:srgbClr val="1B3A8C"/>
          </a:solidFill>
          <a:ln/>
        </p:spPr>
        <p:txBody>
          <a:bodyPr/>
          <a:p/>
        </p:txBody>
      </p:sp>
      <p:sp>
        <p:nvSpPr>
          <p:cNvPr id="9" name="Text 6"/>
          <p:cNvSpPr/>
          <p:nvPr/>
        </p:nvSpPr>
        <p:spPr>
          <a:xfrm>
            <a:off x="594360" y="11887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t>
            </a:r>
            <a:endParaRPr lang="en-US" sz="1300" dirty="0"/>
          </a:p>
        </p:txBody>
      </p:sp>
      <p:sp>
        <p:nvSpPr>
          <p:cNvPr id="10" name="Text 7"/>
          <p:cNvSpPr/>
          <p:nvPr/>
        </p:nvSpPr>
        <p:spPr>
          <a:xfrm>
            <a:off x="1005840" y="1207008"/>
            <a:ext cx="2743200" cy="292608"/>
          </a:xfrm>
          <a:prstGeom prst="rect">
            <a:avLst/>
          </a:prstGeom>
          <a:noFill/>
          <a:ln/>
        </p:spPr>
        <p:txBody>
          <a:bodyPr wrap="square" lIns="0" tIns="0" rIns="0" bIns="0" rtlCol="0" anchor="ctr"/>
          <a:lstStyle/>
          <a:p>
            <a:pPr indent="0" marL="0">
              <a:buNone/>
            </a:pPr>
            <a:r>
              <a:rPr lang="en-US" sz="1250" b="1" dirty="0">
                <a:solidFill>
                  <a:srgbClr val="1B3A8C"/>
                </a:solidFill>
                <a:latin typeface="Calibri" pitchFamily="34" charset="0"/>
                <a:ea typeface="Calibri" pitchFamily="34" charset="-122"/>
                <a:cs typeface="Calibri" pitchFamily="34" charset="-120"/>
              </a:rPr>
              <a:t>Forças</a:t>
            </a:r>
            <a:endParaRPr lang="en-US" sz="1250" dirty="0"/>
          </a:p>
        </p:txBody>
      </p:sp>
      <p:sp>
        <p:nvSpPr>
          <p:cNvPr id="11" name="Text 8"/>
          <p:cNvSpPr/>
          <p:nvPr/>
        </p:nvSpPr>
        <p:spPr>
          <a:xfrm>
            <a:off x="621792" y="1572768"/>
            <a:ext cx="3794760" cy="1042416"/>
          </a:xfrm>
          <a:prstGeom prst="rect">
            <a:avLst/>
          </a:prstGeom>
          <a:noFill/>
          <a:ln/>
        </p:spPr>
        <p:txBody>
          <a:bodyPr wrap="square" lIns="0" tIns="0" rIns="0" bIns="0" rtlCol="0" anchor="t"/>
          <a:lstStyle/>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Ganho de tempo: relatório pronto toda semana, sem planilha</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Benchmarking e comunidade (Grupo de Desenvolvimento)</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Dados próprios, sem depender de fornecedor</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Sem custo de licença para o cliente</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Marca forte, produtos premium e equipe técnica</a:t>
            </a:r>
            <a:endParaRPr lang="en-US" sz="900" dirty="0"/>
          </a:p>
        </p:txBody>
      </p:sp>
      <p:sp>
        <p:nvSpPr>
          <p:cNvPr id="12" name="Shape 9"/>
          <p:cNvSpPr/>
          <p:nvPr/>
        </p:nvSpPr>
        <p:spPr>
          <a:xfrm>
            <a:off x="4617720" y="1097280"/>
            <a:ext cx="4069080" cy="1554480"/>
          </a:xfrm>
          <a:prstGeom prst="rect">
            <a:avLst/>
          </a:prstGeom>
          <a:solidFill>
            <a:srgbClr val="F4F6F8"/>
          </a:solidFill>
          <a:ln/>
        </p:spPr>
        <p:txBody>
          <a:bodyPr/>
          <a:p/>
        </p:txBody>
      </p:sp>
      <p:sp>
        <p:nvSpPr>
          <p:cNvPr id="13" name="Shape 10"/>
          <p:cNvSpPr/>
          <p:nvPr/>
        </p:nvSpPr>
        <p:spPr>
          <a:xfrm>
            <a:off x="4617720" y="1097280"/>
            <a:ext cx="54864" cy="1554480"/>
          </a:xfrm>
          <a:prstGeom prst="rect">
            <a:avLst/>
          </a:prstGeom>
          <a:solidFill>
            <a:srgbClr val="7A858F"/>
          </a:solidFill>
          <a:ln/>
        </p:spPr>
        <p:txBody>
          <a:bodyPr/>
          <a:p/>
        </p:txBody>
      </p:sp>
      <p:sp>
        <p:nvSpPr>
          <p:cNvPr id="14" name="Shape 11"/>
          <p:cNvSpPr/>
          <p:nvPr/>
        </p:nvSpPr>
        <p:spPr>
          <a:xfrm>
            <a:off x="4754880" y="1188720"/>
            <a:ext cx="329184" cy="329184"/>
          </a:xfrm>
          <a:prstGeom prst="ellipse">
            <a:avLst/>
          </a:prstGeom>
          <a:solidFill>
            <a:srgbClr val="7A858F"/>
          </a:solidFill>
          <a:ln/>
        </p:spPr>
        <p:txBody>
          <a:bodyPr/>
          <a:p/>
        </p:txBody>
      </p:sp>
      <p:sp>
        <p:nvSpPr>
          <p:cNvPr id="15" name="Text 12"/>
          <p:cNvSpPr/>
          <p:nvPr/>
        </p:nvSpPr>
        <p:spPr>
          <a:xfrm>
            <a:off x="4754880" y="11887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t>
            </a:r>
            <a:endParaRPr lang="en-US" sz="1300" dirty="0"/>
          </a:p>
        </p:txBody>
      </p:sp>
      <p:sp>
        <p:nvSpPr>
          <p:cNvPr id="16" name="Text 13"/>
          <p:cNvSpPr/>
          <p:nvPr/>
        </p:nvSpPr>
        <p:spPr>
          <a:xfrm>
            <a:off x="5166360" y="1207008"/>
            <a:ext cx="2743200" cy="292608"/>
          </a:xfrm>
          <a:prstGeom prst="rect">
            <a:avLst/>
          </a:prstGeom>
          <a:noFill/>
          <a:ln/>
        </p:spPr>
        <p:txBody>
          <a:bodyPr wrap="square" lIns="0" tIns="0" rIns="0" bIns="0" rtlCol="0" anchor="ctr"/>
          <a:lstStyle/>
          <a:p>
            <a:pPr indent="0" marL="0">
              <a:buNone/>
            </a:pPr>
            <a:r>
              <a:rPr lang="en-US" sz="1250" b="1" dirty="0">
                <a:solidFill>
                  <a:srgbClr val="7A858F"/>
                </a:solidFill>
                <a:latin typeface="Calibri" pitchFamily="34" charset="0"/>
                <a:ea typeface="Calibri" pitchFamily="34" charset="-122"/>
                <a:cs typeface="Calibri" pitchFamily="34" charset="-120"/>
              </a:rPr>
              <a:t>Fraquezas</a:t>
            </a:r>
            <a:endParaRPr lang="en-US" sz="1250" dirty="0"/>
          </a:p>
        </p:txBody>
      </p:sp>
      <p:sp>
        <p:nvSpPr>
          <p:cNvPr id="17" name="Text 14"/>
          <p:cNvSpPr/>
          <p:nvPr/>
        </p:nvSpPr>
        <p:spPr>
          <a:xfrm>
            <a:off x="4782312" y="1572768"/>
            <a:ext cx="3794760" cy="1042416"/>
          </a:xfrm>
          <a:prstGeom prst="rect">
            <a:avLst/>
          </a:prstGeom>
          <a:noFill/>
          <a:ln/>
        </p:spPr>
        <p:txBody>
          <a:bodyPr wrap="square" lIns="0" tIns="0" rIns="0" bIns="0" rtlCol="0" anchor="t"/>
          <a:lstStyle/>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Depende da disciplina de lançamento manual</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Time de análise pequeno no início (só Rodrigo)</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Ainda sem casos de sucesso próprios</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Modelo de cobrança ainda a definir</a:t>
            </a:r>
            <a:endParaRPr lang="en-US" sz="900" dirty="0"/>
          </a:p>
        </p:txBody>
      </p:sp>
      <p:sp>
        <p:nvSpPr>
          <p:cNvPr id="18" name="Shape 15"/>
          <p:cNvSpPr/>
          <p:nvPr/>
        </p:nvSpPr>
        <p:spPr>
          <a:xfrm>
            <a:off x="457200" y="2743200"/>
            <a:ext cx="4069080" cy="1554480"/>
          </a:xfrm>
          <a:prstGeom prst="rect">
            <a:avLst/>
          </a:prstGeom>
          <a:solidFill>
            <a:srgbClr val="F4F6F8"/>
          </a:solidFill>
          <a:ln/>
        </p:spPr>
        <p:txBody>
          <a:bodyPr/>
          <a:p/>
        </p:txBody>
      </p:sp>
      <p:sp>
        <p:nvSpPr>
          <p:cNvPr id="19" name="Shape 16"/>
          <p:cNvSpPr/>
          <p:nvPr/>
        </p:nvSpPr>
        <p:spPr>
          <a:xfrm>
            <a:off x="457200" y="2743200"/>
            <a:ext cx="54864" cy="1554480"/>
          </a:xfrm>
          <a:prstGeom prst="rect">
            <a:avLst/>
          </a:prstGeom>
          <a:solidFill>
            <a:srgbClr val="26668F"/>
          </a:solidFill>
          <a:ln/>
        </p:spPr>
        <p:txBody>
          <a:bodyPr/>
          <a:p/>
        </p:txBody>
      </p:sp>
      <p:sp>
        <p:nvSpPr>
          <p:cNvPr id="20" name="Shape 17"/>
          <p:cNvSpPr/>
          <p:nvPr/>
        </p:nvSpPr>
        <p:spPr>
          <a:xfrm>
            <a:off x="594360" y="2834640"/>
            <a:ext cx="329184" cy="329184"/>
          </a:xfrm>
          <a:prstGeom prst="ellipse">
            <a:avLst/>
          </a:prstGeom>
          <a:solidFill>
            <a:srgbClr val="26668F"/>
          </a:solidFill>
          <a:ln/>
        </p:spPr>
        <p:txBody>
          <a:bodyPr/>
          <a:p/>
        </p:txBody>
      </p:sp>
      <p:sp>
        <p:nvSpPr>
          <p:cNvPr id="21" name="Text 18"/>
          <p:cNvSpPr/>
          <p:nvPr/>
        </p:nvSpPr>
        <p:spPr>
          <a:xfrm>
            <a:off x="594360" y="28346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a:t>
            </a:r>
            <a:endParaRPr lang="en-US" sz="1300" dirty="0"/>
          </a:p>
        </p:txBody>
      </p:sp>
      <p:sp>
        <p:nvSpPr>
          <p:cNvPr id="22" name="Text 19"/>
          <p:cNvSpPr/>
          <p:nvPr/>
        </p:nvSpPr>
        <p:spPr>
          <a:xfrm>
            <a:off x="1005840" y="2852928"/>
            <a:ext cx="2743200" cy="292608"/>
          </a:xfrm>
          <a:prstGeom prst="rect">
            <a:avLst/>
          </a:prstGeom>
          <a:noFill/>
          <a:ln/>
        </p:spPr>
        <p:txBody>
          <a:bodyPr wrap="square" lIns="0" tIns="0" rIns="0" bIns="0" rtlCol="0" anchor="ctr"/>
          <a:lstStyle/>
          <a:p>
            <a:pPr indent="0" marL="0">
              <a:buNone/>
            </a:pPr>
            <a:r>
              <a:rPr lang="en-US" sz="1250" b="1" dirty="0">
                <a:solidFill>
                  <a:srgbClr val="26668F"/>
                </a:solidFill>
                <a:latin typeface="Calibri" pitchFamily="34" charset="0"/>
                <a:ea typeface="Calibri" pitchFamily="34" charset="-122"/>
                <a:cs typeface="Calibri" pitchFamily="34" charset="-120"/>
              </a:rPr>
              <a:t>Oportunidades</a:t>
            </a:r>
            <a:endParaRPr lang="en-US" sz="1250" dirty="0"/>
          </a:p>
        </p:txBody>
      </p:sp>
      <p:sp>
        <p:nvSpPr>
          <p:cNvPr id="23" name="Text 20"/>
          <p:cNvSpPr/>
          <p:nvPr/>
        </p:nvSpPr>
        <p:spPr>
          <a:xfrm>
            <a:off x="621792" y="3218688"/>
            <a:ext cx="3794760" cy="1042416"/>
          </a:xfrm>
          <a:prstGeom prst="rect">
            <a:avLst/>
          </a:prstGeom>
          <a:noFill/>
          <a:ln/>
        </p:spPr>
        <p:txBody>
          <a:bodyPr wrap="square" lIns="0" tIns="0" rIns="0" bIns="0" rtlCol="0" anchor="t"/>
          <a:lstStyle/>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11.194 confinamentos de até 1.500 cabeças (Bússola Farm), pouco atendidos</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Reduzir licenças nas fazendas sem automação</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Recuperar ex-clientes e abrir não clientes</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Recomendação nutricional baseada em dados</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Nova geração na sucessão quer dados e gestão empresarial</a:t>
            </a:r>
            <a:endParaRPr lang="en-US" sz="900" dirty="0"/>
          </a:p>
        </p:txBody>
      </p:sp>
      <p:sp>
        <p:nvSpPr>
          <p:cNvPr id="24" name="Shape 21"/>
          <p:cNvSpPr/>
          <p:nvPr/>
        </p:nvSpPr>
        <p:spPr>
          <a:xfrm>
            <a:off x="4617720" y="2743200"/>
            <a:ext cx="4069080" cy="1554480"/>
          </a:xfrm>
          <a:prstGeom prst="rect">
            <a:avLst/>
          </a:prstGeom>
          <a:solidFill>
            <a:srgbClr val="F4F6F8"/>
          </a:solidFill>
          <a:ln/>
        </p:spPr>
        <p:txBody>
          <a:bodyPr/>
          <a:p/>
        </p:txBody>
      </p:sp>
      <p:sp>
        <p:nvSpPr>
          <p:cNvPr id="25" name="Shape 22"/>
          <p:cNvSpPr/>
          <p:nvPr/>
        </p:nvSpPr>
        <p:spPr>
          <a:xfrm>
            <a:off x="4617720" y="2743200"/>
            <a:ext cx="54864" cy="1554480"/>
          </a:xfrm>
          <a:prstGeom prst="rect">
            <a:avLst/>
          </a:prstGeom>
          <a:solidFill>
            <a:srgbClr val="C8106E"/>
          </a:solidFill>
          <a:ln/>
        </p:spPr>
        <p:txBody>
          <a:bodyPr/>
          <a:p/>
        </p:txBody>
      </p:sp>
      <p:sp>
        <p:nvSpPr>
          <p:cNvPr id="26" name="Shape 23"/>
          <p:cNvSpPr/>
          <p:nvPr/>
        </p:nvSpPr>
        <p:spPr>
          <a:xfrm>
            <a:off x="4754880" y="2834640"/>
            <a:ext cx="329184" cy="329184"/>
          </a:xfrm>
          <a:prstGeom prst="ellipse">
            <a:avLst/>
          </a:prstGeom>
          <a:solidFill>
            <a:srgbClr val="C8106E"/>
          </a:solidFill>
          <a:ln/>
        </p:spPr>
        <p:txBody>
          <a:bodyPr/>
          <a:p/>
        </p:txBody>
      </p:sp>
      <p:sp>
        <p:nvSpPr>
          <p:cNvPr id="27" name="Text 24"/>
          <p:cNvSpPr/>
          <p:nvPr/>
        </p:nvSpPr>
        <p:spPr>
          <a:xfrm>
            <a:off x="4754880" y="28346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28" name="Text 25"/>
          <p:cNvSpPr/>
          <p:nvPr/>
        </p:nvSpPr>
        <p:spPr>
          <a:xfrm>
            <a:off x="5166360" y="2852928"/>
            <a:ext cx="2743200" cy="292608"/>
          </a:xfrm>
          <a:prstGeom prst="rect">
            <a:avLst/>
          </a:prstGeom>
          <a:noFill/>
          <a:ln/>
        </p:spPr>
        <p:txBody>
          <a:bodyPr wrap="square" lIns="0" tIns="0" rIns="0" bIns="0" rtlCol="0" anchor="ctr"/>
          <a:lstStyle/>
          <a:p>
            <a:pPr indent="0" marL="0">
              <a:buNone/>
            </a:pPr>
            <a:r>
              <a:rPr lang="en-US" sz="1250" b="1" dirty="0">
                <a:solidFill>
                  <a:srgbClr val="C8106E"/>
                </a:solidFill>
                <a:latin typeface="Calibri" pitchFamily="34" charset="0"/>
                <a:ea typeface="Calibri" pitchFamily="34" charset="-122"/>
                <a:cs typeface="Calibri" pitchFamily="34" charset="-120"/>
              </a:rPr>
              <a:t>Ameaças</a:t>
            </a:r>
            <a:endParaRPr lang="en-US" sz="1250" dirty="0"/>
          </a:p>
        </p:txBody>
      </p:sp>
      <p:sp>
        <p:nvSpPr>
          <p:cNvPr id="29" name="Text 26"/>
          <p:cNvSpPr/>
          <p:nvPr/>
        </p:nvSpPr>
        <p:spPr>
          <a:xfrm>
            <a:off x="4782312" y="3218688"/>
            <a:ext cx="3794760" cy="1042416"/>
          </a:xfrm>
          <a:prstGeom prst="rect">
            <a:avLst/>
          </a:prstGeom>
          <a:noFill/>
          <a:ln/>
        </p:spPr>
        <p:txBody>
          <a:bodyPr wrap="square" lIns="0" tIns="0" rIns="0" bIns="0" rtlCol="0" anchor="t"/>
          <a:lstStyle/>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Cargill e DSM já vendem ferramenta junto da nutrição</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DSM já tem versão simples para pequenos (FarmTell Beef Smart)</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Baixa adesão ao lançamento manual</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Dependência da software house</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Não conseguir embutir o custo no preço do produto</a:t>
            </a:r>
            <a:endParaRPr lang="en-US" sz="900" dirty="0"/>
          </a:p>
        </p:txBody>
      </p:sp>
      <p:sp>
        <p:nvSpPr>
          <p:cNvPr id="30" name="TextBox 29"/>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5  ·  COMO CRESCEMOS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Go-to-market: começar com 20 fazendas e escalar com analistas</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O Rodrigo valida o modelo de atendimento antes de contratar. O gatilho para crescer é resultado, não data.</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22</a:t>
            </a:r>
            <a:endParaRPr lang="en-US" sz="900" dirty="0"/>
          </a:p>
        </p:txBody>
      </p:sp>
      <p:sp>
        <p:nvSpPr>
          <p:cNvPr id="6" name="Shape 3"/>
          <p:cNvSpPr/>
          <p:nvPr/>
        </p:nvSpPr>
        <p:spPr>
          <a:xfrm>
            <a:off x="457200" y="1115568"/>
            <a:ext cx="2606040" cy="1463040"/>
          </a:xfrm>
          <a:prstGeom prst="rect">
            <a:avLst/>
          </a:prstGeom>
          <a:solidFill>
            <a:srgbClr val="F4F6F8"/>
          </a:solidFill>
          <a:ln/>
        </p:spPr>
        <p:txBody>
          <a:bodyPr/>
          <a:p/>
        </p:txBody>
      </p:sp>
      <p:sp>
        <p:nvSpPr>
          <p:cNvPr id="7" name="Shape 4"/>
          <p:cNvSpPr/>
          <p:nvPr/>
        </p:nvSpPr>
        <p:spPr>
          <a:xfrm>
            <a:off x="457200" y="1115568"/>
            <a:ext cx="2606040" cy="54864"/>
          </a:xfrm>
          <a:prstGeom prst="rect">
            <a:avLst/>
          </a:prstGeom>
          <a:solidFill>
            <a:srgbClr val="26668F"/>
          </a:solidFill>
          <a:ln/>
        </p:spPr>
        <p:txBody>
          <a:bodyPr/>
          <a:p/>
        </p:txBody>
      </p:sp>
      <p:sp>
        <p:nvSpPr>
          <p:cNvPr id="8" name="Text 5"/>
          <p:cNvSpPr/>
          <p:nvPr/>
        </p:nvSpPr>
        <p:spPr>
          <a:xfrm>
            <a:off x="585216" y="1243584"/>
            <a:ext cx="2423160" cy="182880"/>
          </a:xfrm>
          <a:prstGeom prst="rect">
            <a:avLst/>
          </a:prstGeom>
          <a:noFill/>
          <a:ln/>
        </p:spPr>
        <p:txBody>
          <a:bodyPr wrap="square" lIns="0" tIns="0" rIns="0" bIns="0" rtlCol="0" anchor="t"/>
          <a:lstStyle/>
          <a:p>
            <a:pPr indent="0" marL="0">
              <a:buNone/>
            </a:pPr>
            <a:r>
              <a:rPr lang="en-US" sz="850" b="1" spc="150" kern="0" dirty="0">
                <a:solidFill>
                  <a:srgbClr val="26668F"/>
                </a:solidFill>
                <a:latin typeface="Calibri" pitchFamily="34" charset="0"/>
                <a:ea typeface="Calibri" pitchFamily="34" charset="-122"/>
                <a:cs typeface="Calibri" pitchFamily="34" charset="-120"/>
              </a:rPr>
              <a:t>MESES 1 E 2</a:t>
            </a:r>
            <a:endParaRPr lang="en-US" sz="850" dirty="0"/>
          </a:p>
        </p:txBody>
      </p:sp>
      <p:sp>
        <p:nvSpPr>
          <p:cNvPr id="9" name="Text 6"/>
          <p:cNvSpPr/>
          <p:nvPr/>
        </p:nvSpPr>
        <p:spPr>
          <a:xfrm>
            <a:off x="585216" y="1426464"/>
            <a:ext cx="2423160" cy="274320"/>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Piloto</a:t>
            </a:r>
            <a:endParaRPr lang="en-US" sz="1400" dirty="0"/>
          </a:p>
        </p:txBody>
      </p:sp>
      <p:sp>
        <p:nvSpPr>
          <p:cNvPr id="10" name="Shape 7"/>
          <p:cNvSpPr/>
          <p:nvPr/>
        </p:nvSpPr>
        <p:spPr>
          <a:xfrm>
            <a:off x="585216" y="1737360"/>
            <a:ext cx="1600200" cy="219456"/>
          </a:xfrm>
          <a:prstGeom prst="roundRect">
            <a:avLst>
              <a:gd name="adj" fmla="val 50000"/>
            </a:avLst>
          </a:prstGeom>
          <a:solidFill>
            <a:srgbClr val="26668F"/>
          </a:solidFill>
          <a:ln/>
        </p:spPr>
        <p:txBody>
          <a:bodyPr/>
          <a:p/>
        </p:txBody>
      </p:sp>
      <p:sp>
        <p:nvSpPr>
          <p:cNvPr id="11" name="Text 8"/>
          <p:cNvSpPr/>
          <p:nvPr/>
        </p:nvSpPr>
        <p:spPr>
          <a:xfrm>
            <a:off x="585216" y="1737360"/>
            <a:ext cx="160020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 a 5 fazendas</a:t>
            </a:r>
            <a:endParaRPr lang="en-US" sz="900" dirty="0"/>
          </a:p>
        </p:txBody>
      </p:sp>
      <p:sp>
        <p:nvSpPr>
          <p:cNvPr id="12" name="Text 9"/>
          <p:cNvSpPr/>
          <p:nvPr/>
        </p:nvSpPr>
        <p:spPr>
          <a:xfrm>
            <a:off x="585216" y="2029968"/>
            <a:ext cx="2368296" cy="512064"/>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Rodrigo e técnico de campo acompanham de perto; ajustes rápidos no produto com a Dreamer</a:t>
            </a:r>
            <a:endParaRPr lang="en-US" sz="900" dirty="0"/>
          </a:p>
        </p:txBody>
      </p:sp>
      <p:pic>
        <p:nvPicPr>
          <p:cNvPr id="13" name="Image 1" descr="preencoded.png">    </p:cNvPr>
          <p:cNvPicPr>
            <a:picLocks noChangeAspect="1"/>
          </p:cNvPicPr>
          <p:nvPr/>
        </p:nvPicPr>
        <p:blipFill>
          <a:blip r:embed="rId3"/>
          <a:stretch>
            <a:fillRect/>
          </a:stretch>
        </p:blipFill>
        <p:spPr>
          <a:xfrm>
            <a:off x="3090672" y="1755648"/>
            <a:ext cx="164592" cy="164592"/>
          </a:xfrm>
          <a:prstGeom prst="rect">
            <a:avLst/>
          </a:prstGeom>
        </p:spPr>
      </p:pic>
      <p:sp>
        <p:nvSpPr>
          <p:cNvPr id="14" name="Shape 10"/>
          <p:cNvSpPr/>
          <p:nvPr/>
        </p:nvSpPr>
        <p:spPr>
          <a:xfrm>
            <a:off x="3273552" y="1115568"/>
            <a:ext cx="2606040" cy="1463040"/>
          </a:xfrm>
          <a:prstGeom prst="rect">
            <a:avLst/>
          </a:prstGeom>
          <a:solidFill>
            <a:srgbClr val="F4F6F8"/>
          </a:solidFill>
          <a:ln/>
        </p:spPr>
        <p:txBody>
          <a:bodyPr/>
          <a:p/>
        </p:txBody>
      </p:sp>
      <p:sp>
        <p:nvSpPr>
          <p:cNvPr id="15" name="Shape 11"/>
          <p:cNvSpPr/>
          <p:nvPr/>
        </p:nvSpPr>
        <p:spPr>
          <a:xfrm>
            <a:off x="3273552" y="1115568"/>
            <a:ext cx="2606040" cy="54864"/>
          </a:xfrm>
          <a:prstGeom prst="rect">
            <a:avLst/>
          </a:prstGeom>
          <a:solidFill>
            <a:srgbClr val="1B3A8C"/>
          </a:solidFill>
          <a:ln/>
        </p:spPr>
        <p:txBody>
          <a:bodyPr/>
          <a:p/>
        </p:txBody>
      </p:sp>
      <p:sp>
        <p:nvSpPr>
          <p:cNvPr id="16" name="Text 12"/>
          <p:cNvSpPr/>
          <p:nvPr/>
        </p:nvSpPr>
        <p:spPr>
          <a:xfrm>
            <a:off x="3401568" y="1243584"/>
            <a:ext cx="2423160" cy="182880"/>
          </a:xfrm>
          <a:prstGeom prst="rect">
            <a:avLst/>
          </a:prstGeom>
          <a:noFill/>
          <a:ln/>
        </p:spPr>
        <p:txBody>
          <a:bodyPr wrap="square" lIns="0" tIns="0" rIns="0" bIns="0" rtlCol="0" anchor="t"/>
          <a:lstStyle/>
          <a:p>
            <a:pPr indent="0" marL="0">
              <a:buNone/>
            </a:pPr>
            <a:r>
              <a:rPr lang="en-US" sz="850" b="1" spc="150" kern="0" dirty="0">
                <a:solidFill>
                  <a:srgbClr val="1B3A8C"/>
                </a:solidFill>
                <a:latin typeface="Calibri" pitchFamily="34" charset="0"/>
                <a:ea typeface="Calibri" pitchFamily="34" charset="-122"/>
                <a:cs typeface="Calibri" pitchFamily="34" charset="-120"/>
              </a:rPr>
              <a:t>MESES 3 A 6</a:t>
            </a:r>
            <a:endParaRPr lang="en-US" sz="850" dirty="0"/>
          </a:p>
        </p:txBody>
      </p:sp>
      <p:sp>
        <p:nvSpPr>
          <p:cNvPr id="17" name="Text 13"/>
          <p:cNvSpPr/>
          <p:nvPr/>
        </p:nvSpPr>
        <p:spPr>
          <a:xfrm>
            <a:off x="3401568" y="1426464"/>
            <a:ext cx="2423160" cy="274320"/>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Rodrigo analisa</a:t>
            </a:r>
            <a:endParaRPr lang="en-US" sz="1400" dirty="0"/>
          </a:p>
        </p:txBody>
      </p:sp>
      <p:sp>
        <p:nvSpPr>
          <p:cNvPr id="18" name="Shape 14"/>
          <p:cNvSpPr/>
          <p:nvPr/>
        </p:nvSpPr>
        <p:spPr>
          <a:xfrm>
            <a:off x="3401568" y="1737360"/>
            <a:ext cx="1600200" cy="219456"/>
          </a:xfrm>
          <a:prstGeom prst="roundRect">
            <a:avLst>
              <a:gd name="adj" fmla="val 50000"/>
            </a:avLst>
          </a:prstGeom>
          <a:solidFill>
            <a:srgbClr val="1B3A8C"/>
          </a:solidFill>
          <a:ln/>
        </p:spPr>
        <p:txBody>
          <a:bodyPr/>
          <a:p/>
        </p:txBody>
      </p:sp>
      <p:sp>
        <p:nvSpPr>
          <p:cNvPr id="19" name="Text 15"/>
          <p:cNvSpPr/>
          <p:nvPr/>
        </p:nvSpPr>
        <p:spPr>
          <a:xfrm>
            <a:off x="3401568" y="1737360"/>
            <a:ext cx="160020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até 20 fazendas</a:t>
            </a:r>
            <a:endParaRPr lang="en-US" sz="900" dirty="0"/>
          </a:p>
        </p:txBody>
      </p:sp>
      <p:sp>
        <p:nvSpPr>
          <p:cNvPr id="20" name="Text 16"/>
          <p:cNvSpPr/>
          <p:nvPr/>
        </p:nvSpPr>
        <p:spPr>
          <a:xfrm>
            <a:off x="3401568" y="2029968"/>
            <a:ext cx="2368296" cy="512064"/>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Análise semanal remota, relatório comentado e auditoria mensal de dados e rotina</a:t>
            </a:r>
            <a:endParaRPr lang="en-US" sz="900" dirty="0"/>
          </a:p>
        </p:txBody>
      </p:sp>
      <p:pic>
        <p:nvPicPr>
          <p:cNvPr id="21" name="Image 2" descr="preencoded.png">    </p:cNvPr>
          <p:cNvPicPr>
            <a:picLocks noChangeAspect="1"/>
          </p:cNvPicPr>
          <p:nvPr/>
        </p:nvPicPr>
        <p:blipFill>
          <a:blip r:embed="rId3"/>
          <a:stretch>
            <a:fillRect/>
          </a:stretch>
        </p:blipFill>
        <p:spPr>
          <a:xfrm>
            <a:off x="5907024" y="1755648"/>
            <a:ext cx="164592" cy="164592"/>
          </a:xfrm>
          <a:prstGeom prst="rect">
            <a:avLst/>
          </a:prstGeom>
        </p:spPr>
      </p:pic>
      <p:sp>
        <p:nvSpPr>
          <p:cNvPr id="22" name="Shape 17"/>
          <p:cNvSpPr/>
          <p:nvPr/>
        </p:nvSpPr>
        <p:spPr>
          <a:xfrm>
            <a:off x="6089904" y="1115568"/>
            <a:ext cx="2606040" cy="1463040"/>
          </a:xfrm>
          <a:prstGeom prst="rect">
            <a:avLst/>
          </a:prstGeom>
          <a:solidFill>
            <a:srgbClr val="F4F6F8"/>
          </a:solidFill>
          <a:ln/>
        </p:spPr>
        <p:txBody>
          <a:bodyPr/>
          <a:p/>
        </p:txBody>
      </p:sp>
      <p:sp>
        <p:nvSpPr>
          <p:cNvPr id="23" name="Shape 18"/>
          <p:cNvSpPr/>
          <p:nvPr/>
        </p:nvSpPr>
        <p:spPr>
          <a:xfrm>
            <a:off x="6089904" y="1115568"/>
            <a:ext cx="2606040" cy="54864"/>
          </a:xfrm>
          <a:prstGeom prst="rect">
            <a:avLst/>
          </a:prstGeom>
          <a:solidFill>
            <a:srgbClr val="C8106E"/>
          </a:solidFill>
          <a:ln/>
        </p:spPr>
        <p:txBody>
          <a:bodyPr/>
          <a:p/>
        </p:txBody>
      </p:sp>
      <p:sp>
        <p:nvSpPr>
          <p:cNvPr id="24" name="Text 19"/>
          <p:cNvSpPr/>
          <p:nvPr/>
        </p:nvSpPr>
        <p:spPr>
          <a:xfrm>
            <a:off x="6217920" y="1243584"/>
            <a:ext cx="2423160" cy="182880"/>
          </a:xfrm>
          <a:prstGeom prst="rect">
            <a:avLst/>
          </a:prstGeom>
          <a:noFill/>
          <a:ln/>
        </p:spPr>
        <p:txBody>
          <a:bodyPr wrap="square" lIns="0" tIns="0" rIns="0" bIns="0" rtlCol="0" anchor="t"/>
          <a:lstStyle/>
          <a:p>
            <a:pPr indent="0" marL="0">
              <a:buNone/>
            </a:pPr>
            <a:r>
              <a:rPr lang="en-US" sz="850" b="1" spc="150" kern="0" dirty="0">
                <a:solidFill>
                  <a:srgbClr val="C8106E"/>
                </a:solidFill>
                <a:latin typeface="Calibri" pitchFamily="34" charset="0"/>
                <a:ea typeface="Calibri" pitchFamily="34" charset="-122"/>
                <a:cs typeface="Calibri" pitchFamily="34" charset="-120"/>
              </a:rPr>
              <a:t>A PARTIR DO MÊS 7</a:t>
            </a:r>
            <a:endParaRPr lang="en-US" sz="850" dirty="0"/>
          </a:p>
        </p:txBody>
      </p:sp>
      <p:sp>
        <p:nvSpPr>
          <p:cNvPr id="25" name="Text 20"/>
          <p:cNvSpPr/>
          <p:nvPr/>
        </p:nvSpPr>
        <p:spPr>
          <a:xfrm>
            <a:off x="6217920" y="1426464"/>
            <a:ext cx="2423160" cy="274320"/>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Analistas online</a:t>
            </a:r>
            <a:endParaRPr lang="en-US" sz="1400" dirty="0"/>
          </a:p>
        </p:txBody>
      </p:sp>
      <p:sp>
        <p:nvSpPr>
          <p:cNvPr id="26" name="Shape 21"/>
          <p:cNvSpPr/>
          <p:nvPr/>
        </p:nvSpPr>
        <p:spPr>
          <a:xfrm>
            <a:off x="6217920" y="1737360"/>
            <a:ext cx="1600200" cy="219456"/>
          </a:xfrm>
          <a:prstGeom prst="roundRect">
            <a:avLst>
              <a:gd name="adj" fmla="val 50000"/>
            </a:avLst>
          </a:prstGeom>
          <a:solidFill>
            <a:srgbClr val="C8106E"/>
          </a:solidFill>
          <a:ln/>
        </p:spPr>
        <p:txBody>
          <a:bodyPr/>
          <a:p/>
        </p:txBody>
      </p:sp>
      <p:sp>
        <p:nvSpPr>
          <p:cNvPr id="27" name="Text 22"/>
          <p:cNvSpPr/>
          <p:nvPr/>
        </p:nvSpPr>
        <p:spPr>
          <a:xfrm>
            <a:off x="6217920" y="1737360"/>
            <a:ext cx="160020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 para cada 20 fazendas</a:t>
            </a:r>
            <a:endParaRPr lang="en-US" sz="900" dirty="0"/>
          </a:p>
        </p:txBody>
      </p:sp>
      <p:sp>
        <p:nvSpPr>
          <p:cNvPr id="28" name="Text 23"/>
          <p:cNvSpPr/>
          <p:nvPr/>
        </p:nvSpPr>
        <p:spPr>
          <a:xfrm>
            <a:off x="6217920" y="2029968"/>
            <a:ext cx="2368296" cy="512064"/>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Cobram, auditam e validam lançamentos, interpretam e tiram dúvidas. Rodrigo coordena</a:t>
            </a:r>
            <a:endParaRPr lang="en-US" sz="900" dirty="0"/>
          </a:p>
        </p:txBody>
      </p:sp>
      <p:sp>
        <p:nvSpPr>
          <p:cNvPr id="29" name="Shape 24"/>
          <p:cNvSpPr/>
          <p:nvPr/>
        </p:nvSpPr>
        <p:spPr>
          <a:xfrm>
            <a:off x="457200" y="2724912"/>
            <a:ext cx="8229600" cy="283464"/>
          </a:xfrm>
          <a:prstGeom prst="rect">
            <a:avLst/>
          </a:prstGeom>
          <a:solidFill>
            <a:srgbClr val="F4F6F8"/>
          </a:solidFill>
          <a:ln/>
        </p:spPr>
        <p:txBody>
          <a:bodyPr/>
          <a:p/>
        </p:txBody>
      </p:sp>
      <p:sp>
        <p:nvSpPr>
          <p:cNvPr id="30" name="Text 25"/>
          <p:cNvSpPr/>
          <p:nvPr/>
        </p:nvSpPr>
        <p:spPr>
          <a:xfrm>
            <a:off x="548640" y="2724912"/>
            <a:ext cx="1737360" cy="283464"/>
          </a:xfrm>
          <a:prstGeom prst="rect">
            <a:avLst/>
          </a:prstGeom>
          <a:noFill/>
          <a:ln/>
        </p:spPr>
        <p:txBody>
          <a:bodyPr wrap="square" lIns="0" tIns="0" rIns="0" bIns="0" rtlCol="0" anchor="ctr"/>
          <a:lstStyle/>
          <a:p>
            <a:pPr indent="0" marL="0">
              <a:buNone/>
            </a:pPr>
            <a:r>
              <a:rPr lang="en-US" sz="950" b="1" dirty="0">
                <a:solidFill>
                  <a:srgbClr val="1B3A8C"/>
                </a:solidFill>
                <a:latin typeface="Calibri" pitchFamily="34" charset="0"/>
                <a:ea typeface="Calibri" pitchFamily="34" charset="-122"/>
                <a:cs typeface="Calibri" pitchFamily="34" charset="-120"/>
              </a:rPr>
              <a:t>Primeiras fazendas</a:t>
            </a:r>
            <a:endParaRPr lang="en-US" sz="950" dirty="0"/>
          </a:p>
        </p:txBody>
      </p:sp>
      <p:sp>
        <p:nvSpPr>
          <p:cNvPr id="31" name="Text 26"/>
          <p:cNvSpPr/>
          <p:nvPr/>
        </p:nvSpPr>
        <p:spPr>
          <a:xfrm>
            <a:off x="2286000" y="2724912"/>
            <a:ext cx="6309360" cy="283464"/>
          </a:xfrm>
          <a:prstGeom prst="rect">
            <a:avLst/>
          </a:prstGeom>
          <a:noFill/>
          <a:ln/>
        </p:spPr>
        <p:txBody>
          <a:bodyPr wrap="square" lIns="0" tIns="0" rIns="0" bIns="0" rtlCol="0" anchor="ctr"/>
          <a:lstStyle/>
          <a:p>
            <a:pPr indent="0" marL="0">
              <a:buNone/>
            </a:pPr>
            <a:r>
              <a:rPr lang="en-US" sz="900" dirty="0">
                <a:solidFill>
                  <a:srgbClr val="4A5560"/>
                </a:solidFill>
                <a:latin typeface="Calibri" pitchFamily="34" charset="0"/>
                <a:ea typeface="Calibri" pitchFamily="34" charset="-122"/>
                <a:cs typeface="Calibri" pitchFamily="34" charset="-120"/>
              </a:rPr>
              <a:t>Novos clientes de 200 a 2.000 cabeças, sem automação, indicados pelos técnicos e RTVs</a:t>
            </a:r>
            <a:endParaRPr lang="en-US" sz="900" dirty="0"/>
          </a:p>
        </p:txBody>
      </p:sp>
      <p:sp>
        <p:nvSpPr>
          <p:cNvPr id="32" name="Shape 27"/>
          <p:cNvSpPr/>
          <p:nvPr/>
        </p:nvSpPr>
        <p:spPr>
          <a:xfrm>
            <a:off x="457200" y="3044952"/>
            <a:ext cx="8229600" cy="283464"/>
          </a:xfrm>
          <a:prstGeom prst="rect">
            <a:avLst/>
          </a:prstGeom>
          <a:solidFill>
            <a:srgbClr val="FFFFFF"/>
          </a:solidFill>
          <a:ln/>
        </p:spPr>
        <p:txBody>
          <a:bodyPr/>
          <a:p/>
        </p:txBody>
      </p:sp>
      <p:sp>
        <p:nvSpPr>
          <p:cNvPr id="33" name="Text 28"/>
          <p:cNvSpPr/>
          <p:nvPr/>
        </p:nvSpPr>
        <p:spPr>
          <a:xfrm>
            <a:off x="548640" y="3044952"/>
            <a:ext cx="1737360" cy="283464"/>
          </a:xfrm>
          <a:prstGeom prst="rect">
            <a:avLst/>
          </a:prstGeom>
          <a:noFill/>
          <a:ln/>
        </p:spPr>
        <p:txBody>
          <a:bodyPr wrap="square" lIns="0" tIns="0" rIns="0" bIns="0" rtlCol="0" anchor="ctr"/>
          <a:lstStyle/>
          <a:p>
            <a:pPr indent="0" marL="0">
              <a:buNone/>
            </a:pPr>
            <a:r>
              <a:rPr lang="en-US" sz="950" b="1" dirty="0">
                <a:solidFill>
                  <a:srgbClr val="1B3A8C"/>
                </a:solidFill>
                <a:latin typeface="Calibri" pitchFamily="34" charset="0"/>
                <a:ea typeface="Calibri" pitchFamily="34" charset="-122"/>
                <a:cs typeface="Calibri" pitchFamily="34" charset="-120"/>
              </a:rPr>
              <a:t>O que o cliente recebe</a:t>
            </a:r>
            <a:endParaRPr lang="en-US" sz="950" dirty="0"/>
          </a:p>
        </p:txBody>
      </p:sp>
      <p:sp>
        <p:nvSpPr>
          <p:cNvPr id="34" name="Text 29"/>
          <p:cNvSpPr/>
          <p:nvPr/>
        </p:nvSpPr>
        <p:spPr>
          <a:xfrm>
            <a:off x="2286000" y="3044952"/>
            <a:ext cx="6309360" cy="283464"/>
          </a:xfrm>
          <a:prstGeom prst="rect">
            <a:avLst/>
          </a:prstGeom>
          <a:noFill/>
          <a:ln/>
        </p:spPr>
        <p:txBody>
          <a:bodyPr wrap="square" lIns="0" tIns="0" rIns="0" bIns="0" rtlCol="0" anchor="ctr"/>
          <a:lstStyle/>
          <a:p>
            <a:pPr indent="0" marL="0">
              <a:buNone/>
            </a:pPr>
            <a:r>
              <a:rPr lang="en-US" sz="900" dirty="0">
                <a:solidFill>
                  <a:srgbClr val="4A5560"/>
                </a:solidFill>
                <a:latin typeface="Calibri" pitchFamily="34" charset="0"/>
                <a:ea typeface="Calibri" pitchFamily="34" charset="-122"/>
                <a:cs typeface="Calibri" pitchFamily="34" charset="-120"/>
              </a:rPr>
              <a:t>Ferramenta, relatório semanal comentado, visita do técnico e auditoria mensal da rotina</a:t>
            </a:r>
            <a:endParaRPr lang="en-US" sz="900" dirty="0"/>
          </a:p>
        </p:txBody>
      </p:sp>
      <p:sp>
        <p:nvSpPr>
          <p:cNvPr id="35" name="Shape 30"/>
          <p:cNvSpPr/>
          <p:nvPr/>
        </p:nvSpPr>
        <p:spPr>
          <a:xfrm>
            <a:off x="457200" y="3364992"/>
            <a:ext cx="8229600" cy="283464"/>
          </a:xfrm>
          <a:prstGeom prst="rect">
            <a:avLst/>
          </a:prstGeom>
          <a:solidFill>
            <a:srgbClr val="F4F6F8"/>
          </a:solidFill>
          <a:ln/>
        </p:spPr>
        <p:txBody>
          <a:bodyPr/>
          <a:p/>
        </p:txBody>
      </p:sp>
      <p:sp>
        <p:nvSpPr>
          <p:cNvPr id="36" name="Text 31"/>
          <p:cNvSpPr/>
          <p:nvPr/>
        </p:nvSpPr>
        <p:spPr>
          <a:xfrm>
            <a:off x="548640" y="3364992"/>
            <a:ext cx="1737360" cy="283464"/>
          </a:xfrm>
          <a:prstGeom prst="rect">
            <a:avLst/>
          </a:prstGeom>
          <a:noFill/>
          <a:ln/>
        </p:spPr>
        <p:txBody>
          <a:bodyPr wrap="square" lIns="0" tIns="0" rIns="0" bIns="0" rtlCol="0" anchor="ctr"/>
          <a:lstStyle/>
          <a:p>
            <a:pPr indent="0" marL="0">
              <a:buNone/>
            </a:pPr>
            <a:r>
              <a:rPr lang="en-US" sz="950" b="1" dirty="0">
                <a:solidFill>
                  <a:srgbClr val="1B3A8C"/>
                </a:solidFill>
                <a:latin typeface="Calibri" pitchFamily="34" charset="0"/>
                <a:ea typeface="Calibri" pitchFamily="34" charset="-122"/>
                <a:cs typeface="Calibri" pitchFamily="34" charset="-120"/>
              </a:rPr>
              <a:t>Auditoria mensal</a:t>
            </a:r>
            <a:endParaRPr lang="en-US" sz="950" dirty="0"/>
          </a:p>
        </p:txBody>
      </p:sp>
      <p:sp>
        <p:nvSpPr>
          <p:cNvPr id="37" name="Text 32"/>
          <p:cNvSpPr/>
          <p:nvPr/>
        </p:nvSpPr>
        <p:spPr>
          <a:xfrm>
            <a:off x="2286000" y="3364992"/>
            <a:ext cx="6309360" cy="283464"/>
          </a:xfrm>
          <a:prstGeom prst="rect">
            <a:avLst/>
          </a:prstGeom>
          <a:noFill/>
          <a:ln/>
        </p:spPr>
        <p:txBody>
          <a:bodyPr wrap="square" lIns="0" tIns="0" rIns="0" bIns="0" rtlCol="0" anchor="ctr"/>
          <a:lstStyle/>
          <a:p>
            <a:pPr indent="0" marL="0">
              <a:buNone/>
            </a:pPr>
            <a:r>
              <a:rPr lang="en-US" sz="900" dirty="0">
                <a:solidFill>
                  <a:srgbClr val="4A5560"/>
                </a:solidFill>
                <a:latin typeface="Calibri" pitchFamily="34" charset="0"/>
                <a:ea typeface="Calibri" pitchFamily="34" charset="-122"/>
                <a:cs typeface="Calibri" pitchFamily="34" charset="-120"/>
              </a:rPr>
              <a:t>Confere se o lançado bate com a realidade: estoque de ração, contagem de animais e leitura de cocho</a:t>
            </a:r>
            <a:endParaRPr lang="en-US" sz="900" dirty="0"/>
          </a:p>
        </p:txBody>
      </p:sp>
      <p:sp>
        <p:nvSpPr>
          <p:cNvPr id="38" name="Shape 33"/>
          <p:cNvSpPr/>
          <p:nvPr/>
        </p:nvSpPr>
        <p:spPr>
          <a:xfrm>
            <a:off x="457200" y="3685032"/>
            <a:ext cx="8229600" cy="283464"/>
          </a:xfrm>
          <a:prstGeom prst="rect">
            <a:avLst/>
          </a:prstGeom>
          <a:solidFill>
            <a:srgbClr val="FFFFFF"/>
          </a:solidFill>
          <a:ln/>
        </p:spPr>
        <p:txBody>
          <a:bodyPr/>
          <a:p/>
        </p:txBody>
      </p:sp>
      <p:sp>
        <p:nvSpPr>
          <p:cNvPr id="39" name="Text 34"/>
          <p:cNvSpPr/>
          <p:nvPr/>
        </p:nvSpPr>
        <p:spPr>
          <a:xfrm>
            <a:off x="548640" y="3685032"/>
            <a:ext cx="1737360" cy="283464"/>
          </a:xfrm>
          <a:prstGeom prst="rect">
            <a:avLst/>
          </a:prstGeom>
          <a:noFill/>
          <a:ln/>
        </p:spPr>
        <p:txBody>
          <a:bodyPr wrap="square" lIns="0" tIns="0" rIns="0" bIns="0" rtlCol="0" anchor="ctr"/>
          <a:lstStyle/>
          <a:p>
            <a:pPr indent="0" marL="0">
              <a:buNone/>
            </a:pPr>
            <a:r>
              <a:rPr lang="en-US" sz="950" b="1" dirty="0">
                <a:solidFill>
                  <a:srgbClr val="1B3A8C"/>
                </a:solidFill>
                <a:latin typeface="Calibri" pitchFamily="34" charset="0"/>
                <a:ea typeface="Calibri" pitchFamily="34" charset="-122"/>
                <a:cs typeface="Calibri" pitchFamily="34" charset="-120"/>
              </a:rPr>
              <a:t>Gatilho para analistas</a:t>
            </a:r>
            <a:endParaRPr lang="en-US" sz="950" dirty="0"/>
          </a:p>
        </p:txBody>
      </p:sp>
      <p:sp>
        <p:nvSpPr>
          <p:cNvPr id="40" name="Text 35"/>
          <p:cNvSpPr/>
          <p:nvPr/>
        </p:nvSpPr>
        <p:spPr>
          <a:xfrm>
            <a:off x="2286000" y="3685032"/>
            <a:ext cx="6309360" cy="283464"/>
          </a:xfrm>
          <a:prstGeom prst="rect">
            <a:avLst/>
          </a:prstGeom>
          <a:noFill/>
          <a:ln/>
        </p:spPr>
        <p:txBody>
          <a:bodyPr wrap="square" lIns="0" tIns="0" rIns="0" bIns="0" rtlCol="0" anchor="ctr"/>
          <a:lstStyle/>
          <a:p>
            <a:pPr indent="0" marL="0">
              <a:buNone/>
            </a:pPr>
            <a:r>
              <a:rPr lang="en-US" sz="900" dirty="0">
                <a:solidFill>
                  <a:srgbClr val="4A5560"/>
                </a:solidFill>
                <a:latin typeface="Calibri" pitchFamily="34" charset="0"/>
                <a:ea typeface="Calibri" pitchFamily="34" charset="-122"/>
                <a:cs typeface="Calibri" pitchFamily="34" charset="-120"/>
              </a:rPr>
              <a:t>20 fazendas ativas e G2 aprovado (adesão, uso e nota de recomendação)</a:t>
            </a:r>
            <a:endParaRPr lang="en-US" sz="900" dirty="0"/>
          </a:p>
        </p:txBody>
      </p:sp>
      <p:sp>
        <p:nvSpPr>
          <p:cNvPr id="41" name="Shape 36"/>
          <p:cNvSpPr/>
          <p:nvPr/>
        </p:nvSpPr>
        <p:spPr>
          <a:xfrm>
            <a:off x="457200" y="4005072"/>
            <a:ext cx="8229600" cy="283464"/>
          </a:xfrm>
          <a:prstGeom prst="rect">
            <a:avLst/>
          </a:prstGeom>
          <a:solidFill>
            <a:srgbClr val="F4F6F8"/>
          </a:solidFill>
          <a:ln/>
        </p:spPr>
        <p:txBody>
          <a:bodyPr/>
          <a:p/>
        </p:txBody>
      </p:sp>
      <p:sp>
        <p:nvSpPr>
          <p:cNvPr id="42" name="Text 37"/>
          <p:cNvSpPr/>
          <p:nvPr/>
        </p:nvSpPr>
        <p:spPr>
          <a:xfrm>
            <a:off x="548640" y="4005072"/>
            <a:ext cx="1737360" cy="283464"/>
          </a:xfrm>
          <a:prstGeom prst="rect">
            <a:avLst/>
          </a:prstGeom>
          <a:noFill/>
          <a:ln/>
        </p:spPr>
        <p:txBody>
          <a:bodyPr wrap="square" lIns="0" tIns="0" rIns="0" bIns="0" rtlCol="0" anchor="ctr"/>
          <a:lstStyle/>
          <a:p>
            <a:pPr indent="0" marL="0">
              <a:buNone/>
            </a:pPr>
            <a:r>
              <a:rPr lang="en-US" sz="950" b="1" dirty="0">
                <a:solidFill>
                  <a:srgbClr val="1B3A8C"/>
                </a:solidFill>
                <a:latin typeface="Calibri" pitchFamily="34" charset="0"/>
                <a:ea typeface="Calibri" pitchFamily="34" charset="-122"/>
                <a:cs typeface="Calibri" pitchFamily="34" charset="-120"/>
              </a:rPr>
              <a:t>Preço</a:t>
            </a:r>
            <a:endParaRPr lang="en-US" sz="950" dirty="0"/>
          </a:p>
        </p:txBody>
      </p:sp>
      <p:sp>
        <p:nvSpPr>
          <p:cNvPr id="43" name="Text 38"/>
          <p:cNvSpPr/>
          <p:nvPr/>
        </p:nvSpPr>
        <p:spPr>
          <a:xfrm>
            <a:off x="2286000" y="4005072"/>
            <a:ext cx="6309360" cy="283464"/>
          </a:xfrm>
          <a:prstGeom prst="rect">
            <a:avLst/>
          </a:prstGeom>
          <a:noFill/>
          <a:ln/>
        </p:spPr>
        <p:txBody>
          <a:bodyPr wrap="square" lIns="0" tIns="0" rIns="0" bIns="0" rtlCol="0" anchor="ctr"/>
          <a:lstStyle/>
          <a:p>
            <a:pPr indent="0" marL="0">
              <a:buNone/>
            </a:pPr>
            <a:r>
              <a:rPr lang="en-US" sz="900" dirty="0">
                <a:solidFill>
                  <a:srgbClr val="4A5560"/>
                </a:solidFill>
                <a:latin typeface="Calibri" pitchFamily="34" charset="0"/>
                <a:ea typeface="Calibri" pitchFamily="34" charset="-122"/>
                <a:cs typeface="Calibri" pitchFamily="34" charset="-120"/>
              </a:rPr>
              <a:t>Sem licença; custo no pacote de nutrição e serviço (modelo final em jan/2027)</a:t>
            </a:r>
            <a:endParaRPr lang="en-US" sz="900" dirty="0"/>
          </a:p>
        </p:txBody>
      </p:sp>
      <p:sp>
        <p:nvSpPr>
          <p:cNvPr id="44" name="TextBox 43"/>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5  ·  COMO CRESCEMOS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Grupo de Desenvolvimento de Confinadores</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Comunidade, dados e reconhecimento: o modelo do Fazenda Nota 10 (2020), agora apoiado pelo TN Manager Web.</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23</a:t>
            </a:r>
            <a:endParaRPr lang="en-US" sz="900" dirty="0"/>
          </a:p>
        </p:txBody>
      </p:sp>
      <p:sp>
        <p:nvSpPr>
          <p:cNvPr id="6" name="Shape 3"/>
          <p:cNvSpPr/>
          <p:nvPr/>
        </p:nvSpPr>
        <p:spPr>
          <a:xfrm>
            <a:off x="457200" y="1143000"/>
            <a:ext cx="1298448" cy="1207008"/>
          </a:xfrm>
          <a:prstGeom prst="rect">
            <a:avLst/>
          </a:prstGeom>
          <a:solidFill>
            <a:srgbClr val="F4F6F8"/>
          </a:solidFill>
          <a:ln/>
        </p:spPr>
        <p:txBody>
          <a:bodyPr/>
          <a:p/>
        </p:txBody>
      </p:sp>
      <p:sp>
        <p:nvSpPr>
          <p:cNvPr id="7" name="Shape 4"/>
          <p:cNvSpPr/>
          <p:nvPr/>
        </p:nvSpPr>
        <p:spPr>
          <a:xfrm>
            <a:off x="457200" y="1143000"/>
            <a:ext cx="1298448" cy="54864"/>
          </a:xfrm>
          <a:prstGeom prst="rect">
            <a:avLst/>
          </a:prstGeom>
          <a:solidFill>
            <a:srgbClr val="26668F"/>
          </a:solidFill>
          <a:ln/>
        </p:spPr>
        <p:txBody>
          <a:bodyPr/>
          <a:p/>
        </p:txBody>
      </p:sp>
      <p:sp>
        <p:nvSpPr>
          <p:cNvPr id="8" name="Shape 5"/>
          <p:cNvSpPr/>
          <p:nvPr/>
        </p:nvSpPr>
        <p:spPr>
          <a:xfrm>
            <a:off x="548640" y="1280160"/>
            <a:ext cx="310896" cy="310896"/>
          </a:xfrm>
          <a:prstGeom prst="ellipse">
            <a:avLst/>
          </a:prstGeom>
          <a:solidFill>
            <a:srgbClr val="26668F"/>
          </a:solidFill>
          <a:ln/>
        </p:spPr>
        <p:txBody>
          <a:bodyPr/>
          <a:p/>
        </p:txBody>
      </p:sp>
      <p:sp>
        <p:nvSpPr>
          <p:cNvPr id="9" name="Text 6"/>
          <p:cNvSpPr/>
          <p:nvPr/>
        </p:nvSpPr>
        <p:spPr>
          <a:xfrm>
            <a:off x="548640" y="12801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7"/>
          <p:cNvSpPr/>
          <p:nvPr/>
        </p:nvSpPr>
        <p:spPr>
          <a:xfrm>
            <a:off x="548640" y="1645920"/>
            <a:ext cx="1152144" cy="219456"/>
          </a:xfrm>
          <a:prstGeom prst="rect">
            <a:avLst/>
          </a:prstGeom>
          <a:noFill/>
          <a:ln/>
        </p:spPr>
        <p:txBody>
          <a:bodyPr wrap="square" lIns="0" tIns="0" rIns="0" bIns="0" rtlCol="0" anchor="t"/>
          <a:lstStyle/>
          <a:p>
            <a:pPr indent="0" marL="0">
              <a:buNone/>
            </a:pPr>
            <a:r>
              <a:rPr lang="en-US" sz="1050" b="1" dirty="0">
                <a:solidFill>
                  <a:srgbClr val="26668F"/>
                </a:solidFill>
                <a:latin typeface="Calibri" pitchFamily="34" charset="0"/>
                <a:ea typeface="Calibri" pitchFamily="34" charset="-122"/>
                <a:cs typeface="Calibri" pitchFamily="34" charset="-120"/>
              </a:rPr>
              <a:t>Lançar</a:t>
            </a:r>
            <a:endParaRPr lang="en-US" sz="1050" dirty="0"/>
          </a:p>
        </p:txBody>
      </p:sp>
      <p:sp>
        <p:nvSpPr>
          <p:cNvPr id="11" name="Text 8"/>
          <p:cNvSpPr/>
          <p:nvPr/>
        </p:nvSpPr>
        <p:spPr>
          <a:xfrm>
            <a:off x="548640" y="1874520"/>
            <a:ext cx="1152144" cy="457200"/>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A fazenda registra a rotina no TN Manager Web</a:t>
            </a:r>
            <a:endParaRPr lang="en-US" sz="850" dirty="0"/>
          </a:p>
        </p:txBody>
      </p:sp>
      <p:pic>
        <p:nvPicPr>
          <p:cNvPr id="12" name="Image 1" descr="preencoded.png">    </p:cNvPr>
          <p:cNvPicPr>
            <a:picLocks noChangeAspect="1"/>
          </p:cNvPicPr>
          <p:nvPr/>
        </p:nvPicPr>
        <p:blipFill>
          <a:blip r:embed="rId3"/>
          <a:stretch>
            <a:fillRect/>
          </a:stretch>
        </p:blipFill>
        <p:spPr>
          <a:xfrm>
            <a:off x="1719072" y="1353312"/>
            <a:ext cx="128016" cy="128016"/>
          </a:xfrm>
          <a:prstGeom prst="rect">
            <a:avLst/>
          </a:prstGeom>
        </p:spPr>
      </p:pic>
      <p:sp>
        <p:nvSpPr>
          <p:cNvPr id="13" name="Shape 9"/>
          <p:cNvSpPr/>
          <p:nvPr/>
        </p:nvSpPr>
        <p:spPr>
          <a:xfrm>
            <a:off x="1847088" y="1143000"/>
            <a:ext cx="1298448" cy="1207008"/>
          </a:xfrm>
          <a:prstGeom prst="rect">
            <a:avLst/>
          </a:prstGeom>
          <a:solidFill>
            <a:srgbClr val="F4F6F8"/>
          </a:solidFill>
          <a:ln/>
        </p:spPr>
        <p:txBody>
          <a:bodyPr/>
          <a:p/>
        </p:txBody>
      </p:sp>
      <p:sp>
        <p:nvSpPr>
          <p:cNvPr id="14" name="Shape 10"/>
          <p:cNvSpPr/>
          <p:nvPr/>
        </p:nvSpPr>
        <p:spPr>
          <a:xfrm>
            <a:off x="1847088" y="1143000"/>
            <a:ext cx="1298448" cy="54864"/>
          </a:xfrm>
          <a:prstGeom prst="rect">
            <a:avLst/>
          </a:prstGeom>
          <a:solidFill>
            <a:srgbClr val="26668F"/>
          </a:solidFill>
          <a:ln/>
        </p:spPr>
        <p:txBody>
          <a:bodyPr/>
          <a:p/>
        </p:txBody>
      </p:sp>
      <p:sp>
        <p:nvSpPr>
          <p:cNvPr id="15" name="Shape 11"/>
          <p:cNvSpPr/>
          <p:nvPr/>
        </p:nvSpPr>
        <p:spPr>
          <a:xfrm>
            <a:off x="1938528" y="1280160"/>
            <a:ext cx="310896" cy="310896"/>
          </a:xfrm>
          <a:prstGeom prst="ellipse">
            <a:avLst/>
          </a:prstGeom>
          <a:solidFill>
            <a:srgbClr val="26668F"/>
          </a:solidFill>
          <a:ln/>
        </p:spPr>
        <p:txBody>
          <a:bodyPr/>
          <a:p/>
        </p:txBody>
      </p:sp>
      <p:sp>
        <p:nvSpPr>
          <p:cNvPr id="16" name="Text 12"/>
          <p:cNvSpPr/>
          <p:nvPr/>
        </p:nvSpPr>
        <p:spPr>
          <a:xfrm>
            <a:off x="1938528" y="12801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3"/>
          <p:cNvSpPr/>
          <p:nvPr/>
        </p:nvSpPr>
        <p:spPr>
          <a:xfrm>
            <a:off x="1938528" y="1645920"/>
            <a:ext cx="1152144" cy="219456"/>
          </a:xfrm>
          <a:prstGeom prst="rect">
            <a:avLst/>
          </a:prstGeom>
          <a:noFill/>
          <a:ln/>
        </p:spPr>
        <p:txBody>
          <a:bodyPr wrap="square" lIns="0" tIns="0" rIns="0" bIns="0" rtlCol="0" anchor="t"/>
          <a:lstStyle/>
          <a:p>
            <a:pPr indent="0" marL="0">
              <a:buNone/>
            </a:pPr>
            <a:r>
              <a:rPr lang="en-US" sz="1050" b="1" dirty="0">
                <a:solidFill>
                  <a:srgbClr val="26668F"/>
                </a:solidFill>
                <a:latin typeface="Calibri" pitchFamily="34" charset="0"/>
                <a:ea typeface="Calibri" pitchFamily="34" charset="-122"/>
                <a:cs typeface="Calibri" pitchFamily="34" charset="-120"/>
              </a:rPr>
              <a:t>Analista online</a:t>
            </a:r>
            <a:endParaRPr lang="en-US" sz="1050" dirty="0"/>
          </a:p>
        </p:txBody>
      </p:sp>
      <p:sp>
        <p:nvSpPr>
          <p:cNvPr id="18" name="Text 14"/>
          <p:cNvSpPr/>
          <p:nvPr/>
        </p:nvSpPr>
        <p:spPr>
          <a:xfrm>
            <a:off x="1938528" y="1874520"/>
            <a:ext cx="1152144" cy="457200"/>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Cobra, audita e valida os lançamentos</a:t>
            </a:r>
            <a:endParaRPr lang="en-US" sz="850" dirty="0"/>
          </a:p>
        </p:txBody>
      </p:sp>
      <p:pic>
        <p:nvPicPr>
          <p:cNvPr id="19" name="Image 2" descr="preencoded.png">    </p:cNvPr>
          <p:cNvPicPr>
            <a:picLocks noChangeAspect="1"/>
          </p:cNvPicPr>
          <p:nvPr/>
        </p:nvPicPr>
        <p:blipFill>
          <a:blip r:embed="rId3"/>
          <a:stretch>
            <a:fillRect/>
          </a:stretch>
        </p:blipFill>
        <p:spPr>
          <a:xfrm>
            <a:off x="3108960" y="1353312"/>
            <a:ext cx="128016" cy="128016"/>
          </a:xfrm>
          <a:prstGeom prst="rect">
            <a:avLst/>
          </a:prstGeom>
        </p:spPr>
      </p:pic>
      <p:sp>
        <p:nvSpPr>
          <p:cNvPr id="20" name="Shape 15"/>
          <p:cNvSpPr/>
          <p:nvPr/>
        </p:nvSpPr>
        <p:spPr>
          <a:xfrm>
            <a:off x="3236976" y="1143000"/>
            <a:ext cx="1298448" cy="1207008"/>
          </a:xfrm>
          <a:prstGeom prst="rect">
            <a:avLst/>
          </a:prstGeom>
          <a:solidFill>
            <a:srgbClr val="F4F6F8"/>
          </a:solidFill>
          <a:ln/>
        </p:spPr>
        <p:txBody>
          <a:bodyPr/>
          <a:p/>
        </p:txBody>
      </p:sp>
      <p:sp>
        <p:nvSpPr>
          <p:cNvPr id="21" name="Shape 16"/>
          <p:cNvSpPr/>
          <p:nvPr/>
        </p:nvSpPr>
        <p:spPr>
          <a:xfrm>
            <a:off x="3236976" y="1143000"/>
            <a:ext cx="1298448" cy="54864"/>
          </a:xfrm>
          <a:prstGeom prst="rect">
            <a:avLst/>
          </a:prstGeom>
          <a:solidFill>
            <a:srgbClr val="1B3A8C"/>
          </a:solidFill>
          <a:ln/>
        </p:spPr>
        <p:txBody>
          <a:bodyPr/>
          <a:p/>
        </p:txBody>
      </p:sp>
      <p:sp>
        <p:nvSpPr>
          <p:cNvPr id="22" name="Shape 17"/>
          <p:cNvSpPr/>
          <p:nvPr/>
        </p:nvSpPr>
        <p:spPr>
          <a:xfrm>
            <a:off x="3328416" y="1280160"/>
            <a:ext cx="310896" cy="310896"/>
          </a:xfrm>
          <a:prstGeom prst="ellipse">
            <a:avLst/>
          </a:prstGeom>
          <a:solidFill>
            <a:srgbClr val="1B3A8C"/>
          </a:solidFill>
          <a:ln/>
        </p:spPr>
        <p:txBody>
          <a:bodyPr/>
          <a:p/>
        </p:txBody>
      </p:sp>
      <p:sp>
        <p:nvSpPr>
          <p:cNvPr id="23" name="Text 18"/>
          <p:cNvSpPr/>
          <p:nvPr/>
        </p:nvSpPr>
        <p:spPr>
          <a:xfrm>
            <a:off x="3328416" y="12801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4" name="Text 19"/>
          <p:cNvSpPr/>
          <p:nvPr/>
        </p:nvSpPr>
        <p:spPr>
          <a:xfrm>
            <a:off x="3328416" y="1645920"/>
            <a:ext cx="1152144" cy="219456"/>
          </a:xfrm>
          <a:prstGeom prst="rect">
            <a:avLst/>
          </a:prstGeom>
          <a:noFill/>
          <a:ln/>
        </p:spPr>
        <p:txBody>
          <a:bodyPr wrap="square" lIns="0" tIns="0" rIns="0" bIns="0" rtlCol="0" anchor="t"/>
          <a:lstStyle/>
          <a:p>
            <a:pPr indent="0" marL="0">
              <a:buNone/>
            </a:pPr>
            <a:r>
              <a:rPr lang="en-US" sz="1050" b="1" dirty="0">
                <a:solidFill>
                  <a:srgbClr val="1B3A8C"/>
                </a:solidFill>
                <a:latin typeface="Calibri" pitchFamily="34" charset="0"/>
                <a:ea typeface="Calibri" pitchFamily="34" charset="-122"/>
                <a:cs typeface="Calibri" pitchFamily="34" charset="-120"/>
              </a:rPr>
              <a:t>Indicadores</a:t>
            </a:r>
            <a:endParaRPr lang="en-US" sz="1050" dirty="0"/>
          </a:p>
        </p:txBody>
      </p:sp>
      <p:sp>
        <p:nvSpPr>
          <p:cNvPr id="25" name="Text 20"/>
          <p:cNvSpPr/>
          <p:nvPr/>
        </p:nvSpPr>
        <p:spPr>
          <a:xfrm>
            <a:off x="3328416" y="1874520"/>
            <a:ext cx="1152144" cy="457200"/>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Dashboards de consumo, ganho, custo e dias de cocho</a:t>
            </a:r>
            <a:endParaRPr lang="en-US" sz="850" dirty="0"/>
          </a:p>
        </p:txBody>
      </p:sp>
      <p:pic>
        <p:nvPicPr>
          <p:cNvPr id="26" name="Image 3" descr="preencoded.png">    </p:cNvPr>
          <p:cNvPicPr>
            <a:picLocks noChangeAspect="1"/>
          </p:cNvPicPr>
          <p:nvPr/>
        </p:nvPicPr>
        <p:blipFill>
          <a:blip r:embed="rId3"/>
          <a:stretch>
            <a:fillRect/>
          </a:stretch>
        </p:blipFill>
        <p:spPr>
          <a:xfrm>
            <a:off x="4498848" y="1353312"/>
            <a:ext cx="128016" cy="128016"/>
          </a:xfrm>
          <a:prstGeom prst="rect">
            <a:avLst/>
          </a:prstGeom>
        </p:spPr>
      </p:pic>
      <p:sp>
        <p:nvSpPr>
          <p:cNvPr id="27" name="Shape 21"/>
          <p:cNvSpPr/>
          <p:nvPr/>
        </p:nvSpPr>
        <p:spPr>
          <a:xfrm>
            <a:off x="4626864" y="1143000"/>
            <a:ext cx="1298448" cy="1207008"/>
          </a:xfrm>
          <a:prstGeom prst="rect">
            <a:avLst/>
          </a:prstGeom>
          <a:solidFill>
            <a:srgbClr val="F4F6F8"/>
          </a:solidFill>
          <a:ln/>
        </p:spPr>
        <p:txBody>
          <a:bodyPr/>
          <a:p/>
        </p:txBody>
      </p:sp>
      <p:sp>
        <p:nvSpPr>
          <p:cNvPr id="28" name="Shape 22"/>
          <p:cNvSpPr/>
          <p:nvPr/>
        </p:nvSpPr>
        <p:spPr>
          <a:xfrm>
            <a:off x="4626864" y="1143000"/>
            <a:ext cx="1298448" cy="54864"/>
          </a:xfrm>
          <a:prstGeom prst="rect">
            <a:avLst/>
          </a:prstGeom>
          <a:solidFill>
            <a:srgbClr val="1B3A8C"/>
          </a:solidFill>
          <a:ln/>
        </p:spPr>
        <p:txBody>
          <a:bodyPr/>
          <a:p/>
        </p:txBody>
      </p:sp>
      <p:sp>
        <p:nvSpPr>
          <p:cNvPr id="29" name="Shape 23"/>
          <p:cNvSpPr/>
          <p:nvPr/>
        </p:nvSpPr>
        <p:spPr>
          <a:xfrm>
            <a:off x="4718304" y="1280160"/>
            <a:ext cx="310896" cy="310896"/>
          </a:xfrm>
          <a:prstGeom prst="ellipse">
            <a:avLst/>
          </a:prstGeom>
          <a:solidFill>
            <a:srgbClr val="1B3A8C"/>
          </a:solidFill>
          <a:ln/>
        </p:spPr>
        <p:txBody>
          <a:bodyPr/>
          <a:p/>
        </p:txBody>
      </p:sp>
      <p:sp>
        <p:nvSpPr>
          <p:cNvPr id="30" name="Text 24"/>
          <p:cNvSpPr/>
          <p:nvPr/>
        </p:nvSpPr>
        <p:spPr>
          <a:xfrm>
            <a:off x="4718304" y="12801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1" name="Text 25"/>
          <p:cNvSpPr/>
          <p:nvPr/>
        </p:nvSpPr>
        <p:spPr>
          <a:xfrm>
            <a:off x="4718304" y="1645920"/>
            <a:ext cx="1152144" cy="219456"/>
          </a:xfrm>
          <a:prstGeom prst="rect">
            <a:avLst/>
          </a:prstGeom>
          <a:noFill/>
          <a:ln/>
        </p:spPr>
        <p:txBody>
          <a:bodyPr wrap="square" lIns="0" tIns="0" rIns="0" bIns="0" rtlCol="0" anchor="t"/>
          <a:lstStyle/>
          <a:p>
            <a:pPr indent="0" marL="0">
              <a:buNone/>
            </a:pPr>
            <a:r>
              <a:rPr lang="en-US" sz="1050" b="1" dirty="0">
                <a:solidFill>
                  <a:srgbClr val="1B3A8C"/>
                </a:solidFill>
                <a:latin typeface="Calibri" pitchFamily="34" charset="0"/>
                <a:ea typeface="Calibri" pitchFamily="34" charset="-122"/>
                <a:cs typeface="Calibri" pitchFamily="34" charset="-120"/>
              </a:rPr>
              <a:t>Benchmarking</a:t>
            </a:r>
            <a:endParaRPr lang="en-US" sz="1050" dirty="0"/>
          </a:p>
        </p:txBody>
      </p:sp>
      <p:sp>
        <p:nvSpPr>
          <p:cNvPr id="32" name="Text 26"/>
          <p:cNvSpPr/>
          <p:nvPr/>
        </p:nvSpPr>
        <p:spPr>
          <a:xfrm>
            <a:off x="4718304" y="1874520"/>
            <a:ext cx="1152144" cy="457200"/>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Cada fazenda se compara com o grupo</a:t>
            </a:r>
            <a:endParaRPr lang="en-US" sz="850" dirty="0"/>
          </a:p>
        </p:txBody>
      </p:sp>
      <p:pic>
        <p:nvPicPr>
          <p:cNvPr id="33" name="Image 4" descr="preencoded.png">    </p:cNvPr>
          <p:cNvPicPr>
            <a:picLocks noChangeAspect="1"/>
          </p:cNvPicPr>
          <p:nvPr/>
        </p:nvPicPr>
        <p:blipFill>
          <a:blip r:embed="rId3"/>
          <a:stretch>
            <a:fillRect/>
          </a:stretch>
        </p:blipFill>
        <p:spPr>
          <a:xfrm>
            <a:off x="5888736" y="1353312"/>
            <a:ext cx="128016" cy="128016"/>
          </a:xfrm>
          <a:prstGeom prst="rect">
            <a:avLst/>
          </a:prstGeom>
        </p:spPr>
      </p:pic>
      <p:sp>
        <p:nvSpPr>
          <p:cNvPr id="34" name="Shape 27"/>
          <p:cNvSpPr/>
          <p:nvPr/>
        </p:nvSpPr>
        <p:spPr>
          <a:xfrm>
            <a:off x="6016752" y="1143000"/>
            <a:ext cx="1298448" cy="1207008"/>
          </a:xfrm>
          <a:prstGeom prst="rect">
            <a:avLst/>
          </a:prstGeom>
          <a:solidFill>
            <a:srgbClr val="F4F6F8"/>
          </a:solidFill>
          <a:ln/>
        </p:spPr>
        <p:txBody>
          <a:bodyPr/>
          <a:p/>
        </p:txBody>
      </p:sp>
      <p:sp>
        <p:nvSpPr>
          <p:cNvPr id="35" name="Shape 28"/>
          <p:cNvSpPr/>
          <p:nvPr/>
        </p:nvSpPr>
        <p:spPr>
          <a:xfrm>
            <a:off x="6016752" y="1143000"/>
            <a:ext cx="1298448" cy="54864"/>
          </a:xfrm>
          <a:prstGeom prst="rect">
            <a:avLst/>
          </a:prstGeom>
          <a:solidFill>
            <a:srgbClr val="C8106E"/>
          </a:solidFill>
          <a:ln/>
        </p:spPr>
        <p:txBody>
          <a:bodyPr/>
          <a:p/>
        </p:txBody>
      </p:sp>
      <p:sp>
        <p:nvSpPr>
          <p:cNvPr id="36" name="Shape 29"/>
          <p:cNvSpPr/>
          <p:nvPr/>
        </p:nvSpPr>
        <p:spPr>
          <a:xfrm>
            <a:off x="6108192" y="1280160"/>
            <a:ext cx="310896" cy="310896"/>
          </a:xfrm>
          <a:prstGeom prst="ellipse">
            <a:avLst/>
          </a:prstGeom>
          <a:solidFill>
            <a:srgbClr val="C8106E"/>
          </a:solidFill>
          <a:ln/>
        </p:spPr>
        <p:txBody>
          <a:bodyPr/>
          <a:p/>
        </p:txBody>
      </p:sp>
      <p:sp>
        <p:nvSpPr>
          <p:cNvPr id="37" name="Text 30"/>
          <p:cNvSpPr/>
          <p:nvPr/>
        </p:nvSpPr>
        <p:spPr>
          <a:xfrm>
            <a:off x="6108192" y="12801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8" name="Text 31"/>
          <p:cNvSpPr/>
          <p:nvPr/>
        </p:nvSpPr>
        <p:spPr>
          <a:xfrm>
            <a:off x="6108192" y="1645920"/>
            <a:ext cx="1152144" cy="219456"/>
          </a:xfrm>
          <a:prstGeom prst="rect">
            <a:avLst/>
          </a:prstGeom>
          <a:noFill/>
          <a:ln/>
        </p:spPr>
        <p:txBody>
          <a:bodyPr wrap="square" lIns="0" tIns="0" rIns="0" bIns="0" rtlCol="0" anchor="t"/>
          <a:lstStyle/>
          <a:p>
            <a:pPr indent="0" marL="0">
              <a:buNone/>
            </a:pPr>
            <a:r>
              <a:rPr lang="en-US" sz="1050" b="1" dirty="0">
                <a:solidFill>
                  <a:srgbClr val="C8106E"/>
                </a:solidFill>
                <a:latin typeface="Calibri" pitchFamily="34" charset="0"/>
                <a:ea typeface="Calibri" pitchFamily="34" charset="-122"/>
                <a:cs typeface="Calibri" pitchFamily="34" charset="-120"/>
              </a:rPr>
              <a:t>Fechamento de safra</a:t>
            </a:r>
            <a:endParaRPr lang="en-US" sz="1050" dirty="0"/>
          </a:p>
        </p:txBody>
      </p:sp>
      <p:sp>
        <p:nvSpPr>
          <p:cNvPr id="39" name="Text 32"/>
          <p:cNvSpPr/>
          <p:nvPr/>
        </p:nvSpPr>
        <p:spPr>
          <a:xfrm>
            <a:off x="6108192" y="1874520"/>
            <a:ext cx="1152144" cy="457200"/>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Relatório da safra e evolução ano a ano</a:t>
            </a:r>
            <a:endParaRPr lang="en-US" sz="850" dirty="0"/>
          </a:p>
        </p:txBody>
      </p:sp>
      <p:pic>
        <p:nvPicPr>
          <p:cNvPr id="40" name="Image 5" descr="preencoded.png">    </p:cNvPr>
          <p:cNvPicPr>
            <a:picLocks noChangeAspect="1"/>
          </p:cNvPicPr>
          <p:nvPr/>
        </p:nvPicPr>
        <p:blipFill>
          <a:blip r:embed="rId3"/>
          <a:stretch>
            <a:fillRect/>
          </a:stretch>
        </p:blipFill>
        <p:spPr>
          <a:xfrm>
            <a:off x="7278624" y="1353312"/>
            <a:ext cx="128016" cy="128016"/>
          </a:xfrm>
          <a:prstGeom prst="rect">
            <a:avLst/>
          </a:prstGeom>
        </p:spPr>
      </p:pic>
      <p:sp>
        <p:nvSpPr>
          <p:cNvPr id="41" name="Shape 33"/>
          <p:cNvSpPr/>
          <p:nvPr/>
        </p:nvSpPr>
        <p:spPr>
          <a:xfrm>
            <a:off x="7406640" y="1143000"/>
            <a:ext cx="1298448" cy="1207008"/>
          </a:xfrm>
          <a:prstGeom prst="rect">
            <a:avLst/>
          </a:prstGeom>
          <a:solidFill>
            <a:srgbClr val="F4F6F8"/>
          </a:solidFill>
          <a:ln/>
        </p:spPr>
        <p:txBody>
          <a:bodyPr/>
          <a:p/>
        </p:txBody>
      </p:sp>
      <p:sp>
        <p:nvSpPr>
          <p:cNvPr id="42" name="Shape 34"/>
          <p:cNvSpPr/>
          <p:nvPr/>
        </p:nvSpPr>
        <p:spPr>
          <a:xfrm>
            <a:off x="7406640" y="1143000"/>
            <a:ext cx="1298448" cy="54864"/>
          </a:xfrm>
          <a:prstGeom prst="rect">
            <a:avLst/>
          </a:prstGeom>
          <a:solidFill>
            <a:srgbClr val="C8106E"/>
          </a:solidFill>
          <a:ln/>
        </p:spPr>
        <p:txBody>
          <a:bodyPr/>
          <a:p/>
        </p:txBody>
      </p:sp>
      <p:sp>
        <p:nvSpPr>
          <p:cNvPr id="43" name="Shape 35"/>
          <p:cNvSpPr/>
          <p:nvPr/>
        </p:nvSpPr>
        <p:spPr>
          <a:xfrm>
            <a:off x="7498080" y="1280160"/>
            <a:ext cx="310896" cy="310896"/>
          </a:xfrm>
          <a:prstGeom prst="ellipse">
            <a:avLst/>
          </a:prstGeom>
          <a:solidFill>
            <a:srgbClr val="C8106E"/>
          </a:solidFill>
          <a:ln/>
        </p:spPr>
        <p:txBody>
          <a:bodyPr/>
          <a:p/>
        </p:txBody>
      </p:sp>
      <p:sp>
        <p:nvSpPr>
          <p:cNvPr id="44" name="Text 36"/>
          <p:cNvSpPr/>
          <p:nvPr/>
        </p:nvSpPr>
        <p:spPr>
          <a:xfrm>
            <a:off x="7498080" y="12801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5" name="Text 37"/>
          <p:cNvSpPr/>
          <p:nvPr/>
        </p:nvSpPr>
        <p:spPr>
          <a:xfrm>
            <a:off x="7498080" y="1645920"/>
            <a:ext cx="1152144" cy="219456"/>
          </a:xfrm>
          <a:prstGeom prst="rect">
            <a:avLst/>
          </a:prstGeom>
          <a:noFill/>
          <a:ln/>
        </p:spPr>
        <p:txBody>
          <a:bodyPr wrap="square" lIns="0" tIns="0" rIns="0" bIns="0" rtlCol="0" anchor="t"/>
          <a:lstStyle/>
          <a:p>
            <a:pPr indent="0" marL="0">
              <a:buNone/>
            </a:pPr>
            <a:r>
              <a:rPr lang="en-US" sz="1050" b="1" dirty="0">
                <a:solidFill>
                  <a:srgbClr val="C8106E"/>
                </a:solidFill>
                <a:latin typeface="Calibri" pitchFamily="34" charset="0"/>
                <a:ea typeface="Calibri" pitchFamily="34" charset="-122"/>
                <a:cs typeface="Calibri" pitchFamily="34" charset="-120"/>
              </a:rPr>
              <a:t>Evento anual</a:t>
            </a:r>
            <a:endParaRPr lang="en-US" sz="1050" dirty="0"/>
          </a:p>
        </p:txBody>
      </p:sp>
      <p:sp>
        <p:nvSpPr>
          <p:cNvPr id="46" name="Text 38"/>
          <p:cNvSpPr/>
          <p:nvPr/>
        </p:nvSpPr>
        <p:spPr>
          <a:xfrm>
            <a:off x="7498080" y="1874520"/>
            <a:ext cx="1152144" cy="457200"/>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Análise dos dados e premiação das melhores fazendas</a:t>
            </a:r>
            <a:endParaRPr lang="en-US" sz="850" dirty="0"/>
          </a:p>
        </p:txBody>
      </p:sp>
      <p:sp>
        <p:nvSpPr>
          <p:cNvPr id="47" name="Shape 39"/>
          <p:cNvSpPr/>
          <p:nvPr/>
        </p:nvSpPr>
        <p:spPr>
          <a:xfrm>
            <a:off x="8421624" y="2350008"/>
            <a:ext cx="914" cy="210312"/>
          </a:xfrm>
          <a:prstGeom prst="line">
            <a:avLst/>
          </a:prstGeom>
          <a:noFill/>
          <a:ln w="15875">
            <a:solidFill>
              <a:srgbClr val="C8106E"/>
            </a:solidFill>
            <a:prstDash val="dash"/>
          </a:ln>
        </p:spPr>
        <p:txBody>
          <a:bodyPr/>
          <a:p/>
        </p:txBody>
      </p:sp>
      <p:sp>
        <p:nvSpPr>
          <p:cNvPr id="48" name="Shape 40"/>
          <p:cNvSpPr/>
          <p:nvPr/>
        </p:nvSpPr>
        <p:spPr>
          <a:xfrm>
            <a:off x="1106424" y="2560320"/>
            <a:ext cx="7315200" cy="914"/>
          </a:xfrm>
          <a:prstGeom prst="line">
            <a:avLst/>
          </a:prstGeom>
          <a:noFill/>
          <a:ln w="15875">
            <a:solidFill>
              <a:srgbClr val="C8106E"/>
            </a:solidFill>
            <a:prstDash val="dash"/>
          </a:ln>
        </p:spPr>
        <p:txBody>
          <a:bodyPr/>
          <a:p/>
        </p:txBody>
      </p:sp>
      <p:sp>
        <p:nvSpPr>
          <p:cNvPr id="49" name="Shape 41"/>
          <p:cNvSpPr/>
          <p:nvPr/>
        </p:nvSpPr>
        <p:spPr>
          <a:xfrm>
            <a:off x="1106424" y="2350008"/>
            <a:ext cx="914" cy="210312"/>
          </a:xfrm>
          <a:prstGeom prst="line">
            <a:avLst/>
          </a:prstGeom>
          <a:noFill/>
          <a:ln w="15875">
            <a:solidFill>
              <a:srgbClr val="C8106E"/>
            </a:solidFill>
            <a:prstDash val="dash"/>
          </a:ln>
        </p:spPr>
        <p:txBody>
          <a:bodyPr/>
          <a:p/>
        </p:txBody>
      </p:sp>
      <p:sp>
        <p:nvSpPr>
          <p:cNvPr id="50" name="Text 42"/>
          <p:cNvSpPr/>
          <p:nvPr/>
        </p:nvSpPr>
        <p:spPr>
          <a:xfrm>
            <a:off x="2743200" y="2459736"/>
            <a:ext cx="3657600" cy="201168"/>
          </a:xfrm>
          <a:prstGeom prst="rect">
            <a:avLst/>
          </a:prstGeom>
          <a:solidFill>
            <a:srgbClr val="FFFFFF"/>
          </a:solidFill>
          <a:ln/>
        </p:spPr>
        <p:txBody>
          <a:bodyPr wrap="square" lIns="0" tIns="0" rIns="0" bIns="0" rtlCol="0" anchor="t"/>
          <a:lstStyle/>
          <a:p>
            <a:pPr algn="ctr" indent="0" marL="0">
              <a:buNone/>
            </a:pPr>
            <a:r>
              <a:rPr lang="en-US" sz="900" i="1" dirty="0">
                <a:solidFill>
                  <a:srgbClr val="C8106E"/>
                </a:solidFill>
                <a:latin typeface="Calibri" pitchFamily="34" charset="0"/>
                <a:ea typeface="Calibri" pitchFamily="34" charset="-122"/>
                <a:cs typeface="Calibri" pitchFamily="34" charset="-120"/>
              </a:rPr>
              <a:t>O evento atrai novas fazendas, e o ciclo recomeça na safra seguinte</a:t>
            </a:r>
            <a:endParaRPr lang="en-US" sz="900" dirty="0"/>
          </a:p>
        </p:txBody>
      </p:sp>
      <p:sp>
        <p:nvSpPr>
          <p:cNvPr id="51" name="Shape 43"/>
          <p:cNvSpPr/>
          <p:nvPr/>
        </p:nvSpPr>
        <p:spPr>
          <a:xfrm>
            <a:off x="457200" y="2788920"/>
            <a:ext cx="2633472" cy="292608"/>
          </a:xfrm>
          <a:prstGeom prst="rect">
            <a:avLst/>
          </a:prstGeom>
          <a:solidFill>
            <a:srgbClr val="26668F"/>
          </a:solidFill>
          <a:ln/>
        </p:spPr>
        <p:txBody>
          <a:bodyPr/>
          <a:p/>
        </p:txBody>
      </p:sp>
      <p:sp>
        <p:nvSpPr>
          <p:cNvPr id="52" name="Text 44"/>
          <p:cNvSpPr/>
          <p:nvPr/>
        </p:nvSpPr>
        <p:spPr>
          <a:xfrm>
            <a:off x="548640" y="2788920"/>
            <a:ext cx="2450592" cy="29260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Analistas online</a:t>
            </a:r>
            <a:endParaRPr lang="en-US" sz="1050" dirty="0"/>
          </a:p>
        </p:txBody>
      </p:sp>
      <p:sp>
        <p:nvSpPr>
          <p:cNvPr id="53" name="Shape 45"/>
          <p:cNvSpPr/>
          <p:nvPr/>
        </p:nvSpPr>
        <p:spPr>
          <a:xfrm>
            <a:off x="457200" y="3081528"/>
            <a:ext cx="2633472" cy="1188720"/>
          </a:xfrm>
          <a:prstGeom prst="rect">
            <a:avLst/>
          </a:prstGeom>
          <a:solidFill>
            <a:srgbClr val="F4F6F8"/>
          </a:solidFill>
          <a:ln/>
        </p:spPr>
        <p:txBody>
          <a:bodyPr/>
          <a:p/>
        </p:txBody>
      </p:sp>
      <p:sp>
        <p:nvSpPr>
          <p:cNvPr id="54" name="Text 46"/>
          <p:cNvSpPr/>
          <p:nvPr/>
        </p:nvSpPr>
        <p:spPr>
          <a:xfrm>
            <a:off x="530352" y="3145536"/>
            <a:ext cx="2487168" cy="1097280"/>
          </a:xfrm>
          <a:prstGeom prst="rect">
            <a:avLst/>
          </a:prstGeom>
          <a:noFill/>
          <a:ln/>
        </p:spPr>
        <p:txBody>
          <a:bodyPr wrap="square" lIns="0" tIns="0" rIns="0" bIns="0" rtlCol="0" anchor="t"/>
          <a:lstStyle/>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Cobram lançamentos em atraso</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Auditam e validam os dados</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Interpretam os números com o gestor</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Tiram dúvidas e mantêm o engajamento</a:t>
            </a:r>
            <a:endParaRPr lang="en-US" sz="900" dirty="0"/>
          </a:p>
        </p:txBody>
      </p:sp>
      <p:sp>
        <p:nvSpPr>
          <p:cNvPr id="55" name="Shape 47"/>
          <p:cNvSpPr/>
          <p:nvPr/>
        </p:nvSpPr>
        <p:spPr>
          <a:xfrm>
            <a:off x="3246120" y="2788920"/>
            <a:ext cx="2633472" cy="292608"/>
          </a:xfrm>
          <a:prstGeom prst="rect">
            <a:avLst/>
          </a:prstGeom>
          <a:solidFill>
            <a:srgbClr val="1B3A8C"/>
          </a:solidFill>
          <a:ln/>
        </p:spPr>
        <p:txBody>
          <a:bodyPr/>
          <a:p/>
        </p:txBody>
      </p:sp>
      <p:sp>
        <p:nvSpPr>
          <p:cNvPr id="56" name="Text 48"/>
          <p:cNvSpPr/>
          <p:nvPr/>
        </p:nvSpPr>
        <p:spPr>
          <a:xfrm>
            <a:off x="3337560" y="2788920"/>
            <a:ext cx="2450592" cy="29260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 que a fazenda ganha</a:t>
            </a:r>
            <a:endParaRPr lang="en-US" sz="1050" dirty="0"/>
          </a:p>
        </p:txBody>
      </p:sp>
      <p:sp>
        <p:nvSpPr>
          <p:cNvPr id="57" name="Shape 49"/>
          <p:cNvSpPr/>
          <p:nvPr/>
        </p:nvSpPr>
        <p:spPr>
          <a:xfrm>
            <a:off x="3246120" y="3081528"/>
            <a:ext cx="2633472" cy="1188720"/>
          </a:xfrm>
          <a:prstGeom prst="rect">
            <a:avLst/>
          </a:prstGeom>
          <a:solidFill>
            <a:srgbClr val="F4F6F8"/>
          </a:solidFill>
          <a:ln/>
        </p:spPr>
        <p:txBody>
          <a:bodyPr/>
          <a:p/>
        </p:txBody>
      </p:sp>
      <p:sp>
        <p:nvSpPr>
          <p:cNvPr id="58" name="Text 50"/>
          <p:cNvSpPr/>
          <p:nvPr/>
        </p:nvSpPr>
        <p:spPr>
          <a:xfrm>
            <a:off x="3319272" y="3145536"/>
            <a:ext cx="2487168" cy="1097280"/>
          </a:xfrm>
          <a:prstGeom prst="rect">
            <a:avLst/>
          </a:prstGeom>
          <a:noFill/>
          <a:ln/>
        </p:spPr>
        <p:txBody>
          <a:bodyPr wrap="square" lIns="0" tIns="0" rIns="0" bIns="0" rtlCol="0" anchor="t"/>
          <a:lstStyle/>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Referência para decidir: onde está em relação ao grupo</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Evolução medida safra a safra</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Reconhecimento no evento anual</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Rede com outros confinadores</a:t>
            </a:r>
            <a:endParaRPr lang="en-US" sz="900" dirty="0"/>
          </a:p>
        </p:txBody>
      </p:sp>
      <p:sp>
        <p:nvSpPr>
          <p:cNvPr id="59" name="Shape 51"/>
          <p:cNvSpPr/>
          <p:nvPr/>
        </p:nvSpPr>
        <p:spPr>
          <a:xfrm>
            <a:off x="6035040" y="2788920"/>
            <a:ext cx="2633472" cy="292608"/>
          </a:xfrm>
          <a:prstGeom prst="rect">
            <a:avLst/>
          </a:prstGeom>
          <a:solidFill>
            <a:srgbClr val="C8106E"/>
          </a:solidFill>
          <a:ln/>
        </p:spPr>
        <p:txBody>
          <a:bodyPr/>
          <a:p/>
        </p:txBody>
      </p:sp>
      <p:sp>
        <p:nvSpPr>
          <p:cNvPr id="60" name="Text 52"/>
          <p:cNvSpPr/>
          <p:nvPr/>
        </p:nvSpPr>
        <p:spPr>
          <a:xfrm>
            <a:off x="6126480" y="2788920"/>
            <a:ext cx="2450592" cy="29260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 que a TN ganha</a:t>
            </a:r>
            <a:endParaRPr lang="en-US" sz="1050" dirty="0"/>
          </a:p>
        </p:txBody>
      </p:sp>
      <p:sp>
        <p:nvSpPr>
          <p:cNvPr id="61" name="Shape 53"/>
          <p:cNvSpPr/>
          <p:nvPr/>
        </p:nvSpPr>
        <p:spPr>
          <a:xfrm>
            <a:off x="6035040" y="3081528"/>
            <a:ext cx="2633472" cy="1188720"/>
          </a:xfrm>
          <a:prstGeom prst="rect">
            <a:avLst/>
          </a:prstGeom>
          <a:solidFill>
            <a:srgbClr val="F4F6F8"/>
          </a:solidFill>
          <a:ln/>
        </p:spPr>
        <p:txBody>
          <a:bodyPr/>
          <a:p/>
        </p:txBody>
      </p:sp>
      <p:sp>
        <p:nvSpPr>
          <p:cNvPr id="62" name="Text 54"/>
          <p:cNvSpPr/>
          <p:nvPr/>
        </p:nvSpPr>
        <p:spPr>
          <a:xfrm>
            <a:off x="6108192" y="3145536"/>
            <a:ext cx="2487168" cy="1097280"/>
          </a:xfrm>
          <a:prstGeom prst="rect">
            <a:avLst/>
          </a:prstGeom>
          <a:noFill/>
          <a:ln/>
        </p:spPr>
        <p:txBody>
          <a:bodyPr wrap="square" lIns="0" tIns="0" rIns="0" bIns="0" rtlCol="0" anchor="t"/>
          <a:lstStyle/>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Fidelização: a fazenda fica pelo grupo, não pelo sistema</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Base de dados própria para benchmark e nutrição</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Novas fazendas querendo entrar</a:t>
            </a:r>
            <a:endParaRPr lang="en-US" sz="900" dirty="0"/>
          </a:p>
        </p:txBody>
      </p:sp>
      <p:sp>
        <p:nvSpPr>
          <p:cNvPr id="63" name="TextBox 62"/>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5  ·  COMO CRESCEMOS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Roadmap: do papel para a fazenda em 15 meses</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Datas do cronograma aprovado até fev/2027; depois, datas indicativas que dependem de cada gate.</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24</a:t>
            </a:r>
            <a:endParaRPr lang="en-US" sz="900" dirty="0"/>
          </a:p>
        </p:txBody>
      </p:sp>
      <p:sp>
        <p:nvSpPr>
          <p:cNvPr id="6" name="Text 3"/>
          <p:cNvSpPr/>
          <p:nvPr/>
        </p:nvSpPr>
        <p:spPr>
          <a:xfrm>
            <a:off x="3017520" y="1097280"/>
            <a:ext cx="1097280" cy="164592"/>
          </a:xfrm>
          <a:prstGeom prst="rect">
            <a:avLst/>
          </a:prstGeom>
          <a:noFill/>
          <a:ln/>
        </p:spPr>
        <p:txBody>
          <a:bodyPr wrap="square" lIns="0" tIns="0" rIns="0" bIns="0" rtlCol="0" anchor="t"/>
          <a:lstStyle/>
          <a:p>
            <a:pPr algn="ctr" indent="0" marL="0">
              <a:buNone/>
            </a:pPr>
            <a:r>
              <a:rPr lang="en-US" sz="850" b="1" dirty="0">
                <a:solidFill>
                  <a:srgbClr val="1B3A8C"/>
                </a:solidFill>
                <a:latin typeface="Calibri" pitchFamily="34" charset="0"/>
                <a:ea typeface="Calibri" pitchFamily="34" charset="-122"/>
                <a:cs typeface="Calibri" pitchFamily="34" charset="-120"/>
              </a:rPr>
              <a:t>2026</a:t>
            </a:r>
            <a:endParaRPr lang="en-US" sz="850" dirty="0"/>
          </a:p>
        </p:txBody>
      </p:sp>
      <p:sp>
        <p:nvSpPr>
          <p:cNvPr id="7" name="Text 4"/>
          <p:cNvSpPr/>
          <p:nvPr/>
        </p:nvSpPr>
        <p:spPr>
          <a:xfrm>
            <a:off x="4114800" y="1097280"/>
            <a:ext cx="4389120" cy="164592"/>
          </a:xfrm>
          <a:prstGeom prst="rect">
            <a:avLst/>
          </a:prstGeom>
          <a:noFill/>
          <a:ln/>
        </p:spPr>
        <p:txBody>
          <a:bodyPr wrap="square" lIns="0" tIns="0" rIns="0" bIns="0" rtlCol="0" anchor="t"/>
          <a:lstStyle/>
          <a:p>
            <a:pPr algn="ctr" indent="0" marL="0">
              <a:buNone/>
            </a:pPr>
            <a:r>
              <a:rPr lang="en-US" sz="850" b="1" dirty="0">
                <a:solidFill>
                  <a:srgbClr val="1B3A8C"/>
                </a:solidFill>
                <a:latin typeface="Calibri" pitchFamily="34" charset="0"/>
                <a:ea typeface="Calibri" pitchFamily="34" charset="-122"/>
                <a:cs typeface="Calibri" pitchFamily="34" charset="-120"/>
              </a:rPr>
              <a:t>2027</a:t>
            </a:r>
            <a:endParaRPr lang="en-US" sz="850" dirty="0"/>
          </a:p>
        </p:txBody>
      </p:sp>
      <p:sp>
        <p:nvSpPr>
          <p:cNvPr id="8" name="Text 5"/>
          <p:cNvSpPr/>
          <p:nvPr/>
        </p:nvSpPr>
        <p:spPr>
          <a:xfrm>
            <a:off x="301752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out</a:t>
            </a:r>
            <a:endParaRPr lang="en-US" sz="800" dirty="0"/>
          </a:p>
        </p:txBody>
      </p:sp>
      <p:sp>
        <p:nvSpPr>
          <p:cNvPr id="9" name="Text 6"/>
          <p:cNvSpPr/>
          <p:nvPr/>
        </p:nvSpPr>
        <p:spPr>
          <a:xfrm>
            <a:off x="338328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nov</a:t>
            </a:r>
            <a:endParaRPr lang="en-US" sz="800" dirty="0"/>
          </a:p>
        </p:txBody>
      </p:sp>
      <p:sp>
        <p:nvSpPr>
          <p:cNvPr id="10" name="Shape 7"/>
          <p:cNvSpPr/>
          <p:nvPr/>
        </p:nvSpPr>
        <p:spPr>
          <a:xfrm>
            <a:off x="3383280" y="1444752"/>
            <a:ext cx="914" cy="2578608"/>
          </a:xfrm>
          <a:prstGeom prst="line">
            <a:avLst/>
          </a:prstGeom>
          <a:noFill/>
          <a:ln w="6350">
            <a:solidFill>
              <a:srgbClr val="ECEFF2"/>
            </a:solidFill>
            <a:prstDash val="solid"/>
          </a:ln>
        </p:spPr>
        <p:txBody>
          <a:bodyPr/>
          <a:p/>
        </p:txBody>
      </p:sp>
      <p:sp>
        <p:nvSpPr>
          <p:cNvPr id="11" name="Text 8"/>
          <p:cNvSpPr/>
          <p:nvPr/>
        </p:nvSpPr>
        <p:spPr>
          <a:xfrm>
            <a:off x="374904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dez</a:t>
            </a:r>
            <a:endParaRPr lang="en-US" sz="800" dirty="0"/>
          </a:p>
        </p:txBody>
      </p:sp>
      <p:sp>
        <p:nvSpPr>
          <p:cNvPr id="12" name="Shape 9"/>
          <p:cNvSpPr/>
          <p:nvPr/>
        </p:nvSpPr>
        <p:spPr>
          <a:xfrm>
            <a:off x="3749040" y="1444752"/>
            <a:ext cx="914" cy="2578608"/>
          </a:xfrm>
          <a:prstGeom prst="line">
            <a:avLst/>
          </a:prstGeom>
          <a:noFill/>
          <a:ln w="6350">
            <a:solidFill>
              <a:srgbClr val="ECEFF2"/>
            </a:solidFill>
            <a:prstDash val="solid"/>
          </a:ln>
        </p:spPr>
        <p:txBody>
          <a:bodyPr/>
          <a:p/>
        </p:txBody>
      </p:sp>
      <p:sp>
        <p:nvSpPr>
          <p:cNvPr id="13" name="Text 10"/>
          <p:cNvSpPr/>
          <p:nvPr/>
        </p:nvSpPr>
        <p:spPr>
          <a:xfrm>
            <a:off x="411480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jan</a:t>
            </a:r>
            <a:endParaRPr lang="en-US" sz="800" dirty="0"/>
          </a:p>
        </p:txBody>
      </p:sp>
      <p:sp>
        <p:nvSpPr>
          <p:cNvPr id="14" name="Shape 11"/>
          <p:cNvSpPr/>
          <p:nvPr/>
        </p:nvSpPr>
        <p:spPr>
          <a:xfrm>
            <a:off x="4114800" y="1444752"/>
            <a:ext cx="914" cy="2578608"/>
          </a:xfrm>
          <a:prstGeom prst="line">
            <a:avLst/>
          </a:prstGeom>
          <a:noFill/>
          <a:ln w="6350">
            <a:solidFill>
              <a:srgbClr val="ECEFF2"/>
            </a:solidFill>
            <a:prstDash val="solid"/>
          </a:ln>
        </p:spPr>
        <p:txBody>
          <a:bodyPr/>
          <a:p/>
        </p:txBody>
      </p:sp>
      <p:sp>
        <p:nvSpPr>
          <p:cNvPr id="15" name="Text 12"/>
          <p:cNvSpPr/>
          <p:nvPr/>
        </p:nvSpPr>
        <p:spPr>
          <a:xfrm>
            <a:off x="448056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fev</a:t>
            </a:r>
            <a:endParaRPr lang="en-US" sz="800" dirty="0"/>
          </a:p>
        </p:txBody>
      </p:sp>
      <p:sp>
        <p:nvSpPr>
          <p:cNvPr id="16" name="Shape 13"/>
          <p:cNvSpPr/>
          <p:nvPr/>
        </p:nvSpPr>
        <p:spPr>
          <a:xfrm>
            <a:off x="4480560" y="1444752"/>
            <a:ext cx="914" cy="2578608"/>
          </a:xfrm>
          <a:prstGeom prst="line">
            <a:avLst/>
          </a:prstGeom>
          <a:noFill/>
          <a:ln w="6350">
            <a:solidFill>
              <a:srgbClr val="ECEFF2"/>
            </a:solidFill>
            <a:prstDash val="solid"/>
          </a:ln>
        </p:spPr>
        <p:txBody>
          <a:bodyPr/>
          <a:p/>
        </p:txBody>
      </p:sp>
      <p:sp>
        <p:nvSpPr>
          <p:cNvPr id="17" name="Text 14"/>
          <p:cNvSpPr/>
          <p:nvPr/>
        </p:nvSpPr>
        <p:spPr>
          <a:xfrm>
            <a:off x="484632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mar</a:t>
            </a:r>
            <a:endParaRPr lang="en-US" sz="800" dirty="0"/>
          </a:p>
        </p:txBody>
      </p:sp>
      <p:sp>
        <p:nvSpPr>
          <p:cNvPr id="18" name="Shape 15"/>
          <p:cNvSpPr/>
          <p:nvPr/>
        </p:nvSpPr>
        <p:spPr>
          <a:xfrm>
            <a:off x="4846320" y="1444752"/>
            <a:ext cx="914" cy="2578608"/>
          </a:xfrm>
          <a:prstGeom prst="line">
            <a:avLst/>
          </a:prstGeom>
          <a:noFill/>
          <a:ln w="6350">
            <a:solidFill>
              <a:srgbClr val="ECEFF2"/>
            </a:solidFill>
            <a:prstDash val="solid"/>
          </a:ln>
        </p:spPr>
        <p:txBody>
          <a:bodyPr/>
          <a:p/>
        </p:txBody>
      </p:sp>
      <p:sp>
        <p:nvSpPr>
          <p:cNvPr id="19" name="Text 16"/>
          <p:cNvSpPr/>
          <p:nvPr/>
        </p:nvSpPr>
        <p:spPr>
          <a:xfrm>
            <a:off x="521208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abr</a:t>
            </a:r>
            <a:endParaRPr lang="en-US" sz="800" dirty="0"/>
          </a:p>
        </p:txBody>
      </p:sp>
      <p:sp>
        <p:nvSpPr>
          <p:cNvPr id="20" name="Shape 17"/>
          <p:cNvSpPr/>
          <p:nvPr/>
        </p:nvSpPr>
        <p:spPr>
          <a:xfrm>
            <a:off x="5212080" y="1444752"/>
            <a:ext cx="914" cy="2578608"/>
          </a:xfrm>
          <a:prstGeom prst="line">
            <a:avLst/>
          </a:prstGeom>
          <a:noFill/>
          <a:ln w="6350">
            <a:solidFill>
              <a:srgbClr val="ECEFF2"/>
            </a:solidFill>
            <a:prstDash val="solid"/>
          </a:ln>
        </p:spPr>
        <p:txBody>
          <a:bodyPr/>
          <a:p/>
        </p:txBody>
      </p:sp>
      <p:sp>
        <p:nvSpPr>
          <p:cNvPr id="21" name="Text 18"/>
          <p:cNvSpPr/>
          <p:nvPr/>
        </p:nvSpPr>
        <p:spPr>
          <a:xfrm>
            <a:off x="557784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mai</a:t>
            </a:r>
            <a:endParaRPr lang="en-US" sz="800" dirty="0"/>
          </a:p>
        </p:txBody>
      </p:sp>
      <p:sp>
        <p:nvSpPr>
          <p:cNvPr id="22" name="Shape 19"/>
          <p:cNvSpPr/>
          <p:nvPr/>
        </p:nvSpPr>
        <p:spPr>
          <a:xfrm>
            <a:off x="5577840" y="1444752"/>
            <a:ext cx="914" cy="2578608"/>
          </a:xfrm>
          <a:prstGeom prst="line">
            <a:avLst/>
          </a:prstGeom>
          <a:noFill/>
          <a:ln w="6350">
            <a:solidFill>
              <a:srgbClr val="ECEFF2"/>
            </a:solidFill>
            <a:prstDash val="solid"/>
          </a:ln>
        </p:spPr>
        <p:txBody>
          <a:bodyPr/>
          <a:p/>
        </p:txBody>
      </p:sp>
      <p:sp>
        <p:nvSpPr>
          <p:cNvPr id="23" name="Text 20"/>
          <p:cNvSpPr/>
          <p:nvPr/>
        </p:nvSpPr>
        <p:spPr>
          <a:xfrm>
            <a:off x="594360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jun</a:t>
            </a:r>
            <a:endParaRPr lang="en-US" sz="800" dirty="0"/>
          </a:p>
        </p:txBody>
      </p:sp>
      <p:sp>
        <p:nvSpPr>
          <p:cNvPr id="24" name="Shape 21"/>
          <p:cNvSpPr/>
          <p:nvPr/>
        </p:nvSpPr>
        <p:spPr>
          <a:xfrm>
            <a:off x="5943600" y="1444752"/>
            <a:ext cx="914" cy="2578608"/>
          </a:xfrm>
          <a:prstGeom prst="line">
            <a:avLst/>
          </a:prstGeom>
          <a:noFill/>
          <a:ln w="6350">
            <a:solidFill>
              <a:srgbClr val="ECEFF2"/>
            </a:solidFill>
            <a:prstDash val="solid"/>
          </a:ln>
        </p:spPr>
        <p:txBody>
          <a:bodyPr/>
          <a:p/>
        </p:txBody>
      </p:sp>
      <p:sp>
        <p:nvSpPr>
          <p:cNvPr id="25" name="Text 22"/>
          <p:cNvSpPr/>
          <p:nvPr/>
        </p:nvSpPr>
        <p:spPr>
          <a:xfrm>
            <a:off x="630936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jul</a:t>
            </a:r>
            <a:endParaRPr lang="en-US" sz="800" dirty="0"/>
          </a:p>
        </p:txBody>
      </p:sp>
      <p:sp>
        <p:nvSpPr>
          <p:cNvPr id="26" name="Shape 23"/>
          <p:cNvSpPr/>
          <p:nvPr/>
        </p:nvSpPr>
        <p:spPr>
          <a:xfrm>
            <a:off x="6309360" y="1444752"/>
            <a:ext cx="914" cy="2578608"/>
          </a:xfrm>
          <a:prstGeom prst="line">
            <a:avLst/>
          </a:prstGeom>
          <a:noFill/>
          <a:ln w="6350">
            <a:solidFill>
              <a:srgbClr val="ECEFF2"/>
            </a:solidFill>
            <a:prstDash val="solid"/>
          </a:ln>
        </p:spPr>
        <p:txBody>
          <a:bodyPr/>
          <a:p/>
        </p:txBody>
      </p:sp>
      <p:sp>
        <p:nvSpPr>
          <p:cNvPr id="27" name="Text 24"/>
          <p:cNvSpPr/>
          <p:nvPr/>
        </p:nvSpPr>
        <p:spPr>
          <a:xfrm>
            <a:off x="667512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ago</a:t>
            </a:r>
            <a:endParaRPr lang="en-US" sz="800" dirty="0"/>
          </a:p>
        </p:txBody>
      </p:sp>
      <p:sp>
        <p:nvSpPr>
          <p:cNvPr id="28" name="Shape 25"/>
          <p:cNvSpPr/>
          <p:nvPr/>
        </p:nvSpPr>
        <p:spPr>
          <a:xfrm>
            <a:off x="6675120" y="1444752"/>
            <a:ext cx="914" cy="2578608"/>
          </a:xfrm>
          <a:prstGeom prst="line">
            <a:avLst/>
          </a:prstGeom>
          <a:noFill/>
          <a:ln w="6350">
            <a:solidFill>
              <a:srgbClr val="ECEFF2"/>
            </a:solidFill>
            <a:prstDash val="solid"/>
          </a:ln>
        </p:spPr>
        <p:txBody>
          <a:bodyPr/>
          <a:p/>
        </p:txBody>
      </p:sp>
      <p:sp>
        <p:nvSpPr>
          <p:cNvPr id="29" name="Text 26"/>
          <p:cNvSpPr/>
          <p:nvPr/>
        </p:nvSpPr>
        <p:spPr>
          <a:xfrm>
            <a:off x="704088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set</a:t>
            </a:r>
            <a:endParaRPr lang="en-US" sz="800" dirty="0"/>
          </a:p>
        </p:txBody>
      </p:sp>
      <p:sp>
        <p:nvSpPr>
          <p:cNvPr id="30" name="Shape 27"/>
          <p:cNvSpPr/>
          <p:nvPr/>
        </p:nvSpPr>
        <p:spPr>
          <a:xfrm>
            <a:off x="7040880" y="1444752"/>
            <a:ext cx="914" cy="2578608"/>
          </a:xfrm>
          <a:prstGeom prst="line">
            <a:avLst/>
          </a:prstGeom>
          <a:noFill/>
          <a:ln w="6350">
            <a:solidFill>
              <a:srgbClr val="ECEFF2"/>
            </a:solidFill>
            <a:prstDash val="solid"/>
          </a:ln>
        </p:spPr>
        <p:txBody>
          <a:bodyPr/>
          <a:p/>
        </p:txBody>
      </p:sp>
      <p:sp>
        <p:nvSpPr>
          <p:cNvPr id="31" name="Text 28"/>
          <p:cNvSpPr/>
          <p:nvPr/>
        </p:nvSpPr>
        <p:spPr>
          <a:xfrm>
            <a:off x="740664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out</a:t>
            </a:r>
            <a:endParaRPr lang="en-US" sz="800" dirty="0"/>
          </a:p>
        </p:txBody>
      </p:sp>
      <p:sp>
        <p:nvSpPr>
          <p:cNvPr id="32" name="Shape 29"/>
          <p:cNvSpPr/>
          <p:nvPr/>
        </p:nvSpPr>
        <p:spPr>
          <a:xfrm>
            <a:off x="7406640" y="1444752"/>
            <a:ext cx="914" cy="2578608"/>
          </a:xfrm>
          <a:prstGeom prst="line">
            <a:avLst/>
          </a:prstGeom>
          <a:noFill/>
          <a:ln w="6350">
            <a:solidFill>
              <a:srgbClr val="ECEFF2"/>
            </a:solidFill>
            <a:prstDash val="solid"/>
          </a:ln>
        </p:spPr>
        <p:txBody>
          <a:bodyPr/>
          <a:p/>
        </p:txBody>
      </p:sp>
      <p:sp>
        <p:nvSpPr>
          <p:cNvPr id="33" name="Text 30"/>
          <p:cNvSpPr/>
          <p:nvPr/>
        </p:nvSpPr>
        <p:spPr>
          <a:xfrm>
            <a:off x="777240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nov</a:t>
            </a:r>
            <a:endParaRPr lang="en-US" sz="800" dirty="0"/>
          </a:p>
        </p:txBody>
      </p:sp>
      <p:sp>
        <p:nvSpPr>
          <p:cNvPr id="34" name="Shape 31"/>
          <p:cNvSpPr/>
          <p:nvPr/>
        </p:nvSpPr>
        <p:spPr>
          <a:xfrm>
            <a:off x="7772400" y="1444752"/>
            <a:ext cx="914" cy="2578608"/>
          </a:xfrm>
          <a:prstGeom prst="line">
            <a:avLst/>
          </a:prstGeom>
          <a:noFill/>
          <a:ln w="6350">
            <a:solidFill>
              <a:srgbClr val="ECEFF2"/>
            </a:solidFill>
            <a:prstDash val="solid"/>
          </a:ln>
        </p:spPr>
        <p:txBody>
          <a:bodyPr/>
          <a:p/>
        </p:txBody>
      </p:sp>
      <p:sp>
        <p:nvSpPr>
          <p:cNvPr id="35" name="Text 32"/>
          <p:cNvSpPr/>
          <p:nvPr/>
        </p:nvSpPr>
        <p:spPr>
          <a:xfrm>
            <a:off x="813816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dez</a:t>
            </a:r>
            <a:endParaRPr lang="en-US" sz="800" dirty="0"/>
          </a:p>
        </p:txBody>
      </p:sp>
      <p:sp>
        <p:nvSpPr>
          <p:cNvPr id="36" name="Shape 33"/>
          <p:cNvSpPr/>
          <p:nvPr/>
        </p:nvSpPr>
        <p:spPr>
          <a:xfrm>
            <a:off x="8138160" y="1444752"/>
            <a:ext cx="914" cy="2578608"/>
          </a:xfrm>
          <a:prstGeom prst="line">
            <a:avLst/>
          </a:prstGeom>
          <a:noFill/>
          <a:ln w="6350">
            <a:solidFill>
              <a:srgbClr val="ECEFF2"/>
            </a:solidFill>
            <a:prstDash val="solid"/>
          </a:ln>
        </p:spPr>
        <p:txBody>
          <a:bodyPr/>
          <a:p/>
        </p:txBody>
      </p:sp>
      <p:sp>
        <p:nvSpPr>
          <p:cNvPr id="37" name="Shape 34"/>
          <p:cNvSpPr/>
          <p:nvPr/>
        </p:nvSpPr>
        <p:spPr>
          <a:xfrm>
            <a:off x="4114800" y="1115568"/>
            <a:ext cx="914" cy="2907792"/>
          </a:xfrm>
          <a:prstGeom prst="line">
            <a:avLst/>
          </a:prstGeom>
          <a:noFill/>
          <a:ln w="9525">
            <a:solidFill>
              <a:srgbClr val="D9DEE3"/>
            </a:solidFill>
            <a:prstDash val="solid"/>
          </a:ln>
        </p:spPr>
        <p:txBody>
          <a:bodyPr/>
          <a:p/>
        </p:txBody>
      </p:sp>
      <p:sp>
        <p:nvSpPr>
          <p:cNvPr id="38" name="Text 35"/>
          <p:cNvSpPr/>
          <p:nvPr/>
        </p:nvSpPr>
        <p:spPr>
          <a:xfrm>
            <a:off x="457200" y="1481328"/>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Business case e benchmark</a:t>
            </a:r>
            <a:endParaRPr lang="en-US" sz="900" dirty="0"/>
          </a:p>
        </p:txBody>
      </p:sp>
      <p:sp>
        <p:nvSpPr>
          <p:cNvPr id="39" name="Text 36"/>
          <p:cNvSpPr/>
          <p:nvPr/>
        </p:nvSpPr>
        <p:spPr>
          <a:xfrm>
            <a:off x="2286000" y="1481328"/>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a:t>
            </a:r>
            <a:endParaRPr lang="en-US" sz="750" dirty="0"/>
          </a:p>
        </p:txBody>
      </p:sp>
      <p:sp>
        <p:nvSpPr>
          <p:cNvPr id="40" name="Shape 37"/>
          <p:cNvSpPr/>
          <p:nvPr/>
        </p:nvSpPr>
        <p:spPr>
          <a:xfrm>
            <a:off x="3017520" y="1508760"/>
            <a:ext cx="365760" cy="182880"/>
          </a:xfrm>
          <a:prstGeom prst="roundRect">
            <a:avLst>
              <a:gd name="adj" fmla="val 25000"/>
            </a:avLst>
          </a:prstGeom>
          <a:solidFill>
            <a:srgbClr val="26668F"/>
          </a:solidFill>
          <a:ln/>
        </p:spPr>
        <p:txBody>
          <a:bodyPr/>
          <a:p/>
        </p:txBody>
      </p:sp>
      <p:sp>
        <p:nvSpPr>
          <p:cNvPr id="41" name="Text 38"/>
          <p:cNvSpPr/>
          <p:nvPr/>
        </p:nvSpPr>
        <p:spPr>
          <a:xfrm>
            <a:off x="3419856" y="1508760"/>
            <a:ext cx="914400" cy="182880"/>
          </a:xfrm>
          <a:prstGeom prst="rect">
            <a:avLst/>
          </a:prstGeom>
          <a:noFill/>
          <a:ln/>
        </p:spPr>
        <p:txBody>
          <a:bodyPr wrap="square" lIns="0" tIns="0" rIns="0" bIns="0" rtlCol="0" anchor="ctr"/>
          <a:lstStyle/>
          <a:p>
            <a:pPr algn="l" indent="0" marL="0">
              <a:buNone/>
            </a:pPr>
            <a:r>
              <a:rPr lang="en-US" sz="750" b="1" dirty="0">
                <a:solidFill>
                  <a:srgbClr val="26668F"/>
                </a:solidFill>
                <a:latin typeface="Calibri" pitchFamily="34" charset="0"/>
                <a:ea typeface="Calibri" pitchFamily="34" charset="-122"/>
                <a:cs typeface="Calibri" pitchFamily="34" charset="-120"/>
              </a:rPr>
              <a:t>até 23/10</a:t>
            </a:r>
            <a:endParaRPr lang="en-US" sz="750" dirty="0"/>
          </a:p>
        </p:txBody>
      </p:sp>
      <p:sp>
        <p:nvSpPr>
          <p:cNvPr id="42" name="Text 39"/>
          <p:cNvSpPr/>
          <p:nvPr/>
        </p:nvSpPr>
        <p:spPr>
          <a:xfrm>
            <a:off x="457200" y="1728216"/>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Pesquisa com 30 fazendas</a:t>
            </a:r>
            <a:endParaRPr lang="en-US" sz="900" dirty="0"/>
          </a:p>
        </p:txBody>
      </p:sp>
      <p:sp>
        <p:nvSpPr>
          <p:cNvPr id="43" name="Text 40"/>
          <p:cNvSpPr/>
          <p:nvPr/>
        </p:nvSpPr>
        <p:spPr>
          <a:xfrm>
            <a:off x="2286000" y="1728216"/>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 e Kátia Sato</a:t>
            </a:r>
            <a:endParaRPr lang="en-US" sz="750" dirty="0"/>
          </a:p>
        </p:txBody>
      </p:sp>
      <p:sp>
        <p:nvSpPr>
          <p:cNvPr id="44" name="Shape 41"/>
          <p:cNvSpPr/>
          <p:nvPr/>
        </p:nvSpPr>
        <p:spPr>
          <a:xfrm>
            <a:off x="3236976" y="1755648"/>
            <a:ext cx="804672" cy="182880"/>
          </a:xfrm>
          <a:prstGeom prst="roundRect">
            <a:avLst>
              <a:gd name="adj" fmla="val 25000"/>
            </a:avLst>
          </a:prstGeom>
          <a:solidFill>
            <a:srgbClr val="26668F"/>
          </a:solidFill>
          <a:ln/>
        </p:spPr>
        <p:txBody>
          <a:bodyPr/>
          <a:p/>
        </p:txBody>
      </p:sp>
      <p:sp>
        <p:nvSpPr>
          <p:cNvPr id="45" name="Text 42"/>
          <p:cNvSpPr/>
          <p:nvPr/>
        </p:nvSpPr>
        <p:spPr>
          <a:xfrm>
            <a:off x="3236976" y="1755648"/>
            <a:ext cx="804672"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19/10 a 04/12</a:t>
            </a:r>
            <a:endParaRPr lang="en-US" sz="750" dirty="0"/>
          </a:p>
        </p:txBody>
      </p:sp>
      <p:sp>
        <p:nvSpPr>
          <p:cNvPr id="46" name="Text 43"/>
          <p:cNvSpPr/>
          <p:nvPr/>
        </p:nvSpPr>
        <p:spPr>
          <a:xfrm>
            <a:off x="457200" y="1975104"/>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Imersão técnica Dreamer</a:t>
            </a:r>
            <a:endParaRPr lang="en-US" sz="900" dirty="0"/>
          </a:p>
        </p:txBody>
      </p:sp>
      <p:sp>
        <p:nvSpPr>
          <p:cNvPr id="47" name="Text 44"/>
          <p:cNvSpPr/>
          <p:nvPr/>
        </p:nvSpPr>
        <p:spPr>
          <a:xfrm>
            <a:off x="2286000" y="1975104"/>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 e Dreamer</a:t>
            </a:r>
            <a:endParaRPr lang="en-US" sz="750" dirty="0"/>
          </a:p>
        </p:txBody>
      </p:sp>
      <p:sp>
        <p:nvSpPr>
          <p:cNvPr id="48" name="Shape 45"/>
          <p:cNvSpPr/>
          <p:nvPr/>
        </p:nvSpPr>
        <p:spPr>
          <a:xfrm>
            <a:off x="3566160" y="2002536"/>
            <a:ext cx="182880" cy="182880"/>
          </a:xfrm>
          <a:prstGeom prst="roundRect">
            <a:avLst>
              <a:gd name="adj" fmla="val 25000"/>
            </a:avLst>
          </a:prstGeom>
          <a:solidFill>
            <a:srgbClr val="26668F"/>
          </a:solidFill>
          <a:ln/>
        </p:spPr>
        <p:txBody>
          <a:bodyPr/>
          <a:p/>
        </p:txBody>
      </p:sp>
      <p:sp>
        <p:nvSpPr>
          <p:cNvPr id="49" name="Text 46"/>
          <p:cNvSpPr/>
          <p:nvPr/>
        </p:nvSpPr>
        <p:spPr>
          <a:xfrm>
            <a:off x="3785616" y="2002536"/>
            <a:ext cx="914400" cy="182880"/>
          </a:xfrm>
          <a:prstGeom prst="rect">
            <a:avLst/>
          </a:prstGeom>
          <a:noFill/>
          <a:ln/>
        </p:spPr>
        <p:txBody>
          <a:bodyPr wrap="square" lIns="0" tIns="0" rIns="0" bIns="0" rtlCol="0" anchor="ctr"/>
          <a:lstStyle/>
          <a:p>
            <a:pPr algn="l" indent="0" marL="0">
              <a:buNone/>
            </a:pPr>
            <a:r>
              <a:rPr lang="en-US" sz="750" b="1" dirty="0">
                <a:solidFill>
                  <a:srgbClr val="26668F"/>
                </a:solidFill>
                <a:latin typeface="Calibri" pitchFamily="34" charset="0"/>
                <a:ea typeface="Calibri" pitchFamily="34" charset="-122"/>
                <a:cs typeface="Calibri" pitchFamily="34" charset="-120"/>
              </a:rPr>
              <a:t>16 a 27/11</a:t>
            </a:r>
            <a:endParaRPr lang="en-US" sz="750" dirty="0"/>
          </a:p>
        </p:txBody>
      </p:sp>
      <p:sp>
        <p:nvSpPr>
          <p:cNvPr id="50" name="Text 47"/>
          <p:cNvSpPr/>
          <p:nvPr/>
        </p:nvSpPr>
        <p:spPr>
          <a:xfrm>
            <a:off x="457200" y="2221992"/>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Diagnóstico e PRDs</a:t>
            </a:r>
            <a:endParaRPr lang="en-US" sz="900" dirty="0"/>
          </a:p>
        </p:txBody>
      </p:sp>
      <p:sp>
        <p:nvSpPr>
          <p:cNvPr id="51" name="Text 48"/>
          <p:cNvSpPr/>
          <p:nvPr/>
        </p:nvSpPr>
        <p:spPr>
          <a:xfrm>
            <a:off x="2286000" y="2221992"/>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a:t>
            </a:r>
            <a:endParaRPr lang="en-US" sz="750" dirty="0"/>
          </a:p>
        </p:txBody>
      </p:sp>
      <p:sp>
        <p:nvSpPr>
          <p:cNvPr id="52" name="Shape 49"/>
          <p:cNvSpPr/>
          <p:nvPr/>
        </p:nvSpPr>
        <p:spPr>
          <a:xfrm>
            <a:off x="3822192" y="2249424"/>
            <a:ext cx="219456" cy="182880"/>
          </a:xfrm>
          <a:prstGeom prst="roundRect">
            <a:avLst>
              <a:gd name="adj" fmla="val 25000"/>
            </a:avLst>
          </a:prstGeom>
          <a:solidFill>
            <a:srgbClr val="1B3A8C"/>
          </a:solidFill>
          <a:ln/>
        </p:spPr>
        <p:txBody>
          <a:bodyPr/>
          <a:p/>
        </p:txBody>
      </p:sp>
      <p:sp>
        <p:nvSpPr>
          <p:cNvPr id="53" name="Text 50"/>
          <p:cNvSpPr/>
          <p:nvPr/>
        </p:nvSpPr>
        <p:spPr>
          <a:xfrm>
            <a:off x="4078224" y="2249424"/>
            <a:ext cx="914400" cy="182880"/>
          </a:xfrm>
          <a:prstGeom prst="rect">
            <a:avLst/>
          </a:prstGeom>
          <a:noFill/>
          <a:ln/>
        </p:spPr>
        <p:txBody>
          <a:bodyPr wrap="square" lIns="0" tIns="0" rIns="0" bIns="0" rtlCol="0" anchor="ctr"/>
          <a:lstStyle/>
          <a:p>
            <a:pPr algn="l" indent="0" marL="0">
              <a:buNone/>
            </a:pPr>
            <a:r>
              <a:rPr lang="en-US" sz="750" b="1" dirty="0">
                <a:solidFill>
                  <a:srgbClr val="1B3A8C"/>
                </a:solidFill>
                <a:latin typeface="Calibri" pitchFamily="34" charset="0"/>
                <a:ea typeface="Calibri" pitchFamily="34" charset="-122"/>
                <a:cs typeface="Calibri" pitchFamily="34" charset="-120"/>
              </a:rPr>
              <a:t>07 a 18/12</a:t>
            </a:r>
            <a:endParaRPr lang="en-US" sz="750" dirty="0"/>
          </a:p>
        </p:txBody>
      </p:sp>
      <p:sp>
        <p:nvSpPr>
          <p:cNvPr id="54" name="Text 51"/>
          <p:cNvSpPr/>
          <p:nvPr/>
        </p:nvSpPr>
        <p:spPr>
          <a:xfrm>
            <a:off x="457200" y="2468880"/>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Roadmap, GTM e monetização</a:t>
            </a:r>
            <a:endParaRPr lang="en-US" sz="900" dirty="0"/>
          </a:p>
        </p:txBody>
      </p:sp>
      <p:sp>
        <p:nvSpPr>
          <p:cNvPr id="55" name="Text 52"/>
          <p:cNvSpPr/>
          <p:nvPr/>
        </p:nvSpPr>
        <p:spPr>
          <a:xfrm>
            <a:off x="2286000" y="2468880"/>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 e diretoria</a:t>
            </a:r>
            <a:endParaRPr lang="en-US" sz="750" dirty="0"/>
          </a:p>
        </p:txBody>
      </p:sp>
      <p:sp>
        <p:nvSpPr>
          <p:cNvPr id="56" name="Shape 53"/>
          <p:cNvSpPr/>
          <p:nvPr/>
        </p:nvSpPr>
        <p:spPr>
          <a:xfrm>
            <a:off x="4151376" y="2496312"/>
            <a:ext cx="365760" cy="182880"/>
          </a:xfrm>
          <a:prstGeom prst="roundRect">
            <a:avLst>
              <a:gd name="adj" fmla="val 25000"/>
            </a:avLst>
          </a:prstGeom>
          <a:solidFill>
            <a:srgbClr val="1B3A8C"/>
          </a:solidFill>
          <a:ln/>
        </p:spPr>
        <p:txBody>
          <a:bodyPr/>
          <a:p/>
        </p:txBody>
      </p:sp>
      <p:sp>
        <p:nvSpPr>
          <p:cNvPr id="57" name="Text 54"/>
          <p:cNvSpPr/>
          <p:nvPr/>
        </p:nvSpPr>
        <p:spPr>
          <a:xfrm>
            <a:off x="4553712" y="2496312"/>
            <a:ext cx="914400" cy="182880"/>
          </a:xfrm>
          <a:prstGeom prst="rect">
            <a:avLst/>
          </a:prstGeom>
          <a:noFill/>
          <a:ln/>
        </p:spPr>
        <p:txBody>
          <a:bodyPr wrap="square" lIns="0" tIns="0" rIns="0" bIns="0" rtlCol="0" anchor="ctr"/>
          <a:lstStyle/>
          <a:p>
            <a:pPr algn="l" indent="0" marL="0">
              <a:buNone/>
            </a:pPr>
            <a:r>
              <a:rPr lang="en-US" sz="750" b="1" dirty="0">
                <a:solidFill>
                  <a:srgbClr val="1B3A8C"/>
                </a:solidFill>
                <a:latin typeface="Calibri" pitchFamily="34" charset="0"/>
                <a:ea typeface="Calibri" pitchFamily="34" charset="-122"/>
                <a:cs typeface="Calibri" pitchFamily="34" charset="-120"/>
              </a:rPr>
              <a:t>jan</a:t>
            </a:r>
            <a:endParaRPr lang="en-US" sz="750" dirty="0"/>
          </a:p>
        </p:txBody>
      </p:sp>
      <p:sp>
        <p:nvSpPr>
          <p:cNvPr id="58" name="Text 55"/>
          <p:cNvSpPr/>
          <p:nvPr/>
        </p:nvSpPr>
        <p:spPr>
          <a:xfrm>
            <a:off x="457200" y="2715768"/>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Desenvolver o produto mínimo</a:t>
            </a:r>
            <a:endParaRPr lang="en-US" sz="900" dirty="0"/>
          </a:p>
        </p:txBody>
      </p:sp>
      <p:sp>
        <p:nvSpPr>
          <p:cNvPr id="59" name="Text 56"/>
          <p:cNvSpPr/>
          <p:nvPr/>
        </p:nvSpPr>
        <p:spPr>
          <a:xfrm>
            <a:off x="2286000" y="2715768"/>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Dreamer</a:t>
            </a:r>
            <a:endParaRPr lang="en-US" sz="750" dirty="0"/>
          </a:p>
        </p:txBody>
      </p:sp>
      <p:sp>
        <p:nvSpPr>
          <p:cNvPr id="60" name="Shape 57"/>
          <p:cNvSpPr/>
          <p:nvPr/>
        </p:nvSpPr>
        <p:spPr>
          <a:xfrm>
            <a:off x="4553712" y="2743200"/>
            <a:ext cx="1097280" cy="182880"/>
          </a:xfrm>
          <a:prstGeom prst="roundRect">
            <a:avLst>
              <a:gd name="adj" fmla="val 25000"/>
            </a:avLst>
          </a:prstGeom>
          <a:solidFill>
            <a:srgbClr val="1B3A8C"/>
          </a:solidFill>
          <a:ln/>
        </p:spPr>
        <p:txBody>
          <a:bodyPr/>
          <a:p/>
        </p:txBody>
      </p:sp>
      <p:sp>
        <p:nvSpPr>
          <p:cNvPr id="61" name="Text 58"/>
          <p:cNvSpPr/>
          <p:nvPr/>
        </p:nvSpPr>
        <p:spPr>
          <a:xfrm>
            <a:off x="4553712" y="2743200"/>
            <a:ext cx="109728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fev a abr</a:t>
            </a:r>
            <a:endParaRPr lang="en-US" sz="750" dirty="0"/>
          </a:p>
        </p:txBody>
      </p:sp>
      <p:sp>
        <p:nvSpPr>
          <p:cNvPr id="62" name="Text 59"/>
          <p:cNvSpPr/>
          <p:nvPr/>
        </p:nvSpPr>
        <p:spPr>
          <a:xfrm>
            <a:off x="457200" y="2962656"/>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Piloto em 3 a 5 fazendas</a:t>
            </a:r>
            <a:endParaRPr lang="en-US" sz="900" dirty="0"/>
          </a:p>
        </p:txBody>
      </p:sp>
      <p:sp>
        <p:nvSpPr>
          <p:cNvPr id="63" name="Text 60"/>
          <p:cNvSpPr/>
          <p:nvPr/>
        </p:nvSpPr>
        <p:spPr>
          <a:xfrm>
            <a:off x="2286000" y="2962656"/>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 e técnicos</a:t>
            </a:r>
            <a:endParaRPr lang="en-US" sz="750" dirty="0"/>
          </a:p>
        </p:txBody>
      </p:sp>
      <p:sp>
        <p:nvSpPr>
          <p:cNvPr id="64" name="Shape 61"/>
          <p:cNvSpPr/>
          <p:nvPr/>
        </p:nvSpPr>
        <p:spPr>
          <a:xfrm>
            <a:off x="5577840" y="2990088"/>
            <a:ext cx="731520" cy="182880"/>
          </a:xfrm>
          <a:prstGeom prst="roundRect">
            <a:avLst>
              <a:gd name="adj" fmla="val 25000"/>
            </a:avLst>
          </a:prstGeom>
          <a:solidFill>
            <a:srgbClr val="C8106E"/>
          </a:solidFill>
          <a:ln/>
        </p:spPr>
        <p:txBody>
          <a:bodyPr/>
          <a:p/>
        </p:txBody>
      </p:sp>
      <p:sp>
        <p:nvSpPr>
          <p:cNvPr id="65" name="Text 62"/>
          <p:cNvSpPr/>
          <p:nvPr/>
        </p:nvSpPr>
        <p:spPr>
          <a:xfrm>
            <a:off x="5577840" y="2990088"/>
            <a:ext cx="73152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mai a jun</a:t>
            </a:r>
            <a:endParaRPr lang="en-US" sz="750" dirty="0"/>
          </a:p>
        </p:txBody>
      </p:sp>
      <p:sp>
        <p:nvSpPr>
          <p:cNvPr id="66" name="Text 63"/>
          <p:cNvSpPr/>
          <p:nvPr/>
        </p:nvSpPr>
        <p:spPr>
          <a:xfrm>
            <a:off x="457200" y="3209544"/>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Rodrigo atende até 20 fazendas</a:t>
            </a:r>
            <a:endParaRPr lang="en-US" sz="900" dirty="0"/>
          </a:p>
        </p:txBody>
      </p:sp>
      <p:sp>
        <p:nvSpPr>
          <p:cNvPr id="67" name="Text 64"/>
          <p:cNvSpPr/>
          <p:nvPr/>
        </p:nvSpPr>
        <p:spPr>
          <a:xfrm>
            <a:off x="2286000" y="3209544"/>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a:t>
            </a:r>
            <a:endParaRPr lang="en-US" sz="750" dirty="0"/>
          </a:p>
        </p:txBody>
      </p:sp>
      <p:sp>
        <p:nvSpPr>
          <p:cNvPr id="68" name="Shape 65"/>
          <p:cNvSpPr/>
          <p:nvPr/>
        </p:nvSpPr>
        <p:spPr>
          <a:xfrm>
            <a:off x="6309360" y="3236976"/>
            <a:ext cx="1463040" cy="182880"/>
          </a:xfrm>
          <a:prstGeom prst="roundRect">
            <a:avLst>
              <a:gd name="adj" fmla="val 25000"/>
            </a:avLst>
          </a:prstGeom>
          <a:solidFill>
            <a:srgbClr val="C8106E"/>
          </a:solidFill>
          <a:ln/>
        </p:spPr>
        <p:txBody>
          <a:bodyPr/>
          <a:p/>
        </p:txBody>
      </p:sp>
      <p:sp>
        <p:nvSpPr>
          <p:cNvPr id="69" name="Text 66"/>
          <p:cNvSpPr/>
          <p:nvPr/>
        </p:nvSpPr>
        <p:spPr>
          <a:xfrm>
            <a:off x="6309360" y="3236976"/>
            <a:ext cx="146304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jul a out</a:t>
            </a:r>
            <a:endParaRPr lang="en-US" sz="750" dirty="0"/>
          </a:p>
        </p:txBody>
      </p:sp>
      <p:sp>
        <p:nvSpPr>
          <p:cNvPr id="70" name="Text 67"/>
          <p:cNvSpPr/>
          <p:nvPr/>
        </p:nvSpPr>
        <p:spPr>
          <a:xfrm>
            <a:off x="457200" y="3456432"/>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Analistas online</a:t>
            </a:r>
            <a:endParaRPr lang="en-US" sz="900" dirty="0"/>
          </a:p>
        </p:txBody>
      </p:sp>
      <p:sp>
        <p:nvSpPr>
          <p:cNvPr id="71" name="Text 68"/>
          <p:cNvSpPr/>
          <p:nvPr/>
        </p:nvSpPr>
        <p:spPr>
          <a:xfrm>
            <a:off x="2286000" y="3456432"/>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Diretoria aprova</a:t>
            </a:r>
            <a:endParaRPr lang="en-US" sz="750" dirty="0"/>
          </a:p>
        </p:txBody>
      </p:sp>
      <p:sp>
        <p:nvSpPr>
          <p:cNvPr id="72" name="Shape 69"/>
          <p:cNvSpPr/>
          <p:nvPr/>
        </p:nvSpPr>
        <p:spPr>
          <a:xfrm>
            <a:off x="7772400" y="3483864"/>
            <a:ext cx="731520" cy="182880"/>
          </a:xfrm>
          <a:prstGeom prst="roundRect">
            <a:avLst>
              <a:gd name="adj" fmla="val 25000"/>
            </a:avLst>
          </a:prstGeom>
          <a:solidFill>
            <a:srgbClr val="C8106E"/>
          </a:solidFill>
          <a:ln/>
        </p:spPr>
        <p:txBody>
          <a:bodyPr/>
          <a:p/>
        </p:txBody>
      </p:sp>
      <p:sp>
        <p:nvSpPr>
          <p:cNvPr id="73" name="Text 70"/>
          <p:cNvSpPr/>
          <p:nvPr/>
        </p:nvSpPr>
        <p:spPr>
          <a:xfrm>
            <a:off x="7772400" y="3483864"/>
            <a:ext cx="73152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nov em diante</a:t>
            </a:r>
            <a:endParaRPr lang="en-US" sz="750" dirty="0"/>
          </a:p>
        </p:txBody>
      </p:sp>
      <p:sp>
        <p:nvSpPr>
          <p:cNvPr id="74" name="Text 71"/>
          <p:cNvSpPr/>
          <p:nvPr/>
        </p:nvSpPr>
        <p:spPr>
          <a:xfrm>
            <a:off x="457200" y="3703320"/>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Grupo piloto e fechamento de safra</a:t>
            </a:r>
            <a:endParaRPr lang="en-US" sz="900" dirty="0"/>
          </a:p>
        </p:txBody>
      </p:sp>
      <p:sp>
        <p:nvSpPr>
          <p:cNvPr id="75" name="Text 72"/>
          <p:cNvSpPr/>
          <p:nvPr/>
        </p:nvSpPr>
        <p:spPr>
          <a:xfrm>
            <a:off x="2286000" y="3703320"/>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 e analistas</a:t>
            </a:r>
            <a:endParaRPr lang="en-US" sz="750" dirty="0"/>
          </a:p>
        </p:txBody>
      </p:sp>
      <p:sp>
        <p:nvSpPr>
          <p:cNvPr id="76" name="Shape 73"/>
          <p:cNvSpPr/>
          <p:nvPr/>
        </p:nvSpPr>
        <p:spPr>
          <a:xfrm>
            <a:off x="7406640" y="3730752"/>
            <a:ext cx="1097280" cy="182880"/>
          </a:xfrm>
          <a:prstGeom prst="roundRect">
            <a:avLst>
              <a:gd name="adj" fmla="val 25000"/>
            </a:avLst>
          </a:prstGeom>
          <a:solidFill>
            <a:srgbClr val="C5D300"/>
          </a:solidFill>
          <a:ln/>
        </p:spPr>
        <p:txBody>
          <a:bodyPr/>
          <a:p/>
        </p:txBody>
      </p:sp>
      <p:sp>
        <p:nvSpPr>
          <p:cNvPr id="77" name="Text 74"/>
          <p:cNvSpPr/>
          <p:nvPr/>
        </p:nvSpPr>
        <p:spPr>
          <a:xfrm>
            <a:off x="7406640" y="3730752"/>
            <a:ext cx="1097280" cy="182880"/>
          </a:xfrm>
          <a:prstGeom prst="rect">
            <a:avLst/>
          </a:prstGeom>
          <a:noFill/>
          <a:ln/>
        </p:spPr>
        <p:txBody>
          <a:bodyPr wrap="square" lIns="0" tIns="0" rIns="0" bIns="0" rtlCol="0" anchor="ctr"/>
          <a:lstStyle/>
          <a:p>
            <a:pPr algn="ctr" indent="0" marL="0">
              <a:buNone/>
            </a:pPr>
            <a:r>
              <a:rPr lang="en-US" sz="750" b="1" dirty="0">
                <a:solidFill>
                  <a:srgbClr val="1B3A8C"/>
                </a:solidFill>
                <a:latin typeface="Calibri" pitchFamily="34" charset="0"/>
                <a:ea typeface="Calibri" pitchFamily="34" charset="-122"/>
                <a:cs typeface="Calibri" pitchFamily="34" charset="-120"/>
              </a:rPr>
              <a:t>out a dez</a:t>
            </a:r>
            <a:endParaRPr lang="en-US" sz="750" dirty="0"/>
          </a:p>
        </p:txBody>
      </p:sp>
      <p:sp>
        <p:nvSpPr>
          <p:cNvPr id="78" name="Text 75"/>
          <p:cNvSpPr/>
          <p:nvPr/>
        </p:nvSpPr>
        <p:spPr>
          <a:xfrm>
            <a:off x="457200" y="3986784"/>
            <a:ext cx="1828800" cy="237744"/>
          </a:xfrm>
          <a:prstGeom prst="rect">
            <a:avLst/>
          </a:prstGeom>
          <a:noFill/>
          <a:ln/>
        </p:spPr>
        <p:txBody>
          <a:bodyPr wrap="square" lIns="0" tIns="0" rIns="0" bIns="0" rtlCol="0" anchor="ctr"/>
          <a:lstStyle/>
          <a:p>
            <a:pPr indent="0" marL="0">
              <a:buNone/>
            </a:pPr>
            <a:r>
              <a:rPr lang="en-US" sz="900" b="1" dirty="0">
                <a:solidFill>
                  <a:srgbClr val="C8106E"/>
                </a:solidFill>
                <a:latin typeface="Calibri" pitchFamily="34" charset="0"/>
                <a:ea typeface="Calibri" pitchFamily="34" charset="-122"/>
                <a:cs typeface="Calibri" pitchFamily="34" charset="-120"/>
              </a:rPr>
              <a:t>Decisões</a:t>
            </a:r>
            <a:endParaRPr lang="en-US" sz="900" dirty="0"/>
          </a:p>
        </p:txBody>
      </p:sp>
      <p:sp>
        <p:nvSpPr>
          <p:cNvPr id="79" name="Shape 76"/>
          <p:cNvSpPr/>
          <p:nvPr/>
        </p:nvSpPr>
        <p:spPr>
          <a:xfrm>
            <a:off x="3950208" y="4023360"/>
            <a:ext cx="182880" cy="182880"/>
          </a:xfrm>
          <a:prstGeom prst="diamond">
            <a:avLst/>
          </a:prstGeom>
          <a:solidFill>
            <a:srgbClr val="C5D300"/>
          </a:solidFill>
          <a:ln/>
        </p:spPr>
        <p:txBody>
          <a:bodyPr/>
          <a:p/>
        </p:txBody>
      </p:sp>
      <p:sp>
        <p:nvSpPr>
          <p:cNvPr id="80" name="Text 77"/>
          <p:cNvSpPr/>
          <p:nvPr/>
        </p:nvSpPr>
        <p:spPr>
          <a:xfrm>
            <a:off x="3035808" y="4215384"/>
            <a:ext cx="1097280" cy="164592"/>
          </a:xfrm>
          <a:prstGeom prst="rect">
            <a:avLst/>
          </a:prstGeom>
          <a:noFill/>
          <a:ln/>
        </p:spPr>
        <p:txBody>
          <a:bodyPr wrap="square" lIns="0" tIns="0" rIns="0" bIns="0" rtlCol="0" anchor="t"/>
          <a:lstStyle/>
          <a:p>
            <a:pPr algn="r" indent="0" marL="0">
              <a:buNone/>
            </a:pPr>
            <a:r>
              <a:rPr lang="en-US" sz="750" b="1" dirty="0">
                <a:solidFill>
                  <a:srgbClr val="1B3A8C"/>
                </a:solidFill>
                <a:latin typeface="Calibri" pitchFamily="34" charset="0"/>
                <a:ea typeface="Calibri" pitchFamily="34" charset="-122"/>
                <a:cs typeface="Calibri" pitchFamily="34" charset="-120"/>
              </a:rPr>
              <a:t>G0: escopo</a:t>
            </a:r>
            <a:endParaRPr lang="en-US" sz="750" dirty="0"/>
          </a:p>
        </p:txBody>
      </p:sp>
      <p:sp>
        <p:nvSpPr>
          <p:cNvPr id="81" name="Shape 78"/>
          <p:cNvSpPr/>
          <p:nvPr/>
        </p:nvSpPr>
        <p:spPr>
          <a:xfrm>
            <a:off x="4425696" y="4023360"/>
            <a:ext cx="182880" cy="182880"/>
          </a:xfrm>
          <a:prstGeom prst="diamond">
            <a:avLst/>
          </a:prstGeom>
          <a:solidFill>
            <a:srgbClr val="C5D300"/>
          </a:solidFill>
          <a:ln/>
        </p:spPr>
        <p:txBody>
          <a:bodyPr/>
          <a:p/>
        </p:txBody>
      </p:sp>
      <p:sp>
        <p:nvSpPr>
          <p:cNvPr id="82" name="Text 79"/>
          <p:cNvSpPr/>
          <p:nvPr/>
        </p:nvSpPr>
        <p:spPr>
          <a:xfrm>
            <a:off x="4425696" y="4215384"/>
            <a:ext cx="1097280" cy="164592"/>
          </a:xfrm>
          <a:prstGeom prst="rect">
            <a:avLst/>
          </a:prstGeom>
          <a:noFill/>
          <a:ln/>
        </p:spPr>
        <p:txBody>
          <a:bodyPr wrap="square" lIns="0" tIns="0" rIns="0" bIns="0" rtlCol="0" anchor="t"/>
          <a:lstStyle/>
          <a:p>
            <a:pPr algn="l" indent="0" marL="0">
              <a:buNone/>
            </a:pPr>
            <a:r>
              <a:rPr lang="en-US" sz="750" b="1" dirty="0">
                <a:solidFill>
                  <a:srgbClr val="1B3A8C"/>
                </a:solidFill>
                <a:latin typeface="Calibri" pitchFamily="34" charset="0"/>
                <a:ea typeface="Calibri" pitchFamily="34" charset="-122"/>
                <a:cs typeface="Calibri" pitchFamily="34" charset="-120"/>
              </a:rPr>
              <a:t>Aprovação: investimento</a:t>
            </a:r>
            <a:endParaRPr lang="en-US" sz="750" dirty="0"/>
          </a:p>
        </p:txBody>
      </p:sp>
      <p:sp>
        <p:nvSpPr>
          <p:cNvPr id="83" name="Shape 80"/>
          <p:cNvSpPr/>
          <p:nvPr/>
        </p:nvSpPr>
        <p:spPr>
          <a:xfrm>
            <a:off x="6217920" y="4023360"/>
            <a:ext cx="182880" cy="182880"/>
          </a:xfrm>
          <a:prstGeom prst="diamond">
            <a:avLst/>
          </a:prstGeom>
          <a:solidFill>
            <a:srgbClr val="C5D300"/>
          </a:solidFill>
          <a:ln/>
        </p:spPr>
        <p:txBody>
          <a:bodyPr/>
          <a:p/>
        </p:txBody>
      </p:sp>
      <p:sp>
        <p:nvSpPr>
          <p:cNvPr id="84" name="Text 81"/>
          <p:cNvSpPr/>
          <p:nvPr/>
        </p:nvSpPr>
        <p:spPr>
          <a:xfrm>
            <a:off x="5760720" y="4215384"/>
            <a:ext cx="1097280" cy="164592"/>
          </a:xfrm>
          <a:prstGeom prst="rect">
            <a:avLst/>
          </a:prstGeom>
          <a:noFill/>
          <a:ln/>
        </p:spPr>
        <p:txBody>
          <a:bodyPr wrap="square" lIns="0" tIns="0" rIns="0" bIns="0" rtlCol="0" anchor="t"/>
          <a:lstStyle/>
          <a:p>
            <a:pPr algn="ctr" indent="0" marL="0">
              <a:buNone/>
            </a:pPr>
            <a:r>
              <a:rPr lang="en-US" sz="750" b="1" dirty="0">
                <a:solidFill>
                  <a:srgbClr val="1B3A8C"/>
                </a:solidFill>
                <a:latin typeface="Calibri" pitchFamily="34" charset="0"/>
                <a:ea typeface="Calibri" pitchFamily="34" charset="-122"/>
                <a:cs typeface="Calibri" pitchFamily="34" charset="-120"/>
              </a:rPr>
              <a:t>G1: piloto</a:t>
            </a:r>
            <a:endParaRPr lang="en-US" sz="750" dirty="0"/>
          </a:p>
        </p:txBody>
      </p:sp>
      <p:sp>
        <p:nvSpPr>
          <p:cNvPr id="85" name="Shape 82"/>
          <p:cNvSpPr/>
          <p:nvPr/>
        </p:nvSpPr>
        <p:spPr>
          <a:xfrm>
            <a:off x="7680960" y="4023360"/>
            <a:ext cx="182880" cy="182880"/>
          </a:xfrm>
          <a:prstGeom prst="diamond">
            <a:avLst/>
          </a:prstGeom>
          <a:solidFill>
            <a:srgbClr val="C5D300"/>
          </a:solidFill>
          <a:ln/>
        </p:spPr>
        <p:txBody>
          <a:bodyPr/>
          <a:p/>
        </p:txBody>
      </p:sp>
      <p:sp>
        <p:nvSpPr>
          <p:cNvPr id="86" name="Text 83"/>
          <p:cNvSpPr/>
          <p:nvPr/>
        </p:nvSpPr>
        <p:spPr>
          <a:xfrm>
            <a:off x="7223760" y="4215384"/>
            <a:ext cx="1097280" cy="164592"/>
          </a:xfrm>
          <a:prstGeom prst="rect">
            <a:avLst/>
          </a:prstGeom>
          <a:noFill/>
          <a:ln/>
        </p:spPr>
        <p:txBody>
          <a:bodyPr wrap="square" lIns="0" tIns="0" rIns="0" bIns="0" rtlCol="0" anchor="t"/>
          <a:lstStyle/>
          <a:p>
            <a:pPr algn="ctr" indent="0" marL="0">
              <a:buNone/>
            </a:pPr>
            <a:r>
              <a:rPr lang="en-US" sz="750" b="1" dirty="0">
                <a:solidFill>
                  <a:srgbClr val="1B3A8C"/>
                </a:solidFill>
                <a:latin typeface="Calibri" pitchFamily="34" charset="0"/>
                <a:ea typeface="Calibri" pitchFamily="34" charset="-122"/>
                <a:cs typeface="Calibri" pitchFamily="34" charset="-120"/>
              </a:rPr>
              <a:t>G2: escala</a:t>
            </a:r>
            <a:endParaRPr lang="en-US" sz="750" dirty="0"/>
          </a:p>
        </p:txBody>
      </p:sp>
      <p:sp>
        <p:nvSpPr>
          <p:cNvPr id="87" name="TextBox 86"/>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6  ·  ATÉ ONDE VAMOS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Cronograma de 4 anos: 2027 a 2030</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Do piloto à comunidade de confinadores TN. Metas propostas, revistas a cada gate.</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25</a:t>
            </a:r>
            <a:endParaRPr lang="en-US" sz="900" dirty="0"/>
          </a:p>
        </p:txBody>
      </p:sp>
      <p:sp>
        <p:nvSpPr>
          <p:cNvPr id="6" name="Shape 3"/>
          <p:cNvSpPr/>
          <p:nvPr/>
        </p:nvSpPr>
        <p:spPr>
          <a:xfrm>
            <a:off x="1874520" y="1097280"/>
            <a:ext cx="1645920" cy="457200"/>
          </a:xfrm>
          <a:prstGeom prst="rect">
            <a:avLst/>
          </a:prstGeom>
          <a:solidFill>
            <a:srgbClr val="26668F"/>
          </a:solidFill>
          <a:ln/>
        </p:spPr>
        <p:txBody>
          <a:bodyPr/>
          <a:p/>
        </p:txBody>
      </p:sp>
      <p:sp>
        <p:nvSpPr>
          <p:cNvPr id="7" name="Text 4"/>
          <p:cNvSpPr/>
          <p:nvPr/>
        </p:nvSpPr>
        <p:spPr>
          <a:xfrm>
            <a:off x="1874520" y="1097280"/>
            <a:ext cx="1645920" cy="2468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2027</a:t>
            </a:r>
            <a:endParaRPr lang="en-US" sz="1300" dirty="0"/>
          </a:p>
        </p:txBody>
      </p:sp>
      <p:sp>
        <p:nvSpPr>
          <p:cNvPr id="8" name="Text 5"/>
          <p:cNvSpPr/>
          <p:nvPr/>
        </p:nvSpPr>
        <p:spPr>
          <a:xfrm>
            <a:off x="1874520" y="1325880"/>
            <a:ext cx="1645920" cy="201168"/>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Piloto e 20 fazendas</a:t>
            </a:r>
            <a:endParaRPr lang="en-US" sz="850" dirty="0"/>
          </a:p>
        </p:txBody>
      </p:sp>
      <p:sp>
        <p:nvSpPr>
          <p:cNvPr id="9" name="Shape 6"/>
          <p:cNvSpPr/>
          <p:nvPr/>
        </p:nvSpPr>
        <p:spPr>
          <a:xfrm>
            <a:off x="3575304" y="1097280"/>
            <a:ext cx="1645920" cy="457200"/>
          </a:xfrm>
          <a:prstGeom prst="rect">
            <a:avLst/>
          </a:prstGeom>
          <a:solidFill>
            <a:srgbClr val="1B3A8C"/>
          </a:solidFill>
          <a:ln/>
        </p:spPr>
        <p:txBody>
          <a:bodyPr/>
          <a:p/>
        </p:txBody>
      </p:sp>
      <p:sp>
        <p:nvSpPr>
          <p:cNvPr id="10" name="Text 7"/>
          <p:cNvSpPr/>
          <p:nvPr/>
        </p:nvSpPr>
        <p:spPr>
          <a:xfrm>
            <a:off x="3575304" y="1097280"/>
            <a:ext cx="1645920" cy="2468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2028</a:t>
            </a:r>
            <a:endParaRPr lang="en-US" sz="1300" dirty="0"/>
          </a:p>
        </p:txBody>
      </p:sp>
      <p:sp>
        <p:nvSpPr>
          <p:cNvPr id="11" name="Text 8"/>
          <p:cNvSpPr/>
          <p:nvPr/>
        </p:nvSpPr>
        <p:spPr>
          <a:xfrm>
            <a:off x="3575304" y="1325880"/>
            <a:ext cx="1645920" cy="201168"/>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Grupo e 1º evento</a:t>
            </a:r>
            <a:endParaRPr lang="en-US" sz="850" dirty="0"/>
          </a:p>
        </p:txBody>
      </p:sp>
      <p:sp>
        <p:nvSpPr>
          <p:cNvPr id="12" name="Shape 9"/>
          <p:cNvSpPr/>
          <p:nvPr/>
        </p:nvSpPr>
        <p:spPr>
          <a:xfrm>
            <a:off x="5276088" y="1097280"/>
            <a:ext cx="1645920" cy="457200"/>
          </a:xfrm>
          <a:prstGeom prst="rect">
            <a:avLst/>
          </a:prstGeom>
          <a:solidFill>
            <a:srgbClr val="C8106E"/>
          </a:solidFill>
          <a:ln/>
        </p:spPr>
        <p:txBody>
          <a:bodyPr/>
          <a:p/>
        </p:txBody>
      </p:sp>
      <p:sp>
        <p:nvSpPr>
          <p:cNvPr id="13" name="Text 10"/>
          <p:cNvSpPr/>
          <p:nvPr/>
        </p:nvSpPr>
        <p:spPr>
          <a:xfrm>
            <a:off x="5276088" y="1097280"/>
            <a:ext cx="1645920" cy="2468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2029</a:t>
            </a:r>
            <a:endParaRPr lang="en-US" sz="1300" dirty="0"/>
          </a:p>
        </p:txBody>
      </p:sp>
      <p:sp>
        <p:nvSpPr>
          <p:cNvPr id="14" name="Text 11"/>
          <p:cNvSpPr/>
          <p:nvPr/>
        </p:nvSpPr>
        <p:spPr>
          <a:xfrm>
            <a:off x="5276088" y="1325880"/>
            <a:ext cx="1645920" cy="201168"/>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Benchmark e fidelidade</a:t>
            </a:r>
            <a:endParaRPr lang="en-US" sz="850" dirty="0"/>
          </a:p>
        </p:txBody>
      </p:sp>
      <p:sp>
        <p:nvSpPr>
          <p:cNvPr id="15" name="Shape 12"/>
          <p:cNvSpPr/>
          <p:nvPr/>
        </p:nvSpPr>
        <p:spPr>
          <a:xfrm>
            <a:off x="6976872" y="1097280"/>
            <a:ext cx="1645920" cy="457200"/>
          </a:xfrm>
          <a:prstGeom prst="rect">
            <a:avLst/>
          </a:prstGeom>
          <a:solidFill>
            <a:srgbClr val="C5D300"/>
          </a:solidFill>
          <a:ln/>
        </p:spPr>
        <p:txBody>
          <a:bodyPr/>
          <a:p/>
        </p:txBody>
      </p:sp>
      <p:sp>
        <p:nvSpPr>
          <p:cNvPr id="16" name="Text 13"/>
          <p:cNvSpPr/>
          <p:nvPr/>
        </p:nvSpPr>
        <p:spPr>
          <a:xfrm>
            <a:off x="6976872" y="1097280"/>
            <a:ext cx="1645920" cy="246888"/>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2030</a:t>
            </a:r>
            <a:endParaRPr lang="en-US" sz="1300" dirty="0"/>
          </a:p>
        </p:txBody>
      </p:sp>
      <p:sp>
        <p:nvSpPr>
          <p:cNvPr id="17" name="Text 14"/>
          <p:cNvSpPr/>
          <p:nvPr/>
        </p:nvSpPr>
        <p:spPr>
          <a:xfrm>
            <a:off x="6976872" y="1325880"/>
            <a:ext cx="1645920" cy="201168"/>
          </a:xfrm>
          <a:prstGeom prst="rect">
            <a:avLst/>
          </a:prstGeom>
          <a:noFill/>
          <a:ln/>
        </p:spPr>
        <p:txBody>
          <a:bodyPr wrap="square" lIns="0" tIns="0" rIns="0" bIns="0" rtlCol="0" anchor="t"/>
          <a:lstStyle/>
          <a:p>
            <a:pPr algn="ctr" indent="0" marL="0">
              <a:buNone/>
            </a:pPr>
            <a:r>
              <a:rPr lang="en-US" sz="850" dirty="0">
                <a:solidFill>
                  <a:srgbClr val="1B3A8C"/>
                </a:solidFill>
                <a:latin typeface="Calibri" pitchFamily="34" charset="0"/>
                <a:ea typeface="Calibri" pitchFamily="34" charset="-122"/>
                <a:cs typeface="Calibri" pitchFamily="34" charset="-120"/>
              </a:rPr>
              <a:t>Programa de dados</a:t>
            </a:r>
            <a:endParaRPr lang="en-US" sz="850" dirty="0"/>
          </a:p>
        </p:txBody>
      </p:sp>
      <p:sp>
        <p:nvSpPr>
          <p:cNvPr id="18" name="Shape 15"/>
          <p:cNvSpPr/>
          <p:nvPr/>
        </p:nvSpPr>
        <p:spPr>
          <a:xfrm>
            <a:off x="457200" y="1627632"/>
            <a:ext cx="1371600" cy="457200"/>
          </a:xfrm>
          <a:prstGeom prst="rect">
            <a:avLst/>
          </a:prstGeom>
          <a:solidFill>
            <a:srgbClr val="1B3A8C"/>
          </a:solidFill>
          <a:ln/>
        </p:spPr>
        <p:txBody>
          <a:bodyPr/>
          <a:p/>
        </p:txBody>
      </p:sp>
      <p:sp>
        <p:nvSpPr>
          <p:cNvPr id="19" name="Text 16"/>
          <p:cNvSpPr/>
          <p:nvPr/>
        </p:nvSpPr>
        <p:spPr>
          <a:xfrm>
            <a:off x="530352" y="1627632"/>
            <a:ext cx="1261872" cy="45720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Produto</a:t>
            </a:r>
            <a:endParaRPr lang="en-US" sz="950" dirty="0"/>
          </a:p>
        </p:txBody>
      </p:sp>
      <p:sp>
        <p:nvSpPr>
          <p:cNvPr id="20" name="Shape 17"/>
          <p:cNvSpPr/>
          <p:nvPr/>
        </p:nvSpPr>
        <p:spPr>
          <a:xfrm>
            <a:off x="1874520" y="1627632"/>
            <a:ext cx="1645920" cy="457200"/>
          </a:xfrm>
          <a:prstGeom prst="rect">
            <a:avLst/>
          </a:prstGeom>
          <a:solidFill>
            <a:srgbClr val="F4F6F8"/>
          </a:solidFill>
          <a:ln/>
        </p:spPr>
        <p:txBody>
          <a:bodyPr/>
          <a:p/>
        </p:txBody>
      </p:sp>
      <p:sp>
        <p:nvSpPr>
          <p:cNvPr id="21" name="Text 18"/>
          <p:cNvSpPr/>
          <p:nvPr/>
        </p:nvSpPr>
        <p:spPr>
          <a:xfrm>
            <a:off x="1929384" y="162763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Produto mínimo e piloto; versão estável</a:t>
            </a:r>
            <a:endParaRPr lang="en-US" sz="850" dirty="0"/>
          </a:p>
        </p:txBody>
      </p:sp>
      <p:sp>
        <p:nvSpPr>
          <p:cNvPr id="22" name="Shape 19"/>
          <p:cNvSpPr/>
          <p:nvPr/>
        </p:nvSpPr>
        <p:spPr>
          <a:xfrm>
            <a:off x="3575304" y="1627632"/>
            <a:ext cx="1645920" cy="457200"/>
          </a:xfrm>
          <a:prstGeom prst="rect">
            <a:avLst/>
          </a:prstGeom>
          <a:solidFill>
            <a:srgbClr val="F4F6F8"/>
          </a:solidFill>
          <a:ln/>
        </p:spPr>
        <p:txBody>
          <a:bodyPr/>
          <a:p/>
        </p:txBody>
      </p:sp>
      <p:sp>
        <p:nvSpPr>
          <p:cNvPr id="23" name="Text 20"/>
          <p:cNvSpPr/>
          <p:nvPr/>
        </p:nvSpPr>
        <p:spPr>
          <a:xfrm>
            <a:off x="3630168" y="162763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Uso sem sinal e integração com NOA</a:t>
            </a:r>
            <a:endParaRPr lang="en-US" sz="850" dirty="0"/>
          </a:p>
        </p:txBody>
      </p:sp>
      <p:sp>
        <p:nvSpPr>
          <p:cNvPr id="24" name="Shape 21"/>
          <p:cNvSpPr/>
          <p:nvPr/>
        </p:nvSpPr>
        <p:spPr>
          <a:xfrm>
            <a:off x="5276088" y="1627632"/>
            <a:ext cx="1645920" cy="457200"/>
          </a:xfrm>
          <a:prstGeom prst="rect">
            <a:avLst/>
          </a:prstGeom>
          <a:solidFill>
            <a:srgbClr val="F4F6F8"/>
          </a:solidFill>
          <a:ln/>
        </p:spPr>
        <p:txBody>
          <a:bodyPr/>
          <a:p/>
        </p:txBody>
      </p:sp>
      <p:sp>
        <p:nvSpPr>
          <p:cNvPr id="25" name="Text 22"/>
          <p:cNvSpPr/>
          <p:nvPr/>
        </p:nvSpPr>
        <p:spPr>
          <a:xfrm>
            <a:off x="5330952" y="162763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Painel de benchmark entre fazendas</a:t>
            </a:r>
            <a:endParaRPr lang="en-US" sz="850" dirty="0"/>
          </a:p>
        </p:txBody>
      </p:sp>
      <p:sp>
        <p:nvSpPr>
          <p:cNvPr id="26" name="Shape 23"/>
          <p:cNvSpPr/>
          <p:nvPr/>
        </p:nvSpPr>
        <p:spPr>
          <a:xfrm>
            <a:off x="6976872" y="1627632"/>
            <a:ext cx="1645920" cy="457200"/>
          </a:xfrm>
          <a:prstGeom prst="rect">
            <a:avLst/>
          </a:prstGeom>
          <a:solidFill>
            <a:srgbClr val="F4F6F8"/>
          </a:solidFill>
          <a:ln/>
        </p:spPr>
        <p:txBody>
          <a:bodyPr/>
          <a:p/>
        </p:txBody>
      </p:sp>
      <p:sp>
        <p:nvSpPr>
          <p:cNvPr id="27" name="Text 24"/>
          <p:cNvSpPr/>
          <p:nvPr/>
        </p:nvSpPr>
        <p:spPr>
          <a:xfrm>
            <a:off x="7031736" y="162763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Pegada de carbono e recomendação de produto</a:t>
            </a:r>
            <a:endParaRPr lang="en-US" sz="850" dirty="0"/>
          </a:p>
        </p:txBody>
      </p:sp>
      <p:sp>
        <p:nvSpPr>
          <p:cNvPr id="28" name="Shape 25"/>
          <p:cNvSpPr/>
          <p:nvPr/>
        </p:nvSpPr>
        <p:spPr>
          <a:xfrm>
            <a:off x="457200" y="2130552"/>
            <a:ext cx="1371600" cy="457200"/>
          </a:xfrm>
          <a:prstGeom prst="rect">
            <a:avLst/>
          </a:prstGeom>
          <a:solidFill>
            <a:srgbClr val="1B3A8C"/>
          </a:solidFill>
          <a:ln/>
        </p:spPr>
        <p:txBody>
          <a:bodyPr/>
          <a:p/>
        </p:txBody>
      </p:sp>
      <p:sp>
        <p:nvSpPr>
          <p:cNvPr id="29" name="Text 26"/>
          <p:cNvSpPr/>
          <p:nvPr/>
        </p:nvSpPr>
        <p:spPr>
          <a:xfrm>
            <a:off x="530352" y="2130552"/>
            <a:ext cx="1261872" cy="45720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Atendimento técnico</a:t>
            </a:r>
            <a:endParaRPr lang="en-US" sz="950" dirty="0"/>
          </a:p>
        </p:txBody>
      </p:sp>
      <p:sp>
        <p:nvSpPr>
          <p:cNvPr id="30" name="Shape 27"/>
          <p:cNvSpPr/>
          <p:nvPr/>
        </p:nvSpPr>
        <p:spPr>
          <a:xfrm>
            <a:off x="1874520" y="2130552"/>
            <a:ext cx="1645920" cy="457200"/>
          </a:xfrm>
          <a:prstGeom prst="rect">
            <a:avLst/>
          </a:prstGeom>
          <a:solidFill>
            <a:srgbClr val="F4F6F8"/>
          </a:solidFill>
          <a:ln/>
        </p:spPr>
        <p:txBody>
          <a:bodyPr/>
          <a:p/>
        </p:txBody>
      </p:sp>
      <p:sp>
        <p:nvSpPr>
          <p:cNvPr id="31" name="Text 28"/>
          <p:cNvSpPr/>
          <p:nvPr/>
        </p:nvSpPr>
        <p:spPr>
          <a:xfrm>
            <a:off x="1929384" y="213055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Rodrigo analisa; técnicos de campo apoiam</a:t>
            </a:r>
            <a:endParaRPr lang="en-US" sz="850" dirty="0"/>
          </a:p>
        </p:txBody>
      </p:sp>
      <p:sp>
        <p:nvSpPr>
          <p:cNvPr id="32" name="Shape 29"/>
          <p:cNvSpPr/>
          <p:nvPr/>
        </p:nvSpPr>
        <p:spPr>
          <a:xfrm>
            <a:off x="3575304" y="2130552"/>
            <a:ext cx="1645920" cy="457200"/>
          </a:xfrm>
          <a:prstGeom prst="rect">
            <a:avLst/>
          </a:prstGeom>
          <a:solidFill>
            <a:srgbClr val="F4F6F8"/>
          </a:solidFill>
          <a:ln/>
        </p:spPr>
        <p:txBody>
          <a:bodyPr/>
          <a:p/>
        </p:txBody>
      </p:sp>
      <p:sp>
        <p:nvSpPr>
          <p:cNvPr id="33" name="Text 30"/>
          <p:cNvSpPr/>
          <p:nvPr/>
        </p:nvSpPr>
        <p:spPr>
          <a:xfrm>
            <a:off x="3630168" y="213055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Analistas dedicados (1 para 20 fazendas)</a:t>
            </a:r>
            <a:endParaRPr lang="en-US" sz="850" dirty="0"/>
          </a:p>
        </p:txBody>
      </p:sp>
      <p:sp>
        <p:nvSpPr>
          <p:cNvPr id="34" name="Shape 31"/>
          <p:cNvSpPr/>
          <p:nvPr/>
        </p:nvSpPr>
        <p:spPr>
          <a:xfrm>
            <a:off x="5276088" y="2130552"/>
            <a:ext cx="1645920" cy="457200"/>
          </a:xfrm>
          <a:prstGeom prst="rect">
            <a:avLst/>
          </a:prstGeom>
          <a:solidFill>
            <a:srgbClr val="F4F6F8"/>
          </a:solidFill>
          <a:ln/>
        </p:spPr>
        <p:txBody>
          <a:bodyPr/>
          <a:p/>
        </p:txBody>
      </p:sp>
      <p:sp>
        <p:nvSpPr>
          <p:cNvPr id="35" name="Text 32"/>
          <p:cNvSpPr/>
          <p:nvPr/>
        </p:nvSpPr>
        <p:spPr>
          <a:xfrm>
            <a:off x="5330952" y="213055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Núcleo de análise com método padrão</a:t>
            </a:r>
            <a:endParaRPr lang="en-US" sz="850" dirty="0"/>
          </a:p>
        </p:txBody>
      </p:sp>
      <p:sp>
        <p:nvSpPr>
          <p:cNvPr id="36" name="Shape 33"/>
          <p:cNvSpPr/>
          <p:nvPr/>
        </p:nvSpPr>
        <p:spPr>
          <a:xfrm>
            <a:off x="6976872" y="2130552"/>
            <a:ext cx="1645920" cy="457200"/>
          </a:xfrm>
          <a:prstGeom prst="rect">
            <a:avLst/>
          </a:prstGeom>
          <a:solidFill>
            <a:srgbClr val="F4F6F8"/>
          </a:solidFill>
          <a:ln/>
        </p:spPr>
        <p:txBody>
          <a:bodyPr/>
          <a:p/>
        </p:txBody>
      </p:sp>
      <p:sp>
        <p:nvSpPr>
          <p:cNvPr id="37" name="Text 34"/>
          <p:cNvSpPr/>
          <p:nvPr/>
        </p:nvSpPr>
        <p:spPr>
          <a:xfrm>
            <a:off x="7031736" y="213055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Análise integrada à oferta comercial</a:t>
            </a:r>
            <a:endParaRPr lang="en-US" sz="850" dirty="0"/>
          </a:p>
        </p:txBody>
      </p:sp>
      <p:sp>
        <p:nvSpPr>
          <p:cNvPr id="38" name="Shape 35"/>
          <p:cNvSpPr/>
          <p:nvPr/>
        </p:nvSpPr>
        <p:spPr>
          <a:xfrm>
            <a:off x="457200" y="2633472"/>
            <a:ext cx="1371600" cy="457200"/>
          </a:xfrm>
          <a:prstGeom prst="rect">
            <a:avLst/>
          </a:prstGeom>
          <a:solidFill>
            <a:srgbClr val="1B3A8C"/>
          </a:solidFill>
          <a:ln/>
        </p:spPr>
        <p:txBody>
          <a:bodyPr/>
          <a:p/>
        </p:txBody>
      </p:sp>
      <p:sp>
        <p:nvSpPr>
          <p:cNvPr id="39" name="Text 36"/>
          <p:cNvSpPr/>
          <p:nvPr/>
        </p:nvSpPr>
        <p:spPr>
          <a:xfrm>
            <a:off x="530352" y="2633472"/>
            <a:ext cx="1261872" cy="45720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Comunidade</a:t>
            </a:r>
            <a:endParaRPr lang="en-US" sz="950" dirty="0"/>
          </a:p>
        </p:txBody>
      </p:sp>
      <p:sp>
        <p:nvSpPr>
          <p:cNvPr id="40" name="Shape 37"/>
          <p:cNvSpPr/>
          <p:nvPr/>
        </p:nvSpPr>
        <p:spPr>
          <a:xfrm>
            <a:off x="1874520" y="2633472"/>
            <a:ext cx="1645920" cy="457200"/>
          </a:xfrm>
          <a:prstGeom prst="rect">
            <a:avLst/>
          </a:prstGeom>
          <a:solidFill>
            <a:srgbClr val="F4F6F8"/>
          </a:solidFill>
          <a:ln/>
        </p:spPr>
        <p:txBody>
          <a:bodyPr/>
          <a:p/>
        </p:txBody>
      </p:sp>
      <p:sp>
        <p:nvSpPr>
          <p:cNvPr id="41" name="Text 38"/>
          <p:cNvSpPr/>
          <p:nvPr/>
        </p:nvSpPr>
        <p:spPr>
          <a:xfrm>
            <a:off x="1929384" y="263347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Grupo piloto com as 20 fazendas; 1º fechamento de safra</a:t>
            </a:r>
            <a:endParaRPr lang="en-US" sz="850" dirty="0"/>
          </a:p>
        </p:txBody>
      </p:sp>
      <p:sp>
        <p:nvSpPr>
          <p:cNvPr id="42" name="Shape 39"/>
          <p:cNvSpPr/>
          <p:nvPr/>
        </p:nvSpPr>
        <p:spPr>
          <a:xfrm>
            <a:off x="3575304" y="2633472"/>
            <a:ext cx="1645920" cy="457200"/>
          </a:xfrm>
          <a:prstGeom prst="rect">
            <a:avLst/>
          </a:prstGeom>
          <a:solidFill>
            <a:srgbClr val="F4F6F8"/>
          </a:solidFill>
          <a:ln/>
        </p:spPr>
        <p:txBody>
          <a:bodyPr/>
          <a:p/>
        </p:txBody>
      </p:sp>
      <p:sp>
        <p:nvSpPr>
          <p:cNvPr id="43" name="Text 40"/>
          <p:cNvSpPr/>
          <p:nvPr/>
        </p:nvSpPr>
        <p:spPr>
          <a:xfrm>
            <a:off x="3630168" y="263347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Grupo de Desenvolvimento lançado; 1º evento anual com premiação</a:t>
            </a:r>
            <a:endParaRPr lang="en-US" sz="850" dirty="0"/>
          </a:p>
        </p:txBody>
      </p:sp>
      <p:sp>
        <p:nvSpPr>
          <p:cNvPr id="44" name="Shape 41"/>
          <p:cNvSpPr/>
          <p:nvPr/>
        </p:nvSpPr>
        <p:spPr>
          <a:xfrm>
            <a:off x="5276088" y="2633472"/>
            <a:ext cx="1645920" cy="457200"/>
          </a:xfrm>
          <a:prstGeom prst="rect">
            <a:avLst/>
          </a:prstGeom>
          <a:solidFill>
            <a:srgbClr val="F4F6F8"/>
          </a:solidFill>
          <a:ln/>
        </p:spPr>
        <p:txBody>
          <a:bodyPr/>
          <a:p/>
        </p:txBody>
      </p:sp>
      <p:sp>
        <p:nvSpPr>
          <p:cNvPr id="45" name="Text 42"/>
          <p:cNvSpPr/>
          <p:nvPr/>
        </p:nvSpPr>
        <p:spPr>
          <a:xfrm>
            <a:off x="5330952" y="263347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Evento anual e benchmark entre os membros</a:t>
            </a:r>
            <a:endParaRPr lang="en-US" sz="850" dirty="0"/>
          </a:p>
        </p:txBody>
      </p:sp>
      <p:sp>
        <p:nvSpPr>
          <p:cNvPr id="46" name="Shape 43"/>
          <p:cNvSpPr/>
          <p:nvPr/>
        </p:nvSpPr>
        <p:spPr>
          <a:xfrm>
            <a:off x="6976872" y="2633472"/>
            <a:ext cx="1645920" cy="457200"/>
          </a:xfrm>
          <a:prstGeom prst="rect">
            <a:avLst/>
          </a:prstGeom>
          <a:solidFill>
            <a:srgbClr val="F4F6F8"/>
          </a:solidFill>
          <a:ln/>
        </p:spPr>
        <p:txBody>
          <a:bodyPr/>
          <a:p/>
        </p:txBody>
      </p:sp>
      <p:sp>
        <p:nvSpPr>
          <p:cNvPr id="47" name="Text 44"/>
          <p:cNvSpPr/>
          <p:nvPr/>
        </p:nvSpPr>
        <p:spPr>
          <a:xfrm>
            <a:off x="7031736" y="263347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Comunidade nacional de confinadores TN</a:t>
            </a:r>
            <a:endParaRPr lang="en-US" sz="850" dirty="0"/>
          </a:p>
        </p:txBody>
      </p:sp>
      <p:sp>
        <p:nvSpPr>
          <p:cNvPr id="48" name="Shape 45"/>
          <p:cNvSpPr/>
          <p:nvPr/>
        </p:nvSpPr>
        <p:spPr>
          <a:xfrm>
            <a:off x="457200" y="3136392"/>
            <a:ext cx="1371600" cy="347472"/>
          </a:xfrm>
          <a:prstGeom prst="rect">
            <a:avLst/>
          </a:prstGeom>
          <a:solidFill>
            <a:srgbClr val="1B3A8C"/>
          </a:solidFill>
          <a:ln/>
        </p:spPr>
        <p:txBody>
          <a:bodyPr/>
          <a:p/>
        </p:txBody>
      </p:sp>
      <p:sp>
        <p:nvSpPr>
          <p:cNvPr id="49" name="Text 46"/>
          <p:cNvSpPr/>
          <p:nvPr/>
        </p:nvSpPr>
        <p:spPr>
          <a:xfrm>
            <a:off x="530352" y="3136392"/>
            <a:ext cx="1261872" cy="34747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Fazendas atendidas</a:t>
            </a:r>
            <a:endParaRPr lang="en-US" sz="950" dirty="0"/>
          </a:p>
        </p:txBody>
      </p:sp>
      <p:sp>
        <p:nvSpPr>
          <p:cNvPr id="50" name="Shape 47"/>
          <p:cNvSpPr/>
          <p:nvPr/>
        </p:nvSpPr>
        <p:spPr>
          <a:xfrm>
            <a:off x="1874520" y="3136392"/>
            <a:ext cx="1645920" cy="347472"/>
          </a:xfrm>
          <a:prstGeom prst="rect">
            <a:avLst/>
          </a:prstGeom>
          <a:solidFill>
            <a:srgbClr val="F4F6F8"/>
          </a:solidFill>
          <a:ln/>
        </p:spPr>
        <p:txBody>
          <a:bodyPr/>
          <a:p/>
        </p:txBody>
      </p:sp>
      <p:sp>
        <p:nvSpPr>
          <p:cNvPr id="51" name="Text 48"/>
          <p:cNvSpPr/>
          <p:nvPr/>
        </p:nvSpPr>
        <p:spPr>
          <a:xfrm>
            <a:off x="1929384" y="3136392"/>
            <a:ext cx="1536192" cy="347472"/>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20</a:t>
            </a:r>
            <a:endParaRPr lang="en-US" sz="1300" dirty="0"/>
          </a:p>
        </p:txBody>
      </p:sp>
      <p:sp>
        <p:nvSpPr>
          <p:cNvPr id="52" name="Shape 49"/>
          <p:cNvSpPr/>
          <p:nvPr/>
        </p:nvSpPr>
        <p:spPr>
          <a:xfrm>
            <a:off x="3575304" y="3136392"/>
            <a:ext cx="1645920" cy="347472"/>
          </a:xfrm>
          <a:prstGeom prst="rect">
            <a:avLst/>
          </a:prstGeom>
          <a:solidFill>
            <a:srgbClr val="F4F6F8"/>
          </a:solidFill>
          <a:ln/>
        </p:spPr>
        <p:txBody>
          <a:bodyPr/>
          <a:p/>
        </p:txBody>
      </p:sp>
      <p:sp>
        <p:nvSpPr>
          <p:cNvPr id="53" name="Text 50"/>
          <p:cNvSpPr/>
          <p:nvPr/>
        </p:nvSpPr>
        <p:spPr>
          <a:xfrm>
            <a:off x="3630168" y="3136392"/>
            <a:ext cx="1536192" cy="347472"/>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60</a:t>
            </a:r>
            <a:endParaRPr lang="en-US" sz="1300" dirty="0"/>
          </a:p>
        </p:txBody>
      </p:sp>
      <p:sp>
        <p:nvSpPr>
          <p:cNvPr id="54" name="Shape 51"/>
          <p:cNvSpPr/>
          <p:nvPr/>
        </p:nvSpPr>
        <p:spPr>
          <a:xfrm>
            <a:off x="5276088" y="3136392"/>
            <a:ext cx="1645920" cy="347472"/>
          </a:xfrm>
          <a:prstGeom prst="rect">
            <a:avLst/>
          </a:prstGeom>
          <a:solidFill>
            <a:srgbClr val="F4F6F8"/>
          </a:solidFill>
          <a:ln/>
        </p:spPr>
        <p:txBody>
          <a:bodyPr/>
          <a:p/>
        </p:txBody>
      </p:sp>
      <p:sp>
        <p:nvSpPr>
          <p:cNvPr id="55" name="Text 52"/>
          <p:cNvSpPr/>
          <p:nvPr/>
        </p:nvSpPr>
        <p:spPr>
          <a:xfrm>
            <a:off x="5330952" y="3136392"/>
            <a:ext cx="1536192" cy="347472"/>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120</a:t>
            </a:r>
            <a:endParaRPr lang="en-US" sz="1300" dirty="0"/>
          </a:p>
        </p:txBody>
      </p:sp>
      <p:sp>
        <p:nvSpPr>
          <p:cNvPr id="56" name="Shape 53"/>
          <p:cNvSpPr/>
          <p:nvPr/>
        </p:nvSpPr>
        <p:spPr>
          <a:xfrm>
            <a:off x="6976872" y="3136392"/>
            <a:ext cx="1645920" cy="347472"/>
          </a:xfrm>
          <a:prstGeom prst="rect">
            <a:avLst/>
          </a:prstGeom>
          <a:solidFill>
            <a:srgbClr val="F4F6F8"/>
          </a:solidFill>
          <a:ln/>
        </p:spPr>
        <p:txBody>
          <a:bodyPr/>
          <a:p/>
        </p:txBody>
      </p:sp>
      <p:sp>
        <p:nvSpPr>
          <p:cNvPr id="57" name="Text 54"/>
          <p:cNvSpPr/>
          <p:nvPr/>
        </p:nvSpPr>
        <p:spPr>
          <a:xfrm>
            <a:off x="7031736" y="3136392"/>
            <a:ext cx="1536192" cy="347472"/>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200</a:t>
            </a:r>
            <a:endParaRPr lang="en-US" sz="1300" dirty="0"/>
          </a:p>
        </p:txBody>
      </p:sp>
      <p:sp>
        <p:nvSpPr>
          <p:cNvPr id="58" name="Shape 55"/>
          <p:cNvSpPr/>
          <p:nvPr/>
        </p:nvSpPr>
        <p:spPr>
          <a:xfrm>
            <a:off x="457200" y="3529584"/>
            <a:ext cx="1371600" cy="347472"/>
          </a:xfrm>
          <a:prstGeom prst="rect">
            <a:avLst/>
          </a:prstGeom>
          <a:solidFill>
            <a:srgbClr val="1B3A8C"/>
          </a:solidFill>
          <a:ln/>
        </p:spPr>
        <p:txBody>
          <a:bodyPr/>
          <a:p/>
        </p:txBody>
      </p:sp>
      <p:sp>
        <p:nvSpPr>
          <p:cNvPr id="59" name="Text 56"/>
          <p:cNvSpPr/>
          <p:nvPr/>
        </p:nvSpPr>
        <p:spPr>
          <a:xfrm>
            <a:off x="530352" y="3529584"/>
            <a:ext cx="1261872" cy="34747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Analistas online</a:t>
            </a:r>
            <a:endParaRPr lang="en-US" sz="950" dirty="0"/>
          </a:p>
        </p:txBody>
      </p:sp>
      <p:sp>
        <p:nvSpPr>
          <p:cNvPr id="60" name="Shape 57"/>
          <p:cNvSpPr/>
          <p:nvPr/>
        </p:nvSpPr>
        <p:spPr>
          <a:xfrm>
            <a:off x="1874520" y="3529584"/>
            <a:ext cx="1645920" cy="347472"/>
          </a:xfrm>
          <a:prstGeom prst="rect">
            <a:avLst/>
          </a:prstGeom>
          <a:solidFill>
            <a:srgbClr val="F4F6F8"/>
          </a:solidFill>
          <a:ln/>
        </p:spPr>
        <p:txBody>
          <a:bodyPr/>
          <a:p/>
        </p:txBody>
      </p:sp>
      <p:sp>
        <p:nvSpPr>
          <p:cNvPr id="61" name="Text 58"/>
          <p:cNvSpPr/>
          <p:nvPr/>
        </p:nvSpPr>
        <p:spPr>
          <a:xfrm>
            <a:off x="1929384" y="3529584"/>
            <a:ext cx="1536192" cy="347472"/>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0 (Rodrigo)</a:t>
            </a:r>
            <a:endParaRPr lang="en-US" sz="1300" dirty="0"/>
          </a:p>
        </p:txBody>
      </p:sp>
      <p:sp>
        <p:nvSpPr>
          <p:cNvPr id="62" name="Shape 59"/>
          <p:cNvSpPr/>
          <p:nvPr/>
        </p:nvSpPr>
        <p:spPr>
          <a:xfrm>
            <a:off x="3575304" y="3529584"/>
            <a:ext cx="1645920" cy="347472"/>
          </a:xfrm>
          <a:prstGeom prst="rect">
            <a:avLst/>
          </a:prstGeom>
          <a:solidFill>
            <a:srgbClr val="F4F6F8"/>
          </a:solidFill>
          <a:ln/>
        </p:spPr>
        <p:txBody>
          <a:bodyPr/>
          <a:p/>
        </p:txBody>
      </p:sp>
      <p:sp>
        <p:nvSpPr>
          <p:cNvPr id="63" name="Text 60"/>
          <p:cNvSpPr/>
          <p:nvPr/>
        </p:nvSpPr>
        <p:spPr>
          <a:xfrm>
            <a:off x="3630168" y="3529584"/>
            <a:ext cx="1536192" cy="347472"/>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3</a:t>
            </a:r>
            <a:endParaRPr lang="en-US" sz="1300" dirty="0"/>
          </a:p>
        </p:txBody>
      </p:sp>
      <p:sp>
        <p:nvSpPr>
          <p:cNvPr id="64" name="Shape 61"/>
          <p:cNvSpPr/>
          <p:nvPr/>
        </p:nvSpPr>
        <p:spPr>
          <a:xfrm>
            <a:off x="5276088" y="3529584"/>
            <a:ext cx="1645920" cy="347472"/>
          </a:xfrm>
          <a:prstGeom prst="rect">
            <a:avLst/>
          </a:prstGeom>
          <a:solidFill>
            <a:srgbClr val="F4F6F8"/>
          </a:solidFill>
          <a:ln/>
        </p:spPr>
        <p:txBody>
          <a:bodyPr/>
          <a:p/>
        </p:txBody>
      </p:sp>
      <p:sp>
        <p:nvSpPr>
          <p:cNvPr id="65" name="Text 62"/>
          <p:cNvSpPr/>
          <p:nvPr/>
        </p:nvSpPr>
        <p:spPr>
          <a:xfrm>
            <a:off x="5330952" y="3529584"/>
            <a:ext cx="1536192" cy="347472"/>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6</a:t>
            </a:r>
            <a:endParaRPr lang="en-US" sz="1300" dirty="0"/>
          </a:p>
        </p:txBody>
      </p:sp>
      <p:sp>
        <p:nvSpPr>
          <p:cNvPr id="66" name="Shape 63"/>
          <p:cNvSpPr/>
          <p:nvPr/>
        </p:nvSpPr>
        <p:spPr>
          <a:xfrm>
            <a:off x="6976872" y="3529584"/>
            <a:ext cx="1645920" cy="347472"/>
          </a:xfrm>
          <a:prstGeom prst="rect">
            <a:avLst/>
          </a:prstGeom>
          <a:solidFill>
            <a:srgbClr val="F4F6F8"/>
          </a:solidFill>
          <a:ln/>
        </p:spPr>
        <p:txBody>
          <a:bodyPr/>
          <a:p/>
        </p:txBody>
      </p:sp>
      <p:sp>
        <p:nvSpPr>
          <p:cNvPr id="67" name="Text 64"/>
          <p:cNvSpPr/>
          <p:nvPr/>
        </p:nvSpPr>
        <p:spPr>
          <a:xfrm>
            <a:off x="7031736" y="3529584"/>
            <a:ext cx="1536192" cy="347472"/>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10</a:t>
            </a:r>
            <a:endParaRPr lang="en-US" sz="1300" dirty="0"/>
          </a:p>
        </p:txBody>
      </p:sp>
      <p:sp>
        <p:nvSpPr>
          <p:cNvPr id="68" name="Shape 65"/>
          <p:cNvSpPr/>
          <p:nvPr/>
        </p:nvSpPr>
        <p:spPr>
          <a:xfrm>
            <a:off x="457200" y="3922776"/>
            <a:ext cx="1371600" cy="457200"/>
          </a:xfrm>
          <a:prstGeom prst="rect">
            <a:avLst/>
          </a:prstGeom>
          <a:solidFill>
            <a:srgbClr val="1B3A8C"/>
          </a:solidFill>
          <a:ln/>
        </p:spPr>
        <p:txBody>
          <a:bodyPr/>
          <a:p/>
        </p:txBody>
      </p:sp>
      <p:sp>
        <p:nvSpPr>
          <p:cNvPr id="69" name="Text 66"/>
          <p:cNvSpPr/>
          <p:nvPr/>
        </p:nvSpPr>
        <p:spPr>
          <a:xfrm>
            <a:off x="530352" y="3922776"/>
            <a:ext cx="1261872" cy="45720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Automação</a:t>
            </a:r>
            <a:endParaRPr lang="en-US" sz="950" dirty="0"/>
          </a:p>
        </p:txBody>
      </p:sp>
      <p:sp>
        <p:nvSpPr>
          <p:cNvPr id="70" name="Shape 67"/>
          <p:cNvSpPr/>
          <p:nvPr/>
        </p:nvSpPr>
        <p:spPr>
          <a:xfrm>
            <a:off x="1874520" y="3922776"/>
            <a:ext cx="1645920" cy="457200"/>
          </a:xfrm>
          <a:prstGeom prst="rect">
            <a:avLst/>
          </a:prstGeom>
          <a:solidFill>
            <a:srgbClr val="F4F6F8"/>
          </a:solidFill>
          <a:ln/>
        </p:spPr>
        <p:txBody>
          <a:bodyPr/>
          <a:p/>
        </p:txBody>
      </p:sp>
      <p:sp>
        <p:nvSpPr>
          <p:cNvPr id="71" name="Text 68"/>
          <p:cNvSpPr/>
          <p:nvPr/>
        </p:nvSpPr>
        <p:spPr>
          <a:xfrm>
            <a:off x="1929384" y="3922776"/>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Maiores seguem com a PecCode (parceria)</a:t>
            </a:r>
            <a:endParaRPr lang="en-US" sz="850" dirty="0"/>
          </a:p>
        </p:txBody>
      </p:sp>
      <p:sp>
        <p:nvSpPr>
          <p:cNvPr id="72" name="Shape 69"/>
          <p:cNvSpPr/>
          <p:nvPr/>
        </p:nvSpPr>
        <p:spPr>
          <a:xfrm>
            <a:off x="3575304" y="3922776"/>
            <a:ext cx="1645920" cy="457200"/>
          </a:xfrm>
          <a:prstGeom prst="rect">
            <a:avLst/>
          </a:prstGeom>
          <a:solidFill>
            <a:srgbClr val="F4F6F8"/>
          </a:solidFill>
          <a:ln/>
        </p:spPr>
        <p:txBody>
          <a:bodyPr/>
          <a:p/>
        </p:txBody>
      </p:sp>
      <p:sp>
        <p:nvSpPr>
          <p:cNvPr id="73" name="Text 70"/>
          <p:cNvSpPr/>
          <p:nvPr/>
        </p:nvSpPr>
        <p:spPr>
          <a:xfrm>
            <a:off x="3630168" y="3922776"/>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PecCode segue; preparar a retomada do TN Manager Automação</a:t>
            </a:r>
            <a:endParaRPr lang="en-US" sz="850" dirty="0"/>
          </a:p>
        </p:txBody>
      </p:sp>
      <p:sp>
        <p:nvSpPr>
          <p:cNvPr id="74" name="Shape 71"/>
          <p:cNvSpPr/>
          <p:nvPr/>
        </p:nvSpPr>
        <p:spPr>
          <a:xfrm>
            <a:off x="5276088" y="3922776"/>
            <a:ext cx="1645920" cy="457200"/>
          </a:xfrm>
          <a:prstGeom prst="rect">
            <a:avLst/>
          </a:prstGeom>
          <a:solidFill>
            <a:srgbClr val="F4F6F8"/>
          </a:solidFill>
          <a:ln/>
        </p:spPr>
        <p:txBody>
          <a:bodyPr/>
          <a:p/>
        </p:txBody>
      </p:sp>
      <p:sp>
        <p:nvSpPr>
          <p:cNvPr id="75" name="Text 72"/>
          <p:cNvSpPr/>
          <p:nvPr/>
        </p:nvSpPr>
        <p:spPr>
          <a:xfrm>
            <a:off x="5330952" y="3922776"/>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TN Manager Automação retomado, em paralelo com a Web</a:t>
            </a:r>
            <a:endParaRPr lang="en-US" sz="850" dirty="0"/>
          </a:p>
        </p:txBody>
      </p:sp>
      <p:sp>
        <p:nvSpPr>
          <p:cNvPr id="76" name="Shape 73"/>
          <p:cNvSpPr/>
          <p:nvPr/>
        </p:nvSpPr>
        <p:spPr>
          <a:xfrm>
            <a:off x="6976872" y="3922776"/>
            <a:ext cx="1645920" cy="457200"/>
          </a:xfrm>
          <a:prstGeom prst="rect">
            <a:avLst/>
          </a:prstGeom>
          <a:solidFill>
            <a:srgbClr val="F4F6F8"/>
          </a:solidFill>
          <a:ln/>
        </p:spPr>
        <p:txBody>
          <a:bodyPr/>
          <a:p/>
        </p:txBody>
      </p:sp>
      <p:sp>
        <p:nvSpPr>
          <p:cNvPr id="77" name="Text 74"/>
          <p:cNvSpPr/>
          <p:nvPr/>
        </p:nvSpPr>
        <p:spPr>
          <a:xfrm>
            <a:off x="7031736" y="3922776"/>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Web e Automação lado a lado</a:t>
            </a:r>
            <a:endParaRPr lang="en-US" sz="850" dirty="0"/>
          </a:p>
        </p:txBody>
      </p:sp>
      <p:sp>
        <p:nvSpPr>
          <p:cNvPr id="78" name="TextBox 77"/>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6  ·  ATÉ ONDE VAMOS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B3A8C"/>
        </a:solidFill>
      </p:bgPr>
    </p:bg>
    <p:spTree>
      <p:nvGrpSpPr>
        <p:cNvPr id="1" name=""/>
        <p:cNvGrpSpPr/>
        <p:nvPr/>
      </p:nvGrpSpPr>
      <p:grpSpPr/>
      <p:sp>
        <p:nvSpPr>
          <p:cNvPr id="2" name="Shape 0"/>
          <p:cNvSpPr/>
          <p:nvPr/>
        </p:nvSpPr>
        <p:spPr>
          <a:xfrm>
            <a:off x="0" y="0"/>
            <a:ext cx="109728" cy="5143500"/>
          </a:xfrm>
          <a:prstGeom prst="rect">
            <a:avLst/>
          </a:prstGeom>
          <a:solidFill>
            <a:srgbClr val="C5D300"/>
          </a:solidFill>
          <a:ln/>
        </p:spPr>
        <p:txBody>
          <a:bodyPr/>
          <a:p/>
        </p:txBody>
      </p:sp>
      <p:sp>
        <p:nvSpPr>
          <p:cNvPr id="3" name="Text 1"/>
          <p:cNvSpPr/>
          <p:nvPr/>
        </p:nvSpPr>
        <p:spPr>
          <a:xfrm>
            <a:off x="457200" y="274320"/>
            <a:ext cx="8229600" cy="4572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Decisões e próximos passos</a:t>
            </a:r>
            <a:endParaRPr lang="en-US" sz="2400" dirty="0"/>
          </a:p>
        </p:txBody>
      </p:sp>
      <p:sp>
        <p:nvSpPr>
          <p:cNvPr id="4" name="Text 2"/>
          <p:cNvSpPr/>
          <p:nvPr/>
        </p:nvSpPr>
        <p:spPr>
          <a:xfrm>
            <a:off x="457200" y="731520"/>
            <a:ext cx="7863840" cy="274320"/>
          </a:xfrm>
          <a:prstGeom prst="rect">
            <a:avLst/>
          </a:prstGeom>
          <a:noFill/>
          <a:ln/>
        </p:spPr>
        <p:txBody>
          <a:bodyPr wrap="square" lIns="0" tIns="0" rIns="0" bIns="0" rtlCol="0" anchor="t"/>
          <a:lstStyle/>
          <a:p>
            <a:pPr indent="0" marL="0">
              <a:buNone/>
            </a:pPr>
            <a:r>
              <a:rPr lang="en-US" sz="1300" i="1" dirty="0">
                <a:solidFill>
                  <a:srgbClr val="D6DCEB"/>
                </a:solidFill>
                <a:latin typeface="Calibri" pitchFamily="34" charset="0"/>
                <a:ea typeface="Calibri" pitchFamily="34" charset="-122"/>
                <a:cs typeface="Calibri" pitchFamily="34" charset="-120"/>
              </a:rPr>
              <a:t>O que precisamos aprovar hoje para seguir com a pesquisa e a imersão técnica.</a:t>
            </a:r>
            <a:endParaRPr lang="en-US" sz="1300" dirty="0"/>
          </a:p>
        </p:txBody>
      </p:sp>
      <p:sp>
        <p:nvSpPr>
          <p:cNvPr id="5" name="Text 3"/>
          <p:cNvSpPr/>
          <p:nvPr/>
        </p:nvSpPr>
        <p:spPr>
          <a:xfrm>
            <a:off x="457200" y="1188720"/>
            <a:ext cx="3657600" cy="201168"/>
          </a:xfrm>
          <a:prstGeom prst="rect">
            <a:avLst/>
          </a:prstGeom>
          <a:noFill/>
          <a:ln/>
        </p:spPr>
        <p:txBody>
          <a:bodyPr wrap="square" lIns="0" tIns="0" rIns="0" bIns="0" rtlCol="0" anchor="t"/>
          <a:lstStyle/>
          <a:p>
            <a:pPr indent="0" marL="0">
              <a:buNone/>
            </a:pPr>
            <a:r>
              <a:rPr lang="en-US" sz="900" b="1" spc="200" kern="0" dirty="0">
                <a:solidFill>
                  <a:srgbClr val="C5D300"/>
                </a:solidFill>
                <a:latin typeface="Calibri" pitchFamily="34" charset="0"/>
                <a:ea typeface="Calibri" pitchFamily="34" charset="-122"/>
                <a:cs typeface="Calibri" pitchFamily="34" charset="-120"/>
              </a:rPr>
              <a:t>DECISÕES PARA HOJE</a:t>
            </a:r>
            <a:endParaRPr lang="en-US" sz="900" dirty="0"/>
          </a:p>
        </p:txBody>
      </p:sp>
      <p:sp>
        <p:nvSpPr>
          <p:cNvPr id="6" name="Shape 4"/>
          <p:cNvSpPr/>
          <p:nvPr/>
        </p:nvSpPr>
        <p:spPr>
          <a:xfrm>
            <a:off x="457200" y="1444752"/>
            <a:ext cx="310896" cy="310896"/>
          </a:xfrm>
          <a:prstGeom prst="ellipse">
            <a:avLst/>
          </a:prstGeom>
          <a:solidFill>
            <a:srgbClr val="C8106E"/>
          </a:solidFill>
          <a:ln/>
        </p:spPr>
        <p:txBody>
          <a:bodyPr/>
          <a:p/>
        </p:txBody>
      </p:sp>
      <p:pic>
        <p:nvPicPr>
          <p:cNvPr id="7" name="Image 0" descr="preencoded.png">    </p:cNvPr>
          <p:cNvPicPr>
            <a:picLocks noChangeAspect="1"/>
          </p:cNvPicPr>
          <p:nvPr/>
        </p:nvPicPr>
        <p:blipFill>
          <a:blip r:embed="rId2"/>
          <a:stretch>
            <a:fillRect/>
          </a:stretch>
        </p:blipFill>
        <p:spPr>
          <a:xfrm>
            <a:off x="530352" y="1517904"/>
            <a:ext cx="164592" cy="164592"/>
          </a:xfrm>
          <a:prstGeom prst="rect">
            <a:avLst/>
          </a:prstGeom>
        </p:spPr>
      </p:pic>
      <p:sp>
        <p:nvSpPr>
          <p:cNvPr id="8" name="Text 5"/>
          <p:cNvSpPr/>
          <p:nvPr/>
        </p:nvSpPr>
        <p:spPr>
          <a:xfrm>
            <a:off x="896112" y="1444752"/>
            <a:ext cx="356616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Foco em novos clientes de 200 a 2.000 cabeças, sem automação; maiores seguem na PecCode</a:t>
            </a:r>
            <a:endParaRPr lang="en-US" sz="1100" dirty="0"/>
          </a:p>
        </p:txBody>
      </p:sp>
      <p:sp>
        <p:nvSpPr>
          <p:cNvPr id="9" name="Shape 6"/>
          <p:cNvSpPr/>
          <p:nvPr/>
        </p:nvSpPr>
        <p:spPr>
          <a:xfrm>
            <a:off x="457200" y="1901952"/>
            <a:ext cx="310896" cy="310896"/>
          </a:xfrm>
          <a:prstGeom prst="ellipse">
            <a:avLst/>
          </a:prstGeom>
          <a:solidFill>
            <a:srgbClr val="C8106E"/>
          </a:solidFill>
          <a:ln/>
        </p:spPr>
        <p:txBody>
          <a:bodyPr/>
          <a:p/>
        </p:txBody>
      </p:sp>
      <p:pic>
        <p:nvPicPr>
          <p:cNvPr id="10" name="Image 1" descr="preencoded.png">    </p:cNvPr>
          <p:cNvPicPr>
            <a:picLocks noChangeAspect="1"/>
          </p:cNvPicPr>
          <p:nvPr/>
        </p:nvPicPr>
        <p:blipFill>
          <a:blip r:embed="rId2"/>
          <a:stretch>
            <a:fillRect/>
          </a:stretch>
        </p:blipFill>
        <p:spPr>
          <a:xfrm>
            <a:off x="530352" y="1975104"/>
            <a:ext cx="164592" cy="164592"/>
          </a:xfrm>
          <a:prstGeom prst="rect">
            <a:avLst/>
          </a:prstGeom>
        </p:spPr>
      </p:pic>
      <p:sp>
        <p:nvSpPr>
          <p:cNvPr id="11" name="Text 7"/>
          <p:cNvSpPr/>
          <p:nvPr/>
        </p:nvSpPr>
        <p:spPr>
          <a:xfrm>
            <a:off x="896112" y="1901952"/>
            <a:ext cx="356616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Aprovar o roadmap de 15 meses com os gates G0 a G2</a:t>
            </a:r>
            <a:endParaRPr lang="en-US" sz="1100" dirty="0"/>
          </a:p>
        </p:txBody>
      </p:sp>
      <p:sp>
        <p:nvSpPr>
          <p:cNvPr id="12" name="Shape 8"/>
          <p:cNvSpPr/>
          <p:nvPr/>
        </p:nvSpPr>
        <p:spPr>
          <a:xfrm>
            <a:off x="457200" y="2359152"/>
            <a:ext cx="310896" cy="310896"/>
          </a:xfrm>
          <a:prstGeom prst="ellipse">
            <a:avLst/>
          </a:prstGeom>
          <a:solidFill>
            <a:srgbClr val="C8106E"/>
          </a:solidFill>
          <a:ln/>
        </p:spPr>
        <p:txBody>
          <a:bodyPr/>
          <a:p/>
        </p:txBody>
      </p:sp>
      <p:pic>
        <p:nvPicPr>
          <p:cNvPr id="13" name="Image 2" descr="preencoded.png">    </p:cNvPr>
          <p:cNvPicPr>
            <a:picLocks noChangeAspect="1"/>
          </p:cNvPicPr>
          <p:nvPr/>
        </p:nvPicPr>
        <p:blipFill>
          <a:blip r:embed="rId2"/>
          <a:stretch>
            <a:fillRect/>
          </a:stretch>
        </p:blipFill>
        <p:spPr>
          <a:xfrm>
            <a:off x="530352" y="2432304"/>
            <a:ext cx="164592" cy="164592"/>
          </a:xfrm>
          <a:prstGeom prst="rect">
            <a:avLst/>
          </a:prstGeom>
        </p:spPr>
      </p:pic>
      <p:sp>
        <p:nvSpPr>
          <p:cNvPr id="14" name="Text 9"/>
          <p:cNvSpPr/>
          <p:nvPr/>
        </p:nvSpPr>
        <p:spPr>
          <a:xfrm>
            <a:off x="896112" y="2359152"/>
            <a:ext cx="356616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Aprovar o modelo: Rodrigo atende 20 fazendas; analistas após o G2</a:t>
            </a:r>
            <a:endParaRPr lang="en-US" sz="1100" dirty="0"/>
          </a:p>
        </p:txBody>
      </p:sp>
      <p:sp>
        <p:nvSpPr>
          <p:cNvPr id="15" name="Shape 10"/>
          <p:cNvSpPr/>
          <p:nvPr/>
        </p:nvSpPr>
        <p:spPr>
          <a:xfrm>
            <a:off x="457200" y="2816352"/>
            <a:ext cx="310896" cy="310896"/>
          </a:xfrm>
          <a:prstGeom prst="ellipse">
            <a:avLst/>
          </a:prstGeom>
          <a:solidFill>
            <a:srgbClr val="C8106E"/>
          </a:solidFill>
          <a:ln/>
        </p:spPr>
        <p:txBody>
          <a:bodyPr/>
          <a:p/>
        </p:txBody>
      </p:sp>
      <p:pic>
        <p:nvPicPr>
          <p:cNvPr id="16" name="Image 3" descr="preencoded.png">    </p:cNvPr>
          <p:cNvPicPr>
            <a:picLocks noChangeAspect="1"/>
          </p:cNvPicPr>
          <p:nvPr/>
        </p:nvPicPr>
        <p:blipFill>
          <a:blip r:embed="rId2"/>
          <a:stretch>
            <a:fillRect/>
          </a:stretch>
        </p:blipFill>
        <p:spPr>
          <a:xfrm>
            <a:off x="530352" y="2889504"/>
            <a:ext cx="164592" cy="164592"/>
          </a:xfrm>
          <a:prstGeom prst="rect">
            <a:avLst/>
          </a:prstGeom>
        </p:spPr>
      </p:pic>
      <p:sp>
        <p:nvSpPr>
          <p:cNvPr id="17" name="Text 11"/>
          <p:cNvSpPr/>
          <p:nvPr/>
        </p:nvSpPr>
        <p:spPr>
          <a:xfrm>
            <a:off x="896112" y="2816352"/>
            <a:ext cx="356616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Autorizar a imersão técnica e o orçamento com a Dreamer</a:t>
            </a:r>
            <a:endParaRPr lang="en-US" sz="1100" dirty="0"/>
          </a:p>
        </p:txBody>
      </p:sp>
      <p:sp>
        <p:nvSpPr>
          <p:cNvPr id="18" name="Shape 12"/>
          <p:cNvSpPr/>
          <p:nvPr/>
        </p:nvSpPr>
        <p:spPr>
          <a:xfrm>
            <a:off x="457200" y="3273552"/>
            <a:ext cx="310896" cy="310896"/>
          </a:xfrm>
          <a:prstGeom prst="ellipse">
            <a:avLst/>
          </a:prstGeom>
          <a:solidFill>
            <a:srgbClr val="C8106E"/>
          </a:solidFill>
          <a:ln/>
        </p:spPr>
        <p:txBody>
          <a:bodyPr/>
          <a:p/>
        </p:txBody>
      </p:sp>
      <p:pic>
        <p:nvPicPr>
          <p:cNvPr id="19" name="Image 4" descr="preencoded.png">    </p:cNvPr>
          <p:cNvPicPr>
            <a:picLocks noChangeAspect="1"/>
          </p:cNvPicPr>
          <p:nvPr/>
        </p:nvPicPr>
        <p:blipFill>
          <a:blip r:embed="rId2"/>
          <a:stretch>
            <a:fillRect/>
          </a:stretch>
        </p:blipFill>
        <p:spPr>
          <a:xfrm>
            <a:off x="530352" y="3346704"/>
            <a:ext cx="164592" cy="164592"/>
          </a:xfrm>
          <a:prstGeom prst="rect">
            <a:avLst/>
          </a:prstGeom>
        </p:spPr>
      </p:pic>
      <p:sp>
        <p:nvSpPr>
          <p:cNvPr id="20" name="Text 13"/>
          <p:cNvSpPr/>
          <p:nvPr/>
        </p:nvSpPr>
        <p:spPr>
          <a:xfrm>
            <a:off x="896112" y="3273552"/>
            <a:ext cx="356616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Aprovar o Grupo de Desenvolvimento e o evento anual como pilares</a:t>
            </a:r>
            <a:endParaRPr lang="en-US" sz="1100" dirty="0"/>
          </a:p>
        </p:txBody>
      </p:sp>
      <p:sp>
        <p:nvSpPr>
          <p:cNvPr id="21" name="Shape 14"/>
          <p:cNvSpPr/>
          <p:nvPr/>
        </p:nvSpPr>
        <p:spPr>
          <a:xfrm>
            <a:off x="457200" y="3730752"/>
            <a:ext cx="310896" cy="310896"/>
          </a:xfrm>
          <a:prstGeom prst="ellipse">
            <a:avLst/>
          </a:prstGeom>
          <a:solidFill>
            <a:srgbClr val="C8106E"/>
          </a:solidFill>
          <a:ln/>
        </p:spPr>
        <p:txBody>
          <a:bodyPr/>
          <a:p/>
        </p:txBody>
      </p:sp>
      <p:pic>
        <p:nvPicPr>
          <p:cNvPr id="22" name="Image 5" descr="preencoded.png">    </p:cNvPr>
          <p:cNvPicPr>
            <a:picLocks noChangeAspect="1"/>
          </p:cNvPicPr>
          <p:nvPr/>
        </p:nvPicPr>
        <p:blipFill>
          <a:blip r:embed="rId2"/>
          <a:stretch>
            <a:fillRect/>
          </a:stretch>
        </p:blipFill>
        <p:spPr>
          <a:xfrm>
            <a:off x="530352" y="3803904"/>
            <a:ext cx="164592" cy="164592"/>
          </a:xfrm>
          <a:prstGeom prst="rect">
            <a:avLst/>
          </a:prstGeom>
        </p:spPr>
      </p:pic>
      <p:sp>
        <p:nvSpPr>
          <p:cNvPr id="23" name="Text 15"/>
          <p:cNvSpPr/>
          <p:nvPr/>
        </p:nvSpPr>
        <p:spPr>
          <a:xfrm>
            <a:off x="896112" y="3730752"/>
            <a:ext cx="356616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Indicar um patrocinador na diretoria</a:t>
            </a:r>
            <a:endParaRPr lang="en-US" sz="1100" dirty="0"/>
          </a:p>
        </p:txBody>
      </p:sp>
      <p:sp>
        <p:nvSpPr>
          <p:cNvPr id="24" name="Shape 16"/>
          <p:cNvSpPr/>
          <p:nvPr/>
        </p:nvSpPr>
        <p:spPr>
          <a:xfrm>
            <a:off x="4846320" y="1143000"/>
            <a:ext cx="3886200" cy="3200400"/>
          </a:xfrm>
          <a:prstGeom prst="rect">
            <a:avLst/>
          </a:prstGeom>
          <a:solidFill>
            <a:srgbClr val="12295F"/>
          </a:solidFill>
          <a:ln/>
        </p:spPr>
        <p:txBody>
          <a:bodyPr/>
          <a:p/>
        </p:txBody>
      </p:sp>
      <p:sp>
        <p:nvSpPr>
          <p:cNvPr id="25" name="Text 17"/>
          <p:cNvSpPr/>
          <p:nvPr/>
        </p:nvSpPr>
        <p:spPr>
          <a:xfrm>
            <a:off x="5029200" y="1234440"/>
            <a:ext cx="3474720" cy="201168"/>
          </a:xfrm>
          <a:prstGeom prst="rect">
            <a:avLst/>
          </a:prstGeom>
          <a:noFill/>
          <a:ln/>
        </p:spPr>
        <p:txBody>
          <a:bodyPr wrap="square" lIns="0" tIns="0" rIns="0" bIns="0" rtlCol="0" anchor="t"/>
          <a:lstStyle/>
          <a:p>
            <a:pPr indent="0" marL="0">
              <a:buNone/>
            </a:pPr>
            <a:r>
              <a:rPr lang="en-US" sz="900" b="1" spc="200" kern="0" dirty="0">
                <a:solidFill>
                  <a:srgbClr val="C5D300"/>
                </a:solidFill>
                <a:latin typeface="Calibri" pitchFamily="34" charset="0"/>
                <a:ea typeface="Calibri" pitchFamily="34" charset="-122"/>
                <a:cs typeface="Calibri" pitchFamily="34" charset="-120"/>
              </a:rPr>
              <a:t>PRÓXIMAS SEMANAS</a:t>
            </a:r>
            <a:endParaRPr lang="en-US" sz="900" dirty="0"/>
          </a:p>
        </p:txBody>
      </p:sp>
      <p:sp>
        <p:nvSpPr>
          <p:cNvPr id="26" name="Text 18"/>
          <p:cNvSpPr/>
          <p:nvPr/>
        </p:nvSpPr>
        <p:spPr>
          <a:xfrm>
            <a:off x="5029200" y="1508760"/>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até 23/10</a:t>
            </a:r>
            <a:endParaRPr lang="en-US" sz="950" dirty="0"/>
          </a:p>
        </p:txBody>
      </p:sp>
      <p:sp>
        <p:nvSpPr>
          <p:cNvPr id="27" name="Text 19"/>
          <p:cNvSpPr/>
          <p:nvPr/>
        </p:nvSpPr>
        <p:spPr>
          <a:xfrm>
            <a:off x="6126480" y="1508760"/>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Entrevistas internas e benchmark (inclui Tecnobeef)</a:t>
            </a:r>
            <a:endParaRPr lang="en-US" sz="950" dirty="0"/>
          </a:p>
        </p:txBody>
      </p:sp>
      <p:sp>
        <p:nvSpPr>
          <p:cNvPr id="28" name="Text 20"/>
          <p:cNvSpPr/>
          <p:nvPr/>
        </p:nvSpPr>
        <p:spPr>
          <a:xfrm>
            <a:off x="5029200" y="1892808"/>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19 a 23/10</a:t>
            </a:r>
            <a:endParaRPr lang="en-US" sz="950" dirty="0"/>
          </a:p>
        </p:txBody>
      </p:sp>
      <p:sp>
        <p:nvSpPr>
          <p:cNvPr id="29" name="Text 21"/>
          <p:cNvSpPr/>
          <p:nvPr/>
        </p:nvSpPr>
        <p:spPr>
          <a:xfrm>
            <a:off x="6126480" y="1892808"/>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Rascunho do formulário</a:t>
            </a:r>
            <a:endParaRPr lang="en-US" sz="950" dirty="0"/>
          </a:p>
        </p:txBody>
      </p:sp>
      <p:sp>
        <p:nvSpPr>
          <p:cNvPr id="30" name="Text 22"/>
          <p:cNvSpPr/>
          <p:nvPr/>
        </p:nvSpPr>
        <p:spPr>
          <a:xfrm>
            <a:off x="5029200" y="2276856"/>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26/10 a 06/11</a:t>
            </a:r>
            <a:endParaRPr lang="en-US" sz="950" dirty="0"/>
          </a:p>
        </p:txBody>
      </p:sp>
      <p:sp>
        <p:nvSpPr>
          <p:cNvPr id="31" name="Text 23"/>
          <p:cNvSpPr/>
          <p:nvPr/>
        </p:nvSpPr>
        <p:spPr>
          <a:xfrm>
            <a:off x="6126480" y="2276856"/>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Revisão com Kátia Sato e teste</a:t>
            </a:r>
            <a:endParaRPr lang="en-US" sz="950" dirty="0"/>
          </a:p>
        </p:txBody>
      </p:sp>
      <p:sp>
        <p:nvSpPr>
          <p:cNvPr id="32" name="Text 24"/>
          <p:cNvSpPr/>
          <p:nvPr/>
        </p:nvSpPr>
        <p:spPr>
          <a:xfrm>
            <a:off x="5029200" y="2660904"/>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09 a 27/11</a:t>
            </a:r>
            <a:endParaRPr lang="en-US" sz="950" dirty="0"/>
          </a:p>
        </p:txBody>
      </p:sp>
      <p:sp>
        <p:nvSpPr>
          <p:cNvPr id="33" name="Text 25"/>
          <p:cNvSpPr/>
          <p:nvPr/>
        </p:nvSpPr>
        <p:spPr>
          <a:xfrm>
            <a:off x="6126480" y="2660904"/>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Respostas das fazendas (meta: 30)</a:t>
            </a:r>
            <a:endParaRPr lang="en-US" sz="950" dirty="0"/>
          </a:p>
        </p:txBody>
      </p:sp>
      <p:sp>
        <p:nvSpPr>
          <p:cNvPr id="34" name="Text 26"/>
          <p:cNvSpPr/>
          <p:nvPr/>
        </p:nvSpPr>
        <p:spPr>
          <a:xfrm>
            <a:off x="5029200" y="3044952"/>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16 a 27/11</a:t>
            </a:r>
            <a:endParaRPr lang="en-US" sz="950" dirty="0"/>
          </a:p>
        </p:txBody>
      </p:sp>
      <p:sp>
        <p:nvSpPr>
          <p:cNvPr id="35" name="Text 27"/>
          <p:cNvSpPr/>
          <p:nvPr/>
        </p:nvSpPr>
        <p:spPr>
          <a:xfrm>
            <a:off x="6126480" y="3044952"/>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Imersão técnica com a Dreamer</a:t>
            </a:r>
            <a:endParaRPr lang="en-US" sz="950" dirty="0"/>
          </a:p>
        </p:txBody>
      </p:sp>
      <p:sp>
        <p:nvSpPr>
          <p:cNvPr id="36" name="Text 28"/>
          <p:cNvSpPr/>
          <p:nvPr/>
        </p:nvSpPr>
        <p:spPr>
          <a:xfrm>
            <a:off x="5029200" y="3429000"/>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07 a 18/12</a:t>
            </a:r>
            <a:endParaRPr lang="en-US" sz="950" dirty="0"/>
          </a:p>
        </p:txBody>
      </p:sp>
      <p:sp>
        <p:nvSpPr>
          <p:cNvPr id="37" name="Text 29"/>
          <p:cNvSpPr/>
          <p:nvPr/>
        </p:nvSpPr>
        <p:spPr>
          <a:xfrm>
            <a:off x="6126480" y="3429000"/>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Diagnóstico e PRDs (G0)</a:t>
            </a:r>
            <a:endParaRPr lang="en-US" sz="950" dirty="0"/>
          </a:p>
        </p:txBody>
      </p:sp>
      <p:sp>
        <p:nvSpPr>
          <p:cNvPr id="38" name="Text 30"/>
          <p:cNvSpPr/>
          <p:nvPr/>
        </p:nvSpPr>
        <p:spPr>
          <a:xfrm>
            <a:off x="5029200" y="3813048"/>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01 a 05/02</a:t>
            </a:r>
            <a:endParaRPr lang="en-US" sz="950" dirty="0"/>
          </a:p>
        </p:txBody>
      </p:sp>
      <p:sp>
        <p:nvSpPr>
          <p:cNvPr id="39" name="Text 31"/>
          <p:cNvSpPr/>
          <p:nvPr/>
        </p:nvSpPr>
        <p:spPr>
          <a:xfrm>
            <a:off x="6126480" y="3813048"/>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Apresentação final e investimento</a:t>
            </a:r>
            <a:endParaRPr lang="en-US" sz="950" dirty="0"/>
          </a:p>
        </p:txBody>
      </p:sp>
      <p:sp>
        <p:nvSpPr>
          <p:cNvPr id="40" name="TextBox 39"/>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5D300"/>
                </a:solidFill>
                <a:latin typeface="Calibri"/>
              </a:rPr>
              <a:t>CAPÍTULO 6  ·  ATÉ ONDE VAMOS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
            <a:extLst>
              <a:ext uri="{FF2B5EF4-FFF2-40B4-BE49-F238E27FC236}">
                <a16:creationId xmlns:a16="http://schemas.microsoft.com/office/drawing/2014/main" id="{629F80C5-4778-80CD-FEEC-246E45CEA5CE}"/>
              </a:ext>
            </a:extLst>
          </p:cNvPr>
          <p:cNvSpPr>
            <a:spLocks noGrp="1"/>
          </p:cNvSpPr>
          <p:nvPr>
            <p:ph type="sldNum" sz="quarter" idx="15"/>
          </p:nvPr>
        </p:nvSpPr>
        <p:spPr>
          <a:xfrm>
            <a:off x="8514160" y="4677984"/>
            <a:ext cx="629840" cy="465516"/>
          </a:xfrm>
        </p:spPr>
        <p:txBody>
          <a:bodyPr/>
          <a:lstStyle/>
          <a:p>
            <a:pPr>
              <a:spcAft>
                <a:spcPts val="450"/>
              </a:spcAft>
            </a:pPr>
            <a:fld id="{82366C92-DFCE-40A6-8CC1-5A4741E3726D}" type="slidenum">
              <a:rPr lang="en-GB" smtClean="0"/>
              <a:pPr>
                <a:spcAft>
                  <a:spcPts val="450"/>
                </a:spcAft>
              </a:pPr>
              <a:t>22</a:t>
            </a:fld>
            <a:endParaRPr lang="en-GB"/>
          </a:p>
        </p:txBody>
      </p:sp>
      <p:sp>
        <p:nvSpPr>
          <p:cNvPr id="7" name="CaixaDeTexto 6">
            <a:extLst>
              <a:ext uri="{FF2B5EF4-FFF2-40B4-BE49-F238E27FC236}">
                <a16:creationId xmlns:a16="http://schemas.microsoft.com/office/drawing/2014/main" id="{027E2689-CE38-45AB-9EF8-2B100F274755}"/>
              </a:ext>
            </a:extLst>
          </p:cNvPr>
          <p:cNvSpPr txBox="1"/>
          <p:nvPr/>
        </p:nvSpPr>
        <p:spPr>
          <a:xfrm>
            <a:off x="629841" y="465517"/>
            <a:ext cx="5670351" cy="753713"/>
          </a:xfrm>
          <a:prstGeom prst="rect">
            <a:avLst/>
          </a:prstGeom>
        </p:spPr>
        <p:txBody>
          <a:bodyPr vert="horz" lIns="0" tIns="0" rIns="0" bIns="0" rtlCol="0" anchor="ctr" anchorCtr="0">
            <a:normAutofit/>
          </a:bodyPr>
          <a:lstStyle/>
          <a:p>
            <a:pPr>
              <a:lnSpc>
                <a:spcPct val="90000"/>
              </a:lnSpc>
              <a:spcBef>
                <a:spcPct val="0"/>
              </a:spcBef>
              <a:spcAft>
                <a:spcPts val="450"/>
              </a:spcAft>
            </a:pPr>
            <a:r>
              <a:rPr lang="en-US" sz="4950" b="1">
                <a:solidFill>
                  <a:schemeClr val="tx2"/>
                </a:solidFill>
              </a:rPr>
              <a:t>Obrigado</a:t>
            </a:r>
          </a:p>
        </p:txBody>
      </p:sp>
      <p:pic>
        <p:nvPicPr>
          <p:cNvPr id="3" name="Picture 2" descr="Confinamento de gado: veja como fazer de maneira eficaz — CompreRural">
            <a:extLst>
              <a:ext uri="{FF2B5EF4-FFF2-40B4-BE49-F238E27FC236}">
                <a16:creationId xmlns:a16="http://schemas.microsoft.com/office/drawing/2014/main" id="{6802C605-735F-7CBF-AF55-9AA80A2795E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753" r="-1" b="-1"/>
          <a:stretch/>
        </p:blipFill>
        <p:spPr bwMode="auto">
          <a:xfrm flipH="1">
            <a:off x="629841" y="1362104"/>
            <a:ext cx="5670351" cy="3264408"/>
          </a:xfrm>
          <a:prstGeom prst="rect">
            <a:avLst/>
          </a:prstGeom>
          <a:noFill/>
        </p:spPr>
      </p:pic>
    </p:spTree>
    <p:extLst>
      <p:ext uri="{BB962C8B-B14F-4D97-AF65-F5344CB8AC3E}">
        <p14:creationId xmlns:p14="http://schemas.microsoft.com/office/powerpoint/2010/main" val="16322871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B3A8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5D300"/>
          </a:solidFill>
          <a:ln/>
        </p:spPr>
        <p:txBody>
          <a:bodyPr/>
          <a:lstStyle/>
          <a:p>
            <a:endParaRPr/>
          </a:p>
        </p:txBody>
      </p:sp>
      <p:sp>
        <p:nvSpPr>
          <p:cNvPr id="3" name="Text 1"/>
          <p:cNvSpPr/>
          <p:nvPr/>
        </p:nvSpPr>
        <p:spPr>
          <a:xfrm>
            <a:off x="640080" y="1737360"/>
            <a:ext cx="7315200" cy="274320"/>
          </a:xfrm>
          <a:prstGeom prst="rect">
            <a:avLst/>
          </a:prstGeom>
          <a:noFill/>
          <a:ln/>
        </p:spPr>
        <p:txBody>
          <a:bodyPr wrap="square" lIns="0" tIns="0" rIns="0" bIns="0" rtlCol="0" anchor="t"/>
          <a:lstStyle/>
          <a:p>
            <a:pPr marL="0" indent="0">
              <a:buNone/>
            </a:pPr>
            <a:r>
              <a:rPr lang="en-US" sz="1200" b="1" kern="0" spc="400" dirty="0">
                <a:solidFill>
                  <a:srgbClr val="C5D300"/>
                </a:solidFill>
                <a:latin typeface="Calibri" pitchFamily="34" charset="0"/>
                <a:ea typeface="Calibri" pitchFamily="34" charset="-122"/>
                <a:cs typeface="Calibri" pitchFamily="34" charset="-120"/>
              </a:rPr>
              <a:t>ANEXO</a:t>
            </a:r>
            <a:endParaRPr lang="en-US" sz="1200" dirty="0"/>
          </a:p>
        </p:txBody>
      </p:sp>
      <p:sp>
        <p:nvSpPr>
          <p:cNvPr id="4" name="Text 2"/>
          <p:cNvSpPr/>
          <p:nvPr/>
        </p:nvSpPr>
        <p:spPr>
          <a:xfrm>
            <a:off x="640080" y="2011680"/>
            <a:ext cx="7315200" cy="640080"/>
          </a:xfrm>
          <a:prstGeom prst="rect">
            <a:avLst/>
          </a:prstGeom>
          <a:noFill/>
          <a:ln/>
        </p:spPr>
        <p:txBody>
          <a:bodyPr wrap="square" lIns="0" tIns="0" rIns="0" bIns="0" rtlCol="0" anchor="t"/>
          <a:lstStyle/>
          <a:p>
            <a:pPr marL="0" indent="0">
              <a:buNone/>
            </a:pPr>
            <a:r>
              <a:rPr lang="en-US" sz="3400" b="1" dirty="0">
                <a:solidFill>
                  <a:srgbClr val="FFFFFF"/>
                </a:solidFill>
                <a:latin typeface="Calibri" pitchFamily="34" charset="0"/>
                <a:ea typeface="Calibri" pitchFamily="34" charset="-122"/>
                <a:cs typeface="Calibri" pitchFamily="34" charset="-120"/>
              </a:rPr>
              <a:t>Material de apoio</a:t>
            </a:r>
            <a:endParaRPr lang="en-US" sz="3400" dirty="0"/>
          </a:p>
        </p:txBody>
      </p:sp>
      <p:sp>
        <p:nvSpPr>
          <p:cNvPr id="5" name="Text 3"/>
          <p:cNvSpPr/>
          <p:nvPr/>
        </p:nvSpPr>
        <p:spPr>
          <a:xfrm>
            <a:off x="640080" y="2743200"/>
            <a:ext cx="6949440" cy="640080"/>
          </a:xfrm>
          <a:prstGeom prst="rect">
            <a:avLst/>
          </a:prstGeom>
          <a:noFill/>
          <a:ln/>
        </p:spPr>
        <p:txBody>
          <a:bodyPr wrap="square" lIns="0" tIns="0" rIns="0" bIns="0" rtlCol="0" anchor="t"/>
          <a:lstStyle/>
          <a:p>
            <a:pPr marL="0" indent="0">
              <a:buNone/>
            </a:pPr>
            <a:r>
              <a:rPr lang="en-US" sz="1200" dirty="0">
                <a:solidFill>
                  <a:srgbClr val="D6DCEB"/>
                </a:solidFill>
                <a:latin typeface="Calibri" pitchFamily="34" charset="0"/>
                <a:ea typeface="Calibri" pitchFamily="34" charset="-122"/>
                <a:cs typeface="Calibri" pitchFamily="34" charset="-120"/>
              </a:rPr>
              <a:t>Para usar se a diretoria perguntar: problema de negócio, mapa de valor, perfil do piloto, objetivos, produto mínimo, pesquisa com 30 fazendas, critérios de avanço, riscos e stakeholders.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O problema de negócio da v1.0 continua válido</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Os números de 2023 justificam o projeto. A v2.0 revisa a forma de resolver o problema.</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29</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marL="0" indent="0">
              <a:buNone/>
            </a:pPr>
            <a:r>
              <a:rPr lang="en-US" sz="800" dirty="0">
                <a:solidFill>
                  <a:srgbClr val="7A858F"/>
                </a:solidFill>
                <a:latin typeface="Calibri" pitchFamily="34" charset="0"/>
                <a:ea typeface="Calibri" pitchFamily="34" charset="-122"/>
                <a:cs typeface="Calibri" pitchFamily="34" charset="-120"/>
              </a:rPr>
              <a:t>Fonte: Business Case Feedlot App v1.0 (out/2023) e OGP Brazil 2023. Atualizar no diagnóstico.</a:t>
            </a:r>
            <a:endParaRPr lang="en-US" sz="800" dirty="0"/>
          </a:p>
        </p:txBody>
      </p:sp>
      <p:sp>
        <p:nvSpPr>
          <p:cNvPr id="7" name="Text 4"/>
          <p:cNvSpPr/>
          <p:nvPr/>
        </p:nvSpPr>
        <p:spPr>
          <a:xfrm>
            <a:off x="457200" y="1143000"/>
            <a:ext cx="4754880" cy="274320"/>
          </a:xfrm>
          <a:prstGeom prst="rect">
            <a:avLst/>
          </a:prstGeom>
          <a:noFill/>
          <a:ln/>
        </p:spPr>
        <p:txBody>
          <a:bodyPr wrap="square" lIns="0" tIns="0" rIns="0" bIns="0" rtlCol="0" anchor="t"/>
          <a:lstStyle/>
          <a:p>
            <a:pPr marL="0" indent="0">
              <a:buNone/>
            </a:pPr>
            <a:r>
              <a:rPr lang="en-US" sz="1200" b="1" dirty="0">
                <a:solidFill>
                  <a:srgbClr val="1B3A8C"/>
                </a:solidFill>
                <a:latin typeface="Calibri" pitchFamily="34" charset="0"/>
                <a:ea typeface="Calibri" pitchFamily="34" charset="-122"/>
                <a:cs typeface="Calibri" pitchFamily="34" charset="-120"/>
              </a:rPr>
              <a:t>Sales Profit Beef 2022 (R$ milhões)</a:t>
            </a:r>
            <a:endParaRPr lang="en-US" sz="1200" dirty="0"/>
          </a:p>
        </p:txBody>
      </p:sp>
      <p:graphicFrame>
        <p:nvGraphicFramePr>
          <p:cNvPr id="8" name="Chart 0"/>
          <p:cNvGraphicFramePr/>
          <p:nvPr/>
        </p:nvGraphicFramePr>
        <p:xfrm>
          <a:off x="365760" y="1417320"/>
          <a:ext cx="4937760" cy="2788920"/>
        </p:xfrm>
        <a:graphic>
          <a:graphicData uri="http://schemas.openxmlformats.org/drawingml/2006/chart">
            <c:chart xmlns:c="http://schemas.openxmlformats.org/drawingml/2006/chart" xmlns:r="http://schemas.openxmlformats.org/officeDocument/2006/relationships" r:id="rId4"/>
          </a:graphicData>
        </a:graphic>
      </p:graphicFrame>
      <p:sp>
        <p:nvSpPr>
          <p:cNvPr id="9" name="Shape 5"/>
          <p:cNvSpPr/>
          <p:nvPr/>
        </p:nvSpPr>
        <p:spPr>
          <a:xfrm>
            <a:off x="5577840" y="1188720"/>
            <a:ext cx="1463040" cy="1325880"/>
          </a:xfrm>
          <a:prstGeom prst="rect">
            <a:avLst/>
          </a:prstGeom>
          <a:solidFill>
            <a:srgbClr val="F4F6F8"/>
          </a:solidFill>
          <a:ln/>
        </p:spPr>
        <p:txBody>
          <a:bodyPr/>
          <a:lstStyle/>
          <a:p>
            <a:endParaRPr lang="pt-BR"/>
          </a:p>
        </p:txBody>
      </p:sp>
      <p:sp>
        <p:nvSpPr>
          <p:cNvPr id="10" name="Shape 6"/>
          <p:cNvSpPr/>
          <p:nvPr/>
        </p:nvSpPr>
        <p:spPr>
          <a:xfrm>
            <a:off x="5577840" y="1188720"/>
            <a:ext cx="54864" cy="1325880"/>
          </a:xfrm>
          <a:prstGeom prst="rect">
            <a:avLst/>
          </a:prstGeom>
          <a:solidFill>
            <a:srgbClr val="C8106E"/>
          </a:solidFill>
          <a:ln/>
        </p:spPr>
        <p:txBody>
          <a:bodyPr/>
          <a:lstStyle/>
          <a:p>
            <a:endParaRPr lang="pt-BR"/>
          </a:p>
        </p:txBody>
      </p:sp>
      <p:sp>
        <p:nvSpPr>
          <p:cNvPr id="11" name="Text 7"/>
          <p:cNvSpPr/>
          <p:nvPr/>
        </p:nvSpPr>
        <p:spPr>
          <a:xfrm>
            <a:off x="5733288" y="1298448"/>
            <a:ext cx="1261872" cy="457200"/>
          </a:xfrm>
          <a:prstGeom prst="rect">
            <a:avLst/>
          </a:prstGeom>
          <a:noFill/>
          <a:ln/>
        </p:spPr>
        <p:txBody>
          <a:bodyPr wrap="square" lIns="0" tIns="0" rIns="0" bIns="0" rtlCol="0" anchor="t"/>
          <a:lstStyle/>
          <a:p>
            <a:pPr marL="0" indent="0">
              <a:buNone/>
            </a:pPr>
            <a:r>
              <a:rPr lang="en-US" sz="2400" b="1" dirty="0">
                <a:solidFill>
                  <a:srgbClr val="C8106E"/>
                </a:solidFill>
                <a:latin typeface="Calibri" pitchFamily="34" charset="0"/>
                <a:ea typeface="Calibri" pitchFamily="34" charset="-122"/>
                <a:cs typeface="Calibri" pitchFamily="34" charset="-120"/>
              </a:rPr>
              <a:t>19%</a:t>
            </a:r>
            <a:endParaRPr lang="en-US" sz="2400" dirty="0"/>
          </a:p>
        </p:txBody>
      </p:sp>
      <p:sp>
        <p:nvSpPr>
          <p:cNvPr id="12" name="Text 8"/>
          <p:cNvSpPr/>
          <p:nvPr/>
        </p:nvSpPr>
        <p:spPr>
          <a:xfrm>
            <a:off x="5733288" y="1783080"/>
            <a:ext cx="1261872" cy="68580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do Sales Profit Beef vem de confinamento</a:t>
            </a:r>
            <a:endParaRPr lang="en-US" sz="950" dirty="0"/>
          </a:p>
        </p:txBody>
      </p:sp>
      <p:sp>
        <p:nvSpPr>
          <p:cNvPr id="13" name="Shape 9"/>
          <p:cNvSpPr/>
          <p:nvPr/>
        </p:nvSpPr>
        <p:spPr>
          <a:xfrm>
            <a:off x="7178040" y="1188720"/>
            <a:ext cx="1463040" cy="1325880"/>
          </a:xfrm>
          <a:prstGeom prst="rect">
            <a:avLst/>
          </a:prstGeom>
          <a:solidFill>
            <a:srgbClr val="F4F6F8"/>
          </a:solidFill>
          <a:ln/>
        </p:spPr>
        <p:txBody>
          <a:bodyPr/>
          <a:lstStyle/>
          <a:p>
            <a:endParaRPr lang="pt-BR"/>
          </a:p>
        </p:txBody>
      </p:sp>
      <p:sp>
        <p:nvSpPr>
          <p:cNvPr id="14" name="Shape 10"/>
          <p:cNvSpPr/>
          <p:nvPr/>
        </p:nvSpPr>
        <p:spPr>
          <a:xfrm>
            <a:off x="7178040" y="1188720"/>
            <a:ext cx="54864" cy="1325880"/>
          </a:xfrm>
          <a:prstGeom prst="rect">
            <a:avLst/>
          </a:prstGeom>
          <a:solidFill>
            <a:srgbClr val="1B3A8C"/>
          </a:solidFill>
          <a:ln/>
        </p:spPr>
        <p:txBody>
          <a:bodyPr/>
          <a:lstStyle/>
          <a:p>
            <a:endParaRPr lang="pt-BR"/>
          </a:p>
        </p:txBody>
      </p:sp>
      <p:sp>
        <p:nvSpPr>
          <p:cNvPr id="15" name="Text 11"/>
          <p:cNvSpPr/>
          <p:nvPr/>
        </p:nvSpPr>
        <p:spPr>
          <a:xfrm>
            <a:off x="7333488" y="1298448"/>
            <a:ext cx="1261872" cy="457200"/>
          </a:xfrm>
          <a:prstGeom prst="rect">
            <a:avLst/>
          </a:prstGeom>
          <a:noFill/>
          <a:ln/>
        </p:spPr>
        <p:txBody>
          <a:bodyPr wrap="square" lIns="0" tIns="0" rIns="0" bIns="0" rtlCol="0" anchor="t"/>
          <a:lstStyle/>
          <a:p>
            <a:pPr marL="0" indent="0">
              <a:buNone/>
            </a:pPr>
            <a:r>
              <a:rPr lang="en-US" sz="2400" b="1" dirty="0">
                <a:solidFill>
                  <a:srgbClr val="1B3A8C"/>
                </a:solidFill>
                <a:latin typeface="Calibri" pitchFamily="34" charset="0"/>
                <a:ea typeface="Calibri" pitchFamily="34" charset="-122"/>
                <a:cs typeface="Calibri" pitchFamily="34" charset="-120"/>
              </a:rPr>
              <a:t>51 mil</a:t>
            </a:r>
            <a:endParaRPr lang="en-US" sz="2400" dirty="0"/>
          </a:p>
        </p:txBody>
      </p:sp>
      <p:sp>
        <p:nvSpPr>
          <p:cNvPr id="16" name="Text 12"/>
          <p:cNvSpPr/>
          <p:nvPr/>
        </p:nvSpPr>
        <p:spPr>
          <a:xfrm>
            <a:off x="7333488" y="1783080"/>
            <a:ext cx="1261872" cy="68580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cabeças perdidas em 7 clientes, a maior parte para a Cargill</a:t>
            </a:r>
            <a:endParaRPr lang="en-US" sz="950" dirty="0"/>
          </a:p>
        </p:txBody>
      </p:sp>
      <p:sp>
        <p:nvSpPr>
          <p:cNvPr id="17" name="Shape 13"/>
          <p:cNvSpPr/>
          <p:nvPr/>
        </p:nvSpPr>
        <p:spPr>
          <a:xfrm>
            <a:off x="5577840" y="2670048"/>
            <a:ext cx="1463040" cy="1325880"/>
          </a:xfrm>
          <a:prstGeom prst="rect">
            <a:avLst/>
          </a:prstGeom>
          <a:solidFill>
            <a:srgbClr val="F4F6F8"/>
          </a:solidFill>
          <a:ln/>
        </p:spPr>
        <p:txBody>
          <a:bodyPr/>
          <a:lstStyle/>
          <a:p>
            <a:endParaRPr lang="pt-BR"/>
          </a:p>
        </p:txBody>
      </p:sp>
      <p:sp>
        <p:nvSpPr>
          <p:cNvPr id="18" name="Shape 14"/>
          <p:cNvSpPr/>
          <p:nvPr/>
        </p:nvSpPr>
        <p:spPr>
          <a:xfrm>
            <a:off x="5577840" y="2670048"/>
            <a:ext cx="54864" cy="1325880"/>
          </a:xfrm>
          <a:prstGeom prst="rect">
            <a:avLst/>
          </a:prstGeom>
          <a:solidFill>
            <a:srgbClr val="26668F"/>
          </a:solidFill>
          <a:ln/>
        </p:spPr>
        <p:txBody>
          <a:bodyPr/>
          <a:lstStyle/>
          <a:p>
            <a:endParaRPr lang="pt-BR"/>
          </a:p>
        </p:txBody>
      </p:sp>
      <p:sp>
        <p:nvSpPr>
          <p:cNvPr id="19" name="Text 15"/>
          <p:cNvSpPr/>
          <p:nvPr/>
        </p:nvSpPr>
        <p:spPr>
          <a:xfrm>
            <a:off x="5733288" y="2779776"/>
            <a:ext cx="1261872" cy="457200"/>
          </a:xfrm>
          <a:prstGeom prst="rect">
            <a:avLst/>
          </a:prstGeom>
          <a:noFill/>
          <a:ln/>
        </p:spPr>
        <p:txBody>
          <a:bodyPr wrap="square" lIns="0" tIns="0" rIns="0" bIns="0" rtlCol="0" anchor="t"/>
          <a:lstStyle/>
          <a:p>
            <a:pPr marL="0" indent="0">
              <a:buNone/>
            </a:pPr>
            <a:r>
              <a:rPr lang="en-US" sz="2400" b="1" dirty="0">
                <a:solidFill>
                  <a:srgbClr val="26668F"/>
                </a:solidFill>
                <a:latin typeface="Calibri" pitchFamily="34" charset="0"/>
                <a:ea typeface="Calibri" pitchFamily="34" charset="-122"/>
                <a:cs typeface="Calibri" pitchFamily="34" charset="-120"/>
              </a:rPr>
              <a:t>12,5 mil</a:t>
            </a:r>
            <a:endParaRPr lang="en-US" sz="2400" dirty="0"/>
          </a:p>
        </p:txBody>
      </p:sp>
      <p:sp>
        <p:nvSpPr>
          <p:cNvPr id="20" name="Text 16"/>
          <p:cNvSpPr/>
          <p:nvPr/>
        </p:nvSpPr>
        <p:spPr>
          <a:xfrm>
            <a:off x="5733288" y="3264408"/>
            <a:ext cx="1261872" cy="68580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cabeças em risco de perda em 2023</a:t>
            </a:r>
            <a:endParaRPr lang="en-US" sz="950" dirty="0"/>
          </a:p>
        </p:txBody>
      </p:sp>
      <p:sp>
        <p:nvSpPr>
          <p:cNvPr id="21" name="Shape 17"/>
          <p:cNvSpPr/>
          <p:nvPr/>
        </p:nvSpPr>
        <p:spPr>
          <a:xfrm>
            <a:off x="7178040" y="2670048"/>
            <a:ext cx="1463040" cy="1325880"/>
          </a:xfrm>
          <a:prstGeom prst="rect">
            <a:avLst/>
          </a:prstGeom>
          <a:solidFill>
            <a:srgbClr val="F4F6F8"/>
          </a:solidFill>
          <a:ln/>
        </p:spPr>
        <p:txBody>
          <a:bodyPr/>
          <a:lstStyle/>
          <a:p>
            <a:endParaRPr lang="pt-BR"/>
          </a:p>
        </p:txBody>
      </p:sp>
      <p:sp>
        <p:nvSpPr>
          <p:cNvPr id="22" name="Shape 18"/>
          <p:cNvSpPr/>
          <p:nvPr/>
        </p:nvSpPr>
        <p:spPr>
          <a:xfrm>
            <a:off x="7178040" y="2670048"/>
            <a:ext cx="54864" cy="1325880"/>
          </a:xfrm>
          <a:prstGeom prst="rect">
            <a:avLst/>
          </a:prstGeom>
          <a:solidFill>
            <a:srgbClr val="0096B4"/>
          </a:solidFill>
          <a:ln/>
        </p:spPr>
        <p:txBody>
          <a:bodyPr/>
          <a:lstStyle/>
          <a:p>
            <a:endParaRPr lang="pt-BR"/>
          </a:p>
        </p:txBody>
      </p:sp>
      <p:sp>
        <p:nvSpPr>
          <p:cNvPr id="23" name="Text 19"/>
          <p:cNvSpPr/>
          <p:nvPr/>
        </p:nvSpPr>
        <p:spPr>
          <a:xfrm>
            <a:off x="7333488" y="2779776"/>
            <a:ext cx="1261872" cy="457200"/>
          </a:xfrm>
          <a:prstGeom prst="rect">
            <a:avLst/>
          </a:prstGeom>
          <a:noFill/>
          <a:ln/>
        </p:spPr>
        <p:txBody>
          <a:bodyPr wrap="square" lIns="0" tIns="0" rIns="0" bIns="0" rtlCol="0" anchor="t"/>
          <a:lstStyle/>
          <a:p>
            <a:pPr marL="0" indent="0">
              <a:buNone/>
            </a:pPr>
            <a:r>
              <a:rPr lang="en-US" sz="2400" b="1" dirty="0">
                <a:solidFill>
                  <a:srgbClr val="0096B4"/>
                </a:solidFill>
                <a:latin typeface="Calibri" pitchFamily="34" charset="0"/>
                <a:ea typeface="Calibri" pitchFamily="34" charset="-122"/>
                <a:cs typeface="Calibri" pitchFamily="34" charset="-120"/>
              </a:rPr>
              <a:t>9,6%</a:t>
            </a:r>
            <a:endParaRPr lang="en-US" sz="2400" dirty="0"/>
          </a:p>
        </p:txBody>
      </p:sp>
      <p:sp>
        <p:nvSpPr>
          <p:cNvPr id="24" name="Text 20"/>
          <p:cNvSpPr/>
          <p:nvPr/>
        </p:nvSpPr>
        <p:spPr>
          <a:xfrm>
            <a:off x="7333488" y="3264408"/>
            <a:ext cx="1261872" cy="68580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de market share em premix, mineral e concentrado para confinamento</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4">
            <a:extLst>
              <a:ext uri="{FF2B5EF4-FFF2-40B4-BE49-F238E27FC236}">
                <a16:creationId xmlns:a16="http://schemas.microsoft.com/office/drawing/2014/main" id="{B2DA0B8F-6275-5FF9-F0FA-D4F4A45023B6}"/>
              </a:ext>
            </a:extLst>
          </p:cNvPr>
          <p:cNvSpPr txBox="1">
            <a:spLocks/>
          </p:cNvSpPr>
          <p:nvPr/>
        </p:nvSpPr>
        <p:spPr>
          <a:xfrm>
            <a:off x="89503" y="87475"/>
            <a:ext cx="7074785" cy="837590"/>
          </a:xfrm>
          <a:prstGeom prst="rect">
            <a:avLst/>
          </a:prstGeom>
        </p:spPr>
        <p:txBody>
          <a:bodyPr vert="horz" wrap="square" lIns="27000" tIns="27000" rIns="27000" bIns="27000" rtlCol="0" anchor="t" anchorCtr="0">
            <a:noAutofit/>
          </a:bodyPr>
          <a:lstStyle>
            <a:lvl1pPr algn="l" defTabSz="914400" rtl="0" eaLnBrk="1" latinLnBrk="0" hangingPunct="1">
              <a:lnSpc>
                <a:spcPts val="4200"/>
              </a:lnSpc>
              <a:spcBef>
                <a:spcPct val="0"/>
              </a:spcBef>
              <a:buNone/>
              <a:defRPr sz="4400" b="1" kern="1200" baseline="0">
                <a:solidFill>
                  <a:schemeClr val="tx2"/>
                </a:solidFill>
                <a:latin typeface="+mn-lt"/>
                <a:ea typeface="+mj-ea"/>
                <a:cs typeface="+mj-cs"/>
              </a:defRPr>
            </a:lvl1pPr>
          </a:lstStyle>
          <a:p>
            <a:pPr>
              <a:lnSpc>
                <a:spcPct val="100000"/>
              </a:lnSpc>
            </a:pPr>
            <a:r>
              <a:rPr lang="en-US" sz="2400" dirty="0" err="1"/>
              <a:t>Objetivos</a:t>
            </a:r>
            <a:r>
              <a:rPr lang="en-US" sz="2400" dirty="0"/>
              <a:t> do </a:t>
            </a:r>
            <a:r>
              <a:rPr lang="en-US" sz="2400" dirty="0" err="1"/>
              <a:t>Projeto</a:t>
            </a:r>
            <a:br>
              <a:rPr lang="en-CA" sz="2400" dirty="0"/>
            </a:br>
            <a:r>
              <a:rPr lang="en-US" sz="1350" b="0" i="1" dirty="0"/>
              <a:t>Com o </a:t>
            </a:r>
            <a:r>
              <a:rPr lang="en-US" sz="1350" b="0" i="1" dirty="0" err="1"/>
              <a:t>desenvolvimento</a:t>
            </a:r>
            <a:r>
              <a:rPr lang="en-US" sz="1350" b="0" i="1" dirty="0"/>
              <a:t> do TN Manager, </a:t>
            </a:r>
            <a:r>
              <a:rPr lang="en-US" sz="1350" b="0" i="1" dirty="0" err="1"/>
              <a:t>vamos</a:t>
            </a:r>
            <a:r>
              <a:rPr lang="en-US" sz="1350" b="0" i="1" dirty="0"/>
              <a:t> </a:t>
            </a:r>
            <a:r>
              <a:rPr lang="en-US" sz="1350" b="0" i="1" dirty="0" err="1"/>
              <a:t>entregar</a:t>
            </a:r>
            <a:r>
              <a:rPr lang="en-US" sz="1350" b="0" i="1" dirty="0"/>
              <a:t> 4 </a:t>
            </a:r>
            <a:r>
              <a:rPr lang="en-US" sz="1350" b="0" i="1" dirty="0" err="1"/>
              <a:t>benefícios</a:t>
            </a:r>
            <a:r>
              <a:rPr lang="en-US" sz="1350" b="0" i="1" dirty="0"/>
              <a:t> </a:t>
            </a:r>
            <a:r>
              <a:rPr lang="en-US" sz="1350" b="0" i="1" dirty="0" err="1"/>
              <a:t>principais</a:t>
            </a:r>
            <a:r>
              <a:rPr lang="en-US" sz="1350" b="0" i="1" dirty="0"/>
              <a:t> </a:t>
            </a:r>
            <a:r>
              <a:rPr lang="en-US" sz="1350" b="0" i="1" dirty="0" err="1"/>
              <a:t>ao</a:t>
            </a:r>
            <a:r>
              <a:rPr lang="en-US" sz="1350" b="0" i="1" dirty="0"/>
              <a:t> </a:t>
            </a:r>
            <a:r>
              <a:rPr lang="en-US" sz="1350" b="0" i="1" dirty="0" err="1"/>
              <a:t>negócio</a:t>
            </a:r>
            <a:r>
              <a:rPr lang="en-US" sz="1350" b="0" i="1" dirty="0"/>
              <a:t> da TNB.</a:t>
            </a:r>
            <a:endParaRPr lang="en-CA" sz="2400" b="0" i="1" dirty="0"/>
          </a:p>
        </p:txBody>
      </p:sp>
      <p:sp>
        <p:nvSpPr>
          <p:cNvPr id="2" name="Line 10">
            <a:extLst>
              <a:ext uri="{FF2B5EF4-FFF2-40B4-BE49-F238E27FC236}">
                <a16:creationId xmlns:a16="http://schemas.microsoft.com/office/drawing/2014/main" id="{1F76DCD9-4EB6-3B83-BAFD-95D6CE4EB64A}"/>
              </a:ext>
            </a:extLst>
          </p:cNvPr>
          <p:cNvSpPr>
            <a:spLocks noChangeShapeType="1"/>
          </p:cNvSpPr>
          <p:nvPr/>
        </p:nvSpPr>
        <p:spPr bwMode="auto">
          <a:xfrm rot="18900000">
            <a:off x="4435830" y="2138883"/>
            <a:ext cx="0" cy="0"/>
          </a:xfrm>
          <a:prstGeom prst="line">
            <a:avLst/>
          </a:prstGeom>
          <a:noFill/>
          <a:ln w="15875" cap="flat">
            <a:solidFill>
              <a:srgbClr val="231F20"/>
            </a:solidFill>
            <a:prstDash val="solid"/>
            <a:miter lim="800000"/>
            <a:headEnd/>
            <a:tailEnd/>
          </a:ln>
          <a:effectLst/>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en-US" kern="0">
              <a:solidFill>
                <a:prstClr val="black"/>
              </a:solidFill>
            </a:endParaRPr>
          </a:p>
        </p:txBody>
      </p:sp>
      <p:grpSp>
        <p:nvGrpSpPr>
          <p:cNvPr id="3" name="Group 17">
            <a:extLst>
              <a:ext uri="{FF2B5EF4-FFF2-40B4-BE49-F238E27FC236}">
                <a16:creationId xmlns:a16="http://schemas.microsoft.com/office/drawing/2014/main" id="{1C154973-36B7-8247-5FCF-61ABE8ADD461}"/>
              </a:ext>
            </a:extLst>
          </p:cNvPr>
          <p:cNvGrpSpPr/>
          <p:nvPr/>
        </p:nvGrpSpPr>
        <p:grpSpPr>
          <a:xfrm>
            <a:off x="2713445" y="1165688"/>
            <a:ext cx="3444771" cy="3448386"/>
            <a:chOff x="3657600" y="1181940"/>
            <a:chExt cx="4876800" cy="4881918"/>
          </a:xfrm>
        </p:grpSpPr>
        <p:sp>
          <p:nvSpPr>
            <p:cNvPr id="5" name="Freeform 9">
              <a:extLst>
                <a:ext uri="{FF2B5EF4-FFF2-40B4-BE49-F238E27FC236}">
                  <a16:creationId xmlns:a16="http://schemas.microsoft.com/office/drawing/2014/main" id="{E4B2645B-87BD-3850-112A-9912D20BE8CE}"/>
                </a:ext>
              </a:extLst>
            </p:cNvPr>
            <p:cNvSpPr>
              <a:spLocks/>
            </p:cNvSpPr>
            <p:nvPr/>
          </p:nvSpPr>
          <p:spPr bwMode="auto">
            <a:xfrm rot="18900000">
              <a:off x="4112160" y="1181940"/>
              <a:ext cx="2466836" cy="3409445"/>
            </a:xfrm>
            <a:custGeom>
              <a:avLst/>
              <a:gdLst>
                <a:gd name="T0" fmla="*/ 233 w 467"/>
                <a:gd name="T1" fmla="*/ 0 h 646"/>
                <a:gd name="T2" fmla="*/ 0 w 467"/>
                <a:gd name="T3" fmla="*/ 232 h 646"/>
                <a:gd name="T4" fmla="*/ 10 w 467"/>
                <a:gd name="T5" fmla="*/ 299 h 646"/>
                <a:gd name="T6" fmla="*/ 73 w 467"/>
                <a:gd name="T7" fmla="*/ 400 h 646"/>
                <a:gd name="T8" fmla="*/ 73 w 467"/>
                <a:gd name="T9" fmla="*/ 401 h 646"/>
                <a:gd name="T10" fmla="*/ 119 w 467"/>
                <a:gd name="T11" fmla="*/ 522 h 646"/>
                <a:gd name="T12" fmla="*/ 79 w 467"/>
                <a:gd name="T13" fmla="*/ 636 h 646"/>
                <a:gd name="T14" fmla="*/ 84 w 467"/>
                <a:gd name="T15" fmla="*/ 646 h 646"/>
                <a:gd name="T16" fmla="*/ 169 w 467"/>
                <a:gd name="T17" fmla="*/ 586 h 646"/>
                <a:gd name="T18" fmla="*/ 178 w 467"/>
                <a:gd name="T19" fmla="*/ 522 h 646"/>
                <a:gd name="T20" fmla="*/ 169 w 467"/>
                <a:gd name="T21" fmla="*/ 456 h 646"/>
                <a:gd name="T22" fmla="*/ 98 w 467"/>
                <a:gd name="T23" fmla="*/ 342 h 646"/>
                <a:gd name="T24" fmla="*/ 59 w 467"/>
                <a:gd name="T25" fmla="*/ 232 h 646"/>
                <a:gd name="T26" fmla="*/ 233 w 467"/>
                <a:gd name="T27" fmla="*/ 59 h 646"/>
                <a:gd name="T28" fmla="*/ 408 w 467"/>
                <a:gd name="T29" fmla="*/ 232 h 646"/>
                <a:gd name="T30" fmla="*/ 361 w 467"/>
                <a:gd name="T31" fmla="*/ 351 h 646"/>
                <a:gd name="T32" fmla="*/ 457 w 467"/>
                <a:gd name="T33" fmla="*/ 299 h 646"/>
                <a:gd name="T34" fmla="*/ 467 w 467"/>
                <a:gd name="T35" fmla="*/ 232 h 646"/>
                <a:gd name="T36" fmla="*/ 233 w 467"/>
                <a:gd name="T37" fmla="*/ 0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67" h="646">
                  <a:moveTo>
                    <a:pt x="233" y="0"/>
                  </a:moveTo>
                  <a:cubicBezTo>
                    <a:pt x="105" y="0"/>
                    <a:pt x="0" y="104"/>
                    <a:pt x="0" y="232"/>
                  </a:cubicBezTo>
                  <a:cubicBezTo>
                    <a:pt x="0" y="255"/>
                    <a:pt x="3" y="278"/>
                    <a:pt x="10" y="299"/>
                  </a:cubicBezTo>
                  <a:cubicBezTo>
                    <a:pt x="21" y="338"/>
                    <a:pt x="43" y="373"/>
                    <a:pt x="73" y="400"/>
                  </a:cubicBezTo>
                  <a:cubicBezTo>
                    <a:pt x="73" y="401"/>
                    <a:pt x="73" y="401"/>
                    <a:pt x="73" y="401"/>
                  </a:cubicBezTo>
                  <a:cubicBezTo>
                    <a:pt x="102" y="432"/>
                    <a:pt x="119" y="476"/>
                    <a:pt x="119" y="522"/>
                  </a:cubicBezTo>
                  <a:cubicBezTo>
                    <a:pt x="119" y="565"/>
                    <a:pt x="105" y="605"/>
                    <a:pt x="79" y="636"/>
                  </a:cubicBezTo>
                  <a:cubicBezTo>
                    <a:pt x="84" y="646"/>
                    <a:pt x="84" y="646"/>
                    <a:pt x="84" y="646"/>
                  </a:cubicBezTo>
                  <a:cubicBezTo>
                    <a:pt x="110" y="624"/>
                    <a:pt x="136" y="596"/>
                    <a:pt x="169" y="586"/>
                  </a:cubicBezTo>
                  <a:cubicBezTo>
                    <a:pt x="175" y="566"/>
                    <a:pt x="178" y="544"/>
                    <a:pt x="178" y="522"/>
                  </a:cubicBezTo>
                  <a:cubicBezTo>
                    <a:pt x="178" y="499"/>
                    <a:pt x="175" y="477"/>
                    <a:pt x="169" y="456"/>
                  </a:cubicBezTo>
                  <a:cubicBezTo>
                    <a:pt x="156" y="413"/>
                    <a:pt x="131" y="370"/>
                    <a:pt x="98" y="342"/>
                  </a:cubicBezTo>
                  <a:cubicBezTo>
                    <a:pt x="74" y="312"/>
                    <a:pt x="59" y="274"/>
                    <a:pt x="59" y="232"/>
                  </a:cubicBezTo>
                  <a:cubicBezTo>
                    <a:pt x="59" y="136"/>
                    <a:pt x="137" y="59"/>
                    <a:pt x="233" y="59"/>
                  </a:cubicBezTo>
                  <a:cubicBezTo>
                    <a:pt x="330" y="59"/>
                    <a:pt x="408" y="136"/>
                    <a:pt x="408" y="232"/>
                  </a:cubicBezTo>
                  <a:cubicBezTo>
                    <a:pt x="408" y="278"/>
                    <a:pt x="390" y="320"/>
                    <a:pt x="361" y="351"/>
                  </a:cubicBezTo>
                  <a:cubicBezTo>
                    <a:pt x="361" y="351"/>
                    <a:pt x="422" y="309"/>
                    <a:pt x="457" y="299"/>
                  </a:cubicBezTo>
                  <a:cubicBezTo>
                    <a:pt x="463" y="278"/>
                    <a:pt x="467" y="255"/>
                    <a:pt x="467" y="232"/>
                  </a:cubicBezTo>
                  <a:cubicBezTo>
                    <a:pt x="467" y="104"/>
                    <a:pt x="362" y="0"/>
                    <a:pt x="233" y="0"/>
                  </a:cubicBezTo>
                  <a:close/>
                </a:path>
              </a:pathLst>
            </a:custGeom>
            <a:solidFill>
              <a:srgbClr val="246C97"/>
            </a:solidFill>
            <a:ln>
              <a:noFill/>
            </a:ln>
            <a:effectLst/>
          </p:spPr>
          <p:txBody>
            <a:bodyPr vert="horz" wrap="square" lIns="68580" tIns="34290" rIns="68580" bIns="34290" numCol="1" anchor="t" anchorCtr="0" compatLnSpc="1">
              <a:prstTxWarp prst="textNoShape">
                <a:avLst/>
              </a:prstTxWarp>
            </a:bodyPr>
            <a:lstStyle/>
            <a:p>
              <a:endParaRPr lang="en-US" kern="0">
                <a:solidFill>
                  <a:prstClr val="black"/>
                </a:solidFill>
              </a:endParaRPr>
            </a:p>
          </p:txBody>
        </p:sp>
        <p:sp>
          <p:nvSpPr>
            <p:cNvPr id="6" name="Freeform 11">
              <a:extLst>
                <a:ext uri="{FF2B5EF4-FFF2-40B4-BE49-F238E27FC236}">
                  <a16:creationId xmlns:a16="http://schemas.microsoft.com/office/drawing/2014/main" id="{9DED8CB3-40C8-F77B-1ACC-64D9AC6241CE}"/>
                </a:ext>
              </a:extLst>
            </p:cNvPr>
            <p:cNvSpPr>
              <a:spLocks/>
            </p:cNvSpPr>
            <p:nvPr/>
          </p:nvSpPr>
          <p:spPr bwMode="auto">
            <a:xfrm rot="18900000">
              <a:off x="5603572" y="2692294"/>
              <a:ext cx="2466836" cy="3371564"/>
            </a:xfrm>
            <a:custGeom>
              <a:avLst/>
              <a:gdLst>
                <a:gd name="T0" fmla="*/ 458 w 467"/>
                <a:gd name="T1" fmla="*/ 343 h 639"/>
                <a:gd name="T2" fmla="*/ 448 w 467"/>
                <a:gd name="T3" fmla="*/ 340 h 639"/>
                <a:gd name="T4" fmla="*/ 458 w 467"/>
                <a:gd name="T5" fmla="*/ 343 h 639"/>
                <a:gd name="T6" fmla="*/ 399 w 467"/>
                <a:gd name="T7" fmla="*/ 243 h 639"/>
                <a:gd name="T8" fmla="*/ 399 w 467"/>
                <a:gd name="T9" fmla="*/ 243 h 639"/>
                <a:gd name="T10" fmla="*/ 348 w 467"/>
                <a:gd name="T11" fmla="*/ 119 h 639"/>
                <a:gd name="T12" fmla="*/ 394 w 467"/>
                <a:gd name="T13" fmla="*/ 2 h 639"/>
                <a:gd name="T14" fmla="*/ 391 w 467"/>
                <a:gd name="T15" fmla="*/ 0 h 639"/>
                <a:gd name="T16" fmla="*/ 299 w 467"/>
                <a:gd name="T17" fmla="*/ 52 h 639"/>
                <a:gd name="T18" fmla="*/ 289 w 467"/>
                <a:gd name="T19" fmla="*/ 119 h 639"/>
                <a:gd name="T20" fmla="*/ 298 w 467"/>
                <a:gd name="T21" fmla="*/ 183 h 639"/>
                <a:gd name="T22" fmla="*/ 346 w 467"/>
                <a:gd name="T23" fmla="*/ 271 h 639"/>
                <a:gd name="T24" fmla="*/ 346 w 467"/>
                <a:gd name="T25" fmla="*/ 271 h 639"/>
                <a:gd name="T26" fmla="*/ 346 w 467"/>
                <a:gd name="T27" fmla="*/ 272 h 639"/>
                <a:gd name="T28" fmla="*/ 368 w 467"/>
                <a:gd name="T29" fmla="*/ 294 h 639"/>
                <a:gd name="T30" fmla="*/ 408 w 467"/>
                <a:gd name="T31" fmla="*/ 407 h 639"/>
                <a:gd name="T32" fmla="*/ 233 w 467"/>
                <a:gd name="T33" fmla="*/ 580 h 639"/>
                <a:gd name="T34" fmla="*/ 59 w 467"/>
                <a:gd name="T35" fmla="*/ 407 h 639"/>
                <a:gd name="T36" fmla="*/ 110 w 467"/>
                <a:gd name="T37" fmla="*/ 284 h 639"/>
                <a:gd name="T38" fmla="*/ 109 w 467"/>
                <a:gd name="T39" fmla="*/ 282 h 639"/>
                <a:gd name="T40" fmla="*/ 9 w 467"/>
                <a:gd name="T41" fmla="*/ 342 h 639"/>
                <a:gd name="T42" fmla="*/ 0 w 467"/>
                <a:gd name="T43" fmla="*/ 407 h 639"/>
                <a:gd name="T44" fmla="*/ 233 w 467"/>
                <a:gd name="T45" fmla="*/ 639 h 639"/>
                <a:gd name="T46" fmla="*/ 467 w 467"/>
                <a:gd name="T47" fmla="*/ 407 h 639"/>
                <a:gd name="T48" fmla="*/ 458 w 467"/>
                <a:gd name="T49" fmla="*/ 343 h 6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67" h="639">
                  <a:moveTo>
                    <a:pt x="458" y="343"/>
                  </a:moveTo>
                  <a:cubicBezTo>
                    <a:pt x="455" y="342"/>
                    <a:pt x="452" y="341"/>
                    <a:pt x="448" y="340"/>
                  </a:cubicBezTo>
                  <a:cubicBezTo>
                    <a:pt x="452" y="341"/>
                    <a:pt x="455" y="342"/>
                    <a:pt x="458" y="343"/>
                  </a:cubicBezTo>
                  <a:cubicBezTo>
                    <a:pt x="447" y="305"/>
                    <a:pt x="426" y="271"/>
                    <a:pt x="399" y="243"/>
                  </a:cubicBezTo>
                  <a:cubicBezTo>
                    <a:pt x="399" y="243"/>
                    <a:pt x="399" y="243"/>
                    <a:pt x="399" y="243"/>
                  </a:cubicBezTo>
                  <a:cubicBezTo>
                    <a:pt x="367" y="212"/>
                    <a:pt x="348" y="168"/>
                    <a:pt x="348" y="119"/>
                  </a:cubicBezTo>
                  <a:cubicBezTo>
                    <a:pt x="348" y="74"/>
                    <a:pt x="365" y="33"/>
                    <a:pt x="394" y="2"/>
                  </a:cubicBezTo>
                  <a:cubicBezTo>
                    <a:pt x="391" y="0"/>
                    <a:pt x="391" y="0"/>
                    <a:pt x="391" y="0"/>
                  </a:cubicBezTo>
                  <a:cubicBezTo>
                    <a:pt x="365" y="24"/>
                    <a:pt x="333" y="42"/>
                    <a:pt x="299" y="52"/>
                  </a:cubicBezTo>
                  <a:cubicBezTo>
                    <a:pt x="292" y="74"/>
                    <a:pt x="289" y="96"/>
                    <a:pt x="289" y="119"/>
                  </a:cubicBezTo>
                  <a:cubicBezTo>
                    <a:pt x="289" y="141"/>
                    <a:pt x="292" y="163"/>
                    <a:pt x="298" y="183"/>
                  </a:cubicBezTo>
                  <a:cubicBezTo>
                    <a:pt x="307" y="216"/>
                    <a:pt x="324" y="246"/>
                    <a:pt x="346" y="271"/>
                  </a:cubicBezTo>
                  <a:cubicBezTo>
                    <a:pt x="346" y="271"/>
                    <a:pt x="346" y="271"/>
                    <a:pt x="346" y="271"/>
                  </a:cubicBezTo>
                  <a:cubicBezTo>
                    <a:pt x="346" y="271"/>
                    <a:pt x="346" y="271"/>
                    <a:pt x="346" y="272"/>
                  </a:cubicBezTo>
                  <a:cubicBezTo>
                    <a:pt x="353" y="279"/>
                    <a:pt x="360" y="287"/>
                    <a:pt x="368" y="294"/>
                  </a:cubicBezTo>
                  <a:cubicBezTo>
                    <a:pt x="393" y="324"/>
                    <a:pt x="408" y="364"/>
                    <a:pt x="408" y="407"/>
                  </a:cubicBezTo>
                  <a:cubicBezTo>
                    <a:pt x="408" y="503"/>
                    <a:pt x="330" y="580"/>
                    <a:pt x="233" y="580"/>
                  </a:cubicBezTo>
                  <a:cubicBezTo>
                    <a:pt x="137" y="580"/>
                    <a:pt x="59" y="503"/>
                    <a:pt x="59" y="407"/>
                  </a:cubicBezTo>
                  <a:cubicBezTo>
                    <a:pt x="59" y="359"/>
                    <a:pt x="78" y="315"/>
                    <a:pt x="110" y="284"/>
                  </a:cubicBezTo>
                  <a:cubicBezTo>
                    <a:pt x="109" y="282"/>
                    <a:pt x="109" y="282"/>
                    <a:pt x="109" y="282"/>
                  </a:cubicBezTo>
                  <a:cubicBezTo>
                    <a:pt x="82" y="310"/>
                    <a:pt x="47" y="331"/>
                    <a:pt x="9" y="342"/>
                  </a:cubicBezTo>
                  <a:cubicBezTo>
                    <a:pt x="3" y="363"/>
                    <a:pt x="0" y="384"/>
                    <a:pt x="0" y="407"/>
                  </a:cubicBezTo>
                  <a:cubicBezTo>
                    <a:pt x="0" y="535"/>
                    <a:pt x="105" y="639"/>
                    <a:pt x="233" y="639"/>
                  </a:cubicBezTo>
                  <a:cubicBezTo>
                    <a:pt x="362" y="639"/>
                    <a:pt x="467" y="535"/>
                    <a:pt x="467" y="407"/>
                  </a:cubicBezTo>
                  <a:cubicBezTo>
                    <a:pt x="467" y="385"/>
                    <a:pt x="464" y="363"/>
                    <a:pt x="458" y="343"/>
                  </a:cubicBezTo>
                  <a:close/>
                </a:path>
              </a:pathLst>
            </a:custGeom>
            <a:solidFill>
              <a:srgbClr val="26B2CE"/>
            </a:solidFill>
            <a:ln>
              <a:noFill/>
            </a:ln>
            <a:effectLst/>
          </p:spPr>
          <p:txBody>
            <a:bodyPr vert="horz" wrap="square" lIns="68580" tIns="34290" rIns="68580" bIns="34290" numCol="1" anchor="t" anchorCtr="0" compatLnSpc="1">
              <a:prstTxWarp prst="textNoShape">
                <a:avLst/>
              </a:prstTxWarp>
            </a:bodyPr>
            <a:lstStyle/>
            <a:p>
              <a:endParaRPr lang="en-US" kern="0">
                <a:solidFill>
                  <a:prstClr val="black"/>
                </a:solidFill>
              </a:endParaRPr>
            </a:p>
          </p:txBody>
        </p:sp>
        <p:sp>
          <p:nvSpPr>
            <p:cNvPr id="7" name="Freeform 12">
              <a:extLst>
                <a:ext uri="{FF2B5EF4-FFF2-40B4-BE49-F238E27FC236}">
                  <a16:creationId xmlns:a16="http://schemas.microsoft.com/office/drawing/2014/main" id="{3608DDDE-1DAB-807F-54E3-9F12BB05DB14}"/>
                </a:ext>
              </a:extLst>
            </p:cNvPr>
            <p:cNvSpPr>
              <a:spLocks/>
            </p:cNvSpPr>
            <p:nvPr/>
          </p:nvSpPr>
          <p:spPr bwMode="auto">
            <a:xfrm rot="18900000">
              <a:off x="5169521" y="1642599"/>
              <a:ext cx="3364879" cy="2453465"/>
            </a:xfrm>
            <a:custGeom>
              <a:avLst/>
              <a:gdLst>
                <a:gd name="T0" fmla="*/ 403 w 637"/>
                <a:gd name="T1" fmla="*/ 0 h 465"/>
                <a:gd name="T2" fmla="*/ 338 w 637"/>
                <a:gd name="T3" fmla="*/ 9 h 465"/>
                <a:gd name="T4" fmla="*/ 242 w 637"/>
                <a:gd name="T5" fmla="*/ 61 h 465"/>
                <a:gd name="T6" fmla="*/ 114 w 637"/>
                <a:gd name="T7" fmla="*/ 116 h 465"/>
                <a:gd name="T8" fmla="*/ 0 w 637"/>
                <a:gd name="T9" fmla="*/ 74 h 465"/>
                <a:gd name="T10" fmla="*/ 50 w 637"/>
                <a:gd name="T11" fmla="*/ 166 h 465"/>
                <a:gd name="T12" fmla="*/ 114 w 637"/>
                <a:gd name="T13" fmla="*/ 175 h 465"/>
                <a:gd name="T14" fmla="*/ 180 w 637"/>
                <a:gd name="T15" fmla="*/ 165 h 465"/>
                <a:gd name="T16" fmla="*/ 274 w 637"/>
                <a:gd name="T17" fmla="*/ 116 h 465"/>
                <a:gd name="T18" fmla="*/ 285 w 637"/>
                <a:gd name="T19" fmla="*/ 105 h 465"/>
                <a:gd name="T20" fmla="*/ 403 w 637"/>
                <a:gd name="T21" fmla="*/ 59 h 465"/>
                <a:gd name="T22" fmla="*/ 578 w 637"/>
                <a:gd name="T23" fmla="*/ 232 h 465"/>
                <a:gd name="T24" fmla="*/ 403 w 637"/>
                <a:gd name="T25" fmla="*/ 406 h 465"/>
                <a:gd name="T26" fmla="*/ 281 w 637"/>
                <a:gd name="T27" fmla="*/ 356 h 465"/>
                <a:gd name="T28" fmla="*/ 280 w 637"/>
                <a:gd name="T29" fmla="*/ 356 h 465"/>
                <a:gd name="T30" fmla="*/ 280 w 637"/>
                <a:gd name="T31" fmla="*/ 356 h 465"/>
                <a:gd name="T32" fmla="*/ 339 w 637"/>
                <a:gd name="T33" fmla="*/ 456 h 465"/>
                <a:gd name="T34" fmla="*/ 403 w 637"/>
                <a:gd name="T35" fmla="*/ 465 h 465"/>
                <a:gd name="T36" fmla="*/ 637 w 637"/>
                <a:gd name="T37" fmla="*/ 232 h 465"/>
                <a:gd name="T38" fmla="*/ 403 w 637"/>
                <a:gd name="T39" fmla="*/ 0 h 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7" h="465">
                  <a:moveTo>
                    <a:pt x="403" y="0"/>
                  </a:moveTo>
                  <a:cubicBezTo>
                    <a:pt x="381" y="0"/>
                    <a:pt x="359" y="3"/>
                    <a:pt x="338" y="9"/>
                  </a:cubicBezTo>
                  <a:cubicBezTo>
                    <a:pt x="303" y="19"/>
                    <a:pt x="242" y="61"/>
                    <a:pt x="242" y="61"/>
                  </a:cubicBezTo>
                  <a:cubicBezTo>
                    <a:pt x="210" y="95"/>
                    <a:pt x="165" y="116"/>
                    <a:pt x="114" y="116"/>
                  </a:cubicBezTo>
                  <a:cubicBezTo>
                    <a:pt x="71" y="116"/>
                    <a:pt x="31" y="100"/>
                    <a:pt x="0" y="74"/>
                  </a:cubicBezTo>
                  <a:cubicBezTo>
                    <a:pt x="23" y="100"/>
                    <a:pt x="40" y="133"/>
                    <a:pt x="50" y="166"/>
                  </a:cubicBezTo>
                  <a:cubicBezTo>
                    <a:pt x="70" y="171"/>
                    <a:pt x="92" y="175"/>
                    <a:pt x="114" y="175"/>
                  </a:cubicBezTo>
                  <a:cubicBezTo>
                    <a:pt x="137" y="175"/>
                    <a:pt x="159" y="171"/>
                    <a:pt x="180" y="165"/>
                  </a:cubicBezTo>
                  <a:cubicBezTo>
                    <a:pt x="214" y="155"/>
                    <a:pt x="248" y="139"/>
                    <a:pt x="274" y="116"/>
                  </a:cubicBezTo>
                  <a:cubicBezTo>
                    <a:pt x="278" y="112"/>
                    <a:pt x="282" y="108"/>
                    <a:pt x="285" y="105"/>
                  </a:cubicBezTo>
                  <a:cubicBezTo>
                    <a:pt x="316" y="76"/>
                    <a:pt x="358" y="59"/>
                    <a:pt x="403" y="59"/>
                  </a:cubicBezTo>
                  <a:cubicBezTo>
                    <a:pt x="500" y="59"/>
                    <a:pt x="578" y="136"/>
                    <a:pt x="578" y="232"/>
                  </a:cubicBezTo>
                  <a:cubicBezTo>
                    <a:pt x="578" y="328"/>
                    <a:pt x="500" y="406"/>
                    <a:pt x="403" y="406"/>
                  </a:cubicBezTo>
                  <a:cubicBezTo>
                    <a:pt x="355" y="406"/>
                    <a:pt x="312" y="387"/>
                    <a:pt x="281" y="356"/>
                  </a:cubicBezTo>
                  <a:cubicBezTo>
                    <a:pt x="280" y="356"/>
                    <a:pt x="280" y="356"/>
                    <a:pt x="280" y="356"/>
                  </a:cubicBezTo>
                  <a:cubicBezTo>
                    <a:pt x="280" y="356"/>
                    <a:pt x="280" y="356"/>
                    <a:pt x="280" y="356"/>
                  </a:cubicBezTo>
                  <a:cubicBezTo>
                    <a:pt x="307" y="384"/>
                    <a:pt x="328" y="418"/>
                    <a:pt x="339" y="456"/>
                  </a:cubicBezTo>
                  <a:cubicBezTo>
                    <a:pt x="359" y="462"/>
                    <a:pt x="381" y="465"/>
                    <a:pt x="403" y="465"/>
                  </a:cubicBezTo>
                  <a:cubicBezTo>
                    <a:pt x="532" y="465"/>
                    <a:pt x="637" y="360"/>
                    <a:pt x="637" y="232"/>
                  </a:cubicBezTo>
                  <a:cubicBezTo>
                    <a:pt x="637" y="104"/>
                    <a:pt x="532" y="0"/>
                    <a:pt x="403" y="0"/>
                  </a:cubicBezTo>
                  <a:close/>
                </a:path>
              </a:pathLst>
            </a:custGeom>
            <a:solidFill>
              <a:srgbClr val="71CBD0"/>
            </a:solidFill>
            <a:ln>
              <a:noFill/>
            </a:ln>
            <a:effectLst/>
          </p:spPr>
          <p:txBody>
            <a:bodyPr vert="horz" wrap="square" lIns="68580" tIns="34290" rIns="68580" bIns="34290" numCol="1" anchor="t" anchorCtr="0" compatLnSpc="1">
              <a:prstTxWarp prst="textNoShape">
                <a:avLst/>
              </a:prstTxWarp>
            </a:bodyPr>
            <a:lstStyle/>
            <a:p>
              <a:endParaRPr lang="en-US" kern="0">
                <a:solidFill>
                  <a:prstClr val="black"/>
                </a:solidFill>
              </a:endParaRPr>
            </a:p>
          </p:txBody>
        </p:sp>
        <p:sp>
          <p:nvSpPr>
            <p:cNvPr id="9" name="Freeform 13">
              <a:extLst>
                <a:ext uri="{FF2B5EF4-FFF2-40B4-BE49-F238E27FC236}">
                  <a16:creationId xmlns:a16="http://schemas.microsoft.com/office/drawing/2014/main" id="{53A938DD-516C-3B07-0158-3BE54D666378}"/>
                </a:ext>
              </a:extLst>
            </p:cNvPr>
            <p:cNvSpPr>
              <a:spLocks noEditPoints="1"/>
            </p:cNvSpPr>
            <p:nvPr/>
          </p:nvSpPr>
          <p:spPr bwMode="auto">
            <a:xfrm rot="18900000">
              <a:off x="3657600" y="3161588"/>
              <a:ext cx="3338137" cy="2453465"/>
            </a:xfrm>
            <a:custGeom>
              <a:avLst/>
              <a:gdLst>
                <a:gd name="T0" fmla="*/ 586 w 632"/>
                <a:gd name="T1" fmla="*/ 304 h 465"/>
                <a:gd name="T2" fmla="*/ 584 w 632"/>
                <a:gd name="T3" fmla="*/ 297 h 465"/>
                <a:gd name="T4" fmla="*/ 519 w 632"/>
                <a:gd name="T5" fmla="*/ 288 h 465"/>
                <a:gd name="T6" fmla="*/ 453 w 632"/>
                <a:gd name="T7" fmla="*/ 298 h 465"/>
                <a:gd name="T8" fmla="*/ 340 w 632"/>
                <a:gd name="T9" fmla="*/ 373 h 465"/>
                <a:gd name="T10" fmla="*/ 234 w 632"/>
                <a:gd name="T11" fmla="*/ 406 h 465"/>
                <a:gd name="T12" fmla="*/ 59 w 632"/>
                <a:gd name="T13" fmla="*/ 233 h 465"/>
                <a:gd name="T14" fmla="*/ 234 w 632"/>
                <a:gd name="T15" fmla="*/ 59 h 465"/>
                <a:gd name="T16" fmla="*/ 357 w 632"/>
                <a:gd name="T17" fmla="*/ 110 h 465"/>
                <a:gd name="T18" fmla="*/ 357 w 632"/>
                <a:gd name="T19" fmla="*/ 110 h 465"/>
                <a:gd name="T20" fmla="*/ 357 w 632"/>
                <a:gd name="T21" fmla="*/ 110 h 465"/>
                <a:gd name="T22" fmla="*/ 296 w 632"/>
                <a:gd name="T23" fmla="*/ 10 h 465"/>
                <a:gd name="T24" fmla="*/ 295 w 632"/>
                <a:gd name="T25" fmla="*/ 9 h 465"/>
                <a:gd name="T26" fmla="*/ 234 w 632"/>
                <a:gd name="T27" fmla="*/ 0 h 465"/>
                <a:gd name="T28" fmla="*/ 0 w 632"/>
                <a:gd name="T29" fmla="*/ 233 h 465"/>
                <a:gd name="T30" fmla="*/ 234 w 632"/>
                <a:gd name="T31" fmla="*/ 465 h 465"/>
                <a:gd name="T32" fmla="*/ 299 w 632"/>
                <a:gd name="T33" fmla="*/ 456 h 465"/>
                <a:gd name="T34" fmla="*/ 300 w 632"/>
                <a:gd name="T35" fmla="*/ 455 h 465"/>
                <a:gd name="T36" fmla="*/ 396 w 632"/>
                <a:gd name="T37" fmla="*/ 396 h 465"/>
                <a:gd name="T38" fmla="*/ 395 w 632"/>
                <a:gd name="T39" fmla="*/ 396 h 465"/>
                <a:gd name="T40" fmla="*/ 396 w 632"/>
                <a:gd name="T41" fmla="*/ 398 h 465"/>
                <a:gd name="T42" fmla="*/ 519 w 632"/>
                <a:gd name="T43" fmla="*/ 347 h 465"/>
                <a:gd name="T44" fmla="*/ 632 w 632"/>
                <a:gd name="T45" fmla="*/ 385 h 465"/>
                <a:gd name="T46" fmla="*/ 632 w 632"/>
                <a:gd name="T47" fmla="*/ 385 h 465"/>
                <a:gd name="T48" fmla="*/ 586 w 632"/>
                <a:gd name="T49" fmla="*/ 304 h 465"/>
                <a:gd name="T50" fmla="*/ 406 w 632"/>
                <a:gd name="T51" fmla="*/ 385 h 465"/>
                <a:gd name="T52" fmla="*/ 399 w 632"/>
                <a:gd name="T53" fmla="*/ 392 h 465"/>
                <a:gd name="T54" fmla="*/ 406 w 632"/>
                <a:gd name="T55" fmla="*/ 385 h 465"/>
                <a:gd name="T56" fmla="*/ 449 w 632"/>
                <a:gd name="T57" fmla="*/ 312 h 465"/>
                <a:gd name="T58" fmla="*/ 447 w 632"/>
                <a:gd name="T59" fmla="*/ 316 h 465"/>
                <a:gd name="T60" fmla="*/ 449 w 632"/>
                <a:gd name="T61" fmla="*/ 312 h 465"/>
                <a:gd name="T62" fmla="*/ 444 w 632"/>
                <a:gd name="T63" fmla="*/ 325 h 465"/>
                <a:gd name="T64" fmla="*/ 441 w 632"/>
                <a:gd name="T65" fmla="*/ 330 h 465"/>
                <a:gd name="T66" fmla="*/ 444 w 632"/>
                <a:gd name="T67" fmla="*/ 325 h 465"/>
                <a:gd name="T68" fmla="*/ 437 w 632"/>
                <a:gd name="T69" fmla="*/ 338 h 465"/>
                <a:gd name="T70" fmla="*/ 435 w 632"/>
                <a:gd name="T71" fmla="*/ 343 h 465"/>
                <a:gd name="T72" fmla="*/ 437 w 632"/>
                <a:gd name="T73" fmla="*/ 338 h 465"/>
                <a:gd name="T74" fmla="*/ 431 w 632"/>
                <a:gd name="T75" fmla="*/ 351 h 465"/>
                <a:gd name="T76" fmla="*/ 427 w 632"/>
                <a:gd name="T77" fmla="*/ 356 h 465"/>
                <a:gd name="T78" fmla="*/ 431 w 632"/>
                <a:gd name="T79" fmla="*/ 351 h 465"/>
                <a:gd name="T80" fmla="*/ 423 w 632"/>
                <a:gd name="T81" fmla="*/ 363 h 465"/>
                <a:gd name="T82" fmla="*/ 419 w 632"/>
                <a:gd name="T83" fmla="*/ 369 h 465"/>
                <a:gd name="T84" fmla="*/ 423 w 632"/>
                <a:gd name="T85" fmla="*/ 363 h 465"/>
                <a:gd name="T86" fmla="*/ 415 w 632"/>
                <a:gd name="T87" fmla="*/ 374 h 465"/>
                <a:gd name="T88" fmla="*/ 409 w 632"/>
                <a:gd name="T89" fmla="*/ 381 h 465"/>
                <a:gd name="T90" fmla="*/ 415 w 632"/>
                <a:gd name="T91" fmla="*/ 374 h 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32" h="465">
                  <a:moveTo>
                    <a:pt x="586" y="304"/>
                  </a:moveTo>
                  <a:cubicBezTo>
                    <a:pt x="585" y="302"/>
                    <a:pt x="584" y="299"/>
                    <a:pt x="584" y="297"/>
                  </a:cubicBezTo>
                  <a:cubicBezTo>
                    <a:pt x="563" y="291"/>
                    <a:pt x="542" y="288"/>
                    <a:pt x="519" y="288"/>
                  </a:cubicBezTo>
                  <a:cubicBezTo>
                    <a:pt x="496" y="288"/>
                    <a:pt x="474" y="292"/>
                    <a:pt x="453" y="298"/>
                  </a:cubicBezTo>
                  <a:cubicBezTo>
                    <a:pt x="408" y="311"/>
                    <a:pt x="369" y="337"/>
                    <a:pt x="340" y="373"/>
                  </a:cubicBezTo>
                  <a:cubicBezTo>
                    <a:pt x="310" y="394"/>
                    <a:pt x="273" y="406"/>
                    <a:pt x="234" y="406"/>
                  </a:cubicBezTo>
                  <a:cubicBezTo>
                    <a:pt x="137" y="406"/>
                    <a:pt x="59" y="329"/>
                    <a:pt x="59" y="233"/>
                  </a:cubicBezTo>
                  <a:cubicBezTo>
                    <a:pt x="59" y="137"/>
                    <a:pt x="137" y="59"/>
                    <a:pt x="234" y="59"/>
                  </a:cubicBezTo>
                  <a:cubicBezTo>
                    <a:pt x="282" y="59"/>
                    <a:pt x="325" y="79"/>
                    <a:pt x="357" y="110"/>
                  </a:cubicBezTo>
                  <a:cubicBezTo>
                    <a:pt x="357" y="110"/>
                    <a:pt x="357" y="110"/>
                    <a:pt x="357" y="110"/>
                  </a:cubicBezTo>
                  <a:cubicBezTo>
                    <a:pt x="357" y="110"/>
                    <a:pt x="357" y="110"/>
                    <a:pt x="357" y="110"/>
                  </a:cubicBezTo>
                  <a:cubicBezTo>
                    <a:pt x="329" y="83"/>
                    <a:pt x="307" y="48"/>
                    <a:pt x="296" y="10"/>
                  </a:cubicBezTo>
                  <a:cubicBezTo>
                    <a:pt x="295" y="9"/>
                    <a:pt x="295" y="9"/>
                    <a:pt x="295" y="9"/>
                  </a:cubicBezTo>
                  <a:cubicBezTo>
                    <a:pt x="276" y="3"/>
                    <a:pt x="255" y="0"/>
                    <a:pt x="234" y="0"/>
                  </a:cubicBezTo>
                  <a:cubicBezTo>
                    <a:pt x="105" y="0"/>
                    <a:pt x="0" y="105"/>
                    <a:pt x="0" y="233"/>
                  </a:cubicBezTo>
                  <a:cubicBezTo>
                    <a:pt x="0" y="361"/>
                    <a:pt x="105" y="465"/>
                    <a:pt x="234" y="465"/>
                  </a:cubicBezTo>
                  <a:cubicBezTo>
                    <a:pt x="256" y="465"/>
                    <a:pt x="279" y="462"/>
                    <a:pt x="299" y="456"/>
                  </a:cubicBezTo>
                  <a:cubicBezTo>
                    <a:pt x="300" y="455"/>
                    <a:pt x="300" y="455"/>
                    <a:pt x="300" y="455"/>
                  </a:cubicBezTo>
                  <a:cubicBezTo>
                    <a:pt x="337" y="443"/>
                    <a:pt x="370" y="423"/>
                    <a:pt x="396" y="396"/>
                  </a:cubicBezTo>
                  <a:cubicBezTo>
                    <a:pt x="396" y="396"/>
                    <a:pt x="396" y="396"/>
                    <a:pt x="395" y="396"/>
                  </a:cubicBezTo>
                  <a:cubicBezTo>
                    <a:pt x="396" y="398"/>
                    <a:pt x="396" y="398"/>
                    <a:pt x="396" y="398"/>
                  </a:cubicBezTo>
                  <a:cubicBezTo>
                    <a:pt x="428" y="367"/>
                    <a:pt x="471" y="347"/>
                    <a:pt x="519" y="347"/>
                  </a:cubicBezTo>
                  <a:cubicBezTo>
                    <a:pt x="561" y="347"/>
                    <a:pt x="601" y="360"/>
                    <a:pt x="632" y="385"/>
                  </a:cubicBezTo>
                  <a:cubicBezTo>
                    <a:pt x="632" y="385"/>
                    <a:pt x="632" y="385"/>
                    <a:pt x="632" y="385"/>
                  </a:cubicBezTo>
                  <a:cubicBezTo>
                    <a:pt x="611" y="361"/>
                    <a:pt x="596" y="334"/>
                    <a:pt x="586" y="304"/>
                  </a:cubicBezTo>
                  <a:close/>
                  <a:moveTo>
                    <a:pt x="406" y="385"/>
                  </a:moveTo>
                  <a:cubicBezTo>
                    <a:pt x="403" y="388"/>
                    <a:pt x="401" y="390"/>
                    <a:pt x="399" y="392"/>
                  </a:cubicBezTo>
                  <a:cubicBezTo>
                    <a:pt x="401" y="390"/>
                    <a:pt x="403" y="388"/>
                    <a:pt x="406" y="385"/>
                  </a:cubicBezTo>
                  <a:close/>
                  <a:moveTo>
                    <a:pt x="449" y="312"/>
                  </a:moveTo>
                  <a:cubicBezTo>
                    <a:pt x="448" y="313"/>
                    <a:pt x="448" y="314"/>
                    <a:pt x="447" y="316"/>
                  </a:cubicBezTo>
                  <a:cubicBezTo>
                    <a:pt x="448" y="314"/>
                    <a:pt x="448" y="313"/>
                    <a:pt x="449" y="312"/>
                  </a:cubicBezTo>
                  <a:close/>
                  <a:moveTo>
                    <a:pt x="444" y="325"/>
                  </a:moveTo>
                  <a:cubicBezTo>
                    <a:pt x="443" y="327"/>
                    <a:pt x="442" y="328"/>
                    <a:pt x="441" y="330"/>
                  </a:cubicBezTo>
                  <a:cubicBezTo>
                    <a:pt x="442" y="328"/>
                    <a:pt x="443" y="327"/>
                    <a:pt x="444" y="325"/>
                  </a:cubicBezTo>
                  <a:close/>
                  <a:moveTo>
                    <a:pt x="437" y="338"/>
                  </a:moveTo>
                  <a:cubicBezTo>
                    <a:pt x="437" y="340"/>
                    <a:pt x="436" y="342"/>
                    <a:pt x="435" y="343"/>
                  </a:cubicBezTo>
                  <a:cubicBezTo>
                    <a:pt x="436" y="342"/>
                    <a:pt x="437" y="340"/>
                    <a:pt x="437" y="338"/>
                  </a:cubicBezTo>
                  <a:close/>
                  <a:moveTo>
                    <a:pt x="431" y="351"/>
                  </a:moveTo>
                  <a:cubicBezTo>
                    <a:pt x="429" y="353"/>
                    <a:pt x="428" y="354"/>
                    <a:pt x="427" y="356"/>
                  </a:cubicBezTo>
                  <a:cubicBezTo>
                    <a:pt x="428" y="354"/>
                    <a:pt x="429" y="353"/>
                    <a:pt x="431" y="351"/>
                  </a:cubicBezTo>
                  <a:close/>
                  <a:moveTo>
                    <a:pt x="423" y="363"/>
                  </a:moveTo>
                  <a:cubicBezTo>
                    <a:pt x="422" y="365"/>
                    <a:pt x="420" y="367"/>
                    <a:pt x="419" y="369"/>
                  </a:cubicBezTo>
                  <a:cubicBezTo>
                    <a:pt x="420" y="367"/>
                    <a:pt x="422" y="365"/>
                    <a:pt x="423" y="363"/>
                  </a:cubicBezTo>
                  <a:close/>
                  <a:moveTo>
                    <a:pt x="415" y="374"/>
                  </a:moveTo>
                  <a:cubicBezTo>
                    <a:pt x="413" y="376"/>
                    <a:pt x="411" y="379"/>
                    <a:pt x="409" y="381"/>
                  </a:cubicBezTo>
                  <a:cubicBezTo>
                    <a:pt x="411" y="379"/>
                    <a:pt x="413" y="376"/>
                    <a:pt x="415" y="374"/>
                  </a:cubicBezTo>
                  <a:close/>
                </a:path>
              </a:pathLst>
            </a:custGeom>
            <a:solidFill>
              <a:srgbClr val="0195BC"/>
            </a:solidFill>
            <a:ln>
              <a:noFill/>
            </a:ln>
            <a:effectLst/>
          </p:spPr>
          <p:txBody>
            <a:bodyPr vert="horz" wrap="square" lIns="68580" tIns="34290" rIns="68580" bIns="34290" numCol="1" anchor="t" anchorCtr="0" compatLnSpc="1">
              <a:prstTxWarp prst="textNoShape">
                <a:avLst/>
              </a:prstTxWarp>
            </a:bodyPr>
            <a:lstStyle/>
            <a:p>
              <a:endParaRPr lang="en-US" kern="0">
                <a:solidFill>
                  <a:srgbClr val="EF314C"/>
                </a:solidFill>
              </a:endParaRPr>
            </a:p>
          </p:txBody>
        </p:sp>
      </p:grpSp>
      <p:sp>
        <p:nvSpPr>
          <p:cNvPr id="13" name="TextBox 20">
            <a:extLst>
              <a:ext uri="{FF2B5EF4-FFF2-40B4-BE49-F238E27FC236}">
                <a16:creationId xmlns:a16="http://schemas.microsoft.com/office/drawing/2014/main" id="{0DE32EE3-1DE7-18F8-8B09-B288B95BF772}"/>
              </a:ext>
            </a:extLst>
          </p:cNvPr>
          <p:cNvSpPr txBox="1"/>
          <p:nvPr/>
        </p:nvSpPr>
        <p:spPr>
          <a:xfrm>
            <a:off x="6374424" y="1889497"/>
            <a:ext cx="2458845" cy="871649"/>
          </a:xfrm>
          <a:prstGeom prst="rect">
            <a:avLst/>
          </a:prstGeom>
          <a:noFill/>
        </p:spPr>
        <p:txBody>
          <a:bodyPr wrap="square" lIns="0" tIns="0" rIns="0" bIns="0" rtlCol="0">
            <a:spAutoFit/>
          </a:bodyPr>
          <a:lstStyle/>
          <a:p>
            <a:pPr>
              <a:lnSpc>
                <a:spcPct val="120000"/>
              </a:lnSpc>
            </a:pPr>
            <a:r>
              <a:rPr lang="en-US" sz="1200" dirty="0">
                <a:solidFill>
                  <a:srgbClr val="262626"/>
                </a:solidFill>
              </a:rPr>
              <a:t>Implantar o aplicativo em quantos clientes quisermos (o limite será a equipe técnica, e não o custo de licenças)</a:t>
            </a:r>
          </a:p>
        </p:txBody>
      </p:sp>
      <p:sp>
        <p:nvSpPr>
          <p:cNvPr id="14" name="TextBox 21">
            <a:extLst>
              <a:ext uri="{FF2B5EF4-FFF2-40B4-BE49-F238E27FC236}">
                <a16:creationId xmlns:a16="http://schemas.microsoft.com/office/drawing/2014/main" id="{C3B57313-899D-7C53-C62A-2F48715CAE51}"/>
              </a:ext>
            </a:extLst>
          </p:cNvPr>
          <p:cNvSpPr txBox="1"/>
          <p:nvPr/>
        </p:nvSpPr>
        <p:spPr>
          <a:xfrm>
            <a:off x="6388712" y="1347861"/>
            <a:ext cx="2592288" cy="461665"/>
          </a:xfrm>
          <a:prstGeom prst="rect">
            <a:avLst/>
          </a:prstGeom>
          <a:noFill/>
        </p:spPr>
        <p:txBody>
          <a:bodyPr wrap="square" lIns="0" tIns="0" rIns="0" bIns="0" rtlCol="0">
            <a:spAutoFit/>
          </a:bodyPr>
          <a:lstStyle/>
          <a:p>
            <a:r>
              <a:rPr lang="en-US" sz="1500" b="1">
                <a:solidFill>
                  <a:srgbClr val="71CBD0"/>
                </a:solidFill>
                <a:latin typeface="+mj-lt"/>
              </a:rPr>
              <a:t>Desenvolver uma solução de baixo custo e alta escalabilidade</a:t>
            </a:r>
          </a:p>
        </p:txBody>
      </p:sp>
      <p:sp>
        <p:nvSpPr>
          <p:cNvPr id="15" name="TextBox 25">
            <a:extLst>
              <a:ext uri="{FF2B5EF4-FFF2-40B4-BE49-F238E27FC236}">
                <a16:creationId xmlns:a16="http://schemas.microsoft.com/office/drawing/2014/main" id="{006762DB-7025-9349-7673-D65734645A85}"/>
              </a:ext>
            </a:extLst>
          </p:cNvPr>
          <p:cNvSpPr txBox="1"/>
          <p:nvPr/>
        </p:nvSpPr>
        <p:spPr>
          <a:xfrm>
            <a:off x="6408204" y="3867545"/>
            <a:ext cx="1978120" cy="650050"/>
          </a:xfrm>
          <a:prstGeom prst="rect">
            <a:avLst/>
          </a:prstGeom>
          <a:noFill/>
        </p:spPr>
        <p:txBody>
          <a:bodyPr wrap="square" lIns="0" tIns="0" rIns="0" bIns="0" rtlCol="0">
            <a:spAutoFit/>
          </a:bodyPr>
          <a:lstStyle/>
          <a:p>
            <a:pPr>
              <a:lnSpc>
                <a:spcPct val="120000"/>
              </a:lnSpc>
            </a:pPr>
            <a:r>
              <a:rPr lang="en-US" sz="1200" dirty="0">
                <a:solidFill>
                  <a:srgbClr val="262626"/>
                </a:solidFill>
              </a:rPr>
              <a:t>Nossos clientes reclamam do suporte fraco prestado </a:t>
            </a:r>
            <a:r>
              <a:rPr lang="en-US" sz="1200" dirty="0" err="1">
                <a:solidFill>
                  <a:srgbClr val="262626"/>
                </a:solidFill>
              </a:rPr>
              <a:t>pelo</a:t>
            </a:r>
            <a:r>
              <a:rPr lang="en-US" sz="1200" dirty="0">
                <a:solidFill>
                  <a:srgbClr val="262626"/>
                </a:solidFill>
              </a:rPr>
              <a:t> TGC e </a:t>
            </a:r>
            <a:r>
              <a:rPr lang="en-US" sz="1200" dirty="0" err="1">
                <a:solidFill>
                  <a:srgbClr val="262626"/>
                </a:solidFill>
              </a:rPr>
              <a:t>concorrentes</a:t>
            </a:r>
            <a:r>
              <a:rPr lang="en-US" sz="1200" dirty="0">
                <a:solidFill>
                  <a:srgbClr val="262626"/>
                </a:solidFill>
              </a:rPr>
              <a:t>.</a:t>
            </a:r>
          </a:p>
        </p:txBody>
      </p:sp>
      <p:sp>
        <p:nvSpPr>
          <p:cNvPr id="16" name="TextBox 26">
            <a:extLst>
              <a:ext uri="{FF2B5EF4-FFF2-40B4-BE49-F238E27FC236}">
                <a16:creationId xmlns:a16="http://schemas.microsoft.com/office/drawing/2014/main" id="{0D20618E-2F69-5DBF-DC5A-BD6C1AF8CCD2}"/>
              </a:ext>
            </a:extLst>
          </p:cNvPr>
          <p:cNvSpPr txBox="1"/>
          <p:nvPr/>
        </p:nvSpPr>
        <p:spPr>
          <a:xfrm>
            <a:off x="6408205" y="3229445"/>
            <a:ext cx="2592288" cy="461665"/>
          </a:xfrm>
          <a:prstGeom prst="rect">
            <a:avLst/>
          </a:prstGeom>
          <a:noFill/>
        </p:spPr>
        <p:txBody>
          <a:bodyPr wrap="square" lIns="0" tIns="0" rIns="0" bIns="0" rtlCol="0">
            <a:spAutoFit/>
          </a:bodyPr>
          <a:lstStyle/>
          <a:p>
            <a:r>
              <a:rPr lang="en-US" sz="1500" b="1" dirty="0">
                <a:solidFill>
                  <a:srgbClr val="26B2CE"/>
                </a:solidFill>
                <a:latin typeface="+mj-lt"/>
              </a:rPr>
              <a:t>Eliminar dependência de fornecedor mediano</a:t>
            </a:r>
          </a:p>
        </p:txBody>
      </p:sp>
      <p:sp>
        <p:nvSpPr>
          <p:cNvPr id="17" name="TextBox 27">
            <a:extLst>
              <a:ext uri="{FF2B5EF4-FFF2-40B4-BE49-F238E27FC236}">
                <a16:creationId xmlns:a16="http://schemas.microsoft.com/office/drawing/2014/main" id="{65AB0A70-C072-8358-3AC8-1C95A7B8F884}"/>
              </a:ext>
            </a:extLst>
          </p:cNvPr>
          <p:cNvSpPr txBox="1"/>
          <p:nvPr/>
        </p:nvSpPr>
        <p:spPr>
          <a:xfrm>
            <a:off x="569978" y="2072733"/>
            <a:ext cx="1978120" cy="428451"/>
          </a:xfrm>
          <a:prstGeom prst="rect">
            <a:avLst/>
          </a:prstGeom>
          <a:noFill/>
        </p:spPr>
        <p:txBody>
          <a:bodyPr wrap="square" lIns="0" tIns="0" rIns="0" bIns="0" rtlCol="0">
            <a:spAutoFit/>
          </a:bodyPr>
          <a:lstStyle/>
          <a:p>
            <a:pPr algn="r">
              <a:lnSpc>
                <a:spcPct val="120000"/>
              </a:lnSpc>
            </a:pPr>
            <a:r>
              <a:rPr lang="en-US" sz="1200">
                <a:solidFill>
                  <a:srgbClr val="262626"/>
                </a:solidFill>
              </a:rPr>
              <a:t>Aumentar a fidelização e evitar a perda de clientes atuais.</a:t>
            </a:r>
          </a:p>
        </p:txBody>
      </p:sp>
      <p:sp>
        <p:nvSpPr>
          <p:cNvPr id="18" name="TextBox 28">
            <a:extLst>
              <a:ext uri="{FF2B5EF4-FFF2-40B4-BE49-F238E27FC236}">
                <a16:creationId xmlns:a16="http://schemas.microsoft.com/office/drawing/2014/main" id="{7EA496D5-2865-7AB8-CF40-A0BCEAD74FB0}"/>
              </a:ext>
            </a:extLst>
          </p:cNvPr>
          <p:cNvSpPr txBox="1"/>
          <p:nvPr/>
        </p:nvSpPr>
        <p:spPr>
          <a:xfrm>
            <a:off x="305526" y="1599642"/>
            <a:ext cx="2236829" cy="461665"/>
          </a:xfrm>
          <a:prstGeom prst="rect">
            <a:avLst/>
          </a:prstGeom>
          <a:noFill/>
        </p:spPr>
        <p:txBody>
          <a:bodyPr wrap="square" lIns="0" tIns="0" rIns="0" bIns="0" rtlCol="0">
            <a:spAutoFit/>
          </a:bodyPr>
          <a:lstStyle/>
          <a:p>
            <a:pPr algn="r"/>
            <a:r>
              <a:rPr lang="en-US" sz="1500" b="1">
                <a:solidFill>
                  <a:srgbClr val="246C97"/>
                </a:solidFill>
                <a:latin typeface="+mj-lt"/>
              </a:rPr>
              <a:t>Defender nossa base atual de clientes</a:t>
            </a:r>
          </a:p>
        </p:txBody>
      </p:sp>
      <p:sp>
        <p:nvSpPr>
          <p:cNvPr id="19" name="TextBox 29">
            <a:extLst>
              <a:ext uri="{FF2B5EF4-FFF2-40B4-BE49-F238E27FC236}">
                <a16:creationId xmlns:a16="http://schemas.microsoft.com/office/drawing/2014/main" id="{87DFAB21-AA01-672C-1D5A-ABD8C49B1B00}"/>
              </a:ext>
            </a:extLst>
          </p:cNvPr>
          <p:cNvSpPr txBox="1"/>
          <p:nvPr/>
        </p:nvSpPr>
        <p:spPr>
          <a:xfrm>
            <a:off x="564235" y="3541781"/>
            <a:ext cx="1978120" cy="1314847"/>
          </a:xfrm>
          <a:prstGeom prst="rect">
            <a:avLst/>
          </a:prstGeom>
          <a:noFill/>
        </p:spPr>
        <p:txBody>
          <a:bodyPr wrap="square" lIns="0" tIns="0" rIns="0" bIns="0" rtlCol="0">
            <a:spAutoFit/>
          </a:bodyPr>
          <a:lstStyle/>
          <a:p>
            <a:pPr algn="r">
              <a:lnSpc>
                <a:spcPct val="120000"/>
              </a:lnSpc>
            </a:pPr>
            <a:r>
              <a:rPr lang="en-US" sz="1200" dirty="0">
                <a:solidFill>
                  <a:srgbClr val="262626"/>
                </a:solidFill>
              </a:rPr>
              <a:t>Já temos produtos premium e serviços técnicos. Com o Feedlot App, conseguiremos entrar nos clientes de confinamento mais importantes do mercado.</a:t>
            </a:r>
          </a:p>
        </p:txBody>
      </p:sp>
      <p:sp>
        <p:nvSpPr>
          <p:cNvPr id="20" name="TextBox 30">
            <a:extLst>
              <a:ext uri="{FF2B5EF4-FFF2-40B4-BE49-F238E27FC236}">
                <a16:creationId xmlns:a16="http://schemas.microsoft.com/office/drawing/2014/main" id="{2C52DD92-2745-AB80-0615-62A45B3FCD48}"/>
              </a:ext>
            </a:extLst>
          </p:cNvPr>
          <p:cNvSpPr txBox="1"/>
          <p:nvPr/>
        </p:nvSpPr>
        <p:spPr>
          <a:xfrm>
            <a:off x="616122" y="3229445"/>
            <a:ext cx="1926233" cy="230832"/>
          </a:xfrm>
          <a:prstGeom prst="rect">
            <a:avLst/>
          </a:prstGeom>
          <a:noFill/>
        </p:spPr>
        <p:txBody>
          <a:bodyPr wrap="none" lIns="0" tIns="0" rIns="0" bIns="0" rtlCol="0">
            <a:spAutoFit/>
          </a:bodyPr>
          <a:lstStyle/>
          <a:p>
            <a:pPr algn="r"/>
            <a:r>
              <a:rPr lang="en-US" sz="1500" b="1">
                <a:solidFill>
                  <a:srgbClr val="0195BC"/>
                </a:solidFill>
                <a:latin typeface="+mj-lt"/>
              </a:rPr>
              <a:t>Prospectar novos clientes</a:t>
            </a:r>
          </a:p>
        </p:txBody>
      </p:sp>
      <p:cxnSp>
        <p:nvCxnSpPr>
          <p:cNvPr id="22" name="Straight Connector 34">
            <a:extLst>
              <a:ext uri="{FF2B5EF4-FFF2-40B4-BE49-F238E27FC236}">
                <a16:creationId xmlns:a16="http://schemas.microsoft.com/office/drawing/2014/main" id="{94BF73D8-0424-58C7-23B6-3CC7C8F0CA34}"/>
              </a:ext>
            </a:extLst>
          </p:cNvPr>
          <p:cNvCxnSpPr>
            <a:cxnSpLocks/>
          </p:cNvCxnSpPr>
          <p:nvPr/>
        </p:nvCxnSpPr>
        <p:spPr>
          <a:xfrm>
            <a:off x="6408205" y="2875594"/>
            <a:ext cx="187810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37">
            <a:extLst>
              <a:ext uri="{FF2B5EF4-FFF2-40B4-BE49-F238E27FC236}">
                <a16:creationId xmlns:a16="http://schemas.microsoft.com/office/drawing/2014/main" id="{D20B563F-0D01-910A-1D9F-97DCCC1161B8}"/>
              </a:ext>
            </a:extLst>
          </p:cNvPr>
          <p:cNvCxnSpPr>
            <a:cxnSpLocks/>
          </p:cNvCxnSpPr>
          <p:nvPr/>
        </p:nvCxnSpPr>
        <p:spPr>
          <a:xfrm>
            <a:off x="664248" y="2875594"/>
            <a:ext cx="187810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026" name="Picture 2" descr="Shield variant with white and black borders - Free shapes icons">
            <a:extLst>
              <a:ext uri="{FF2B5EF4-FFF2-40B4-BE49-F238E27FC236}">
                <a16:creationId xmlns:a16="http://schemas.microsoft.com/office/drawing/2014/main" id="{C1EA4ECB-8456-58D9-9368-181B11F08F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8874" y="1882845"/>
            <a:ext cx="499439" cy="49943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ttack - Free gaming icons">
            <a:extLst>
              <a:ext uri="{FF2B5EF4-FFF2-40B4-BE49-F238E27FC236}">
                <a16:creationId xmlns:a16="http://schemas.microsoft.com/office/drawing/2014/main" id="{49F54663-4F8E-A609-6967-4E8B8F2F37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2499" y="3402032"/>
            <a:ext cx="509938" cy="50993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calability Icon - Free PNG &amp; SVG 1988846 - Noun Project">
            <a:extLst>
              <a:ext uri="{FF2B5EF4-FFF2-40B4-BE49-F238E27FC236}">
                <a16:creationId xmlns:a16="http://schemas.microsoft.com/office/drawing/2014/main" id="{249122A5-1823-7A1B-0802-DA6E241C64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2520" y="1882845"/>
            <a:ext cx="499439" cy="49943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Dependencies - Free networking icons">
            <a:extLst>
              <a:ext uri="{FF2B5EF4-FFF2-40B4-BE49-F238E27FC236}">
                <a16:creationId xmlns:a16="http://schemas.microsoft.com/office/drawing/2014/main" id="{8DAD9F1F-F22A-86FD-B87B-5E65344757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91099" y="3340064"/>
            <a:ext cx="629546" cy="6295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80060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Duas versões, dois papéis na estratégia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O TN Manager Web abre a porta e prepara o cliente para migrar à versão completa.</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31</a:t>
            </a:r>
            <a:endParaRPr lang="en-US" sz="900" dirty="0"/>
          </a:p>
        </p:txBody>
      </p:sp>
      <p:sp>
        <p:nvSpPr>
          <p:cNvPr id="6" name="Text 3"/>
          <p:cNvSpPr/>
          <p:nvPr/>
        </p:nvSpPr>
        <p:spPr>
          <a:xfrm>
            <a:off x="2148840" y="1143000"/>
            <a:ext cx="3200400" cy="365760"/>
          </a:xfrm>
          <a:prstGeom prst="rect">
            <a:avLst/>
          </a:prstGeom>
          <a:solidFill>
            <a:srgbClr val="26668F"/>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TN Manager (escopo da v1.0)</a:t>
            </a:r>
            <a:endParaRPr lang="en-US" sz="1300" dirty="0"/>
          </a:p>
        </p:txBody>
      </p:sp>
      <p:sp>
        <p:nvSpPr>
          <p:cNvPr id="7" name="Text 4"/>
          <p:cNvSpPr/>
          <p:nvPr/>
        </p:nvSpPr>
        <p:spPr>
          <a:xfrm>
            <a:off x="5486400" y="1143000"/>
            <a:ext cx="3200400" cy="365760"/>
          </a:xfrm>
          <a:prstGeom prst="rect">
            <a:avLst/>
          </a:prstGeom>
          <a:solidFill>
            <a:srgbClr val="C8106E"/>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TN Manager Web (proposta v2.0)</a:t>
            </a:r>
            <a:endParaRPr lang="en-US" sz="1300" dirty="0"/>
          </a:p>
        </p:txBody>
      </p:sp>
      <p:sp>
        <p:nvSpPr>
          <p:cNvPr id="8" name="Shape 5"/>
          <p:cNvSpPr/>
          <p:nvPr/>
        </p:nvSpPr>
        <p:spPr>
          <a:xfrm>
            <a:off x="457200" y="1600200"/>
            <a:ext cx="8229600" cy="420624"/>
          </a:xfrm>
          <a:prstGeom prst="rect">
            <a:avLst/>
          </a:prstGeom>
          <a:solidFill>
            <a:srgbClr val="F4F6F8"/>
          </a:solidFill>
          <a:ln/>
        </p:spPr>
        <p:txBody>
          <a:bodyPr/>
          <a:lstStyle/>
          <a:p>
            <a:endParaRPr lang="pt-BR"/>
          </a:p>
        </p:txBody>
      </p:sp>
      <p:sp>
        <p:nvSpPr>
          <p:cNvPr id="9" name="Text 6"/>
          <p:cNvSpPr/>
          <p:nvPr/>
        </p:nvSpPr>
        <p:spPr>
          <a:xfrm>
            <a:off x="548640" y="1600200"/>
            <a:ext cx="1554480" cy="420624"/>
          </a:xfrm>
          <a:prstGeom prst="rect">
            <a:avLst/>
          </a:prstGeom>
          <a:noFill/>
          <a:ln/>
        </p:spPr>
        <p:txBody>
          <a:bodyPr wrap="square" lIns="0" tIns="0" rIns="0" bIns="0" rtlCol="0" anchor="ctr"/>
          <a:lstStyle/>
          <a:p>
            <a:pPr marL="0" indent="0">
              <a:buNone/>
            </a:pPr>
            <a:r>
              <a:rPr lang="en-US" sz="1050" b="1" dirty="0">
                <a:solidFill>
                  <a:srgbClr val="1B3A8C"/>
                </a:solidFill>
                <a:latin typeface="Calibri" pitchFamily="34" charset="0"/>
                <a:ea typeface="Calibri" pitchFamily="34" charset="-122"/>
                <a:cs typeface="Calibri" pitchFamily="34" charset="-120"/>
              </a:rPr>
              <a:t>Para quem</a:t>
            </a:r>
            <a:endParaRPr lang="en-US" sz="1050" dirty="0"/>
          </a:p>
        </p:txBody>
      </p:sp>
      <p:sp>
        <p:nvSpPr>
          <p:cNvPr id="10" name="Text 7"/>
          <p:cNvSpPr/>
          <p:nvPr/>
        </p:nvSpPr>
        <p:spPr>
          <a:xfrm>
            <a:off x="2240280" y="1600200"/>
            <a:ext cx="3017520" cy="420624"/>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Grandes confinamentos com balança, vagão e equipe estruturada</a:t>
            </a:r>
            <a:endParaRPr lang="en-US" sz="1000" dirty="0"/>
          </a:p>
        </p:txBody>
      </p:sp>
      <p:sp>
        <p:nvSpPr>
          <p:cNvPr id="11" name="Text 8"/>
          <p:cNvSpPr/>
          <p:nvPr/>
        </p:nvSpPr>
        <p:spPr>
          <a:xfrm>
            <a:off x="5577840" y="1600200"/>
            <a:ext cx="3017520" cy="420624"/>
          </a:xfrm>
          <a:prstGeom prst="rect">
            <a:avLst/>
          </a:prstGeom>
          <a:noFill/>
          <a:ln/>
        </p:spPr>
        <p:txBody>
          <a:bodyPr wrap="square" lIns="0" tIns="0" rIns="0" bIns="0" rtlCol="0" anchor="ctr"/>
          <a:lstStyle/>
          <a:p>
            <a:pPr marL="0" indent="0">
              <a:buNone/>
            </a:pPr>
            <a:r>
              <a:rPr lang="en-US" sz="1000" b="1" dirty="0">
                <a:solidFill>
                  <a:srgbClr val="1B3A8C"/>
                </a:solidFill>
                <a:latin typeface="Calibri" pitchFamily="34" charset="0"/>
                <a:ea typeface="Calibri" pitchFamily="34" charset="-122"/>
                <a:cs typeface="Calibri" pitchFamily="34" charset="-120"/>
              </a:rPr>
              <a:t>Confinamentos com registro manual (hipótese)</a:t>
            </a:r>
            <a:endParaRPr lang="en-US" sz="1000" dirty="0"/>
          </a:p>
        </p:txBody>
      </p:sp>
      <p:sp>
        <p:nvSpPr>
          <p:cNvPr id="12" name="Text 9"/>
          <p:cNvSpPr/>
          <p:nvPr/>
        </p:nvSpPr>
        <p:spPr>
          <a:xfrm>
            <a:off x="548640" y="2057400"/>
            <a:ext cx="1554480" cy="420624"/>
          </a:xfrm>
          <a:prstGeom prst="rect">
            <a:avLst/>
          </a:prstGeom>
          <a:noFill/>
          <a:ln/>
        </p:spPr>
        <p:txBody>
          <a:bodyPr wrap="square" lIns="0" tIns="0" rIns="0" bIns="0" rtlCol="0" anchor="ctr"/>
          <a:lstStyle/>
          <a:p>
            <a:pPr marL="0" indent="0">
              <a:buNone/>
            </a:pPr>
            <a:r>
              <a:rPr lang="en-US" sz="1050" b="1" dirty="0">
                <a:solidFill>
                  <a:srgbClr val="1B3A8C"/>
                </a:solidFill>
                <a:latin typeface="Calibri" pitchFamily="34" charset="0"/>
                <a:ea typeface="Calibri" pitchFamily="34" charset="-122"/>
                <a:cs typeface="Calibri" pitchFamily="34" charset="-120"/>
              </a:rPr>
              <a:t>Entrada de dados</a:t>
            </a:r>
            <a:endParaRPr lang="en-US" sz="1050" dirty="0"/>
          </a:p>
        </p:txBody>
      </p:sp>
      <p:sp>
        <p:nvSpPr>
          <p:cNvPr id="13" name="Text 10"/>
          <p:cNvSpPr/>
          <p:nvPr/>
        </p:nvSpPr>
        <p:spPr>
          <a:xfrm>
            <a:off x="2240280" y="2057400"/>
            <a:ext cx="3017520" cy="420624"/>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Integração com hardware e coleta automática</a:t>
            </a:r>
            <a:endParaRPr lang="en-US" sz="1000" dirty="0"/>
          </a:p>
        </p:txBody>
      </p:sp>
      <p:sp>
        <p:nvSpPr>
          <p:cNvPr id="14" name="Text 11"/>
          <p:cNvSpPr/>
          <p:nvPr/>
        </p:nvSpPr>
        <p:spPr>
          <a:xfrm>
            <a:off x="5577840" y="2057400"/>
            <a:ext cx="3017520" cy="420624"/>
          </a:xfrm>
          <a:prstGeom prst="rect">
            <a:avLst/>
          </a:prstGeom>
          <a:noFill/>
          <a:ln/>
        </p:spPr>
        <p:txBody>
          <a:bodyPr wrap="square" lIns="0" tIns="0" rIns="0" bIns="0" rtlCol="0" anchor="ctr"/>
          <a:lstStyle/>
          <a:p>
            <a:pPr marL="0" indent="0">
              <a:buNone/>
            </a:pPr>
            <a:r>
              <a:rPr lang="en-US" sz="1000" b="1" dirty="0" err="1">
                <a:solidFill>
                  <a:srgbClr val="1B3A8C"/>
                </a:solidFill>
                <a:latin typeface="Calibri" pitchFamily="34" charset="0"/>
                <a:ea typeface="Calibri" pitchFamily="34" charset="-122"/>
                <a:cs typeface="Calibri" pitchFamily="34" charset="-120"/>
              </a:rPr>
              <a:t>Lançamento</a:t>
            </a:r>
            <a:r>
              <a:rPr lang="en-US" sz="1000" b="1" dirty="0">
                <a:solidFill>
                  <a:srgbClr val="1B3A8C"/>
                </a:solidFill>
                <a:latin typeface="Calibri" pitchFamily="34" charset="0"/>
                <a:ea typeface="Calibri" pitchFamily="34" charset="-122"/>
                <a:cs typeface="Calibri" pitchFamily="34" charset="-120"/>
              </a:rPr>
              <a:t> manual</a:t>
            </a:r>
            <a:endParaRPr lang="en-US" sz="1000" dirty="0"/>
          </a:p>
        </p:txBody>
      </p:sp>
      <p:sp>
        <p:nvSpPr>
          <p:cNvPr id="15" name="Shape 12"/>
          <p:cNvSpPr/>
          <p:nvPr/>
        </p:nvSpPr>
        <p:spPr>
          <a:xfrm>
            <a:off x="457200" y="2514600"/>
            <a:ext cx="8229600" cy="420624"/>
          </a:xfrm>
          <a:prstGeom prst="rect">
            <a:avLst/>
          </a:prstGeom>
          <a:solidFill>
            <a:srgbClr val="F4F6F8"/>
          </a:solidFill>
          <a:ln/>
        </p:spPr>
        <p:txBody>
          <a:bodyPr/>
          <a:lstStyle/>
          <a:p>
            <a:endParaRPr lang="pt-BR"/>
          </a:p>
        </p:txBody>
      </p:sp>
      <p:sp>
        <p:nvSpPr>
          <p:cNvPr id="16" name="Text 13"/>
          <p:cNvSpPr/>
          <p:nvPr/>
        </p:nvSpPr>
        <p:spPr>
          <a:xfrm>
            <a:off x="548640" y="2514600"/>
            <a:ext cx="1554480" cy="420624"/>
          </a:xfrm>
          <a:prstGeom prst="rect">
            <a:avLst/>
          </a:prstGeom>
          <a:noFill/>
          <a:ln/>
        </p:spPr>
        <p:txBody>
          <a:bodyPr wrap="square" lIns="0" tIns="0" rIns="0" bIns="0" rtlCol="0" anchor="ctr"/>
          <a:lstStyle/>
          <a:p>
            <a:pPr marL="0" indent="0">
              <a:buNone/>
            </a:pPr>
            <a:r>
              <a:rPr lang="en-US" sz="1050" b="1" dirty="0">
                <a:solidFill>
                  <a:srgbClr val="1B3A8C"/>
                </a:solidFill>
                <a:latin typeface="Calibri" pitchFamily="34" charset="0"/>
                <a:ea typeface="Calibri" pitchFamily="34" charset="-122"/>
                <a:cs typeface="Calibri" pitchFamily="34" charset="-120"/>
              </a:rPr>
              <a:t>Acesso</a:t>
            </a:r>
            <a:endParaRPr lang="en-US" sz="1050" dirty="0"/>
          </a:p>
        </p:txBody>
      </p:sp>
      <p:sp>
        <p:nvSpPr>
          <p:cNvPr id="17" name="Text 14"/>
          <p:cNvSpPr/>
          <p:nvPr/>
        </p:nvSpPr>
        <p:spPr>
          <a:xfrm>
            <a:off x="2240280" y="2514600"/>
            <a:ext cx="3017520" cy="420624"/>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Nuvem e terminal offline</a:t>
            </a:r>
            <a:endParaRPr lang="en-US" sz="1000" dirty="0"/>
          </a:p>
        </p:txBody>
      </p:sp>
      <p:sp>
        <p:nvSpPr>
          <p:cNvPr id="18" name="Text 15"/>
          <p:cNvSpPr/>
          <p:nvPr/>
        </p:nvSpPr>
        <p:spPr>
          <a:xfrm>
            <a:off x="5577840" y="2514600"/>
            <a:ext cx="3017520" cy="420624"/>
          </a:xfrm>
          <a:prstGeom prst="rect">
            <a:avLst/>
          </a:prstGeom>
          <a:noFill/>
          <a:ln/>
        </p:spPr>
        <p:txBody>
          <a:bodyPr wrap="square" lIns="0" tIns="0" rIns="0" bIns="0" rtlCol="0" anchor="ctr"/>
          <a:lstStyle/>
          <a:p>
            <a:pPr marL="0" indent="0">
              <a:buNone/>
            </a:pPr>
            <a:r>
              <a:rPr lang="en-US" sz="1000" b="1" dirty="0">
                <a:solidFill>
                  <a:srgbClr val="1B3A8C"/>
                </a:solidFill>
                <a:latin typeface="Calibri" pitchFamily="34" charset="0"/>
                <a:ea typeface="Calibri" pitchFamily="34" charset="-122"/>
                <a:cs typeface="Calibri" pitchFamily="34" charset="-120"/>
              </a:rPr>
              <a:t>Navegador, no computador ou no celular</a:t>
            </a:r>
            <a:endParaRPr lang="en-US" sz="1000" dirty="0"/>
          </a:p>
        </p:txBody>
      </p:sp>
      <p:sp>
        <p:nvSpPr>
          <p:cNvPr id="19" name="Text 16"/>
          <p:cNvSpPr/>
          <p:nvPr/>
        </p:nvSpPr>
        <p:spPr>
          <a:xfrm>
            <a:off x="548640" y="2971800"/>
            <a:ext cx="1554480" cy="420624"/>
          </a:xfrm>
          <a:prstGeom prst="rect">
            <a:avLst/>
          </a:prstGeom>
          <a:noFill/>
          <a:ln/>
        </p:spPr>
        <p:txBody>
          <a:bodyPr wrap="square" lIns="0" tIns="0" rIns="0" bIns="0" rtlCol="0" anchor="ctr"/>
          <a:lstStyle/>
          <a:p>
            <a:pPr marL="0" indent="0">
              <a:buNone/>
            </a:pPr>
            <a:r>
              <a:rPr lang="en-US" sz="1050" b="1" dirty="0">
                <a:solidFill>
                  <a:srgbClr val="1B3A8C"/>
                </a:solidFill>
                <a:latin typeface="Calibri" pitchFamily="34" charset="0"/>
                <a:ea typeface="Calibri" pitchFamily="34" charset="-122"/>
                <a:cs typeface="Calibri" pitchFamily="34" charset="-120"/>
              </a:rPr>
              <a:t>Escopo</a:t>
            </a:r>
            <a:endParaRPr lang="en-US" sz="1050" dirty="0"/>
          </a:p>
        </p:txBody>
      </p:sp>
      <p:sp>
        <p:nvSpPr>
          <p:cNvPr id="20" name="Text 17"/>
          <p:cNvSpPr/>
          <p:nvPr/>
        </p:nvSpPr>
        <p:spPr>
          <a:xfrm>
            <a:off x="2240280" y="2971800"/>
            <a:ext cx="3017520" cy="420624"/>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Gestão completa, integrações e módulos adicionais</a:t>
            </a:r>
            <a:endParaRPr lang="en-US" sz="1000" dirty="0"/>
          </a:p>
        </p:txBody>
      </p:sp>
      <p:sp>
        <p:nvSpPr>
          <p:cNvPr id="21" name="Text 18"/>
          <p:cNvSpPr/>
          <p:nvPr/>
        </p:nvSpPr>
        <p:spPr>
          <a:xfrm>
            <a:off x="5577840" y="2971800"/>
            <a:ext cx="3017520" cy="420624"/>
          </a:xfrm>
          <a:prstGeom prst="rect">
            <a:avLst/>
          </a:prstGeom>
          <a:noFill/>
          <a:ln/>
        </p:spPr>
        <p:txBody>
          <a:bodyPr wrap="square" lIns="0" tIns="0" rIns="0" bIns="0" rtlCol="0" anchor="ctr"/>
          <a:lstStyle/>
          <a:p>
            <a:pPr marL="0" indent="0">
              <a:buNone/>
            </a:pPr>
            <a:r>
              <a:rPr lang="en-US" sz="1000" b="1" dirty="0">
                <a:solidFill>
                  <a:srgbClr val="1B3A8C"/>
                </a:solidFill>
                <a:latin typeface="Calibri" pitchFamily="34" charset="0"/>
                <a:ea typeface="Calibri" pitchFamily="34" charset="-122"/>
                <a:cs typeface="Calibri" pitchFamily="34" charset="-120"/>
              </a:rPr>
              <a:t>Dashboard e </a:t>
            </a:r>
            <a:r>
              <a:rPr lang="en-US" sz="1000" b="1" dirty="0" err="1">
                <a:solidFill>
                  <a:srgbClr val="1B3A8C"/>
                </a:solidFill>
                <a:latin typeface="Calibri" pitchFamily="34" charset="0"/>
                <a:ea typeface="Calibri" pitchFamily="34" charset="-122"/>
                <a:cs typeface="Calibri" pitchFamily="34" charset="-120"/>
              </a:rPr>
              <a:t>módulos</a:t>
            </a:r>
            <a:r>
              <a:rPr lang="en-US" sz="1000" b="1" dirty="0">
                <a:solidFill>
                  <a:srgbClr val="1B3A8C"/>
                </a:solidFill>
                <a:latin typeface="Calibri" pitchFamily="34" charset="0"/>
                <a:ea typeface="Calibri" pitchFamily="34" charset="-122"/>
                <a:cs typeface="Calibri" pitchFamily="34" charset="-120"/>
              </a:rPr>
              <a:t> </a:t>
            </a:r>
            <a:r>
              <a:rPr lang="en-US" sz="1000" b="1" dirty="0" err="1">
                <a:solidFill>
                  <a:srgbClr val="1B3A8C"/>
                </a:solidFill>
                <a:latin typeface="Calibri" pitchFamily="34" charset="0"/>
                <a:ea typeface="Calibri" pitchFamily="34" charset="-122"/>
                <a:cs typeface="Calibri" pitchFamily="34" charset="-120"/>
              </a:rPr>
              <a:t>essenciais</a:t>
            </a:r>
            <a:endParaRPr lang="en-US" sz="1000" dirty="0"/>
          </a:p>
        </p:txBody>
      </p:sp>
      <p:sp>
        <p:nvSpPr>
          <p:cNvPr id="22" name="Shape 19"/>
          <p:cNvSpPr/>
          <p:nvPr/>
        </p:nvSpPr>
        <p:spPr>
          <a:xfrm>
            <a:off x="457200" y="3429000"/>
            <a:ext cx="8229600" cy="420624"/>
          </a:xfrm>
          <a:prstGeom prst="rect">
            <a:avLst/>
          </a:prstGeom>
          <a:solidFill>
            <a:srgbClr val="F4F6F8"/>
          </a:solidFill>
          <a:ln/>
        </p:spPr>
        <p:txBody>
          <a:bodyPr/>
          <a:lstStyle/>
          <a:p>
            <a:endParaRPr lang="pt-BR"/>
          </a:p>
        </p:txBody>
      </p:sp>
      <p:sp>
        <p:nvSpPr>
          <p:cNvPr id="23" name="Text 20"/>
          <p:cNvSpPr/>
          <p:nvPr/>
        </p:nvSpPr>
        <p:spPr>
          <a:xfrm>
            <a:off x="548640" y="3429000"/>
            <a:ext cx="1554480" cy="420624"/>
          </a:xfrm>
          <a:prstGeom prst="rect">
            <a:avLst/>
          </a:prstGeom>
          <a:noFill/>
          <a:ln/>
        </p:spPr>
        <p:txBody>
          <a:bodyPr wrap="square" lIns="0" tIns="0" rIns="0" bIns="0" rtlCol="0" anchor="ctr"/>
          <a:lstStyle/>
          <a:p>
            <a:pPr marL="0" indent="0">
              <a:buNone/>
            </a:pPr>
            <a:r>
              <a:rPr lang="en-US" sz="1050" b="1" dirty="0">
                <a:solidFill>
                  <a:srgbClr val="1B3A8C"/>
                </a:solidFill>
                <a:latin typeface="Calibri" pitchFamily="34" charset="0"/>
                <a:ea typeface="Calibri" pitchFamily="34" charset="-122"/>
                <a:cs typeface="Calibri" pitchFamily="34" charset="-120"/>
              </a:rPr>
              <a:t>Implantação e suporte</a:t>
            </a:r>
            <a:endParaRPr lang="en-US" sz="1050" dirty="0"/>
          </a:p>
        </p:txBody>
      </p:sp>
      <p:sp>
        <p:nvSpPr>
          <p:cNvPr id="24" name="Text 21"/>
          <p:cNvSpPr/>
          <p:nvPr/>
        </p:nvSpPr>
        <p:spPr>
          <a:xfrm>
            <a:off x="2240280" y="3429000"/>
            <a:ext cx="3017520" cy="420624"/>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Projeto de implantação com equipe dedicada</a:t>
            </a:r>
            <a:endParaRPr lang="en-US" sz="1000" dirty="0"/>
          </a:p>
        </p:txBody>
      </p:sp>
      <p:sp>
        <p:nvSpPr>
          <p:cNvPr id="25" name="Text 22"/>
          <p:cNvSpPr/>
          <p:nvPr/>
        </p:nvSpPr>
        <p:spPr>
          <a:xfrm>
            <a:off x="5577840" y="3429000"/>
            <a:ext cx="3017520" cy="420624"/>
          </a:xfrm>
          <a:prstGeom prst="rect">
            <a:avLst/>
          </a:prstGeom>
          <a:noFill/>
          <a:ln/>
        </p:spPr>
        <p:txBody>
          <a:bodyPr wrap="square" lIns="0" tIns="0" rIns="0" bIns="0" rtlCol="0" anchor="ctr"/>
          <a:lstStyle/>
          <a:p>
            <a:pPr marL="0" indent="0">
              <a:buNone/>
            </a:pPr>
            <a:r>
              <a:rPr lang="en-US" sz="1000" b="1" dirty="0">
                <a:solidFill>
                  <a:srgbClr val="1B3A8C"/>
                </a:solidFill>
                <a:latin typeface="Calibri" pitchFamily="34" charset="0"/>
                <a:ea typeface="Calibri" pitchFamily="34" charset="-122"/>
                <a:cs typeface="Calibri" pitchFamily="34" charset="-120"/>
              </a:rPr>
              <a:t>Técnico TN que já atende a fazenda</a:t>
            </a:r>
            <a:endParaRPr lang="en-US" sz="1000" dirty="0"/>
          </a:p>
        </p:txBody>
      </p:sp>
      <p:sp>
        <p:nvSpPr>
          <p:cNvPr id="26" name="Text 23"/>
          <p:cNvSpPr/>
          <p:nvPr/>
        </p:nvSpPr>
        <p:spPr>
          <a:xfrm>
            <a:off x="548640" y="3886200"/>
            <a:ext cx="1554480" cy="420624"/>
          </a:xfrm>
          <a:prstGeom prst="rect">
            <a:avLst/>
          </a:prstGeom>
          <a:noFill/>
          <a:ln/>
        </p:spPr>
        <p:txBody>
          <a:bodyPr wrap="square" lIns="0" tIns="0" rIns="0" bIns="0" rtlCol="0" anchor="ctr"/>
          <a:lstStyle/>
          <a:p>
            <a:pPr marL="0" indent="0">
              <a:buNone/>
            </a:pPr>
            <a:r>
              <a:rPr lang="en-US" sz="1050" b="1" dirty="0">
                <a:solidFill>
                  <a:srgbClr val="1B3A8C"/>
                </a:solidFill>
                <a:latin typeface="Calibri" pitchFamily="34" charset="0"/>
                <a:ea typeface="Calibri" pitchFamily="34" charset="-122"/>
                <a:cs typeface="Calibri" pitchFamily="34" charset="-120"/>
              </a:rPr>
              <a:t>Papel na estratégia</a:t>
            </a:r>
            <a:endParaRPr lang="en-US" sz="1050" dirty="0"/>
          </a:p>
        </p:txBody>
      </p:sp>
      <p:sp>
        <p:nvSpPr>
          <p:cNvPr id="27" name="Text 24"/>
          <p:cNvSpPr/>
          <p:nvPr/>
        </p:nvSpPr>
        <p:spPr>
          <a:xfrm>
            <a:off x="2240280" y="3886200"/>
            <a:ext cx="3017520" cy="420624"/>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Defender contas A+ e B+</a:t>
            </a:r>
            <a:endParaRPr lang="en-US" sz="1000" dirty="0"/>
          </a:p>
        </p:txBody>
      </p:sp>
      <p:sp>
        <p:nvSpPr>
          <p:cNvPr id="28" name="Text 25"/>
          <p:cNvSpPr/>
          <p:nvPr/>
        </p:nvSpPr>
        <p:spPr>
          <a:xfrm>
            <a:off x="5577840" y="3886200"/>
            <a:ext cx="3017520" cy="420624"/>
          </a:xfrm>
          <a:prstGeom prst="rect">
            <a:avLst/>
          </a:prstGeom>
          <a:noFill/>
          <a:ln/>
        </p:spPr>
        <p:txBody>
          <a:bodyPr wrap="square" lIns="0" tIns="0" rIns="0" bIns="0" rtlCol="0" anchor="ctr"/>
          <a:lstStyle/>
          <a:p>
            <a:pPr marL="0" indent="0">
              <a:buNone/>
            </a:pPr>
            <a:r>
              <a:rPr lang="en-US" sz="1000" b="1" dirty="0">
                <a:solidFill>
                  <a:srgbClr val="1B3A8C"/>
                </a:solidFill>
                <a:latin typeface="Calibri" pitchFamily="34" charset="0"/>
                <a:ea typeface="Calibri" pitchFamily="34" charset="-122"/>
                <a:cs typeface="Calibri" pitchFamily="34" charset="-120"/>
              </a:rPr>
              <a:t>Defender </a:t>
            </a:r>
            <a:r>
              <a:rPr lang="en-US" sz="1000" b="1" dirty="0" err="1">
                <a:solidFill>
                  <a:srgbClr val="1B3A8C"/>
                </a:solidFill>
                <a:latin typeface="Calibri" pitchFamily="34" charset="0"/>
                <a:ea typeface="Calibri" pitchFamily="34" charset="-122"/>
                <a:cs typeface="Calibri" pitchFamily="34" charset="-120"/>
              </a:rPr>
              <a:t>contas</a:t>
            </a:r>
            <a:r>
              <a:rPr lang="en-US" sz="1000" b="1" dirty="0">
                <a:solidFill>
                  <a:srgbClr val="1B3A8C"/>
                </a:solidFill>
                <a:latin typeface="Calibri" pitchFamily="34" charset="0"/>
                <a:ea typeface="Calibri" pitchFamily="34" charset="-122"/>
                <a:cs typeface="Calibri" pitchFamily="34" charset="-120"/>
              </a:rPr>
              <a:t> de </a:t>
            </a:r>
            <a:r>
              <a:rPr lang="en-US" sz="1000" b="1" dirty="0" err="1">
                <a:solidFill>
                  <a:srgbClr val="1B3A8C"/>
                </a:solidFill>
                <a:latin typeface="Calibri" pitchFamily="34" charset="0"/>
                <a:ea typeface="Calibri" pitchFamily="34" charset="-122"/>
                <a:cs typeface="Calibri" pitchFamily="34" charset="-120"/>
              </a:rPr>
              <a:t>qualquer</a:t>
            </a:r>
            <a:r>
              <a:rPr lang="en-US" sz="1000" b="1" dirty="0">
                <a:solidFill>
                  <a:srgbClr val="1B3A8C"/>
                </a:solidFill>
                <a:latin typeface="Calibri" pitchFamily="34" charset="0"/>
                <a:ea typeface="Calibri" pitchFamily="34" charset="-122"/>
                <a:cs typeface="Calibri" pitchFamily="34" charset="-120"/>
              </a:rPr>
              <a:t> </a:t>
            </a:r>
            <a:r>
              <a:rPr lang="en-US" sz="1000" b="1" dirty="0" err="1">
                <a:solidFill>
                  <a:srgbClr val="1B3A8C"/>
                </a:solidFill>
                <a:latin typeface="Calibri" pitchFamily="34" charset="0"/>
                <a:ea typeface="Calibri" pitchFamily="34" charset="-122"/>
                <a:cs typeface="Calibri" pitchFamily="34" charset="-120"/>
              </a:rPr>
              <a:t>tamanho</a:t>
            </a:r>
            <a:r>
              <a:rPr lang="en-US" sz="1000" b="1" dirty="0">
                <a:solidFill>
                  <a:srgbClr val="1B3A8C"/>
                </a:solidFill>
                <a:latin typeface="Calibri" pitchFamily="34" charset="0"/>
                <a:ea typeface="Calibri" pitchFamily="34" charset="-122"/>
                <a:cs typeface="Calibri" pitchFamily="34" charset="-120"/>
              </a:rPr>
              <a:t> e ferramenta </a:t>
            </a:r>
            <a:r>
              <a:rPr lang="en-US" sz="1000" b="1" dirty="0" err="1">
                <a:solidFill>
                  <a:srgbClr val="1B3A8C"/>
                </a:solidFill>
                <a:latin typeface="Calibri" pitchFamily="34" charset="0"/>
                <a:ea typeface="Calibri" pitchFamily="34" charset="-122"/>
                <a:cs typeface="Calibri" pitchFamily="34" charset="-120"/>
              </a:rPr>
              <a:t>escalável</a:t>
            </a:r>
            <a:r>
              <a:rPr lang="en-US" sz="1000" b="1" dirty="0">
                <a:solidFill>
                  <a:srgbClr val="1B3A8C"/>
                </a:solidFill>
                <a:latin typeface="Calibri" pitchFamily="34" charset="0"/>
                <a:ea typeface="Calibri" pitchFamily="34" charset="-122"/>
                <a:cs typeface="Calibri" pitchFamily="34" charset="-120"/>
              </a:rPr>
              <a:t> de </a:t>
            </a:r>
            <a:r>
              <a:rPr lang="en-US" sz="1000" b="1" dirty="0" err="1">
                <a:solidFill>
                  <a:srgbClr val="1B3A8C"/>
                </a:solidFill>
                <a:latin typeface="Calibri" pitchFamily="34" charset="0"/>
                <a:ea typeface="Calibri" pitchFamily="34" charset="-122"/>
                <a:cs typeface="Calibri" pitchFamily="34" charset="-120"/>
              </a:rPr>
              <a:t>prospecção</a:t>
            </a:r>
            <a:r>
              <a:rPr lang="en-US" sz="1000" b="1" dirty="0">
                <a:solidFill>
                  <a:srgbClr val="1B3A8C"/>
                </a:solidFill>
                <a:latin typeface="Calibri" pitchFamily="34" charset="0"/>
                <a:ea typeface="Calibri" pitchFamily="34" charset="-122"/>
                <a:cs typeface="Calibri" pitchFamily="34" charset="-120"/>
              </a:rPr>
              <a:t> (com </a:t>
            </a:r>
            <a:r>
              <a:rPr lang="en-US" sz="1000" b="1" dirty="0" err="1">
                <a:solidFill>
                  <a:srgbClr val="1B3A8C"/>
                </a:solidFill>
                <a:latin typeface="Calibri" pitchFamily="34" charset="0"/>
                <a:ea typeface="Calibri" pitchFamily="34" charset="-122"/>
                <a:cs typeface="Calibri" pitchFamily="34" charset="-120"/>
              </a:rPr>
              <a:t>baixo</a:t>
            </a:r>
            <a:r>
              <a:rPr lang="en-US" sz="1000" b="1" dirty="0">
                <a:solidFill>
                  <a:srgbClr val="1B3A8C"/>
                </a:solidFill>
                <a:latin typeface="Calibri" pitchFamily="34" charset="0"/>
                <a:ea typeface="Calibri" pitchFamily="34" charset="-122"/>
                <a:cs typeface="Calibri" pitchFamily="34" charset="-120"/>
              </a:rPr>
              <a:t> </a:t>
            </a:r>
            <a:r>
              <a:rPr lang="en-US" sz="1000" b="1" dirty="0" err="1">
                <a:solidFill>
                  <a:srgbClr val="1B3A8C"/>
                </a:solidFill>
                <a:latin typeface="Calibri" pitchFamily="34" charset="0"/>
                <a:ea typeface="Calibri" pitchFamily="34" charset="-122"/>
                <a:cs typeface="Calibri" pitchFamily="34" charset="-120"/>
              </a:rPr>
              <a:t>custo</a:t>
            </a:r>
            <a:r>
              <a:rPr lang="en-US" sz="1000" b="1" dirty="0">
                <a:solidFill>
                  <a:srgbClr val="1B3A8C"/>
                </a:solidFill>
                <a:latin typeface="Calibri" pitchFamily="34" charset="0"/>
                <a:ea typeface="Calibri" pitchFamily="34" charset="-122"/>
                <a:cs typeface="Calibri" pitchFamily="34" charset="-120"/>
              </a:rPr>
              <a:t>)</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Produto mínimo: o que entra no TN Manager Web</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Priorização MoSCoW. Só a primeira coluna é obrigatória para o piloto.</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32</a:t>
            </a:r>
            <a:endParaRPr lang="en-US" sz="900" dirty="0"/>
          </a:p>
        </p:txBody>
      </p:sp>
      <p:sp>
        <p:nvSpPr>
          <p:cNvPr id="6" name="Shape 3"/>
          <p:cNvSpPr/>
          <p:nvPr/>
        </p:nvSpPr>
        <p:spPr>
          <a:xfrm>
            <a:off x="457200" y="1188720"/>
            <a:ext cx="1965960" cy="566928"/>
          </a:xfrm>
          <a:prstGeom prst="rect">
            <a:avLst/>
          </a:prstGeom>
          <a:solidFill>
            <a:srgbClr val="C8106E"/>
          </a:solidFill>
          <a:ln/>
        </p:spPr>
        <p:txBody>
          <a:bodyPr/>
          <a:lstStyle/>
          <a:p>
            <a:endParaRPr lang="pt-BR"/>
          </a:p>
        </p:txBody>
      </p:sp>
      <p:sp>
        <p:nvSpPr>
          <p:cNvPr id="7" name="Text 4"/>
          <p:cNvSpPr/>
          <p:nvPr/>
        </p:nvSpPr>
        <p:spPr>
          <a:xfrm>
            <a:off x="566928" y="1225296"/>
            <a:ext cx="1746504"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Precisa ter</a:t>
            </a:r>
            <a:endParaRPr lang="en-US" sz="1300" dirty="0"/>
          </a:p>
        </p:txBody>
      </p:sp>
      <p:sp>
        <p:nvSpPr>
          <p:cNvPr id="8" name="Text 5"/>
          <p:cNvSpPr/>
          <p:nvPr/>
        </p:nvSpPr>
        <p:spPr>
          <a:xfrm>
            <a:off x="566928" y="1481328"/>
            <a:ext cx="1746504"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versão 0.1, piloto</a:t>
            </a:r>
            <a:endParaRPr lang="en-US" sz="950" dirty="0"/>
          </a:p>
        </p:txBody>
      </p:sp>
      <p:sp>
        <p:nvSpPr>
          <p:cNvPr id="9" name="Shape 6"/>
          <p:cNvSpPr/>
          <p:nvPr/>
        </p:nvSpPr>
        <p:spPr>
          <a:xfrm>
            <a:off x="457200" y="1755648"/>
            <a:ext cx="1965960" cy="2542032"/>
          </a:xfrm>
          <a:prstGeom prst="rect">
            <a:avLst/>
          </a:prstGeom>
          <a:solidFill>
            <a:srgbClr val="FBE7F1"/>
          </a:solidFill>
          <a:ln/>
        </p:spPr>
        <p:txBody>
          <a:bodyPr/>
          <a:lstStyle/>
          <a:p>
            <a:endParaRPr lang="pt-BR"/>
          </a:p>
        </p:txBody>
      </p:sp>
      <p:sp>
        <p:nvSpPr>
          <p:cNvPr id="10" name="Text 7"/>
          <p:cNvSpPr/>
          <p:nvPr/>
        </p:nvSpPr>
        <p:spPr>
          <a:xfrm>
            <a:off x="512064" y="1847088"/>
            <a:ext cx="1837944" cy="2377440"/>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Cadastro de fazenda, currais e lotes</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Lançamento diário de trato por curral</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Leitura de cocho</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Entradas, pesagens, saídas, mortes e enfermaria</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Painel: consumo de matéria seca, GMD, dias de cocho e mortalidade</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Relatório semanal em PDF</a:t>
            </a:r>
            <a:endParaRPr lang="en-US" sz="950" dirty="0"/>
          </a:p>
        </p:txBody>
      </p:sp>
      <p:sp>
        <p:nvSpPr>
          <p:cNvPr id="11" name="Shape 8"/>
          <p:cNvSpPr/>
          <p:nvPr/>
        </p:nvSpPr>
        <p:spPr>
          <a:xfrm>
            <a:off x="2532888" y="1188720"/>
            <a:ext cx="1965960" cy="566928"/>
          </a:xfrm>
          <a:prstGeom prst="rect">
            <a:avLst/>
          </a:prstGeom>
          <a:solidFill>
            <a:srgbClr val="1B3A8C"/>
          </a:solidFill>
          <a:ln/>
        </p:spPr>
        <p:txBody>
          <a:bodyPr/>
          <a:lstStyle/>
          <a:p>
            <a:endParaRPr lang="pt-BR"/>
          </a:p>
        </p:txBody>
      </p:sp>
      <p:sp>
        <p:nvSpPr>
          <p:cNvPr id="12" name="Text 9"/>
          <p:cNvSpPr/>
          <p:nvPr/>
        </p:nvSpPr>
        <p:spPr>
          <a:xfrm>
            <a:off x="2642616" y="1225296"/>
            <a:ext cx="1746504"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Deveria ter</a:t>
            </a:r>
            <a:endParaRPr lang="en-US" sz="1300" dirty="0"/>
          </a:p>
        </p:txBody>
      </p:sp>
      <p:sp>
        <p:nvSpPr>
          <p:cNvPr id="13" name="Text 10"/>
          <p:cNvSpPr/>
          <p:nvPr/>
        </p:nvSpPr>
        <p:spPr>
          <a:xfrm>
            <a:off x="2642616" y="1481328"/>
            <a:ext cx="1746504"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versão 0.2</a:t>
            </a:r>
            <a:endParaRPr lang="en-US" sz="950" dirty="0"/>
          </a:p>
        </p:txBody>
      </p:sp>
      <p:sp>
        <p:nvSpPr>
          <p:cNvPr id="14" name="Shape 11"/>
          <p:cNvSpPr/>
          <p:nvPr/>
        </p:nvSpPr>
        <p:spPr>
          <a:xfrm>
            <a:off x="2532888" y="1755648"/>
            <a:ext cx="1965960" cy="2542032"/>
          </a:xfrm>
          <a:prstGeom prst="rect">
            <a:avLst/>
          </a:prstGeom>
          <a:solidFill>
            <a:srgbClr val="F4F6F8"/>
          </a:solidFill>
          <a:ln/>
        </p:spPr>
        <p:txBody>
          <a:bodyPr/>
          <a:lstStyle/>
          <a:p>
            <a:endParaRPr lang="pt-BR"/>
          </a:p>
        </p:txBody>
      </p:sp>
      <p:sp>
        <p:nvSpPr>
          <p:cNvPr id="15" name="Text 12"/>
          <p:cNvSpPr/>
          <p:nvPr/>
        </p:nvSpPr>
        <p:spPr>
          <a:xfrm>
            <a:off x="2587752" y="1847088"/>
            <a:ext cx="1837944" cy="2377440"/>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Cadastro de dietas com correção de matéria seca</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Custo por lote e por arroba produzida</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Alertas simples de consumo fora do previsto</a:t>
            </a:r>
            <a:endParaRPr lang="en-US" sz="950" dirty="0"/>
          </a:p>
        </p:txBody>
      </p:sp>
      <p:sp>
        <p:nvSpPr>
          <p:cNvPr id="16" name="Shape 13"/>
          <p:cNvSpPr/>
          <p:nvPr/>
        </p:nvSpPr>
        <p:spPr>
          <a:xfrm>
            <a:off x="4608576" y="1188720"/>
            <a:ext cx="1965960" cy="566928"/>
          </a:xfrm>
          <a:prstGeom prst="rect">
            <a:avLst/>
          </a:prstGeom>
          <a:solidFill>
            <a:srgbClr val="0096B4"/>
          </a:solidFill>
          <a:ln/>
        </p:spPr>
        <p:txBody>
          <a:bodyPr/>
          <a:lstStyle/>
          <a:p>
            <a:endParaRPr lang="pt-BR"/>
          </a:p>
        </p:txBody>
      </p:sp>
      <p:sp>
        <p:nvSpPr>
          <p:cNvPr id="17" name="Text 14"/>
          <p:cNvSpPr/>
          <p:nvPr/>
        </p:nvSpPr>
        <p:spPr>
          <a:xfrm>
            <a:off x="4718304" y="1225296"/>
            <a:ext cx="1746504"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Poderia ter</a:t>
            </a:r>
            <a:endParaRPr lang="en-US" sz="1300" dirty="0"/>
          </a:p>
        </p:txBody>
      </p:sp>
      <p:sp>
        <p:nvSpPr>
          <p:cNvPr id="18" name="Text 15"/>
          <p:cNvSpPr/>
          <p:nvPr/>
        </p:nvSpPr>
        <p:spPr>
          <a:xfrm>
            <a:off x="4718304" y="1481328"/>
            <a:ext cx="1746504"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versão 0.3 em diante</a:t>
            </a:r>
            <a:endParaRPr lang="en-US" sz="950" dirty="0"/>
          </a:p>
        </p:txBody>
      </p:sp>
      <p:sp>
        <p:nvSpPr>
          <p:cNvPr id="19" name="Shape 16"/>
          <p:cNvSpPr/>
          <p:nvPr/>
        </p:nvSpPr>
        <p:spPr>
          <a:xfrm>
            <a:off x="4608576" y="1755648"/>
            <a:ext cx="1965960" cy="2542032"/>
          </a:xfrm>
          <a:prstGeom prst="rect">
            <a:avLst/>
          </a:prstGeom>
          <a:solidFill>
            <a:srgbClr val="F4F6F8"/>
          </a:solidFill>
          <a:ln/>
        </p:spPr>
        <p:txBody>
          <a:bodyPr/>
          <a:lstStyle/>
          <a:p>
            <a:endParaRPr lang="pt-BR"/>
          </a:p>
        </p:txBody>
      </p:sp>
      <p:sp>
        <p:nvSpPr>
          <p:cNvPr id="20" name="Text 17"/>
          <p:cNvSpPr/>
          <p:nvPr/>
        </p:nvSpPr>
        <p:spPr>
          <a:xfrm>
            <a:off x="4663440" y="1847088"/>
            <a:ext cx="1837944" cy="2377440"/>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Importação de planilha existente</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Comparativo entre lotes</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Benchmark anônimo entre fazendas</a:t>
            </a:r>
            <a:endParaRPr lang="en-US" sz="950" dirty="0"/>
          </a:p>
        </p:txBody>
      </p:sp>
      <p:sp>
        <p:nvSpPr>
          <p:cNvPr id="21" name="Shape 18"/>
          <p:cNvSpPr/>
          <p:nvPr/>
        </p:nvSpPr>
        <p:spPr>
          <a:xfrm>
            <a:off x="6684264" y="1188720"/>
            <a:ext cx="1965960" cy="566928"/>
          </a:xfrm>
          <a:prstGeom prst="rect">
            <a:avLst/>
          </a:prstGeom>
          <a:solidFill>
            <a:srgbClr val="7A858F"/>
          </a:solidFill>
          <a:ln/>
        </p:spPr>
        <p:txBody>
          <a:bodyPr/>
          <a:lstStyle/>
          <a:p>
            <a:endParaRPr lang="pt-BR"/>
          </a:p>
        </p:txBody>
      </p:sp>
      <p:sp>
        <p:nvSpPr>
          <p:cNvPr id="22" name="Text 19"/>
          <p:cNvSpPr/>
          <p:nvPr/>
        </p:nvSpPr>
        <p:spPr>
          <a:xfrm>
            <a:off x="6793992" y="1225296"/>
            <a:ext cx="1746504"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Não terá agora</a:t>
            </a:r>
            <a:endParaRPr lang="en-US" sz="1300" dirty="0"/>
          </a:p>
        </p:txBody>
      </p:sp>
      <p:sp>
        <p:nvSpPr>
          <p:cNvPr id="23" name="Text 20"/>
          <p:cNvSpPr/>
          <p:nvPr/>
        </p:nvSpPr>
        <p:spPr>
          <a:xfrm>
            <a:off x="6793992" y="1481328"/>
            <a:ext cx="1746504"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fica para a versão completa</a:t>
            </a:r>
            <a:endParaRPr lang="en-US" sz="950" dirty="0"/>
          </a:p>
        </p:txBody>
      </p:sp>
      <p:sp>
        <p:nvSpPr>
          <p:cNvPr id="24" name="Shape 21"/>
          <p:cNvSpPr/>
          <p:nvPr/>
        </p:nvSpPr>
        <p:spPr>
          <a:xfrm>
            <a:off x="6684264" y="1755648"/>
            <a:ext cx="1965960" cy="2542032"/>
          </a:xfrm>
          <a:prstGeom prst="rect">
            <a:avLst/>
          </a:prstGeom>
          <a:solidFill>
            <a:srgbClr val="F4F6F8"/>
          </a:solidFill>
          <a:ln/>
        </p:spPr>
        <p:txBody>
          <a:bodyPr/>
          <a:lstStyle/>
          <a:p>
            <a:endParaRPr lang="pt-BR"/>
          </a:p>
        </p:txBody>
      </p:sp>
      <p:sp>
        <p:nvSpPr>
          <p:cNvPr id="25" name="Text 22"/>
          <p:cNvSpPr/>
          <p:nvPr/>
        </p:nvSpPr>
        <p:spPr>
          <a:xfrm>
            <a:off x="6739128" y="1847088"/>
            <a:ext cx="1837944" cy="2377440"/>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7A858F"/>
                </a:solidFill>
                <a:latin typeface="Calibri" pitchFamily="34" charset="0"/>
                <a:ea typeface="Calibri" pitchFamily="34" charset="-122"/>
                <a:cs typeface="Calibri" pitchFamily="34" charset="-120"/>
              </a:rPr>
              <a:t>Integração com balança, vagão e hardware</a:t>
            </a:r>
            <a:endParaRPr lang="en-US" sz="950" dirty="0"/>
          </a:p>
          <a:p>
            <a:pPr marL="127000" indent="-127000">
              <a:spcAft>
                <a:spcPts val="400"/>
              </a:spcAft>
              <a:buSzPct val="100000"/>
              <a:buChar char="•"/>
            </a:pPr>
            <a:r>
              <a:rPr lang="en-US" sz="950" dirty="0">
                <a:solidFill>
                  <a:srgbClr val="7A858F"/>
                </a:solidFill>
                <a:latin typeface="Calibri" pitchFamily="34" charset="0"/>
                <a:ea typeface="Calibri" pitchFamily="34" charset="-122"/>
                <a:cs typeface="Calibri" pitchFamily="34" charset="-120"/>
              </a:rPr>
              <a:t>Aplicativo nativo offline</a:t>
            </a:r>
            <a:endParaRPr lang="en-US" sz="950" dirty="0"/>
          </a:p>
          <a:p>
            <a:pPr marL="127000" indent="-127000">
              <a:spcAft>
                <a:spcPts val="400"/>
              </a:spcAft>
              <a:buSzPct val="100000"/>
              <a:buChar char="•"/>
            </a:pPr>
            <a:r>
              <a:rPr lang="en-US" sz="950" dirty="0">
                <a:solidFill>
                  <a:srgbClr val="7A858F"/>
                </a:solidFill>
                <a:latin typeface="Calibri" pitchFamily="34" charset="0"/>
                <a:ea typeface="Calibri" pitchFamily="34" charset="-122"/>
                <a:cs typeface="Calibri" pitchFamily="34" charset="-120"/>
              </a:rPr>
              <a:t>Fidelidade e sustentabilidade</a:t>
            </a:r>
            <a:endParaRPr lang="en-US" sz="950" dirty="0"/>
          </a:p>
          <a:p>
            <a:pPr marL="127000" indent="-127000">
              <a:spcAft>
                <a:spcPts val="400"/>
              </a:spcAft>
              <a:buSzPct val="100000"/>
              <a:buChar char="•"/>
            </a:pPr>
            <a:r>
              <a:rPr lang="en-US" sz="950" dirty="0">
                <a:solidFill>
                  <a:srgbClr val="7A858F"/>
                </a:solidFill>
                <a:latin typeface="Calibri" pitchFamily="34" charset="0"/>
                <a:ea typeface="Calibri" pitchFamily="34" charset="-122"/>
                <a:cs typeface="Calibri" pitchFamily="34" charset="-120"/>
              </a:rPr>
              <a:t>Recria, leite e outras espécies</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Plano de pesquisa: três frentes antes de construir</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Itens 2.1, 2.1.1 e 2.2 do cronograma, nas semanas 2 e 3.</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33</a:t>
            </a:r>
            <a:endParaRPr lang="en-US" sz="900" dirty="0"/>
          </a:p>
        </p:txBody>
      </p:sp>
      <p:sp>
        <p:nvSpPr>
          <p:cNvPr id="6" name="Shape 3"/>
          <p:cNvSpPr/>
          <p:nvPr/>
        </p:nvSpPr>
        <p:spPr>
          <a:xfrm>
            <a:off x="457200" y="1143000"/>
            <a:ext cx="2606040" cy="658368"/>
          </a:xfrm>
          <a:prstGeom prst="rect">
            <a:avLst/>
          </a:prstGeom>
          <a:solidFill>
            <a:srgbClr val="1B3A8C"/>
          </a:solidFill>
          <a:ln/>
        </p:spPr>
        <p:txBody>
          <a:bodyPr/>
          <a:lstStyle/>
          <a:p>
            <a:endParaRPr lang="pt-BR"/>
          </a:p>
        </p:txBody>
      </p:sp>
      <p:sp>
        <p:nvSpPr>
          <p:cNvPr id="7" name="Shape 4"/>
          <p:cNvSpPr/>
          <p:nvPr/>
        </p:nvSpPr>
        <p:spPr>
          <a:xfrm>
            <a:off x="566928" y="1243584"/>
            <a:ext cx="457200" cy="457200"/>
          </a:xfrm>
          <a:prstGeom prst="ellipse">
            <a:avLst/>
          </a:prstGeom>
          <a:solidFill>
            <a:srgbClr val="FFFFFF">
              <a:alpha val="20000"/>
            </a:srgbClr>
          </a:solidFill>
          <a:ln/>
        </p:spPr>
        <p:txBody>
          <a:bodyPr/>
          <a:lstStyle/>
          <a:p>
            <a:endParaRPr lang="pt-BR"/>
          </a:p>
        </p:txBody>
      </p:sp>
      <p:pic>
        <p:nvPicPr>
          <p:cNvPr id="8" name="Image 1" descr="preencoded.png"/>
          <p:cNvPicPr>
            <a:picLocks noChangeAspect="1"/>
          </p:cNvPicPr>
          <p:nvPr/>
        </p:nvPicPr>
        <p:blipFill>
          <a:blip r:embed="rId4"/>
          <a:stretch>
            <a:fillRect/>
          </a:stretch>
        </p:blipFill>
        <p:spPr>
          <a:xfrm>
            <a:off x="676656" y="1353312"/>
            <a:ext cx="237744" cy="237744"/>
          </a:xfrm>
          <a:prstGeom prst="rect">
            <a:avLst/>
          </a:prstGeom>
        </p:spPr>
      </p:pic>
      <p:sp>
        <p:nvSpPr>
          <p:cNvPr id="9" name="Text 5"/>
          <p:cNvSpPr/>
          <p:nvPr/>
        </p:nvSpPr>
        <p:spPr>
          <a:xfrm>
            <a:off x="1115568" y="1216152"/>
            <a:ext cx="1874520"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Aderência interna</a:t>
            </a:r>
            <a:endParaRPr lang="en-US" sz="1300" dirty="0"/>
          </a:p>
        </p:txBody>
      </p:sp>
      <p:sp>
        <p:nvSpPr>
          <p:cNvPr id="10" name="Text 6"/>
          <p:cNvSpPr/>
          <p:nvPr/>
        </p:nvSpPr>
        <p:spPr>
          <a:xfrm>
            <a:off x="1115568" y="1481328"/>
            <a:ext cx="1874520"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Entrevista com stakeholders</a:t>
            </a:r>
            <a:endParaRPr lang="en-US" sz="950" dirty="0"/>
          </a:p>
        </p:txBody>
      </p:sp>
      <p:sp>
        <p:nvSpPr>
          <p:cNvPr id="11" name="Shape 7"/>
          <p:cNvSpPr/>
          <p:nvPr/>
        </p:nvSpPr>
        <p:spPr>
          <a:xfrm>
            <a:off x="457200" y="1801368"/>
            <a:ext cx="2606040" cy="2542032"/>
          </a:xfrm>
          <a:prstGeom prst="rect">
            <a:avLst/>
          </a:prstGeom>
          <a:solidFill>
            <a:srgbClr val="F4F6F8"/>
          </a:solidFill>
          <a:ln/>
        </p:spPr>
        <p:txBody>
          <a:bodyPr/>
          <a:lstStyle/>
          <a:p>
            <a:endParaRPr lang="pt-BR"/>
          </a:p>
        </p:txBody>
      </p:sp>
      <p:sp>
        <p:nvSpPr>
          <p:cNvPr id="12" name="Text 8"/>
          <p:cNvSpPr/>
          <p:nvPr/>
        </p:nvSpPr>
        <p:spPr>
          <a:xfrm>
            <a:off x="585216" y="1874520"/>
            <a:ext cx="2350008" cy="182880"/>
          </a:xfrm>
          <a:prstGeom prst="rect">
            <a:avLst/>
          </a:prstGeom>
          <a:noFill/>
          <a:ln/>
        </p:spPr>
        <p:txBody>
          <a:bodyPr wrap="square" lIns="0" tIns="0" rIns="0" bIns="0" rtlCol="0" anchor="t"/>
          <a:lstStyle/>
          <a:p>
            <a:pPr marL="0" indent="0">
              <a:buNone/>
            </a:pPr>
            <a:r>
              <a:rPr lang="en-US" sz="800" b="1" kern="0" spc="100" dirty="0">
                <a:solidFill>
                  <a:srgbClr val="1B3A8C"/>
                </a:solidFill>
                <a:latin typeface="Calibri" pitchFamily="34" charset="0"/>
                <a:ea typeface="Calibri" pitchFamily="34" charset="-122"/>
                <a:cs typeface="Calibri" pitchFamily="34" charset="-120"/>
              </a:rPr>
              <a:t>OBJETIVO</a:t>
            </a:r>
            <a:endParaRPr lang="en-US" sz="800" dirty="0"/>
          </a:p>
        </p:txBody>
      </p:sp>
      <p:sp>
        <p:nvSpPr>
          <p:cNvPr id="13" name="Text 9"/>
          <p:cNvSpPr/>
          <p:nvPr/>
        </p:nvSpPr>
        <p:spPr>
          <a:xfrm>
            <a:off x="585216" y="2057400"/>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Medir entendimento e apoio entre quem pode acelerar ou travar o projeto na Trouw</a:t>
            </a:r>
            <a:endParaRPr lang="en-US" sz="950" dirty="0"/>
          </a:p>
        </p:txBody>
      </p:sp>
      <p:sp>
        <p:nvSpPr>
          <p:cNvPr id="14" name="Text 10"/>
          <p:cNvSpPr/>
          <p:nvPr/>
        </p:nvSpPr>
        <p:spPr>
          <a:xfrm>
            <a:off x="585216" y="2487168"/>
            <a:ext cx="2350008" cy="182880"/>
          </a:xfrm>
          <a:prstGeom prst="rect">
            <a:avLst/>
          </a:prstGeom>
          <a:noFill/>
          <a:ln/>
        </p:spPr>
        <p:txBody>
          <a:bodyPr wrap="square" lIns="0" tIns="0" rIns="0" bIns="0" rtlCol="0" anchor="t"/>
          <a:lstStyle/>
          <a:p>
            <a:pPr marL="0" indent="0">
              <a:buNone/>
            </a:pPr>
            <a:r>
              <a:rPr lang="en-US" sz="800" b="1" kern="0" spc="100" dirty="0">
                <a:solidFill>
                  <a:srgbClr val="1B3A8C"/>
                </a:solidFill>
                <a:latin typeface="Calibri" pitchFamily="34" charset="0"/>
                <a:ea typeface="Calibri" pitchFamily="34" charset="-122"/>
                <a:cs typeface="Calibri" pitchFamily="34" charset="-120"/>
              </a:rPr>
              <a:t>PÚBLICO</a:t>
            </a:r>
            <a:endParaRPr lang="en-US" sz="800" dirty="0"/>
          </a:p>
        </p:txBody>
      </p:sp>
      <p:sp>
        <p:nvSpPr>
          <p:cNvPr id="15" name="Text 11"/>
          <p:cNvSpPr/>
          <p:nvPr/>
        </p:nvSpPr>
        <p:spPr>
          <a:xfrm>
            <a:off x="585216" y="2670048"/>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Diretoria Beef, gerência comercial, técnicos, RTVs, TI e marketing</a:t>
            </a:r>
            <a:endParaRPr lang="en-US" sz="950" dirty="0"/>
          </a:p>
        </p:txBody>
      </p:sp>
      <p:sp>
        <p:nvSpPr>
          <p:cNvPr id="16" name="Text 12"/>
          <p:cNvSpPr/>
          <p:nvPr/>
        </p:nvSpPr>
        <p:spPr>
          <a:xfrm>
            <a:off x="585216" y="3099816"/>
            <a:ext cx="2350008" cy="182880"/>
          </a:xfrm>
          <a:prstGeom prst="rect">
            <a:avLst/>
          </a:prstGeom>
          <a:noFill/>
          <a:ln/>
        </p:spPr>
        <p:txBody>
          <a:bodyPr wrap="square" lIns="0" tIns="0" rIns="0" bIns="0" rtlCol="0" anchor="t"/>
          <a:lstStyle/>
          <a:p>
            <a:pPr marL="0" indent="0">
              <a:buNone/>
            </a:pPr>
            <a:r>
              <a:rPr lang="en-US" sz="800" b="1" kern="0" spc="100" dirty="0">
                <a:solidFill>
                  <a:srgbClr val="1B3A8C"/>
                </a:solidFill>
                <a:latin typeface="Calibri" pitchFamily="34" charset="0"/>
                <a:ea typeface="Calibri" pitchFamily="34" charset="-122"/>
                <a:cs typeface="Calibri" pitchFamily="34" charset="-120"/>
              </a:rPr>
              <a:t>MÉTODO</a:t>
            </a:r>
            <a:endParaRPr lang="en-US" sz="800" dirty="0"/>
          </a:p>
        </p:txBody>
      </p:sp>
      <p:sp>
        <p:nvSpPr>
          <p:cNvPr id="17" name="Text 13"/>
          <p:cNvSpPr/>
          <p:nvPr/>
        </p:nvSpPr>
        <p:spPr>
          <a:xfrm>
            <a:off x="585216" y="3282696"/>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Entrevista semiestruturada de 30 a 45 minutos</a:t>
            </a:r>
            <a:endParaRPr lang="en-US" sz="950" dirty="0"/>
          </a:p>
        </p:txBody>
      </p:sp>
      <p:sp>
        <p:nvSpPr>
          <p:cNvPr id="18" name="Text 14"/>
          <p:cNvSpPr/>
          <p:nvPr/>
        </p:nvSpPr>
        <p:spPr>
          <a:xfrm>
            <a:off x="585216" y="3712464"/>
            <a:ext cx="2350008" cy="182880"/>
          </a:xfrm>
          <a:prstGeom prst="rect">
            <a:avLst/>
          </a:prstGeom>
          <a:noFill/>
          <a:ln/>
        </p:spPr>
        <p:txBody>
          <a:bodyPr wrap="square" lIns="0" tIns="0" rIns="0" bIns="0" rtlCol="0" anchor="t"/>
          <a:lstStyle/>
          <a:p>
            <a:pPr marL="0" indent="0">
              <a:buNone/>
            </a:pPr>
            <a:r>
              <a:rPr lang="en-US" sz="800" b="1" kern="0" spc="100" dirty="0">
                <a:solidFill>
                  <a:srgbClr val="1B3A8C"/>
                </a:solidFill>
                <a:latin typeface="Calibri" pitchFamily="34" charset="0"/>
                <a:ea typeface="Calibri" pitchFamily="34" charset="-122"/>
                <a:cs typeface="Calibri" pitchFamily="34" charset="-120"/>
              </a:rPr>
              <a:t>SAÍDA</a:t>
            </a:r>
            <a:endParaRPr lang="en-US" sz="800" dirty="0"/>
          </a:p>
        </p:txBody>
      </p:sp>
      <p:sp>
        <p:nvSpPr>
          <p:cNvPr id="19" name="Text 15"/>
          <p:cNvSpPr/>
          <p:nvPr/>
        </p:nvSpPr>
        <p:spPr>
          <a:xfrm>
            <a:off x="585216" y="3895344"/>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Mapa de aderência e lista de objeções</a:t>
            </a:r>
            <a:endParaRPr lang="en-US" sz="950" dirty="0"/>
          </a:p>
        </p:txBody>
      </p:sp>
      <p:sp>
        <p:nvSpPr>
          <p:cNvPr id="20" name="Shape 16"/>
          <p:cNvSpPr/>
          <p:nvPr/>
        </p:nvSpPr>
        <p:spPr>
          <a:xfrm>
            <a:off x="3246120" y="1143000"/>
            <a:ext cx="2606040" cy="658368"/>
          </a:xfrm>
          <a:prstGeom prst="rect">
            <a:avLst/>
          </a:prstGeom>
          <a:solidFill>
            <a:srgbClr val="26668F"/>
          </a:solidFill>
          <a:ln/>
        </p:spPr>
        <p:txBody>
          <a:bodyPr/>
          <a:lstStyle/>
          <a:p>
            <a:endParaRPr lang="pt-BR"/>
          </a:p>
        </p:txBody>
      </p:sp>
      <p:sp>
        <p:nvSpPr>
          <p:cNvPr id="21" name="Shape 17"/>
          <p:cNvSpPr/>
          <p:nvPr/>
        </p:nvSpPr>
        <p:spPr>
          <a:xfrm>
            <a:off x="3355848" y="1243584"/>
            <a:ext cx="457200" cy="457200"/>
          </a:xfrm>
          <a:prstGeom prst="ellipse">
            <a:avLst/>
          </a:prstGeom>
          <a:solidFill>
            <a:srgbClr val="FFFFFF">
              <a:alpha val="20000"/>
            </a:srgbClr>
          </a:solidFill>
          <a:ln/>
        </p:spPr>
        <p:txBody>
          <a:bodyPr/>
          <a:lstStyle/>
          <a:p>
            <a:endParaRPr lang="pt-BR"/>
          </a:p>
        </p:txBody>
      </p:sp>
      <p:pic>
        <p:nvPicPr>
          <p:cNvPr id="22" name="Image 2" descr="preencoded.png"/>
          <p:cNvPicPr>
            <a:picLocks noChangeAspect="1"/>
          </p:cNvPicPr>
          <p:nvPr/>
        </p:nvPicPr>
        <p:blipFill>
          <a:blip r:embed="rId5"/>
          <a:stretch>
            <a:fillRect/>
          </a:stretch>
        </p:blipFill>
        <p:spPr>
          <a:xfrm>
            <a:off x="3465576" y="1353312"/>
            <a:ext cx="237744" cy="237744"/>
          </a:xfrm>
          <a:prstGeom prst="rect">
            <a:avLst/>
          </a:prstGeom>
        </p:spPr>
      </p:pic>
      <p:sp>
        <p:nvSpPr>
          <p:cNvPr id="23" name="Text 18"/>
          <p:cNvSpPr/>
          <p:nvPr/>
        </p:nvSpPr>
        <p:spPr>
          <a:xfrm>
            <a:off x="3904488" y="1216152"/>
            <a:ext cx="1874520"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Benchmark externo</a:t>
            </a:r>
            <a:endParaRPr lang="en-US" sz="1300" dirty="0"/>
          </a:p>
        </p:txBody>
      </p:sp>
      <p:sp>
        <p:nvSpPr>
          <p:cNvPr id="24" name="Text 19"/>
          <p:cNvSpPr/>
          <p:nvPr/>
        </p:nvSpPr>
        <p:spPr>
          <a:xfrm>
            <a:off x="3904488" y="1481328"/>
            <a:ext cx="1874520"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Sistemas concorrentes</a:t>
            </a:r>
            <a:endParaRPr lang="en-US" sz="950" dirty="0"/>
          </a:p>
        </p:txBody>
      </p:sp>
      <p:sp>
        <p:nvSpPr>
          <p:cNvPr id="25" name="Shape 20"/>
          <p:cNvSpPr/>
          <p:nvPr/>
        </p:nvSpPr>
        <p:spPr>
          <a:xfrm>
            <a:off x="3246120" y="1801368"/>
            <a:ext cx="2606040" cy="2542032"/>
          </a:xfrm>
          <a:prstGeom prst="rect">
            <a:avLst/>
          </a:prstGeom>
          <a:solidFill>
            <a:srgbClr val="F4F6F8"/>
          </a:solidFill>
          <a:ln/>
        </p:spPr>
        <p:txBody>
          <a:bodyPr/>
          <a:lstStyle/>
          <a:p>
            <a:endParaRPr lang="pt-BR"/>
          </a:p>
        </p:txBody>
      </p:sp>
      <p:sp>
        <p:nvSpPr>
          <p:cNvPr id="26" name="Text 21"/>
          <p:cNvSpPr/>
          <p:nvPr/>
        </p:nvSpPr>
        <p:spPr>
          <a:xfrm>
            <a:off x="3374136" y="1874520"/>
            <a:ext cx="2350008" cy="182880"/>
          </a:xfrm>
          <a:prstGeom prst="rect">
            <a:avLst/>
          </a:prstGeom>
          <a:noFill/>
          <a:ln/>
        </p:spPr>
        <p:txBody>
          <a:bodyPr wrap="square" lIns="0" tIns="0" rIns="0" bIns="0" rtlCol="0" anchor="t"/>
          <a:lstStyle/>
          <a:p>
            <a:pPr marL="0" indent="0">
              <a:buNone/>
            </a:pPr>
            <a:r>
              <a:rPr lang="en-US" sz="800" b="1" kern="0" spc="100" dirty="0">
                <a:solidFill>
                  <a:srgbClr val="26668F"/>
                </a:solidFill>
                <a:latin typeface="Calibri" pitchFamily="34" charset="0"/>
                <a:ea typeface="Calibri" pitchFamily="34" charset="-122"/>
                <a:cs typeface="Calibri" pitchFamily="34" charset="-120"/>
              </a:rPr>
              <a:t>OBJETIVO</a:t>
            </a:r>
            <a:endParaRPr lang="en-US" sz="800" dirty="0"/>
          </a:p>
        </p:txBody>
      </p:sp>
      <p:sp>
        <p:nvSpPr>
          <p:cNvPr id="27" name="Text 22"/>
          <p:cNvSpPr/>
          <p:nvPr/>
        </p:nvSpPr>
        <p:spPr>
          <a:xfrm>
            <a:off x="3374136" y="2057400"/>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Pontos fortes e fracos dos sistemas do mercado</a:t>
            </a:r>
            <a:endParaRPr lang="en-US" sz="950" dirty="0"/>
          </a:p>
        </p:txBody>
      </p:sp>
      <p:sp>
        <p:nvSpPr>
          <p:cNvPr id="28" name="Text 23"/>
          <p:cNvSpPr/>
          <p:nvPr/>
        </p:nvSpPr>
        <p:spPr>
          <a:xfrm>
            <a:off x="3374136" y="2487168"/>
            <a:ext cx="2350008" cy="182880"/>
          </a:xfrm>
          <a:prstGeom prst="rect">
            <a:avLst/>
          </a:prstGeom>
          <a:noFill/>
          <a:ln/>
        </p:spPr>
        <p:txBody>
          <a:bodyPr wrap="square" lIns="0" tIns="0" rIns="0" bIns="0" rtlCol="0" anchor="t"/>
          <a:lstStyle/>
          <a:p>
            <a:pPr marL="0" indent="0">
              <a:buNone/>
            </a:pPr>
            <a:r>
              <a:rPr lang="en-US" sz="800" b="1" kern="0" spc="100" dirty="0">
                <a:solidFill>
                  <a:srgbClr val="26668F"/>
                </a:solidFill>
                <a:latin typeface="Calibri" pitchFamily="34" charset="0"/>
                <a:ea typeface="Calibri" pitchFamily="34" charset="-122"/>
                <a:cs typeface="Calibri" pitchFamily="34" charset="-120"/>
              </a:rPr>
              <a:t>PÚBLICO</a:t>
            </a:r>
            <a:endParaRPr lang="en-US" sz="800" dirty="0"/>
          </a:p>
        </p:txBody>
      </p:sp>
      <p:sp>
        <p:nvSpPr>
          <p:cNvPr id="29" name="Text 24"/>
          <p:cNvSpPr/>
          <p:nvPr/>
        </p:nvSpPr>
        <p:spPr>
          <a:xfrm>
            <a:off x="3374136" y="2670048"/>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Auditorias que usam vários sistemas e consultores com sistema próprio</a:t>
            </a:r>
            <a:endParaRPr lang="en-US" sz="950" dirty="0"/>
          </a:p>
        </p:txBody>
      </p:sp>
      <p:sp>
        <p:nvSpPr>
          <p:cNvPr id="30" name="Text 25"/>
          <p:cNvSpPr/>
          <p:nvPr/>
        </p:nvSpPr>
        <p:spPr>
          <a:xfrm>
            <a:off x="3374136" y="3099816"/>
            <a:ext cx="2350008" cy="182880"/>
          </a:xfrm>
          <a:prstGeom prst="rect">
            <a:avLst/>
          </a:prstGeom>
          <a:noFill/>
          <a:ln/>
        </p:spPr>
        <p:txBody>
          <a:bodyPr wrap="square" lIns="0" tIns="0" rIns="0" bIns="0" rtlCol="0" anchor="t"/>
          <a:lstStyle/>
          <a:p>
            <a:pPr marL="0" indent="0">
              <a:buNone/>
            </a:pPr>
            <a:r>
              <a:rPr lang="en-US" sz="800" b="1" kern="0" spc="100" dirty="0">
                <a:solidFill>
                  <a:srgbClr val="26668F"/>
                </a:solidFill>
                <a:latin typeface="Calibri" pitchFamily="34" charset="0"/>
                <a:ea typeface="Calibri" pitchFamily="34" charset="-122"/>
                <a:cs typeface="Calibri" pitchFamily="34" charset="-120"/>
              </a:rPr>
              <a:t>MÉTODO</a:t>
            </a:r>
            <a:endParaRPr lang="en-US" sz="800" dirty="0"/>
          </a:p>
        </p:txBody>
      </p:sp>
      <p:sp>
        <p:nvSpPr>
          <p:cNvPr id="31" name="Text 26"/>
          <p:cNvSpPr/>
          <p:nvPr/>
        </p:nvSpPr>
        <p:spPr>
          <a:xfrm>
            <a:off x="3374136" y="3282696"/>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Entrevista com demonstração guiada</a:t>
            </a:r>
            <a:endParaRPr lang="en-US" sz="950" dirty="0"/>
          </a:p>
        </p:txBody>
      </p:sp>
      <p:sp>
        <p:nvSpPr>
          <p:cNvPr id="32" name="Text 27"/>
          <p:cNvSpPr/>
          <p:nvPr/>
        </p:nvSpPr>
        <p:spPr>
          <a:xfrm>
            <a:off x="3374136" y="3712464"/>
            <a:ext cx="2350008" cy="182880"/>
          </a:xfrm>
          <a:prstGeom prst="rect">
            <a:avLst/>
          </a:prstGeom>
          <a:noFill/>
          <a:ln/>
        </p:spPr>
        <p:txBody>
          <a:bodyPr wrap="square" lIns="0" tIns="0" rIns="0" bIns="0" rtlCol="0" anchor="t"/>
          <a:lstStyle/>
          <a:p>
            <a:pPr marL="0" indent="0">
              <a:buNone/>
            </a:pPr>
            <a:r>
              <a:rPr lang="en-US" sz="800" b="1" kern="0" spc="100" dirty="0">
                <a:solidFill>
                  <a:srgbClr val="26668F"/>
                </a:solidFill>
                <a:latin typeface="Calibri" pitchFamily="34" charset="0"/>
                <a:ea typeface="Calibri" pitchFamily="34" charset="-122"/>
                <a:cs typeface="Calibri" pitchFamily="34" charset="-120"/>
              </a:rPr>
              <a:t>SAÍDA</a:t>
            </a:r>
            <a:endParaRPr lang="en-US" sz="800" dirty="0"/>
          </a:p>
        </p:txBody>
      </p:sp>
      <p:sp>
        <p:nvSpPr>
          <p:cNvPr id="33" name="Text 28"/>
          <p:cNvSpPr/>
          <p:nvPr/>
        </p:nvSpPr>
        <p:spPr>
          <a:xfrm>
            <a:off x="3374136" y="3895344"/>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Matriz de funcionalidades, dores e soluções já testadas</a:t>
            </a:r>
            <a:endParaRPr lang="en-US" sz="950" dirty="0"/>
          </a:p>
        </p:txBody>
      </p:sp>
      <p:sp>
        <p:nvSpPr>
          <p:cNvPr id="34" name="Shape 29"/>
          <p:cNvSpPr/>
          <p:nvPr/>
        </p:nvSpPr>
        <p:spPr>
          <a:xfrm>
            <a:off x="6035040" y="1143000"/>
            <a:ext cx="2606040" cy="658368"/>
          </a:xfrm>
          <a:prstGeom prst="rect">
            <a:avLst/>
          </a:prstGeom>
          <a:solidFill>
            <a:srgbClr val="C8106E"/>
          </a:solidFill>
          <a:ln/>
        </p:spPr>
        <p:txBody>
          <a:bodyPr/>
          <a:lstStyle/>
          <a:p>
            <a:endParaRPr lang="pt-BR"/>
          </a:p>
        </p:txBody>
      </p:sp>
      <p:sp>
        <p:nvSpPr>
          <p:cNvPr id="35" name="Shape 30"/>
          <p:cNvSpPr/>
          <p:nvPr/>
        </p:nvSpPr>
        <p:spPr>
          <a:xfrm>
            <a:off x="6144768" y="1243584"/>
            <a:ext cx="457200" cy="457200"/>
          </a:xfrm>
          <a:prstGeom prst="ellipse">
            <a:avLst/>
          </a:prstGeom>
          <a:solidFill>
            <a:srgbClr val="FFFFFF">
              <a:alpha val="20000"/>
            </a:srgbClr>
          </a:solidFill>
          <a:ln/>
        </p:spPr>
        <p:txBody>
          <a:bodyPr/>
          <a:lstStyle/>
          <a:p>
            <a:endParaRPr lang="pt-BR"/>
          </a:p>
        </p:txBody>
      </p:sp>
      <p:pic>
        <p:nvPicPr>
          <p:cNvPr id="36" name="Image 3" descr="preencoded.png"/>
          <p:cNvPicPr>
            <a:picLocks noChangeAspect="1"/>
          </p:cNvPicPr>
          <p:nvPr/>
        </p:nvPicPr>
        <p:blipFill>
          <a:blip r:embed="rId6"/>
          <a:stretch>
            <a:fillRect/>
          </a:stretch>
        </p:blipFill>
        <p:spPr>
          <a:xfrm>
            <a:off x="6254496" y="1353312"/>
            <a:ext cx="237744" cy="237744"/>
          </a:xfrm>
          <a:prstGeom prst="rect">
            <a:avLst/>
          </a:prstGeom>
        </p:spPr>
      </p:pic>
      <p:sp>
        <p:nvSpPr>
          <p:cNvPr id="37" name="Text 31"/>
          <p:cNvSpPr/>
          <p:nvPr/>
        </p:nvSpPr>
        <p:spPr>
          <a:xfrm>
            <a:off x="6693408" y="1216152"/>
            <a:ext cx="1874520"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Discovery com clientes</a:t>
            </a:r>
            <a:endParaRPr lang="en-US" sz="1300" dirty="0"/>
          </a:p>
        </p:txBody>
      </p:sp>
      <p:sp>
        <p:nvSpPr>
          <p:cNvPr id="38" name="Text 32"/>
          <p:cNvSpPr/>
          <p:nvPr/>
        </p:nvSpPr>
        <p:spPr>
          <a:xfrm>
            <a:off x="6693408" y="1481328"/>
            <a:ext cx="1874520"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Incluindo detratores</a:t>
            </a:r>
            <a:endParaRPr lang="en-US" sz="950" dirty="0"/>
          </a:p>
        </p:txBody>
      </p:sp>
      <p:sp>
        <p:nvSpPr>
          <p:cNvPr id="39" name="Shape 33"/>
          <p:cNvSpPr/>
          <p:nvPr/>
        </p:nvSpPr>
        <p:spPr>
          <a:xfrm>
            <a:off x="6035040" y="1801368"/>
            <a:ext cx="2606040" cy="2542032"/>
          </a:xfrm>
          <a:prstGeom prst="rect">
            <a:avLst/>
          </a:prstGeom>
          <a:solidFill>
            <a:srgbClr val="F4F6F8"/>
          </a:solidFill>
          <a:ln/>
        </p:spPr>
        <p:txBody>
          <a:bodyPr/>
          <a:lstStyle/>
          <a:p>
            <a:endParaRPr lang="pt-BR"/>
          </a:p>
        </p:txBody>
      </p:sp>
      <p:sp>
        <p:nvSpPr>
          <p:cNvPr id="40" name="Text 34"/>
          <p:cNvSpPr/>
          <p:nvPr/>
        </p:nvSpPr>
        <p:spPr>
          <a:xfrm>
            <a:off x="6163056" y="1874520"/>
            <a:ext cx="2350008"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OBJETIVO</a:t>
            </a:r>
            <a:endParaRPr lang="en-US" sz="800" dirty="0"/>
          </a:p>
        </p:txBody>
      </p:sp>
      <p:sp>
        <p:nvSpPr>
          <p:cNvPr id="41" name="Text 35"/>
          <p:cNvSpPr/>
          <p:nvPr/>
        </p:nvSpPr>
        <p:spPr>
          <a:xfrm>
            <a:off x="6163056" y="2057400"/>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Percepção real de valor e dores antes de construir</a:t>
            </a:r>
            <a:endParaRPr lang="en-US" sz="950" dirty="0"/>
          </a:p>
        </p:txBody>
      </p:sp>
      <p:sp>
        <p:nvSpPr>
          <p:cNvPr id="42" name="Text 36"/>
          <p:cNvSpPr/>
          <p:nvPr/>
        </p:nvSpPr>
        <p:spPr>
          <a:xfrm>
            <a:off x="6163056" y="2487168"/>
            <a:ext cx="2350008"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PÚBLICO</a:t>
            </a:r>
            <a:endParaRPr lang="en-US" sz="800" dirty="0"/>
          </a:p>
        </p:txBody>
      </p:sp>
      <p:sp>
        <p:nvSpPr>
          <p:cNvPr id="43" name="Text 37"/>
          <p:cNvSpPr/>
          <p:nvPr/>
        </p:nvSpPr>
        <p:spPr>
          <a:xfrm>
            <a:off x="6163056" y="2670048"/>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Clientes, ex-clientes e não clientes</a:t>
            </a:r>
            <a:endParaRPr lang="en-US" sz="950" dirty="0"/>
          </a:p>
        </p:txBody>
      </p:sp>
      <p:sp>
        <p:nvSpPr>
          <p:cNvPr id="44" name="Text 38"/>
          <p:cNvSpPr/>
          <p:nvPr/>
        </p:nvSpPr>
        <p:spPr>
          <a:xfrm>
            <a:off x="6163056" y="3099816"/>
            <a:ext cx="2350008"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MÉTODO</a:t>
            </a:r>
            <a:endParaRPr lang="en-US" sz="800" dirty="0"/>
          </a:p>
        </p:txBody>
      </p:sp>
      <p:sp>
        <p:nvSpPr>
          <p:cNvPr id="45" name="Text 39"/>
          <p:cNvSpPr/>
          <p:nvPr/>
        </p:nvSpPr>
        <p:spPr>
          <a:xfrm>
            <a:off x="6163056" y="3282696"/>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Formulário estruturado e entrevista curta</a:t>
            </a:r>
            <a:endParaRPr lang="en-US" sz="950" dirty="0"/>
          </a:p>
        </p:txBody>
      </p:sp>
      <p:sp>
        <p:nvSpPr>
          <p:cNvPr id="46" name="Text 40"/>
          <p:cNvSpPr/>
          <p:nvPr/>
        </p:nvSpPr>
        <p:spPr>
          <a:xfrm>
            <a:off x="6163056" y="3712464"/>
            <a:ext cx="2350008"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SAÍDA</a:t>
            </a:r>
            <a:endParaRPr lang="en-US" sz="800" dirty="0"/>
          </a:p>
        </p:txBody>
      </p:sp>
      <p:sp>
        <p:nvSpPr>
          <p:cNvPr id="47" name="Text 41"/>
          <p:cNvSpPr/>
          <p:nvPr/>
        </p:nvSpPr>
        <p:spPr>
          <a:xfrm>
            <a:off x="6163056" y="3895344"/>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Perfil de cliente validado e ranking de dores</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Discovery: no mínimo 30 fazendas, com detratores na amostra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Composição proposta para evitar uma amostra feita só de clientes satisfeitos.</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34</a:t>
            </a:r>
            <a:endParaRPr lang="en-US" sz="900" dirty="0"/>
          </a:p>
        </p:txBody>
      </p:sp>
      <p:graphicFrame>
        <p:nvGraphicFramePr>
          <p:cNvPr id="6" name="Chart 0"/>
          <p:cNvGraphicFramePr/>
          <p:nvPr/>
        </p:nvGraphicFramePr>
        <p:xfrm>
          <a:off x="365760" y="1143000"/>
          <a:ext cx="310896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p:nvPr/>
        </p:nvSpPr>
        <p:spPr>
          <a:xfrm>
            <a:off x="1463040" y="2148840"/>
            <a:ext cx="914400" cy="457200"/>
          </a:xfrm>
          <a:prstGeom prst="rect">
            <a:avLst/>
          </a:prstGeom>
          <a:noFill/>
          <a:ln/>
        </p:spPr>
        <p:txBody>
          <a:bodyPr wrap="square" lIns="0" tIns="0" rIns="0" bIns="0" rtlCol="0" anchor="ctr"/>
          <a:lstStyle/>
          <a:p>
            <a:pPr marL="0" indent="0" algn="ctr">
              <a:buNone/>
            </a:pPr>
            <a:r>
              <a:rPr lang="en-US" sz="3000" b="1" dirty="0">
                <a:solidFill>
                  <a:srgbClr val="1B3A8C"/>
                </a:solidFill>
                <a:latin typeface="Calibri" pitchFamily="34" charset="0"/>
                <a:ea typeface="Calibri" pitchFamily="34" charset="-122"/>
                <a:cs typeface="Calibri" pitchFamily="34" charset="-120"/>
              </a:rPr>
              <a:t>30</a:t>
            </a:r>
            <a:endParaRPr lang="en-US" sz="3000" dirty="0"/>
          </a:p>
        </p:txBody>
      </p:sp>
      <p:sp>
        <p:nvSpPr>
          <p:cNvPr id="8" name="Text 4"/>
          <p:cNvSpPr/>
          <p:nvPr/>
        </p:nvSpPr>
        <p:spPr>
          <a:xfrm>
            <a:off x="1463040" y="2578608"/>
            <a:ext cx="914400" cy="228600"/>
          </a:xfrm>
          <a:prstGeom prst="rect">
            <a:avLst/>
          </a:prstGeom>
          <a:noFill/>
          <a:ln/>
        </p:spPr>
        <p:txBody>
          <a:bodyPr wrap="square" lIns="0" tIns="0" rIns="0" bIns="0" rtlCol="0" anchor="t"/>
          <a:lstStyle/>
          <a:p>
            <a:pPr marL="0" indent="0" algn="ctr">
              <a:buNone/>
            </a:pPr>
            <a:r>
              <a:rPr lang="en-US" sz="1000" dirty="0">
                <a:solidFill>
                  <a:srgbClr val="7A858F"/>
                </a:solidFill>
                <a:latin typeface="Calibri" pitchFamily="34" charset="0"/>
                <a:ea typeface="Calibri" pitchFamily="34" charset="-122"/>
                <a:cs typeface="Calibri" pitchFamily="34" charset="-120"/>
              </a:rPr>
              <a:t>fazendas</a:t>
            </a:r>
            <a:endParaRPr lang="en-US" sz="1000" dirty="0"/>
          </a:p>
        </p:txBody>
      </p:sp>
      <p:sp>
        <p:nvSpPr>
          <p:cNvPr id="9" name="Shape 5"/>
          <p:cNvSpPr/>
          <p:nvPr/>
        </p:nvSpPr>
        <p:spPr>
          <a:xfrm>
            <a:off x="411480" y="4041648"/>
            <a:ext cx="118872" cy="118872"/>
          </a:xfrm>
          <a:prstGeom prst="rect">
            <a:avLst/>
          </a:prstGeom>
          <a:solidFill>
            <a:srgbClr val="1B3A8C"/>
          </a:solidFill>
          <a:ln/>
        </p:spPr>
        <p:txBody>
          <a:bodyPr/>
          <a:lstStyle/>
          <a:p>
            <a:endParaRPr lang="pt-BR"/>
          </a:p>
        </p:txBody>
      </p:sp>
      <p:sp>
        <p:nvSpPr>
          <p:cNvPr id="10" name="Text 6"/>
          <p:cNvSpPr/>
          <p:nvPr/>
        </p:nvSpPr>
        <p:spPr>
          <a:xfrm>
            <a:off x="576072" y="3995928"/>
            <a:ext cx="914400" cy="228600"/>
          </a:xfrm>
          <a:prstGeom prst="rect">
            <a:avLst/>
          </a:prstGeom>
          <a:noFill/>
          <a:ln/>
        </p:spPr>
        <p:txBody>
          <a:bodyPr wrap="square" lIns="0" tIns="0" rIns="0" bIns="0" rtlCol="0" anchor="ctr"/>
          <a:lstStyle/>
          <a:p>
            <a:pPr marL="0" indent="0">
              <a:buNone/>
            </a:pPr>
            <a:r>
              <a:rPr lang="en-US" sz="850" dirty="0">
                <a:solidFill>
                  <a:srgbClr val="4A5560"/>
                </a:solidFill>
                <a:latin typeface="Calibri" pitchFamily="34" charset="0"/>
                <a:ea typeface="Calibri" pitchFamily="34" charset="-122"/>
                <a:cs typeface="Calibri" pitchFamily="34" charset="-120"/>
              </a:rPr>
              <a:t>Clientes ativos</a:t>
            </a:r>
            <a:endParaRPr lang="en-US" sz="850" dirty="0"/>
          </a:p>
        </p:txBody>
      </p:sp>
      <p:sp>
        <p:nvSpPr>
          <p:cNvPr id="11" name="Shape 7"/>
          <p:cNvSpPr/>
          <p:nvPr/>
        </p:nvSpPr>
        <p:spPr>
          <a:xfrm>
            <a:off x="1371600" y="4041648"/>
            <a:ext cx="118872" cy="118872"/>
          </a:xfrm>
          <a:prstGeom prst="rect">
            <a:avLst/>
          </a:prstGeom>
          <a:solidFill>
            <a:srgbClr val="0096B4"/>
          </a:solidFill>
          <a:ln/>
        </p:spPr>
        <p:txBody>
          <a:bodyPr/>
          <a:lstStyle/>
          <a:p>
            <a:endParaRPr lang="pt-BR"/>
          </a:p>
        </p:txBody>
      </p:sp>
      <p:sp>
        <p:nvSpPr>
          <p:cNvPr id="12" name="Text 8"/>
          <p:cNvSpPr/>
          <p:nvPr/>
        </p:nvSpPr>
        <p:spPr>
          <a:xfrm>
            <a:off x="1536192" y="3995928"/>
            <a:ext cx="777240" cy="228600"/>
          </a:xfrm>
          <a:prstGeom prst="rect">
            <a:avLst/>
          </a:prstGeom>
          <a:noFill/>
          <a:ln/>
        </p:spPr>
        <p:txBody>
          <a:bodyPr wrap="square" lIns="0" tIns="0" rIns="0" bIns="0" rtlCol="0" anchor="ctr"/>
          <a:lstStyle/>
          <a:p>
            <a:pPr marL="0" indent="0">
              <a:buNone/>
            </a:pPr>
            <a:r>
              <a:rPr lang="en-US" sz="850" dirty="0">
                <a:solidFill>
                  <a:srgbClr val="4A5560"/>
                </a:solidFill>
                <a:latin typeface="Calibri" pitchFamily="34" charset="0"/>
                <a:ea typeface="Calibri" pitchFamily="34" charset="-122"/>
                <a:cs typeface="Calibri" pitchFamily="34" charset="-120"/>
              </a:rPr>
              <a:t>Não clientes</a:t>
            </a:r>
            <a:endParaRPr lang="en-US" sz="850" dirty="0"/>
          </a:p>
        </p:txBody>
      </p:sp>
      <p:sp>
        <p:nvSpPr>
          <p:cNvPr id="13" name="Shape 9"/>
          <p:cNvSpPr/>
          <p:nvPr/>
        </p:nvSpPr>
        <p:spPr>
          <a:xfrm>
            <a:off x="2286000" y="4041648"/>
            <a:ext cx="118872" cy="118872"/>
          </a:xfrm>
          <a:prstGeom prst="rect">
            <a:avLst/>
          </a:prstGeom>
          <a:solidFill>
            <a:srgbClr val="C8106E"/>
          </a:solidFill>
          <a:ln/>
        </p:spPr>
        <p:txBody>
          <a:bodyPr/>
          <a:lstStyle/>
          <a:p>
            <a:endParaRPr lang="pt-BR"/>
          </a:p>
        </p:txBody>
      </p:sp>
      <p:sp>
        <p:nvSpPr>
          <p:cNvPr id="14" name="Text 10"/>
          <p:cNvSpPr/>
          <p:nvPr/>
        </p:nvSpPr>
        <p:spPr>
          <a:xfrm>
            <a:off x="2450592" y="3995928"/>
            <a:ext cx="1280160" cy="228600"/>
          </a:xfrm>
          <a:prstGeom prst="rect">
            <a:avLst/>
          </a:prstGeom>
          <a:noFill/>
          <a:ln/>
        </p:spPr>
        <p:txBody>
          <a:bodyPr wrap="square" lIns="0" tIns="0" rIns="0" bIns="0" rtlCol="0" anchor="ctr"/>
          <a:lstStyle/>
          <a:p>
            <a:pPr marL="0" indent="0">
              <a:buNone/>
            </a:pPr>
            <a:r>
              <a:rPr lang="en-US" sz="850" dirty="0">
                <a:solidFill>
                  <a:srgbClr val="4A5560"/>
                </a:solidFill>
                <a:latin typeface="Calibri" pitchFamily="34" charset="0"/>
                <a:ea typeface="Calibri" pitchFamily="34" charset="-122"/>
                <a:cs typeface="Calibri" pitchFamily="34" charset="-120"/>
              </a:rPr>
              <a:t>Ex-clientes e detratores</a:t>
            </a:r>
            <a:endParaRPr lang="en-US" sz="850" dirty="0"/>
          </a:p>
        </p:txBody>
      </p:sp>
      <p:sp>
        <p:nvSpPr>
          <p:cNvPr id="15" name="Text 11"/>
          <p:cNvSpPr/>
          <p:nvPr/>
        </p:nvSpPr>
        <p:spPr>
          <a:xfrm>
            <a:off x="3840480" y="1143000"/>
            <a:ext cx="4846320" cy="274320"/>
          </a:xfrm>
          <a:prstGeom prst="rect">
            <a:avLst/>
          </a:prstGeom>
          <a:noFill/>
          <a:ln/>
        </p:spPr>
        <p:txBody>
          <a:bodyPr wrap="square" lIns="0" tIns="0" rIns="0" bIns="0" rtlCol="0" anchor="t"/>
          <a:lstStyle/>
          <a:p>
            <a:pPr marL="0" indent="0">
              <a:buNone/>
            </a:pPr>
            <a:r>
              <a:rPr lang="en-US" sz="1300" b="1" dirty="0">
                <a:solidFill>
                  <a:srgbClr val="1B3A8C"/>
                </a:solidFill>
                <a:latin typeface="Calibri" pitchFamily="34" charset="0"/>
                <a:ea typeface="Calibri" pitchFamily="34" charset="-122"/>
                <a:cs typeface="Calibri" pitchFamily="34" charset="-120"/>
              </a:rPr>
              <a:t>Blocos do formulário</a:t>
            </a:r>
            <a:endParaRPr lang="en-US" sz="1300" dirty="0"/>
          </a:p>
        </p:txBody>
      </p:sp>
      <p:sp>
        <p:nvSpPr>
          <p:cNvPr id="16" name="Shape 12"/>
          <p:cNvSpPr/>
          <p:nvPr/>
        </p:nvSpPr>
        <p:spPr>
          <a:xfrm>
            <a:off x="3840480" y="1508760"/>
            <a:ext cx="2331720" cy="786384"/>
          </a:xfrm>
          <a:prstGeom prst="rect">
            <a:avLst/>
          </a:prstGeom>
          <a:solidFill>
            <a:srgbClr val="F4F6F8"/>
          </a:solidFill>
          <a:ln/>
        </p:spPr>
        <p:txBody>
          <a:bodyPr/>
          <a:lstStyle/>
          <a:p>
            <a:endParaRPr lang="pt-BR"/>
          </a:p>
        </p:txBody>
      </p:sp>
      <p:sp>
        <p:nvSpPr>
          <p:cNvPr id="17" name="Text 13"/>
          <p:cNvSpPr/>
          <p:nvPr/>
        </p:nvSpPr>
        <p:spPr>
          <a:xfrm>
            <a:off x="3931920" y="1600200"/>
            <a:ext cx="320040" cy="365760"/>
          </a:xfrm>
          <a:prstGeom prst="rect">
            <a:avLst/>
          </a:prstGeom>
          <a:noFill/>
          <a:ln/>
        </p:spPr>
        <p:txBody>
          <a:bodyPr wrap="square" lIns="0" tIns="0" rIns="0" bIns="0" rtlCol="0" anchor="t"/>
          <a:lstStyle/>
          <a:p>
            <a:pPr marL="0" indent="0">
              <a:buNone/>
            </a:pPr>
            <a:r>
              <a:rPr lang="en-US" sz="2000" b="1" dirty="0">
                <a:solidFill>
                  <a:srgbClr val="C8106E"/>
                </a:solidFill>
                <a:latin typeface="Calibri" pitchFamily="34" charset="0"/>
                <a:ea typeface="Calibri" pitchFamily="34" charset="-122"/>
                <a:cs typeface="Calibri" pitchFamily="34" charset="-120"/>
              </a:rPr>
              <a:t>1</a:t>
            </a:r>
            <a:endParaRPr lang="en-US" sz="2000" dirty="0"/>
          </a:p>
        </p:txBody>
      </p:sp>
      <p:sp>
        <p:nvSpPr>
          <p:cNvPr id="18" name="Text 14"/>
          <p:cNvSpPr/>
          <p:nvPr/>
        </p:nvSpPr>
        <p:spPr>
          <a:xfrm>
            <a:off x="4279392" y="1600200"/>
            <a:ext cx="1810512" cy="246888"/>
          </a:xfrm>
          <a:prstGeom prst="rect">
            <a:avLst/>
          </a:prstGeom>
          <a:noFill/>
          <a:ln/>
        </p:spPr>
        <p:txBody>
          <a:bodyPr wrap="square" lIns="0" tIns="0" rIns="0" bIns="0" rtlCol="0" anchor="t"/>
          <a:lstStyle/>
          <a:p>
            <a:pPr marL="0" indent="0">
              <a:buNone/>
            </a:pPr>
            <a:r>
              <a:rPr lang="en-US" sz="1050" b="1" dirty="0">
                <a:solidFill>
                  <a:srgbClr val="1B3A8C"/>
                </a:solidFill>
                <a:latin typeface="Calibri" pitchFamily="34" charset="0"/>
                <a:ea typeface="Calibri" pitchFamily="34" charset="-122"/>
                <a:cs typeface="Calibri" pitchFamily="34" charset="-120"/>
              </a:rPr>
              <a:t>Perfil da operação</a:t>
            </a:r>
            <a:endParaRPr lang="en-US" sz="1050" dirty="0"/>
          </a:p>
        </p:txBody>
      </p:sp>
      <p:sp>
        <p:nvSpPr>
          <p:cNvPr id="19" name="Text 15"/>
          <p:cNvSpPr/>
          <p:nvPr/>
        </p:nvSpPr>
        <p:spPr>
          <a:xfrm>
            <a:off x="4279392" y="1856232"/>
            <a:ext cx="1810512" cy="411480"/>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Porte, ciclo, equipe e quem lança os dados</a:t>
            </a:r>
            <a:endParaRPr lang="en-US" sz="900" dirty="0"/>
          </a:p>
        </p:txBody>
      </p:sp>
      <p:sp>
        <p:nvSpPr>
          <p:cNvPr id="20" name="Shape 16"/>
          <p:cNvSpPr/>
          <p:nvPr/>
        </p:nvSpPr>
        <p:spPr>
          <a:xfrm>
            <a:off x="6291072" y="1508760"/>
            <a:ext cx="2331720" cy="786384"/>
          </a:xfrm>
          <a:prstGeom prst="rect">
            <a:avLst/>
          </a:prstGeom>
          <a:solidFill>
            <a:srgbClr val="F4F6F8"/>
          </a:solidFill>
          <a:ln/>
        </p:spPr>
        <p:txBody>
          <a:bodyPr/>
          <a:lstStyle/>
          <a:p>
            <a:endParaRPr lang="pt-BR"/>
          </a:p>
        </p:txBody>
      </p:sp>
      <p:sp>
        <p:nvSpPr>
          <p:cNvPr id="21" name="Text 17"/>
          <p:cNvSpPr/>
          <p:nvPr/>
        </p:nvSpPr>
        <p:spPr>
          <a:xfrm>
            <a:off x="6382512" y="1600200"/>
            <a:ext cx="320040" cy="365760"/>
          </a:xfrm>
          <a:prstGeom prst="rect">
            <a:avLst/>
          </a:prstGeom>
          <a:noFill/>
          <a:ln/>
        </p:spPr>
        <p:txBody>
          <a:bodyPr wrap="square" lIns="0" tIns="0" rIns="0" bIns="0" rtlCol="0" anchor="t"/>
          <a:lstStyle/>
          <a:p>
            <a:pPr marL="0" indent="0">
              <a:buNone/>
            </a:pPr>
            <a:r>
              <a:rPr lang="en-US" sz="2000" b="1" dirty="0">
                <a:solidFill>
                  <a:srgbClr val="C8106E"/>
                </a:solidFill>
                <a:latin typeface="Calibri" pitchFamily="34" charset="0"/>
                <a:ea typeface="Calibri" pitchFamily="34" charset="-122"/>
                <a:cs typeface="Calibri" pitchFamily="34" charset="-120"/>
              </a:rPr>
              <a:t>2</a:t>
            </a:r>
            <a:endParaRPr lang="en-US" sz="2000" dirty="0"/>
          </a:p>
        </p:txBody>
      </p:sp>
      <p:sp>
        <p:nvSpPr>
          <p:cNvPr id="22" name="Text 18"/>
          <p:cNvSpPr/>
          <p:nvPr/>
        </p:nvSpPr>
        <p:spPr>
          <a:xfrm>
            <a:off x="6729984" y="1600200"/>
            <a:ext cx="1810512" cy="246888"/>
          </a:xfrm>
          <a:prstGeom prst="rect">
            <a:avLst/>
          </a:prstGeom>
          <a:noFill/>
          <a:ln/>
        </p:spPr>
        <p:txBody>
          <a:bodyPr wrap="square" lIns="0" tIns="0" rIns="0" bIns="0" rtlCol="0" anchor="t"/>
          <a:lstStyle/>
          <a:p>
            <a:pPr marL="0" indent="0">
              <a:buNone/>
            </a:pPr>
            <a:r>
              <a:rPr lang="en-US" sz="1050" b="1" dirty="0">
                <a:solidFill>
                  <a:srgbClr val="1B3A8C"/>
                </a:solidFill>
                <a:latin typeface="Calibri" pitchFamily="34" charset="0"/>
                <a:ea typeface="Calibri" pitchFamily="34" charset="-122"/>
                <a:cs typeface="Calibri" pitchFamily="34" charset="-120"/>
              </a:rPr>
              <a:t>Como registra hoje</a:t>
            </a:r>
            <a:endParaRPr lang="en-US" sz="1050" dirty="0"/>
          </a:p>
        </p:txBody>
      </p:sp>
      <p:sp>
        <p:nvSpPr>
          <p:cNvPr id="23" name="Text 19"/>
          <p:cNvSpPr/>
          <p:nvPr/>
        </p:nvSpPr>
        <p:spPr>
          <a:xfrm>
            <a:off x="6729984" y="1856232"/>
            <a:ext cx="1810512" cy="411480"/>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Papel, planilha ou software, e quanto tempo gasta</a:t>
            </a:r>
            <a:endParaRPr lang="en-US" sz="900" dirty="0"/>
          </a:p>
        </p:txBody>
      </p:sp>
      <p:sp>
        <p:nvSpPr>
          <p:cNvPr id="24" name="Shape 20"/>
          <p:cNvSpPr/>
          <p:nvPr/>
        </p:nvSpPr>
        <p:spPr>
          <a:xfrm>
            <a:off x="3840480" y="2404872"/>
            <a:ext cx="2331720" cy="786384"/>
          </a:xfrm>
          <a:prstGeom prst="rect">
            <a:avLst/>
          </a:prstGeom>
          <a:solidFill>
            <a:srgbClr val="F4F6F8"/>
          </a:solidFill>
          <a:ln/>
        </p:spPr>
        <p:txBody>
          <a:bodyPr/>
          <a:lstStyle/>
          <a:p>
            <a:endParaRPr lang="pt-BR"/>
          </a:p>
        </p:txBody>
      </p:sp>
      <p:sp>
        <p:nvSpPr>
          <p:cNvPr id="25" name="Text 21"/>
          <p:cNvSpPr/>
          <p:nvPr/>
        </p:nvSpPr>
        <p:spPr>
          <a:xfrm>
            <a:off x="3931920" y="2496312"/>
            <a:ext cx="320040" cy="365760"/>
          </a:xfrm>
          <a:prstGeom prst="rect">
            <a:avLst/>
          </a:prstGeom>
          <a:noFill/>
          <a:ln/>
        </p:spPr>
        <p:txBody>
          <a:bodyPr wrap="square" lIns="0" tIns="0" rIns="0" bIns="0" rtlCol="0" anchor="t"/>
          <a:lstStyle/>
          <a:p>
            <a:pPr marL="0" indent="0">
              <a:buNone/>
            </a:pPr>
            <a:r>
              <a:rPr lang="en-US" sz="2000" b="1" dirty="0">
                <a:solidFill>
                  <a:srgbClr val="C8106E"/>
                </a:solidFill>
                <a:latin typeface="Calibri" pitchFamily="34" charset="0"/>
                <a:ea typeface="Calibri" pitchFamily="34" charset="-122"/>
                <a:cs typeface="Calibri" pitchFamily="34" charset="-120"/>
              </a:rPr>
              <a:t>3</a:t>
            </a:r>
            <a:endParaRPr lang="en-US" sz="2000" dirty="0"/>
          </a:p>
        </p:txBody>
      </p:sp>
      <p:sp>
        <p:nvSpPr>
          <p:cNvPr id="26" name="Text 22"/>
          <p:cNvSpPr/>
          <p:nvPr/>
        </p:nvSpPr>
        <p:spPr>
          <a:xfrm>
            <a:off x="4279392" y="2496312"/>
            <a:ext cx="1810512" cy="246888"/>
          </a:xfrm>
          <a:prstGeom prst="rect">
            <a:avLst/>
          </a:prstGeom>
          <a:noFill/>
          <a:ln/>
        </p:spPr>
        <p:txBody>
          <a:bodyPr wrap="square" lIns="0" tIns="0" rIns="0" bIns="0" rtlCol="0" anchor="t"/>
          <a:lstStyle/>
          <a:p>
            <a:pPr marL="0" indent="0">
              <a:buNone/>
            </a:pPr>
            <a:r>
              <a:rPr lang="en-US" sz="1050" b="1" dirty="0">
                <a:solidFill>
                  <a:srgbClr val="1B3A8C"/>
                </a:solidFill>
                <a:latin typeface="Calibri" pitchFamily="34" charset="0"/>
                <a:ea typeface="Calibri" pitchFamily="34" charset="-122"/>
                <a:cs typeface="Calibri" pitchFamily="34" charset="-120"/>
              </a:rPr>
              <a:t>Dores na rotina de dados</a:t>
            </a:r>
            <a:endParaRPr lang="en-US" sz="1050" dirty="0"/>
          </a:p>
        </p:txBody>
      </p:sp>
      <p:sp>
        <p:nvSpPr>
          <p:cNvPr id="27" name="Text 23"/>
          <p:cNvSpPr/>
          <p:nvPr/>
        </p:nvSpPr>
        <p:spPr>
          <a:xfrm>
            <a:off x="4279392" y="2752344"/>
            <a:ext cx="1810512" cy="411480"/>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Ranking das cinco maiores dificuldades</a:t>
            </a:r>
            <a:endParaRPr lang="en-US" sz="900" dirty="0"/>
          </a:p>
        </p:txBody>
      </p:sp>
      <p:sp>
        <p:nvSpPr>
          <p:cNvPr id="28" name="Shape 24"/>
          <p:cNvSpPr/>
          <p:nvPr/>
        </p:nvSpPr>
        <p:spPr>
          <a:xfrm>
            <a:off x="6291072" y="2404872"/>
            <a:ext cx="2331720" cy="786384"/>
          </a:xfrm>
          <a:prstGeom prst="rect">
            <a:avLst/>
          </a:prstGeom>
          <a:solidFill>
            <a:srgbClr val="F4F6F8"/>
          </a:solidFill>
          <a:ln/>
        </p:spPr>
        <p:txBody>
          <a:bodyPr/>
          <a:lstStyle/>
          <a:p>
            <a:endParaRPr lang="pt-BR"/>
          </a:p>
        </p:txBody>
      </p:sp>
      <p:sp>
        <p:nvSpPr>
          <p:cNvPr id="29" name="Text 25"/>
          <p:cNvSpPr/>
          <p:nvPr/>
        </p:nvSpPr>
        <p:spPr>
          <a:xfrm>
            <a:off x="6382512" y="2496312"/>
            <a:ext cx="320040" cy="365760"/>
          </a:xfrm>
          <a:prstGeom prst="rect">
            <a:avLst/>
          </a:prstGeom>
          <a:noFill/>
          <a:ln/>
        </p:spPr>
        <p:txBody>
          <a:bodyPr wrap="square" lIns="0" tIns="0" rIns="0" bIns="0" rtlCol="0" anchor="t"/>
          <a:lstStyle/>
          <a:p>
            <a:pPr marL="0" indent="0">
              <a:buNone/>
            </a:pPr>
            <a:r>
              <a:rPr lang="en-US" sz="2000" b="1" dirty="0">
                <a:solidFill>
                  <a:srgbClr val="C8106E"/>
                </a:solidFill>
                <a:latin typeface="Calibri" pitchFamily="34" charset="0"/>
                <a:ea typeface="Calibri" pitchFamily="34" charset="-122"/>
                <a:cs typeface="Calibri" pitchFamily="34" charset="-120"/>
              </a:rPr>
              <a:t>4</a:t>
            </a:r>
            <a:endParaRPr lang="en-US" sz="2000" dirty="0"/>
          </a:p>
        </p:txBody>
      </p:sp>
      <p:sp>
        <p:nvSpPr>
          <p:cNvPr id="30" name="Text 26"/>
          <p:cNvSpPr/>
          <p:nvPr/>
        </p:nvSpPr>
        <p:spPr>
          <a:xfrm>
            <a:off x="6729984" y="2496312"/>
            <a:ext cx="1810512" cy="246888"/>
          </a:xfrm>
          <a:prstGeom prst="rect">
            <a:avLst/>
          </a:prstGeom>
          <a:noFill/>
          <a:ln/>
        </p:spPr>
        <p:txBody>
          <a:bodyPr wrap="square" lIns="0" tIns="0" rIns="0" bIns="0" rtlCol="0" anchor="t"/>
          <a:lstStyle/>
          <a:p>
            <a:pPr marL="0" indent="0">
              <a:buNone/>
            </a:pPr>
            <a:r>
              <a:rPr lang="en-US" sz="1050" b="1" dirty="0">
                <a:solidFill>
                  <a:srgbClr val="1B3A8C"/>
                </a:solidFill>
                <a:latin typeface="Calibri" pitchFamily="34" charset="0"/>
                <a:ea typeface="Calibri" pitchFamily="34" charset="-122"/>
                <a:cs typeface="Calibri" pitchFamily="34" charset="-120"/>
              </a:rPr>
              <a:t>Sistemas já usados</a:t>
            </a:r>
            <a:endParaRPr lang="en-US" sz="1050" dirty="0"/>
          </a:p>
        </p:txBody>
      </p:sp>
      <p:sp>
        <p:nvSpPr>
          <p:cNvPr id="31" name="Text 27"/>
          <p:cNvSpPr/>
          <p:nvPr/>
        </p:nvSpPr>
        <p:spPr>
          <a:xfrm>
            <a:off x="6729984" y="2752344"/>
            <a:ext cx="1810512" cy="411480"/>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O que funcionou e por que parou de usar</a:t>
            </a:r>
            <a:endParaRPr lang="en-US" sz="900" dirty="0"/>
          </a:p>
        </p:txBody>
      </p:sp>
      <p:sp>
        <p:nvSpPr>
          <p:cNvPr id="32" name="Shape 28"/>
          <p:cNvSpPr/>
          <p:nvPr/>
        </p:nvSpPr>
        <p:spPr>
          <a:xfrm>
            <a:off x="3840480" y="3300984"/>
            <a:ext cx="2331720" cy="786384"/>
          </a:xfrm>
          <a:prstGeom prst="rect">
            <a:avLst/>
          </a:prstGeom>
          <a:solidFill>
            <a:srgbClr val="F4F6F8"/>
          </a:solidFill>
          <a:ln/>
        </p:spPr>
        <p:txBody>
          <a:bodyPr/>
          <a:lstStyle/>
          <a:p>
            <a:endParaRPr lang="pt-BR"/>
          </a:p>
        </p:txBody>
      </p:sp>
      <p:sp>
        <p:nvSpPr>
          <p:cNvPr id="33" name="Text 29"/>
          <p:cNvSpPr/>
          <p:nvPr/>
        </p:nvSpPr>
        <p:spPr>
          <a:xfrm>
            <a:off x="3931920" y="3392424"/>
            <a:ext cx="320040" cy="365760"/>
          </a:xfrm>
          <a:prstGeom prst="rect">
            <a:avLst/>
          </a:prstGeom>
          <a:noFill/>
          <a:ln/>
        </p:spPr>
        <p:txBody>
          <a:bodyPr wrap="square" lIns="0" tIns="0" rIns="0" bIns="0" rtlCol="0" anchor="t"/>
          <a:lstStyle/>
          <a:p>
            <a:pPr marL="0" indent="0">
              <a:buNone/>
            </a:pPr>
            <a:r>
              <a:rPr lang="en-US" sz="2000" b="1" dirty="0">
                <a:solidFill>
                  <a:srgbClr val="C8106E"/>
                </a:solidFill>
                <a:latin typeface="Calibri" pitchFamily="34" charset="0"/>
                <a:ea typeface="Calibri" pitchFamily="34" charset="-122"/>
                <a:cs typeface="Calibri" pitchFamily="34" charset="-120"/>
              </a:rPr>
              <a:t>5</a:t>
            </a:r>
            <a:endParaRPr lang="en-US" sz="2000" dirty="0"/>
          </a:p>
        </p:txBody>
      </p:sp>
      <p:sp>
        <p:nvSpPr>
          <p:cNvPr id="34" name="Text 30"/>
          <p:cNvSpPr/>
          <p:nvPr/>
        </p:nvSpPr>
        <p:spPr>
          <a:xfrm>
            <a:off x="4279392" y="3392424"/>
            <a:ext cx="1810512" cy="246888"/>
          </a:xfrm>
          <a:prstGeom prst="rect">
            <a:avLst/>
          </a:prstGeom>
          <a:noFill/>
          <a:ln/>
        </p:spPr>
        <p:txBody>
          <a:bodyPr wrap="square" lIns="0" tIns="0" rIns="0" bIns="0" rtlCol="0" anchor="t"/>
          <a:lstStyle/>
          <a:p>
            <a:pPr marL="0" indent="0">
              <a:buNone/>
            </a:pPr>
            <a:r>
              <a:rPr lang="en-US" sz="1050" b="1" dirty="0">
                <a:solidFill>
                  <a:srgbClr val="1B3A8C"/>
                </a:solidFill>
                <a:latin typeface="Calibri" pitchFamily="34" charset="0"/>
                <a:ea typeface="Calibri" pitchFamily="34" charset="-122"/>
                <a:cs typeface="Calibri" pitchFamily="34" charset="-120"/>
              </a:rPr>
              <a:t>Valor percebido</a:t>
            </a:r>
            <a:endParaRPr lang="en-US" sz="1050" dirty="0"/>
          </a:p>
        </p:txBody>
      </p:sp>
      <p:sp>
        <p:nvSpPr>
          <p:cNvPr id="35" name="Text 31"/>
          <p:cNvSpPr/>
          <p:nvPr/>
        </p:nvSpPr>
        <p:spPr>
          <a:xfrm>
            <a:off x="4279392" y="3648456"/>
            <a:ext cx="1810512" cy="411480"/>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Disposição a usar e a recomendar, de 0 a 10</a:t>
            </a:r>
            <a:endParaRPr lang="en-US" sz="900" dirty="0"/>
          </a:p>
        </p:txBody>
      </p:sp>
      <p:sp>
        <p:nvSpPr>
          <p:cNvPr id="36" name="Shape 32"/>
          <p:cNvSpPr/>
          <p:nvPr/>
        </p:nvSpPr>
        <p:spPr>
          <a:xfrm>
            <a:off x="6291072" y="3300984"/>
            <a:ext cx="2331720" cy="786384"/>
          </a:xfrm>
          <a:prstGeom prst="rect">
            <a:avLst/>
          </a:prstGeom>
          <a:solidFill>
            <a:srgbClr val="F4F6F8"/>
          </a:solidFill>
          <a:ln/>
        </p:spPr>
        <p:txBody>
          <a:bodyPr/>
          <a:lstStyle/>
          <a:p>
            <a:endParaRPr lang="pt-BR"/>
          </a:p>
        </p:txBody>
      </p:sp>
      <p:sp>
        <p:nvSpPr>
          <p:cNvPr id="37" name="Text 33"/>
          <p:cNvSpPr/>
          <p:nvPr/>
        </p:nvSpPr>
        <p:spPr>
          <a:xfrm>
            <a:off x="6382512" y="3392424"/>
            <a:ext cx="320040" cy="365760"/>
          </a:xfrm>
          <a:prstGeom prst="rect">
            <a:avLst/>
          </a:prstGeom>
          <a:noFill/>
          <a:ln/>
        </p:spPr>
        <p:txBody>
          <a:bodyPr wrap="square" lIns="0" tIns="0" rIns="0" bIns="0" rtlCol="0" anchor="t"/>
          <a:lstStyle/>
          <a:p>
            <a:pPr marL="0" indent="0">
              <a:buNone/>
            </a:pPr>
            <a:r>
              <a:rPr lang="en-US" sz="2000" b="1" dirty="0">
                <a:solidFill>
                  <a:srgbClr val="C8106E"/>
                </a:solidFill>
                <a:latin typeface="Calibri" pitchFamily="34" charset="0"/>
                <a:ea typeface="Calibri" pitchFamily="34" charset="-122"/>
                <a:cs typeface="Calibri" pitchFamily="34" charset="-120"/>
              </a:rPr>
              <a:t>6</a:t>
            </a:r>
            <a:endParaRPr lang="en-US" sz="2000" dirty="0"/>
          </a:p>
        </p:txBody>
      </p:sp>
      <p:sp>
        <p:nvSpPr>
          <p:cNvPr id="38" name="Text 34"/>
          <p:cNvSpPr/>
          <p:nvPr/>
        </p:nvSpPr>
        <p:spPr>
          <a:xfrm>
            <a:off x="6729984" y="3392424"/>
            <a:ext cx="1810512" cy="246888"/>
          </a:xfrm>
          <a:prstGeom prst="rect">
            <a:avLst/>
          </a:prstGeom>
          <a:noFill/>
          <a:ln/>
        </p:spPr>
        <p:txBody>
          <a:bodyPr wrap="square" lIns="0" tIns="0" rIns="0" bIns="0" rtlCol="0" anchor="t"/>
          <a:lstStyle/>
          <a:p>
            <a:pPr marL="0" indent="0">
              <a:buNone/>
            </a:pPr>
            <a:r>
              <a:rPr lang="en-US" sz="1050" b="1" dirty="0">
                <a:solidFill>
                  <a:srgbClr val="1B3A8C"/>
                </a:solidFill>
                <a:latin typeface="Calibri" pitchFamily="34" charset="0"/>
                <a:ea typeface="Calibri" pitchFamily="34" charset="-122"/>
                <a:cs typeface="Calibri" pitchFamily="34" charset="-120"/>
              </a:rPr>
              <a:t>Relação com fornecedores</a:t>
            </a:r>
            <a:endParaRPr lang="en-US" sz="1050" dirty="0"/>
          </a:p>
        </p:txBody>
      </p:sp>
      <p:sp>
        <p:nvSpPr>
          <p:cNvPr id="39" name="Text 35"/>
          <p:cNvSpPr/>
          <p:nvPr/>
        </p:nvSpPr>
        <p:spPr>
          <a:xfrm>
            <a:off x="6729984" y="3648456"/>
            <a:ext cx="1810512" cy="411480"/>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Peso do suporte digital na escolha da nutrição</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Critérios de avanço entre fases</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Metas propostas para discussão. Nenhuma fase avança só pelo calendário.</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35</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889504"/>
        </p:xfrm>
        <a:graphic>
          <a:graphicData uri="http://schemas.openxmlformats.org/drawingml/2006/table">
            <a:tbl>
              <a:tblPr/>
              <a:tblGrid>
                <a:gridCol w="21945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4800600">
                  <a:extLst>
                    <a:ext uri="{9D8B030D-6E8A-4147-A177-3AD203B41FA5}">
                      <a16:colId xmlns:a16="http://schemas.microsoft.com/office/drawing/2014/main" val="20002"/>
                    </a:ext>
                  </a:extLst>
                </a:gridCol>
              </a:tblGrid>
              <a:tr h="32918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Decisão</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3A8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Quando</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3A8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Critério para avançar (proposta)</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3A8C"/>
                    </a:solidFill>
                  </a:tcPr>
                </a:tc>
                <a:extLst>
                  <a:ext uri="{0D108BD9-81ED-4DB2-BD59-A6C34878D82A}">
                    <a16:rowId xmlns:a16="http://schemas.microsoft.com/office/drawing/2014/main" val="10000"/>
                  </a:ext>
                </a:extLst>
              </a:tr>
              <a:tr h="640080">
                <a:tc>
                  <a:txBody>
                    <a:bodyPr/>
                    <a:lstStyle/>
                    <a:p>
                      <a:pPr marL="0" indent="0">
                        <a:buNone/>
                      </a:pPr>
                      <a:r>
                        <a:rPr lang="en-US" sz="1100" b="1" dirty="0">
                          <a:solidFill>
                            <a:srgbClr val="1B3A8C"/>
                          </a:solidFill>
                          <a:latin typeface="Calibri" pitchFamily="34" charset="0"/>
                          <a:ea typeface="Calibri" pitchFamily="34" charset="-122"/>
                          <a:cs typeface="Calibri" pitchFamily="34" charset="-120"/>
                        </a:rPr>
                        <a:t>G0  Escopo do produto mínimo</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Fim da fase 0</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30 ou mais fazendas respondidas; perfil de cliente e cinco dores principais confirmados; patrocinador interno definido</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marL="0" indent="0">
                        <a:buNone/>
                      </a:pPr>
                      <a:r>
                        <a:rPr lang="en-US" sz="1100" b="1" dirty="0">
                          <a:solidFill>
                            <a:srgbClr val="C8106E"/>
                          </a:solidFill>
                          <a:latin typeface="Calibri" pitchFamily="34" charset="0"/>
                          <a:ea typeface="Calibri" pitchFamily="34" charset="-122"/>
                          <a:cs typeface="Calibri" pitchFamily="34" charset="-120"/>
                        </a:rPr>
                        <a:t>G1  Piloto validado</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Fim da fase 1</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Lançamento em pelo menos 70% dos dias, por 8 semanas; até 10 minutos por dia; gestor usa o relatório semanal</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2"/>
                  </a:ext>
                </a:extLst>
              </a:tr>
              <a:tr h="640080">
                <a:tc>
                  <a:txBody>
                    <a:bodyPr/>
                    <a:lstStyle/>
                    <a:p>
                      <a:pPr marL="0" indent="0">
                        <a:buNone/>
                      </a:pPr>
                      <a:r>
                        <a:rPr lang="en-US" sz="1100" b="1" dirty="0">
                          <a:solidFill>
                            <a:srgbClr val="26668F"/>
                          </a:solidFill>
                          <a:latin typeface="Calibri" pitchFamily="34" charset="0"/>
                          <a:ea typeface="Calibri" pitchFamily="34" charset="-122"/>
                          <a:cs typeface="Calibri" pitchFamily="34" charset="-120"/>
                        </a:rPr>
                        <a:t>G2  Escala aprovada</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Fim da fase 2</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80% das fazendas ativas após 90 dias; nota de recomendação média de 8 ou mais; 20 fazendas atendidas pelo Rodrigo com auditoria mensal. Gatilho para contratar analistas (1 para cada 20 fazendas)</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3"/>
                  </a:ext>
                </a:extLst>
              </a:tr>
              <a:tr h="640080">
                <a:tc>
                  <a:txBody>
                    <a:bodyPr/>
                    <a:lstStyle/>
                    <a:p>
                      <a:pPr marL="0" indent="0">
                        <a:buNone/>
                      </a:pPr>
                      <a:r>
                        <a:rPr lang="en-US" sz="1100" b="1" dirty="0">
                          <a:solidFill>
                            <a:srgbClr val="0096B4"/>
                          </a:solidFill>
                          <a:latin typeface="Calibri" pitchFamily="34" charset="0"/>
                          <a:ea typeface="Calibri" pitchFamily="34" charset="-122"/>
                          <a:cs typeface="Calibri" pitchFamily="34" charset="-120"/>
                        </a:rPr>
                        <a:t>G3  Integração</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Durante a fase 3</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Pelo menos 5 fazendas pedindo integração com balança ou vagão; custo por fazenda abaixo da licença paga hoje (média de R$ 18,2 mil por ano)</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Riscos principais e como reduzir cada um</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Os maiores riscos da v2.0 estão na adoção pelo campo.</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36</a:t>
            </a:r>
            <a:endParaRPr lang="en-US" sz="900" dirty="0"/>
          </a:p>
        </p:txBody>
      </p:sp>
      <p:sp>
        <p:nvSpPr>
          <p:cNvPr id="6" name="Shape 3"/>
          <p:cNvSpPr/>
          <p:nvPr/>
        </p:nvSpPr>
        <p:spPr>
          <a:xfrm>
            <a:off x="457200" y="1188720"/>
            <a:ext cx="4023360" cy="1463040"/>
          </a:xfrm>
          <a:prstGeom prst="rect">
            <a:avLst/>
          </a:prstGeom>
          <a:solidFill>
            <a:srgbClr val="F4F6F8"/>
          </a:solidFill>
          <a:ln/>
        </p:spPr>
        <p:txBody>
          <a:bodyPr/>
          <a:lstStyle/>
          <a:p>
            <a:endParaRPr lang="pt-BR"/>
          </a:p>
        </p:txBody>
      </p:sp>
      <p:sp>
        <p:nvSpPr>
          <p:cNvPr id="7" name="Shape 4"/>
          <p:cNvSpPr/>
          <p:nvPr/>
        </p:nvSpPr>
        <p:spPr>
          <a:xfrm>
            <a:off x="457200" y="1188720"/>
            <a:ext cx="64008" cy="1463040"/>
          </a:xfrm>
          <a:prstGeom prst="rect">
            <a:avLst/>
          </a:prstGeom>
          <a:solidFill>
            <a:srgbClr val="C8106E"/>
          </a:solidFill>
          <a:ln/>
        </p:spPr>
        <p:txBody>
          <a:bodyPr/>
          <a:lstStyle/>
          <a:p>
            <a:endParaRPr lang="pt-BR"/>
          </a:p>
        </p:txBody>
      </p:sp>
      <p:pic>
        <p:nvPicPr>
          <p:cNvPr id="8" name="Image 1" descr="preencoded.png"/>
          <p:cNvPicPr>
            <a:picLocks noChangeAspect="1"/>
          </p:cNvPicPr>
          <p:nvPr/>
        </p:nvPicPr>
        <p:blipFill>
          <a:blip r:embed="rId4"/>
          <a:stretch>
            <a:fillRect/>
          </a:stretch>
        </p:blipFill>
        <p:spPr>
          <a:xfrm>
            <a:off x="685800" y="1371600"/>
            <a:ext cx="292608" cy="274320"/>
          </a:xfrm>
          <a:prstGeom prst="rect">
            <a:avLst/>
          </a:prstGeom>
        </p:spPr>
      </p:pic>
      <p:sp>
        <p:nvSpPr>
          <p:cNvPr id="9" name="Text 5"/>
          <p:cNvSpPr/>
          <p:nvPr/>
        </p:nvSpPr>
        <p:spPr>
          <a:xfrm>
            <a:off x="1097280" y="1353312"/>
            <a:ext cx="3246120" cy="320040"/>
          </a:xfrm>
          <a:prstGeom prst="rect">
            <a:avLst/>
          </a:prstGeom>
          <a:noFill/>
          <a:ln/>
        </p:spPr>
        <p:txBody>
          <a:bodyPr wrap="square" lIns="0" tIns="0" rIns="0" bIns="0" rtlCol="0" anchor="ctr"/>
          <a:lstStyle/>
          <a:p>
            <a:pPr marL="0" indent="0">
              <a:buNone/>
            </a:pPr>
            <a:r>
              <a:rPr lang="en-US" sz="1300" b="1" dirty="0">
                <a:solidFill>
                  <a:srgbClr val="1B3A8C"/>
                </a:solidFill>
                <a:latin typeface="Calibri" pitchFamily="34" charset="0"/>
                <a:ea typeface="Calibri" pitchFamily="34" charset="-122"/>
                <a:cs typeface="Calibri" pitchFamily="34" charset="-120"/>
              </a:rPr>
              <a:t>Baixa adesão ao lançamento manual</a:t>
            </a:r>
            <a:endParaRPr lang="en-US" sz="1300" dirty="0"/>
          </a:p>
        </p:txBody>
      </p:sp>
      <p:sp>
        <p:nvSpPr>
          <p:cNvPr id="10" name="Text 6"/>
          <p:cNvSpPr/>
          <p:nvPr/>
        </p:nvSpPr>
        <p:spPr>
          <a:xfrm>
            <a:off x="1097280" y="1755648"/>
            <a:ext cx="3200400"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MITIGAÇÃO</a:t>
            </a:r>
            <a:endParaRPr lang="en-US" sz="800" dirty="0"/>
          </a:p>
        </p:txBody>
      </p:sp>
      <p:sp>
        <p:nvSpPr>
          <p:cNvPr id="11" name="Text 7"/>
          <p:cNvSpPr/>
          <p:nvPr/>
        </p:nvSpPr>
        <p:spPr>
          <a:xfrm>
            <a:off x="1097280" y="1956816"/>
            <a:ext cx="3246120" cy="640080"/>
          </a:xfrm>
          <a:prstGeom prst="rect">
            <a:avLst/>
          </a:prstGeom>
          <a:noFill/>
          <a:ln/>
        </p:spPr>
        <p:txBody>
          <a:bodyPr wrap="square" lIns="0" tIns="0" rIns="0" bIns="0" rtlCol="0" anchor="t"/>
          <a:lstStyle/>
          <a:p>
            <a:pPr marL="0" indent="0">
              <a:buNone/>
            </a:pPr>
            <a:r>
              <a:rPr lang="en-US" sz="1150" dirty="0">
                <a:solidFill>
                  <a:srgbClr val="4A5560"/>
                </a:solidFill>
                <a:latin typeface="Calibri" pitchFamily="34" charset="0"/>
                <a:ea typeface="Calibri" pitchFamily="34" charset="-122"/>
                <a:cs typeface="Calibri" pitchFamily="34" charset="-120"/>
              </a:rPr>
              <a:t>Poucos campos por tela, meta de 10 minutos por dia e o técnico TN como apoio nas primeiras semanas.</a:t>
            </a:r>
            <a:endParaRPr lang="en-US" sz="1150" dirty="0"/>
          </a:p>
        </p:txBody>
      </p:sp>
      <p:sp>
        <p:nvSpPr>
          <p:cNvPr id="12" name="Shape 8"/>
          <p:cNvSpPr/>
          <p:nvPr/>
        </p:nvSpPr>
        <p:spPr>
          <a:xfrm>
            <a:off x="4663440" y="1188720"/>
            <a:ext cx="4023360" cy="1463040"/>
          </a:xfrm>
          <a:prstGeom prst="rect">
            <a:avLst/>
          </a:prstGeom>
          <a:solidFill>
            <a:srgbClr val="F4F6F8"/>
          </a:solidFill>
          <a:ln/>
        </p:spPr>
        <p:txBody>
          <a:bodyPr/>
          <a:lstStyle/>
          <a:p>
            <a:endParaRPr lang="pt-BR"/>
          </a:p>
        </p:txBody>
      </p:sp>
      <p:sp>
        <p:nvSpPr>
          <p:cNvPr id="13" name="Shape 9"/>
          <p:cNvSpPr/>
          <p:nvPr/>
        </p:nvSpPr>
        <p:spPr>
          <a:xfrm>
            <a:off x="4663440" y="1188720"/>
            <a:ext cx="64008" cy="1463040"/>
          </a:xfrm>
          <a:prstGeom prst="rect">
            <a:avLst/>
          </a:prstGeom>
          <a:solidFill>
            <a:srgbClr val="C8106E"/>
          </a:solidFill>
          <a:ln/>
        </p:spPr>
        <p:txBody>
          <a:bodyPr/>
          <a:lstStyle/>
          <a:p>
            <a:endParaRPr lang="pt-BR"/>
          </a:p>
        </p:txBody>
      </p:sp>
      <p:pic>
        <p:nvPicPr>
          <p:cNvPr id="14" name="Image 2" descr="preencoded.png"/>
          <p:cNvPicPr>
            <a:picLocks noChangeAspect="1"/>
          </p:cNvPicPr>
          <p:nvPr/>
        </p:nvPicPr>
        <p:blipFill>
          <a:blip r:embed="rId4"/>
          <a:stretch>
            <a:fillRect/>
          </a:stretch>
        </p:blipFill>
        <p:spPr>
          <a:xfrm>
            <a:off x="4892040" y="1371600"/>
            <a:ext cx="292608" cy="274320"/>
          </a:xfrm>
          <a:prstGeom prst="rect">
            <a:avLst/>
          </a:prstGeom>
        </p:spPr>
      </p:pic>
      <p:sp>
        <p:nvSpPr>
          <p:cNvPr id="15" name="Text 10"/>
          <p:cNvSpPr/>
          <p:nvPr/>
        </p:nvSpPr>
        <p:spPr>
          <a:xfrm>
            <a:off x="5303520" y="1353312"/>
            <a:ext cx="3246120" cy="320040"/>
          </a:xfrm>
          <a:prstGeom prst="rect">
            <a:avLst/>
          </a:prstGeom>
          <a:noFill/>
          <a:ln/>
        </p:spPr>
        <p:txBody>
          <a:bodyPr wrap="square" lIns="0" tIns="0" rIns="0" bIns="0" rtlCol="0" anchor="ctr"/>
          <a:lstStyle/>
          <a:p>
            <a:pPr marL="0" indent="0">
              <a:buNone/>
            </a:pPr>
            <a:r>
              <a:rPr lang="en-US" sz="1300" b="1" dirty="0">
                <a:solidFill>
                  <a:srgbClr val="1B3A8C"/>
                </a:solidFill>
                <a:latin typeface="Calibri" pitchFamily="34" charset="0"/>
                <a:ea typeface="Calibri" pitchFamily="34" charset="-122"/>
                <a:cs typeface="Calibri" pitchFamily="34" charset="-120"/>
              </a:rPr>
              <a:t>Amostra do discovery enviesada</a:t>
            </a:r>
            <a:endParaRPr lang="en-US" sz="1300" dirty="0"/>
          </a:p>
        </p:txBody>
      </p:sp>
      <p:sp>
        <p:nvSpPr>
          <p:cNvPr id="16" name="Text 11"/>
          <p:cNvSpPr/>
          <p:nvPr/>
        </p:nvSpPr>
        <p:spPr>
          <a:xfrm>
            <a:off x="5303520" y="1755648"/>
            <a:ext cx="3200400"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MITIGAÇÃO</a:t>
            </a:r>
            <a:endParaRPr lang="en-US" sz="800" dirty="0"/>
          </a:p>
        </p:txBody>
      </p:sp>
      <p:sp>
        <p:nvSpPr>
          <p:cNvPr id="17" name="Text 12"/>
          <p:cNvSpPr/>
          <p:nvPr/>
        </p:nvSpPr>
        <p:spPr>
          <a:xfrm>
            <a:off x="5303520" y="1956816"/>
            <a:ext cx="3246120" cy="640080"/>
          </a:xfrm>
          <a:prstGeom prst="rect">
            <a:avLst/>
          </a:prstGeom>
          <a:noFill/>
          <a:ln/>
        </p:spPr>
        <p:txBody>
          <a:bodyPr wrap="square" lIns="0" tIns="0" rIns="0" bIns="0" rtlCol="0" anchor="t"/>
          <a:lstStyle/>
          <a:p>
            <a:pPr marL="0" indent="0">
              <a:buNone/>
            </a:pPr>
            <a:r>
              <a:rPr lang="en-US" sz="1150" dirty="0">
                <a:solidFill>
                  <a:srgbClr val="4A5560"/>
                </a:solidFill>
                <a:latin typeface="Calibri" pitchFamily="34" charset="0"/>
                <a:ea typeface="Calibri" pitchFamily="34" charset="-122"/>
                <a:cs typeface="Calibri" pitchFamily="34" charset="-120"/>
              </a:rPr>
              <a:t>Cota mínima de ex-clientes e não clientes. Resultado só orienta decisão com 30 respostas válidas.</a:t>
            </a:r>
            <a:endParaRPr lang="en-US" sz="1150" dirty="0"/>
          </a:p>
        </p:txBody>
      </p:sp>
      <p:sp>
        <p:nvSpPr>
          <p:cNvPr id="18" name="Shape 13"/>
          <p:cNvSpPr/>
          <p:nvPr/>
        </p:nvSpPr>
        <p:spPr>
          <a:xfrm>
            <a:off x="457200" y="2788920"/>
            <a:ext cx="4023360" cy="1463040"/>
          </a:xfrm>
          <a:prstGeom prst="rect">
            <a:avLst/>
          </a:prstGeom>
          <a:solidFill>
            <a:srgbClr val="F4F6F8"/>
          </a:solidFill>
          <a:ln/>
        </p:spPr>
        <p:txBody>
          <a:bodyPr/>
          <a:lstStyle/>
          <a:p>
            <a:endParaRPr lang="pt-BR"/>
          </a:p>
        </p:txBody>
      </p:sp>
      <p:sp>
        <p:nvSpPr>
          <p:cNvPr id="19" name="Shape 14"/>
          <p:cNvSpPr/>
          <p:nvPr/>
        </p:nvSpPr>
        <p:spPr>
          <a:xfrm>
            <a:off x="457200" y="2788920"/>
            <a:ext cx="64008" cy="1463040"/>
          </a:xfrm>
          <a:prstGeom prst="rect">
            <a:avLst/>
          </a:prstGeom>
          <a:solidFill>
            <a:srgbClr val="C8106E"/>
          </a:solidFill>
          <a:ln/>
        </p:spPr>
        <p:txBody>
          <a:bodyPr/>
          <a:lstStyle/>
          <a:p>
            <a:endParaRPr lang="pt-BR"/>
          </a:p>
        </p:txBody>
      </p:sp>
      <p:pic>
        <p:nvPicPr>
          <p:cNvPr id="20" name="Image 3" descr="preencoded.png"/>
          <p:cNvPicPr>
            <a:picLocks noChangeAspect="1"/>
          </p:cNvPicPr>
          <p:nvPr/>
        </p:nvPicPr>
        <p:blipFill>
          <a:blip r:embed="rId4"/>
          <a:stretch>
            <a:fillRect/>
          </a:stretch>
        </p:blipFill>
        <p:spPr>
          <a:xfrm>
            <a:off x="685800" y="2971800"/>
            <a:ext cx="292608" cy="274320"/>
          </a:xfrm>
          <a:prstGeom prst="rect">
            <a:avLst/>
          </a:prstGeom>
        </p:spPr>
      </p:pic>
      <p:sp>
        <p:nvSpPr>
          <p:cNvPr id="21" name="Text 15"/>
          <p:cNvSpPr/>
          <p:nvPr/>
        </p:nvSpPr>
        <p:spPr>
          <a:xfrm>
            <a:off x="1097280" y="2953512"/>
            <a:ext cx="3246120" cy="320040"/>
          </a:xfrm>
          <a:prstGeom prst="rect">
            <a:avLst/>
          </a:prstGeom>
          <a:noFill/>
          <a:ln/>
        </p:spPr>
        <p:txBody>
          <a:bodyPr wrap="square" lIns="0" tIns="0" rIns="0" bIns="0" rtlCol="0" anchor="ctr"/>
          <a:lstStyle/>
          <a:p>
            <a:pPr marL="0" indent="0">
              <a:buNone/>
            </a:pPr>
            <a:r>
              <a:rPr lang="en-US" sz="1300" b="1" dirty="0">
                <a:solidFill>
                  <a:srgbClr val="1B3A8C"/>
                </a:solidFill>
                <a:latin typeface="Calibri" pitchFamily="34" charset="0"/>
                <a:ea typeface="Calibri" pitchFamily="34" charset="-122"/>
                <a:cs typeface="Calibri" pitchFamily="34" charset="-120"/>
              </a:rPr>
              <a:t>Percepção de versão inferior</a:t>
            </a:r>
            <a:endParaRPr lang="en-US" sz="1300" dirty="0"/>
          </a:p>
        </p:txBody>
      </p:sp>
      <p:sp>
        <p:nvSpPr>
          <p:cNvPr id="22" name="Text 16"/>
          <p:cNvSpPr/>
          <p:nvPr/>
        </p:nvSpPr>
        <p:spPr>
          <a:xfrm>
            <a:off x="1097280" y="3355848"/>
            <a:ext cx="3200400"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MITIGAÇÃO</a:t>
            </a:r>
            <a:endParaRPr lang="en-US" sz="800" dirty="0"/>
          </a:p>
        </p:txBody>
      </p:sp>
      <p:sp>
        <p:nvSpPr>
          <p:cNvPr id="23" name="Text 17"/>
          <p:cNvSpPr/>
          <p:nvPr/>
        </p:nvSpPr>
        <p:spPr>
          <a:xfrm>
            <a:off x="1097280" y="3557016"/>
            <a:ext cx="3246120" cy="640080"/>
          </a:xfrm>
          <a:prstGeom prst="rect">
            <a:avLst/>
          </a:prstGeom>
          <a:noFill/>
          <a:ln/>
        </p:spPr>
        <p:txBody>
          <a:bodyPr wrap="square" lIns="0" tIns="0" rIns="0" bIns="0" rtlCol="0" anchor="t"/>
          <a:lstStyle/>
          <a:p>
            <a:pPr marL="0" indent="0">
              <a:buNone/>
            </a:pPr>
            <a:r>
              <a:rPr lang="en-US" sz="1150" dirty="0">
                <a:solidFill>
                  <a:srgbClr val="4A5560"/>
                </a:solidFill>
                <a:latin typeface="Calibri" pitchFamily="34" charset="0"/>
                <a:ea typeface="Calibri" pitchFamily="34" charset="-122"/>
                <a:cs typeface="Calibri" pitchFamily="34" charset="-120"/>
              </a:rPr>
              <a:t>Posicionar o TN Manager Web como degrau, com caminho claro de migração para a versão completa.</a:t>
            </a:r>
            <a:endParaRPr lang="en-US" sz="1150" dirty="0"/>
          </a:p>
        </p:txBody>
      </p:sp>
      <p:sp>
        <p:nvSpPr>
          <p:cNvPr id="24" name="Shape 18"/>
          <p:cNvSpPr/>
          <p:nvPr/>
        </p:nvSpPr>
        <p:spPr>
          <a:xfrm>
            <a:off x="4663440" y="2788920"/>
            <a:ext cx="4023360" cy="1463040"/>
          </a:xfrm>
          <a:prstGeom prst="rect">
            <a:avLst/>
          </a:prstGeom>
          <a:solidFill>
            <a:srgbClr val="F4F6F8"/>
          </a:solidFill>
          <a:ln/>
        </p:spPr>
        <p:txBody>
          <a:bodyPr/>
          <a:lstStyle/>
          <a:p>
            <a:endParaRPr lang="pt-BR"/>
          </a:p>
        </p:txBody>
      </p:sp>
      <p:sp>
        <p:nvSpPr>
          <p:cNvPr id="25" name="Shape 19"/>
          <p:cNvSpPr/>
          <p:nvPr/>
        </p:nvSpPr>
        <p:spPr>
          <a:xfrm>
            <a:off x="4663440" y="2788920"/>
            <a:ext cx="64008" cy="1463040"/>
          </a:xfrm>
          <a:prstGeom prst="rect">
            <a:avLst/>
          </a:prstGeom>
          <a:solidFill>
            <a:srgbClr val="C8106E"/>
          </a:solidFill>
          <a:ln/>
        </p:spPr>
        <p:txBody>
          <a:bodyPr/>
          <a:lstStyle/>
          <a:p>
            <a:endParaRPr lang="pt-BR"/>
          </a:p>
        </p:txBody>
      </p:sp>
      <p:pic>
        <p:nvPicPr>
          <p:cNvPr id="26" name="Image 4" descr="preencoded.png"/>
          <p:cNvPicPr>
            <a:picLocks noChangeAspect="1"/>
          </p:cNvPicPr>
          <p:nvPr/>
        </p:nvPicPr>
        <p:blipFill>
          <a:blip r:embed="rId4"/>
          <a:stretch>
            <a:fillRect/>
          </a:stretch>
        </p:blipFill>
        <p:spPr>
          <a:xfrm>
            <a:off x="4892040" y="2971800"/>
            <a:ext cx="292608" cy="274320"/>
          </a:xfrm>
          <a:prstGeom prst="rect">
            <a:avLst/>
          </a:prstGeom>
        </p:spPr>
      </p:pic>
      <p:sp>
        <p:nvSpPr>
          <p:cNvPr id="27" name="Text 20"/>
          <p:cNvSpPr/>
          <p:nvPr/>
        </p:nvSpPr>
        <p:spPr>
          <a:xfrm>
            <a:off x="5303520" y="2953512"/>
            <a:ext cx="3246120" cy="320040"/>
          </a:xfrm>
          <a:prstGeom prst="rect">
            <a:avLst/>
          </a:prstGeom>
          <a:noFill/>
          <a:ln/>
        </p:spPr>
        <p:txBody>
          <a:bodyPr wrap="square" lIns="0" tIns="0" rIns="0" bIns="0" rtlCol="0" anchor="ctr"/>
          <a:lstStyle/>
          <a:p>
            <a:pPr marL="0" indent="0">
              <a:buNone/>
            </a:pPr>
            <a:r>
              <a:rPr lang="en-US" sz="1300" b="1" dirty="0">
                <a:solidFill>
                  <a:srgbClr val="1B3A8C"/>
                </a:solidFill>
                <a:latin typeface="Calibri" pitchFamily="34" charset="0"/>
                <a:ea typeface="Calibri" pitchFamily="34" charset="-122"/>
                <a:cs typeface="Calibri" pitchFamily="34" charset="-120"/>
              </a:rPr>
              <a:t>Capacidade do time técnico TN</a:t>
            </a:r>
            <a:endParaRPr lang="en-US" sz="1300" dirty="0"/>
          </a:p>
        </p:txBody>
      </p:sp>
      <p:sp>
        <p:nvSpPr>
          <p:cNvPr id="28" name="Text 21"/>
          <p:cNvSpPr/>
          <p:nvPr/>
        </p:nvSpPr>
        <p:spPr>
          <a:xfrm>
            <a:off x="5303520" y="3355848"/>
            <a:ext cx="3200400"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MITIGAÇÃO</a:t>
            </a:r>
            <a:endParaRPr lang="en-US" sz="800" dirty="0"/>
          </a:p>
        </p:txBody>
      </p:sp>
      <p:sp>
        <p:nvSpPr>
          <p:cNvPr id="29" name="Text 22"/>
          <p:cNvSpPr/>
          <p:nvPr/>
        </p:nvSpPr>
        <p:spPr>
          <a:xfrm>
            <a:off x="5303520" y="3557016"/>
            <a:ext cx="3246120" cy="640080"/>
          </a:xfrm>
          <a:prstGeom prst="rect">
            <a:avLst/>
          </a:prstGeom>
          <a:noFill/>
          <a:ln/>
        </p:spPr>
        <p:txBody>
          <a:bodyPr wrap="square" lIns="0" tIns="0" rIns="0" bIns="0" rtlCol="0" anchor="t"/>
          <a:lstStyle/>
          <a:p>
            <a:pPr marL="0" indent="0">
              <a:buNone/>
            </a:pPr>
            <a:r>
              <a:rPr lang="en-US" sz="1150" dirty="0">
                <a:solidFill>
                  <a:srgbClr val="4A5560"/>
                </a:solidFill>
                <a:latin typeface="Calibri" pitchFamily="34" charset="0"/>
                <a:ea typeface="Calibri" pitchFamily="34" charset="-122"/>
                <a:cs typeface="Calibri" pitchFamily="34" charset="-120"/>
              </a:rPr>
              <a:t>Rodrigo atende até 20 fazendas nos 6 primeiros meses, com auditoria mensal; depois, 1 analista dedicado para cada 20 fazendas (G2).</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Aderência interna: mapa inicial de stakeholders</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Posições de partida (hipótese). As entrevistas confirmam ou movem cada grupo.</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37</a:t>
            </a:r>
            <a:endParaRPr lang="en-US" sz="900" dirty="0"/>
          </a:p>
        </p:txBody>
      </p:sp>
      <p:sp>
        <p:nvSpPr>
          <p:cNvPr id="6" name="Shape 3"/>
          <p:cNvSpPr/>
          <p:nvPr/>
        </p:nvSpPr>
        <p:spPr>
          <a:xfrm>
            <a:off x="850392" y="1170432"/>
            <a:ext cx="2414016" cy="1499616"/>
          </a:xfrm>
          <a:prstGeom prst="rect">
            <a:avLst/>
          </a:prstGeom>
          <a:solidFill>
            <a:srgbClr val="EEF1F8"/>
          </a:solidFill>
          <a:ln/>
        </p:spPr>
        <p:txBody>
          <a:bodyPr/>
          <a:lstStyle/>
          <a:p>
            <a:endParaRPr lang="pt-BR"/>
          </a:p>
        </p:txBody>
      </p:sp>
      <p:sp>
        <p:nvSpPr>
          <p:cNvPr id="7" name="Text 4"/>
          <p:cNvSpPr/>
          <p:nvPr/>
        </p:nvSpPr>
        <p:spPr>
          <a:xfrm>
            <a:off x="932688" y="1234440"/>
            <a:ext cx="2194560" cy="201168"/>
          </a:xfrm>
          <a:prstGeom prst="rect">
            <a:avLst/>
          </a:prstGeom>
          <a:noFill/>
          <a:ln/>
        </p:spPr>
        <p:txBody>
          <a:bodyPr wrap="square" lIns="0" tIns="0" rIns="0" bIns="0" rtlCol="0" anchor="t"/>
          <a:lstStyle/>
          <a:p>
            <a:pPr marL="0" indent="0">
              <a:buNone/>
            </a:pPr>
            <a:r>
              <a:rPr lang="en-US" sz="850" b="1" kern="0" spc="100" dirty="0">
                <a:solidFill>
                  <a:srgbClr val="7A858F"/>
                </a:solidFill>
                <a:latin typeface="Calibri" pitchFamily="34" charset="0"/>
                <a:ea typeface="Calibri" pitchFamily="34" charset="-122"/>
                <a:cs typeface="Calibri" pitchFamily="34" charset="-120"/>
              </a:rPr>
              <a:t>MANTER SATISFEITO</a:t>
            </a:r>
            <a:endParaRPr lang="en-US" sz="850" dirty="0"/>
          </a:p>
        </p:txBody>
      </p:sp>
      <p:sp>
        <p:nvSpPr>
          <p:cNvPr id="8" name="Shape 5"/>
          <p:cNvSpPr/>
          <p:nvPr/>
        </p:nvSpPr>
        <p:spPr>
          <a:xfrm>
            <a:off x="3319272" y="1170432"/>
            <a:ext cx="2414016" cy="1499616"/>
          </a:xfrm>
          <a:prstGeom prst="rect">
            <a:avLst/>
          </a:prstGeom>
          <a:solidFill>
            <a:srgbClr val="FBE7F1"/>
          </a:solidFill>
          <a:ln/>
        </p:spPr>
        <p:txBody>
          <a:bodyPr/>
          <a:lstStyle/>
          <a:p>
            <a:endParaRPr lang="pt-BR"/>
          </a:p>
        </p:txBody>
      </p:sp>
      <p:sp>
        <p:nvSpPr>
          <p:cNvPr id="9" name="Text 6"/>
          <p:cNvSpPr/>
          <p:nvPr/>
        </p:nvSpPr>
        <p:spPr>
          <a:xfrm>
            <a:off x="3401568" y="1234440"/>
            <a:ext cx="2194560" cy="201168"/>
          </a:xfrm>
          <a:prstGeom prst="rect">
            <a:avLst/>
          </a:prstGeom>
          <a:noFill/>
          <a:ln/>
        </p:spPr>
        <p:txBody>
          <a:bodyPr wrap="square" lIns="0" tIns="0" rIns="0" bIns="0" rtlCol="0" anchor="t"/>
          <a:lstStyle/>
          <a:p>
            <a:pPr marL="0" indent="0">
              <a:buNone/>
            </a:pPr>
            <a:r>
              <a:rPr lang="en-US" sz="850" b="1" kern="0" spc="100" dirty="0">
                <a:solidFill>
                  <a:srgbClr val="7A858F"/>
                </a:solidFill>
                <a:latin typeface="Calibri" pitchFamily="34" charset="0"/>
                <a:ea typeface="Calibri" pitchFamily="34" charset="-122"/>
                <a:cs typeface="Calibri" pitchFamily="34" charset="-120"/>
              </a:rPr>
              <a:t>GERENCIAR DE PERTO</a:t>
            </a:r>
            <a:endParaRPr lang="en-US" sz="850" dirty="0"/>
          </a:p>
        </p:txBody>
      </p:sp>
      <p:sp>
        <p:nvSpPr>
          <p:cNvPr id="10" name="Shape 7"/>
          <p:cNvSpPr/>
          <p:nvPr/>
        </p:nvSpPr>
        <p:spPr>
          <a:xfrm>
            <a:off x="850392" y="2724912"/>
            <a:ext cx="2414016" cy="1499616"/>
          </a:xfrm>
          <a:prstGeom prst="rect">
            <a:avLst/>
          </a:prstGeom>
          <a:solidFill>
            <a:srgbClr val="F4F6F8"/>
          </a:solidFill>
          <a:ln/>
        </p:spPr>
        <p:txBody>
          <a:bodyPr/>
          <a:lstStyle/>
          <a:p>
            <a:endParaRPr lang="pt-BR"/>
          </a:p>
        </p:txBody>
      </p:sp>
      <p:sp>
        <p:nvSpPr>
          <p:cNvPr id="11" name="Text 8"/>
          <p:cNvSpPr/>
          <p:nvPr/>
        </p:nvSpPr>
        <p:spPr>
          <a:xfrm>
            <a:off x="932688" y="2788920"/>
            <a:ext cx="2194560" cy="201168"/>
          </a:xfrm>
          <a:prstGeom prst="rect">
            <a:avLst/>
          </a:prstGeom>
          <a:noFill/>
          <a:ln/>
        </p:spPr>
        <p:txBody>
          <a:bodyPr wrap="square" lIns="0" tIns="0" rIns="0" bIns="0" rtlCol="0" anchor="t"/>
          <a:lstStyle/>
          <a:p>
            <a:pPr marL="0" indent="0">
              <a:buNone/>
            </a:pPr>
            <a:r>
              <a:rPr lang="en-US" sz="850" b="1" kern="0" spc="100" dirty="0">
                <a:solidFill>
                  <a:srgbClr val="7A858F"/>
                </a:solidFill>
                <a:latin typeface="Calibri" pitchFamily="34" charset="0"/>
                <a:ea typeface="Calibri" pitchFamily="34" charset="-122"/>
                <a:cs typeface="Calibri" pitchFamily="34" charset="-120"/>
              </a:rPr>
              <a:t>MONITORAR</a:t>
            </a:r>
            <a:endParaRPr lang="en-US" sz="850" dirty="0"/>
          </a:p>
        </p:txBody>
      </p:sp>
      <p:sp>
        <p:nvSpPr>
          <p:cNvPr id="12" name="Shape 9"/>
          <p:cNvSpPr/>
          <p:nvPr/>
        </p:nvSpPr>
        <p:spPr>
          <a:xfrm>
            <a:off x="3319272" y="2724912"/>
            <a:ext cx="2414016" cy="1499616"/>
          </a:xfrm>
          <a:prstGeom prst="rect">
            <a:avLst/>
          </a:prstGeom>
          <a:solidFill>
            <a:srgbClr val="E8F4F7"/>
          </a:solidFill>
          <a:ln/>
        </p:spPr>
        <p:txBody>
          <a:bodyPr/>
          <a:lstStyle/>
          <a:p>
            <a:endParaRPr lang="pt-BR"/>
          </a:p>
        </p:txBody>
      </p:sp>
      <p:sp>
        <p:nvSpPr>
          <p:cNvPr id="13" name="Text 10"/>
          <p:cNvSpPr/>
          <p:nvPr/>
        </p:nvSpPr>
        <p:spPr>
          <a:xfrm>
            <a:off x="3401568" y="2788920"/>
            <a:ext cx="2194560" cy="201168"/>
          </a:xfrm>
          <a:prstGeom prst="rect">
            <a:avLst/>
          </a:prstGeom>
          <a:noFill/>
          <a:ln/>
        </p:spPr>
        <p:txBody>
          <a:bodyPr wrap="square" lIns="0" tIns="0" rIns="0" bIns="0" rtlCol="0" anchor="t"/>
          <a:lstStyle/>
          <a:p>
            <a:pPr marL="0" indent="0">
              <a:buNone/>
            </a:pPr>
            <a:r>
              <a:rPr lang="en-US" sz="850" b="1" kern="0" spc="100" dirty="0">
                <a:solidFill>
                  <a:srgbClr val="7A858F"/>
                </a:solidFill>
                <a:latin typeface="Calibri" pitchFamily="34" charset="0"/>
                <a:ea typeface="Calibri" pitchFamily="34" charset="-122"/>
                <a:cs typeface="Calibri" pitchFamily="34" charset="-120"/>
              </a:rPr>
              <a:t>MANTER INFORMADO</a:t>
            </a:r>
            <a:endParaRPr lang="en-US" sz="850" dirty="0"/>
          </a:p>
        </p:txBody>
      </p:sp>
      <p:sp>
        <p:nvSpPr>
          <p:cNvPr id="14" name="Shape 11"/>
          <p:cNvSpPr/>
          <p:nvPr/>
        </p:nvSpPr>
        <p:spPr>
          <a:xfrm>
            <a:off x="3694176" y="1548994"/>
            <a:ext cx="182880" cy="182880"/>
          </a:xfrm>
          <a:prstGeom prst="ellipse">
            <a:avLst/>
          </a:prstGeom>
          <a:solidFill>
            <a:srgbClr val="1B3A8C"/>
          </a:solidFill>
          <a:ln/>
        </p:spPr>
        <p:txBody>
          <a:bodyPr/>
          <a:lstStyle/>
          <a:p>
            <a:endParaRPr lang="pt-BR"/>
          </a:p>
        </p:txBody>
      </p:sp>
      <p:sp>
        <p:nvSpPr>
          <p:cNvPr id="15" name="Text 12"/>
          <p:cNvSpPr/>
          <p:nvPr/>
        </p:nvSpPr>
        <p:spPr>
          <a:xfrm>
            <a:off x="3913632" y="1530706"/>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Diretoria Beef</a:t>
            </a:r>
            <a:endParaRPr lang="en-US" sz="950" dirty="0"/>
          </a:p>
        </p:txBody>
      </p:sp>
      <p:sp>
        <p:nvSpPr>
          <p:cNvPr id="16" name="Shape 13"/>
          <p:cNvSpPr/>
          <p:nvPr/>
        </p:nvSpPr>
        <p:spPr>
          <a:xfrm>
            <a:off x="4385462" y="1922069"/>
            <a:ext cx="182880" cy="182880"/>
          </a:xfrm>
          <a:prstGeom prst="ellipse">
            <a:avLst/>
          </a:prstGeom>
          <a:solidFill>
            <a:srgbClr val="C8106E"/>
          </a:solidFill>
          <a:ln/>
        </p:spPr>
        <p:txBody>
          <a:bodyPr/>
          <a:lstStyle/>
          <a:p>
            <a:endParaRPr lang="pt-BR"/>
          </a:p>
        </p:txBody>
      </p:sp>
      <p:sp>
        <p:nvSpPr>
          <p:cNvPr id="17" name="Text 14"/>
          <p:cNvSpPr/>
          <p:nvPr/>
        </p:nvSpPr>
        <p:spPr>
          <a:xfrm>
            <a:off x="4604918" y="1903781"/>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Gerência comercial</a:t>
            </a:r>
            <a:endParaRPr lang="en-US" sz="950" dirty="0"/>
          </a:p>
        </p:txBody>
      </p:sp>
      <p:sp>
        <p:nvSpPr>
          <p:cNvPr id="18" name="Shape 15"/>
          <p:cNvSpPr/>
          <p:nvPr/>
        </p:nvSpPr>
        <p:spPr>
          <a:xfrm>
            <a:off x="2015338" y="1673352"/>
            <a:ext cx="182880" cy="182880"/>
          </a:xfrm>
          <a:prstGeom prst="ellipse">
            <a:avLst/>
          </a:prstGeom>
          <a:solidFill>
            <a:srgbClr val="1B3A8C"/>
          </a:solidFill>
          <a:ln/>
        </p:spPr>
        <p:txBody>
          <a:bodyPr/>
          <a:lstStyle/>
          <a:p>
            <a:endParaRPr lang="pt-BR"/>
          </a:p>
        </p:txBody>
      </p:sp>
      <p:sp>
        <p:nvSpPr>
          <p:cNvPr id="19" name="Text 16"/>
          <p:cNvSpPr/>
          <p:nvPr/>
        </p:nvSpPr>
        <p:spPr>
          <a:xfrm>
            <a:off x="2234794" y="1655064"/>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Finanças</a:t>
            </a:r>
            <a:endParaRPr lang="en-US" sz="950" dirty="0"/>
          </a:p>
        </p:txBody>
      </p:sp>
      <p:sp>
        <p:nvSpPr>
          <p:cNvPr id="20" name="Shape 17"/>
          <p:cNvSpPr/>
          <p:nvPr/>
        </p:nvSpPr>
        <p:spPr>
          <a:xfrm>
            <a:off x="3447288" y="2232965"/>
            <a:ext cx="182880" cy="182880"/>
          </a:xfrm>
          <a:prstGeom prst="ellipse">
            <a:avLst/>
          </a:prstGeom>
          <a:solidFill>
            <a:srgbClr val="1B3A8C"/>
          </a:solidFill>
          <a:ln/>
        </p:spPr>
        <p:txBody>
          <a:bodyPr/>
          <a:lstStyle/>
          <a:p>
            <a:endParaRPr lang="pt-BR"/>
          </a:p>
        </p:txBody>
      </p:sp>
      <p:sp>
        <p:nvSpPr>
          <p:cNvPr id="21" name="Text 18"/>
          <p:cNvSpPr/>
          <p:nvPr/>
        </p:nvSpPr>
        <p:spPr>
          <a:xfrm>
            <a:off x="3666744" y="2214677"/>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TI e Digital</a:t>
            </a:r>
            <a:endParaRPr lang="en-US" sz="950" dirty="0"/>
          </a:p>
        </p:txBody>
      </p:sp>
      <p:sp>
        <p:nvSpPr>
          <p:cNvPr id="22" name="Shape 19"/>
          <p:cNvSpPr/>
          <p:nvPr/>
        </p:nvSpPr>
        <p:spPr>
          <a:xfrm>
            <a:off x="4484218" y="2979115"/>
            <a:ext cx="182880" cy="182880"/>
          </a:xfrm>
          <a:prstGeom prst="ellipse">
            <a:avLst/>
          </a:prstGeom>
          <a:solidFill>
            <a:srgbClr val="C8106E"/>
          </a:solidFill>
          <a:ln/>
        </p:spPr>
        <p:txBody>
          <a:bodyPr/>
          <a:lstStyle/>
          <a:p>
            <a:endParaRPr lang="pt-BR"/>
          </a:p>
        </p:txBody>
      </p:sp>
      <p:sp>
        <p:nvSpPr>
          <p:cNvPr id="23" name="Text 20"/>
          <p:cNvSpPr/>
          <p:nvPr/>
        </p:nvSpPr>
        <p:spPr>
          <a:xfrm>
            <a:off x="4703674" y="2960827"/>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Técnicos e RTVs</a:t>
            </a:r>
            <a:endParaRPr lang="en-US" sz="950" dirty="0"/>
          </a:p>
        </p:txBody>
      </p:sp>
      <p:sp>
        <p:nvSpPr>
          <p:cNvPr id="24" name="Shape 21"/>
          <p:cNvSpPr/>
          <p:nvPr/>
        </p:nvSpPr>
        <p:spPr>
          <a:xfrm>
            <a:off x="4187952" y="3227832"/>
            <a:ext cx="182880" cy="182880"/>
          </a:xfrm>
          <a:prstGeom prst="ellipse">
            <a:avLst/>
          </a:prstGeom>
          <a:solidFill>
            <a:srgbClr val="0096B4"/>
          </a:solidFill>
          <a:ln/>
        </p:spPr>
        <p:txBody>
          <a:bodyPr/>
          <a:lstStyle/>
          <a:p>
            <a:endParaRPr lang="pt-BR"/>
          </a:p>
        </p:txBody>
      </p:sp>
      <p:sp>
        <p:nvSpPr>
          <p:cNvPr id="25" name="Text 22"/>
          <p:cNvSpPr/>
          <p:nvPr/>
        </p:nvSpPr>
        <p:spPr>
          <a:xfrm>
            <a:off x="4407408" y="3209544"/>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Software house</a:t>
            </a:r>
            <a:endParaRPr lang="en-US" sz="950" dirty="0"/>
          </a:p>
        </p:txBody>
      </p:sp>
      <p:sp>
        <p:nvSpPr>
          <p:cNvPr id="26" name="Shape 23"/>
          <p:cNvSpPr/>
          <p:nvPr/>
        </p:nvSpPr>
        <p:spPr>
          <a:xfrm>
            <a:off x="2509114" y="3476549"/>
            <a:ext cx="182880" cy="182880"/>
          </a:xfrm>
          <a:prstGeom prst="ellipse">
            <a:avLst/>
          </a:prstGeom>
          <a:solidFill>
            <a:srgbClr val="0096B4"/>
          </a:solidFill>
          <a:ln/>
        </p:spPr>
        <p:txBody>
          <a:bodyPr/>
          <a:lstStyle/>
          <a:p>
            <a:endParaRPr lang="pt-BR"/>
          </a:p>
        </p:txBody>
      </p:sp>
      <p:sp>
        <p:nvSpPr>
          <p:cNvPr id="27" name="Text 24"/>
          <p:cNvSpPr/>
          <p:nvPr/>
        </p:nvSpPr>
        <p:spPr>
          <a:xfrm>
            <a:off x="2728570" y="3458261"/>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Marketing</a:t>
            </a:r>
            <a:endParaRPr lang="en-US" sz="950" dirty="0"/>
          </a:p>
        </p:txBody>
      </p:sp>
      <p:sp>
        <p:nvSpPr>
          <p:cNvPr id="28" name="Text 25"/>
          <p:cNvSpPr/>
          <p:nvPr/>
        </p:nvSpPr>
        <p:spPr>
          <a:xfrm>
            <a:off x="182880" y="2560320"/>
            <a:ext cx="594360" cy="274320"/>
          </a:xfrm>
          <a:prstGeom prst="rect">
            <a:avLst/>
          </a:prstGeom>
          <a:noFill/>
          <a:ln/>
        </p:spPr>
        <p:txBody>
          <a:bodyPr wrap="square" lIns="0" tIns="0" rIns="0" bIns="0" rtlCol="0" anchor="t"/>
          <a:lstStyle/>
          <a:p>
            <a:pPr marL="0" indent="0">
              <a:buNone/>
            </a:pPr>
            <a:r>
              <a:rPr lang="en-US" sz="1000" b="1" dirty="0">
                <a:solidFill>
                  <a:srgbClr val="1B3A8C"/>
                </a:solidFill>
                <a:latin typeface="Calibri" pitchFamily="34" charset="0"/>
                <a:ea typeface="Calibri" pitchFamily="34" charset="-122"/>
                <a:cs typeface="Calibri" pitchFamily="34" charset="-120"/>
              </a:rPr>
              <a:t>Influência</a:t>
            </a:r>
            <a:endParaRPr lang="en-US" sz="1000" dirty="0"/>
          </a:p>
        </p:txBody>
      </p:sp>
      <p:sp>
        <p:nvSpPr>
          <p:cNvPr id="29" name="Text 26"/>
          <p:cNvSpPr/>
          <p:nvPr/>
        </p:nvSpPr>
        <p:spPr>
          <a:xfrm>
            <a:off x="822960" y="4306824"/>
            <a:ext cx="4937760" cy="228600"/>
          </a:xfrm>
          <a:prstGeom prst="rect">
            <a:avLst/>
          </a:prstGeom>
          <a:noFill/>
          <a:ln/>
        </p:spPr>
        <p:txBody>
          <a:bodyPr wrap="square" lIns="0" tIns="0" rIns="0" bIns="0" rtlCol="0" anchor="t"/>
          <a:lstStyle/>
          <a:p>
            <a:pPr marL="0" indent="0" algn="ctr">
              <a:buNone/>
            </a:pPr>
            <a:r>
              <a:rPr lang="en-US" sz="1000" b="1" dirty="0">
                <a:solidFill>
                  <a:srgbClr val="1B3A8C"/>
                </a:solidFill>
                <a:latin typeface="Calibri" pitchFamily="34" charset="0"/>
                <a:ea typeface="Calibri" pitchFamily="34" charset="-122"/>
                <a:cs typeface="Calibri" pitchFamily="34" charset="-120"/>
              </a:rPr>
              <a:t>Interesse e envolvimento no projeto</a:t>
            </a:r>
            <a:endParaRPr lang="en-US" sz="1000" dirty="0"/>
          </a:p>
        </p:txBody>
      </p:sp>
      <p:sp>
        <p:nvSpPr>
          <p:cNvPr id="30" name="Shape 27"/>
          <p:cNvSpPr/>
          <p:nvPr/>
        </p:nvSpPr>
        <p:spPr>
          <a:xfrm>
            <a:off x="6035040" y="1143000"/>
            <a:ext cx="2651760" cy="3108960"/>
          </a:xfrm>
          <a:prstGeom prst="rect">
            <a:avLst/>
          </a:prstGeom>
          <a:solidFill>
            <a:srgbClr val="1B3A8C"/>
          </a:solidFill>
          <a:ln/>
        </p:spPr>
        <p:txBody>
          <a:bodyPr/>
          <a:lstStyle/>
          <a:p>
            <a:endParaRPr lang="pt-BR"/>
          </a:p>
        </p:txBody>
      </p:sp>
      <p:sp>
        <p:nvSpPr>
          <p:cNvPr id="31" name="Text 28"/>
          <p:cNvSpPr/>
          <p:nvPr/>
        </p:nvSpPr>
        <p:spPr>
          <a:xfrm>
            <a:off x="6199632" y="1261872"/>
            <a:ext cx="2377440" cy="274320"/>
          </a:xfrm>
          <a:prstGeom prst="rect">
            <a:avLst/>
          </a:prstGeom>
          <a:noFill/>
          <a:ln/>
        </p:spPr>
        <p:txBody>
          <a:bodyPr wrap="square" lIns="0" tIns="0" rIns="0" bIns="0" rtlCol="0" anchor="t"/>
          <a:lstStyle/>
          <a:p>
            <a:pPr marL="0" indent="0">
              <a:buNone/>
            </a:pPr>
            <a:r>
              <a:rPr lang="en-US" sz="1200" b="1" dirty="0">
                <a:solidFill>
                  <a:srgbClr val="C5D300"/>
                </a:solidFill>
                <a:latin typeface="Calibri" pitchFamily="34" charset="0"/>
                <a:ea typeface="Calibri" pitchFamily="34" charset="-122"/>
                <a:cs typeface="Calibri" pitchFamily="34" charset="-120"/>
              </a:rPr>
              <a:t>O que perguntar</a:t>
            </a:r>
            <a:endParaRPr lang="en-US" sz="1200" dirty="0"/>
          </a:p>
        </p:txBody>
      </p:sp>
      <p:sp>
        <p:nvSpPr>
          <p:cNvPr id="32" name="Text 29"/>
          <p:cNvSpPr/>
          <p:nvPr/>
        </p:nvSpPr>
        <p:spPr>
          <a:xfrm>
            <a:off x="6172200" y="1600200"/>
            <a:ext cx="2423160" cy="2560320"/>
          </a:xfrm>
          <a:prstGeom prst="rect">
            <a:avLst/>
          </a:prstGeom>
          <a:noFill/>
          <a:ln/>
        </p:spPr>
        <p:txBody>
          <a:bodyPr wrap="square" lIns="0" tIns="0" rIns="0" bIns="0" rtlCol="0" anchor="t"/>
          <a:lstStyle/>
          <a:p>
            <a:pPr marL="342900" indent="-342900">
              <a:spcAft>
                <a:spcPts val="600"/>
              </a:spcAft>
              <a:buSzPct val="100000"/>
              <a:buFont typeface="+mj-lt"/>
              <a:buAutoNum type="arabicPeriod"/>
            </a:pPr>
            <a:r>
              <a:rPr lang="en-US" sz="1000" dirty="0">
                <a:solidFill>
                  <a:srgbClr val="FFFFFF"/>
                </a:solidFill>
                <a:latin typeface="Calibri" pitchFamily="34" charset="0"/>
                <a:ea typeface="Calibri" pitchFamily="34" charset="-122"/>
                <a:cs typeface="Calibri" pitchFamily="34" charset="-120"/>
              </a:rPr>
              <a:t>O que você entende que é o TN Manager hoje?</a:t>
            </a:r>
            <a:endParaRPr lang="en-US" sz="1000" dirty="0"/>
          </a:p>
          <a:p>
            <a:pPr marL="342900" indent="-342900">
              <a:spcAft>
                <a:spcPts val="600"/>
              </a:spcAft>
              <a:buSzPct val="100000"/>
              <a:buFont typeface="+mj-lt"/>
              <a:buAutoNum type="arabicPeriod"/>
            </a:pPr>
            <a:r>
              <a:rPr lang="en-US" sz="1000" dirty="0">
                <a:solidFill>
                  <a:srgbClr val="FFFFFF"/>
                </a:solidFill>
                <a:latin typeface="Calibri" pitchFamily="34" charset="0"/>
                <a:ea typeface="Calibri" pitchFamily="34" charset="-122"/>
                <a:cs typeface="Calibri" pitchFamily="34" charset="-120"/>
              </a:rPr>
              <a:t>Que problema de negócio ele precisa resolver?</a:t>
            </a:r>
            <a:endParaRPr lang="en-US" sz="1000" dirty="0"/>
          </a:p>
          <a:p>
            <a:pPr marL="342900" indent="-342900">
              <a:spcAft>
                <a:spcPts val="600"/>
              </a:spcAft>
              <a:buSzPct val="100000"/>
              <a:buFont typeface="+mj-lt"/>
              <a:buAutoNum type="arabicPeriod"/>
            </a:pPr>
            <a:r>
              <a:rPr lang="en-US" sz="1000" dirty="0">
                <a:solidFill>
                  <a:srgbClr val="FFFFFF"/>
                </a:solidFill>
                <a:latin typeface="Calibri" pitchFamily="34" charset="0"/>
                <a:ea typeface="Calibri" pitchFamily="34" charset="-122"/>
                <a:cs typeface="Calibri" pitchFamily="34" charset="-120"/>
              </a:rPr>
              <a:t>O que faria você apoiar ou frear o projeto?</a:t>
            </a:r>
            <a:endParaRPr lang="en-US" sz="1000" dirty="0"/>
          </a:p>
          <a:p>
            <a:pPr marL="342900" indent="-342900">
              <a:spcAft>
                <a:spcPts val="600"/>
              </a:spcAft>
              <a:buSzPct val="100000"/>
              <a:buFont typeface="+mj-lt"/>
              <a:buAutoNum type="arabicPeriod"/>
            </a:pPr>
            <a:r>
              <a:rPr lang="en-US" sz="1000" dirty="0">
                <a:solidFill>
                  <a:srgbClr val="FFFFFF"/>
                </a:solidFill>
                <a:latin typeface="Calibri" pitchFamily="34" charset="0"/>
                <a:ea typeface="Calibri" pitchFamily="34" charset="-122"/>
                <a:cs typeface="Calibri" pitchFamily="34" charset="-120"/>
              </a:rPr>
              <a:t>Quem precisa estar convencido para ele avançar?</a:t>
            </a:r>
            <a:endParaRPr lang="en-US" sz="1000" dirty="0"/>
          </a:p>
          <a:p>
            <a:pPr marL="342900" indent="-342900">
              <a:spcAft>
                <a:spcPts val="600"/>
              </a:spcAft>
              <a:buSzPct val="100000"/>
              <a:buFont typeface="+mj-lt"/>
              <a:buAutoNum type="arabicPeriod"/>
            </a:pPr>
            <a:r>
              <a:rPr lang="en-US" sz="1000" dirty="0">
                <a:solidFill>
                  <a:srgbClr val="FFFFFF"/>
                </a:solidFill>
                <a:latin typeface="Calibri" pitchFamily="34" charset="0"/>
                <a:ea typeface="Calibri" pitchFamily="34" charset="-122"/>
                <a:cs typeface="Calibri" pitchFamily="34" charset="-120"/>
              </a:rPr>
              <a:t>Como medir sucesso em 12 meses?</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
    <p:bg>
      <p:bgPr>
        <a:solidFill>
          <a:srgbClr val="1B3A8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5D300"/>
          </a:solidFill>
          <a:ln/>
        </p:spPr>
        <p:txBody>
          <a:bodyPr/>
          <a:lstStyle/>
          <a:p>
            <a:endParaRPr lang="pt-BR"/>
          </a:p>
        </p:txBody>
      </p:sp>
      <p:sp>
        <p:nvSpPr>
          <p:cNvPr id="3" name="Text 1"/>
          <p:cNvSpPr/>
          <p:nvPr/>
        </p:nvSpPr>
        <p:spPr>
          <a:xfrm>
            <a:off x="640080" y="822960"/>
            <a:ext cx="5486400" cy="274320"/>
          </a:xfrm>
          <a:prstGeom prst="rect">
            <a:avLst/>
          </a:prstGeom>
          <a:noFill/>
          <a:ln/>
        </p:spPr>
        <p:txBody>
          <a:bodyPr wrap="square" lIns="0" tIns="0" rIns="0" bIns="0" rtlCol="0" anchor="t"/>
          <a:lstStyle/>
          <a:p>
            <a:pPr marL="0" indent="0">
              <a:buNone/>
            </a:pPr>
            <a:r>
              <a:rPr lang="en-US" sz="1300" b="1" kern="0" spc="400" dirty="0">
                <a:solidFill>
                  <a:srgbClr val="C5D300"/>
                </a:solidFill>
                <a:latin typeface="Calibri" pitchFamily="34" charset="0"/>
                <a:ea typeface="Calibri" pitchFamily="34" charset="-122"/>
                <a:cs typeface="Calibri" pitchFamily="34" charset="-120"/>
              </a:rPr>
              <a:t>BUSINESS CASE v2.0</a:t>
            </a:r>
            <a:endParaRPr lang="en-US" sz="1300" dirty="0"/>
          </a:p>
        </p:txBody>
      </p:sp>
      <p:sp>
        <p:nvSpPr>
          <p:cNvPr id="4" name="Text 2"/>
          <p:cNvSpPr/>
          <p:nvPr/>
        </p:nvSpPr>
        <p:spPr>
          <a:xfrm>
            <a:off x="640080" y="1188720"/>
            <a:ext cx="7772400" cy="685800"/>
          </a:xfrm>
          <a:prstGeom prst="rect">
            <a:avLst/>
          </a:prstGeom>
          <a:noFill/>
          <a:ln/>
        </p:spPr>
        <p:txBody>
          <a:bodyPr wrap="square" lIns="0" tIns="0" rIns="0" bIns="0" rtlCol="0" anchor="t"/>
          <a:lstStyle/>
          <a:p>
            <a:pPr marL="0" indent="0">
              <a:buNone/>
            </a:pPr>
            <a:r>
              <a:rPr lang="en-US" sz="3800" b="1" dirty="0">
                <a:solidFill>
                  <a:srgbClr val="FFFFFF"/>
                </a:solidFill>
                <a:latin typeface="Calibri" pitchFamily="34" charset="0"/>
                <a:ea typeface="Calibri" pitchFamily="34" charset="-122"/>
                <a:cs typeface="Calibri" pitchFamily="34" charset="-120"/>
              </a:rPr>
              <a:t>TN Manager e TN Manager Web</a:t>
            </a:r>
            <a:endParaRPr lang="en-US" sz="3800" dirty="0"/>
          </a:p>
        </p:txBody>
      </p:sp>
      <p:sp>
        <p:nvSpPr>
          <p:cNvPr id="5" name="Text 3"/>
          <p:cNvSpPr/>
          <p:nvPr/>
        </p:nvSpPr>
        <p:spPr>
          <a:xfrm>
            <a:off x="640080" y="1965960"/>
            <a:ext cx="6766560" cy="731520"/>
          </a:xfrm>
          <a:prstGeom prst="rect">
            <a:avLst/>
          </a:prstGeom>
          <a:noFill/>
          <a:ln/>
        </p:spPr>
        <p:txBody>
          <a:bodyPr wrap="square" lIns="0" tIns="0" rIns="0" bIns="0" rtlCol="0" anchor="t"/>
          <a:lstStyle/>
          <a:p>
            <a:pPr marL="0" indent="0">
              <a:buNone/>
            </a:pPr>
            <a:r>
              <a:rPr lang="en-US" sz="1600" i="1" dirty="0">
                <a:solidFill>
                  <a:srgbClr val="D6DEF0"/>
                </a:solidFill>
                <a:latin typeface="Calibri" pitchFamily="34" charset="0"/>
                <a:ea typeface="Calibri" pitchFamily="34" charset="-122"/>
                <a:cs typeface="Calibri" pitchFamily="34" charset="-120"/>
              </a:rPr>
              <a:t>Onde o produto gera valor e para quem: revisão do cliente-alvo, proposta de valor, produto mínimo e roadmap macro</a:t>
            </a:r>
            <a:endParaRPr lang="en-US" sz="1600" dirty="0"/>
          </a:p>
        </p:txBody>
      </p:sp>
      <p:sp>
        <p:nvSpPr>
          <p:cNvPr id="6" name="Text 4"/>
          <p:cNvSpPr/>
          <p:nvPr/>
        </p:nvSpPr>
        <p:spPr>
          <a:xfrm>
            <a:off x="640080" y="2612580"/>
            <a:ext cx="6400800" cy="5486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Nutreco – </a:t>
            </a:r>
            <a:r>
              <a:rPr lang="en-US" sz="1300" b="1" dirty="0" err="1">
                <a:solidFill>
                  <a:srgbClr val="FFFFFF"/>
                </a:solidFill>
                <a:latin typeface="Calibri" pitchFamily="34" charset="0"/>
                <a:ea typeface="Calibri" pitchFamily="34" charset="-122"/>
                <a:cs typeface="Calibri" pitchFamily="34" charset="-120"/>
              </a:rPr>
              <a:t>Trouw</a:t>
            </a:r>
            <a:r>
              <a:rPr lang="en-US" sz="1300" b="1" dirty="0">
                <a:solidFill>
                  <a:srgbClr val="FFFFFF"/>
                </a:solidFill>
                <a:latin typeface="Calibri" pitchFamily="34" charset="0"/>
                <a:ea typeface="Calibri" pitchFamily="34" charset="-122"/>
                <a:cs typeface="Calibri" pitchFamily="34" charset="-120"/>
              </a:rPr>
              <a:t> Nutrition</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Fase 2 do projeto TN Manager: Base Estratégica  |  Outubro de 2026</a:t>
            </a:r>
            <a:endParaRPr lang="en-US" sz="1300" dirty="0"/>
          </a:p>
        </p:txBody>
      </p:sp>
      <p:pic>
        <p:nvPicPr>
          <p:cNvPr id="7" name="Image 0" descr="preencoded.png"/>
          <p:cNvPicPr>
            <a:picLocks noChangeAspect="1"/>
          </p:cNvPicPr>
          <p:nvPr/>
        </p:nvPicPr>
        <p:blipFill>
          <a:blip r:embed="rId3"/>
          <a:stretch>
            <a:fillRect/>
          </a:stretch>
        </p:blipFill>
        <p:spPr>
          <a:xfrm>
            <a:off x="3200400" y="4121331"/>
            <a:ext cx="5943600" cy="1028700"/>
          </a:xfrm>
          <a:prstGeom prst="rect">
            <a:avLst/>
          </a:prstGeom>
        </p:spPr>
      </p:pic>
      <p:pic>
        <p:nvPicPr>
          <p:cNvPr id="8" name="Imagem 7" descr="Confinamento de gado: veja como fazer de maneira eficaz — CompreRural">
            <a:extLst>
              <a:ext uri="{FF2B5EF4-FFF2-40B4-BE49-F238E27FC236}">
                <a16:creationId xmlns:a16="http://schemas.microsoft.com/office/drawing/2014/main" id="{C6E60F84-3DD4-EA92-19AE-D3EA16319D3E}"/>
              </a:ext>
            </a:extLst>
          </p:cNvPr>
          <p:cNvPicPr>
            <a:picLocks noChangeAspect="1"/>
          </p:cNvPicPr>
          <p:nvPr/>
        </p:nvPicPr>
        <p:blipFill>
          <a:blip r:embed="rId4"/>
          <a:stretch>
            <a:fillRect/>
          </a:stretch>
        </p:blipFill>
        <p:spPr>
          <a:xfrm>
            <a:off x="4630783" y="3058900"/>
            <a:ext cx="4441371" cy="1973566"/>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Revisão do cliente-alvo: onde o TN Manager Web entra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A v1.0 mirou o quadrante mais disputado. A v2.0 propõe começar onde há dor e pouca oferta simples.</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38</a:t>
            </a:r>
            <a:endParaRPr lang="en-US" sz="900" dirty="0"/>
          </a:p>
        </p:txBody>
      </p:sp>
      <p:sp>
        <p:nvSpPr>
          <p:cNvPr id="6" name="Shape 3"/>
          <p:cNvSpPr/>
          <p:nvPr/>
        </p:nvSpPr>
        <p:spPr>
          <a:xfrm>
            <a:off x="1088136" y="1179576"/>
            <a:ext cx="2670048" cy="1481328"/>
          </a:xfrm>
          <a:prstGeom prst="rect">
            <a:avLst/>
          </a:prstGeom>
          <a:solidFill>
            <a:srgbClr val="FBE7F1"/>
          </a:solidFill>
          <a:ln/>
        </p:spPr>
        <p:txBody>
          <a:bodyPr/>
          <a:lstStyle/>
          <a:p>
            <a:endParaRPr lang="pt-BR"/>
          </a:p>
        </p:txBody>
      </p:sp>
      <p:sp>
        <p:nvSpPr>
          <p:cNvPr id="7" name="Shape 4"/>
          <p:cNvSpPr/>
          <p:nvPr/>
        </p:nvSpPr>
        <p:spPr>
          <a:xfrm>
            <a:off x="1234440" y="1325880"/>
            <a:ext cx="1097280" cy="219456"/>
          </a:xfrm>
          <a:prstGeom prst="roundRect">
            <a:avLst>
              <a:gd name="adj" fmla="val 50000"/>
            </a:avLst>
          </a:prstGeom>
          <a:solidFill>
            <a:srgbClr val="C8106E"/>
          </a:solidFill>
          <a:ln/>
        </p:spPr>
        <p:txBody>
          <a:bodyPr/>
          <a:lstStyle/>
          <a:p>
            <a:endParaRPr lang="pt-BR"/>
          </a:p>
        </p:txBody>
      </p:sp>
      <p:sp>
        <p:nvSpPr>
          <p:cNvPr id="8" name="Text 5"/>
          <p:cNvSpPr/>
          <p:nvPr/>
        </p:nvSpPr>
        <p:spPr>
          <a:xfrm>
            <a:off x="1234440" y="1325880"/>
            <a:ext cx="109728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PRIORIDADE 2</a:t>
            </a:r>
            <a:endParaRPr lang="en-US" sz="900" dirty="0"/>
          </a:p>
        </p:txBody>
      </p:sp>
      <p:sp>
        <p:nvSpPr>
          <p:cNvPr id="9" name="Text 6"/>
          <p:cNvSpPr/>
          <p:nvPr/>
        </p:nvSpPr>
        <p:spPr>
          <a:xfrm>
            <a:off x="1234440" y="1645920"/>
            <a:ext cx="2377440" cy="274320"/>
          </a:xfrm>
          <a:prstGeom prst="rect">
            <a:avLst/>
          </a:prstGeom>
          <a:noFill/>
          <a:ln/>
        </p:spPr>
        <p:txBody>
          <a:bodyPr wrap="square" lIns="0" tIns="0" rIns="0" bIns="0" rtlCol="0" anchor="t"/>
          <a:lstStyle/>
          <a:p>
            <a:pPr marL="0" indent="0">
              <a:buNone/>
            </a:pPr>
            <a:r>
              <a:rPr lang="en-US" sz="1300" b="1" dirty="0">
                <a:solidFill>
                  <a:srgbClr val="1B3A8C"/>
                </a:solidFill>
                <a:latin typeface="Calibri" pitchFamily="34" charset="0"/>
                <a:ea typeface="Calibri" pitchFamily="34" charset="-122"/>
                <a:cs typeface="Calibri" pitchFamily="34" charset="-120"/>
              </a:rPr>
              <a:t>Grande porte, registro manual</a:t>
            </a:r>
            <a:endParaRPr lang="en-US" sz="1300" dirty="0"/>
          </a:p>
        </p:txBody>
      </p:sp>
      <p:sp>
        <p:nvSpPr>
          <p:cNvPr id="10" name="Text 7"/>
          <p:cNvSpPr/>
          <p:nvPr/>
        </p:nvSpPr>
        <p:spPr>
          <a:xfrm>
            <a:off x="1234440" y="1947672"/>
            <a:ext cx="2377440" cy="685800"/>
          </a:xfrm>
          <a:prstGeom prst="rect">
            <a:avLst/>
          </a:prstGeom>
          <a:noFill/>
          <a:ln/>
        </p:spPr>
        <p:txBody>
          <a:bodyPr wrap="square" lIns="0" tIns="0" rIns="0" bIns="0" rtlCol="0" anchor="t"/>
          <a:lstStyle/>
          <a:p>
            <a:pPr marL="0" indent="0">
              <a:buNone/>
            </a:pPr>
            <a:r>
              <a:rPr lang="en-US" sz="1050" dirty="0">
                <a:solidFill>
                  <a:srgbClr val="4A5560"/>
                </a:solidFill>
                <a:latin typeface="Calibri" pitchFamily="34" charset="0"/>
                <a:ea typeface="Calibri" pitchFamily="34" charset="-122"/>
                <a:cs typeface="Calibri" pitchFamily="34" charset="-120"/>
              </a:rPr>
              <a:t>Alta dor e alto volume de produto. Segunda onda do TN Manager Web.</a:t>
            </a:r>
            <a:endParaRPr lang="en-US" sz="1050" dirty="0"/>
          </a:p>
        </p:txBody>
      </p:sp>
      <p:sp>
        <p:nvSpPr>
          <p:cNvPr id="11" name="Shape 8"/>
          <p:cNvSpPr/>
          <p:nvPr/>
        </p:nvSpPr>
        <p:spPr>
          <a:xfrm>
            <a:off x="3831336" y="1179576"/>
            <a:ext cx="2670048" cy="1481328"/>
          </a:xfrm>
          <a:prstGeom prst="rect">
            <a:avLst/>
          </a:prstGeom>
          <a:solidFill>
            <a:srgbClr val="F4F6F8"/>
          </a:solidFill>
          <a:ln/>
        </p:spPr>
        <p:txBody>
          <a:bodyPr/>
          <a:lstStyle/>
          <a:p>
            <a:endParaRPr lang="pt-BR"/>
          </a:p>
        </p:txBody>
      </p:sp>
      <p:sp>
        <p:nvSpPr>
          <p:cNvPr id="12" name="Shape 9"/>
          <p:cNvSpPr/>
          <p:nvPr/>
        </p:nvSpPr>
        <p:spPr>
          <a:xfrm>
            <a:off x="3977640" y="1325880"/>
            <a:ext cx="1097280" cy="219456"/>
          </a:xfrm>
          <a:prstGeom prst="roundRect">
            <a:avLst>
              <a:gd name="adj" fmla="val 50000"/>
            </a:avLst>
          </a:prstGeom>
          <a:solidFill>
            <a:srgbClr val="26668F"/>
          </a:solidFill>
          <a:ln/>
        </p:spPr>
        <p:txBody>
          <a:bodyPr/>
          <a:lstStyle/>
          <a:p>
            <a:endParaRPr lang="pt-BR"/>
          </a:p>
        </p:txBody>
      </p:sp>
      <p:sp>
        <p:nvSpPr>
          <p:cNvPr id="13" name="Text 10"/>
          <p:cNvSpPr/>
          <p:nvPr/>
        </p:nvSpPr>
        <p:spPr>
          <a:xfrm>
            <a:off x="3977640" y="1325880"/>
            <a:ext cx="109728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TN MANAGER</a:t>
            </a:r>
            <a:endParaRPr lang="en-US" sz="900" dirty="0"/>
          </a:p>
        </p:txBody>
      </p:sp>
      <p:sp>
        <p:nvSpPr>
          <p:cNvPr id="14" name="Text 11"/>
          <p:cNvSpPr/>
          <p:nvPr/>
        </p:nvSpPr>
        <p:spPr>
          <a:xfrm>
            <a:off x="3977640" y="1645920"/>
            <a:ext cx="2377440" cy="274320"/>
          </a:xfrm>
          <a:prstGeom prst="rect">
            <a:avLst/>
          </a:prstGeom>
          <a:noFill/>
          <a:ln/>
        </p:spPr>
        <p:txBody>
          <a:bodyPr wrap="square" lIns="0" tIns="0" rIns="0" bIns="0" rtlCol="0" anchor="t"/>
          <a:lstStyle/>
          <a:p>
            <a:pPr marL="0" indent="0">
              <a:buNone/>
            </a:pPr>
            <a:r>
              <a:rPr lang="en-US" sz="1300" b="1" dirty="0">
                <a:solidFill>
                  <a:srgbClr val="1B3A8C"/>
                </a:solidFill>
                <a:latin typeface="Calibri" pitchFamily="34" charset="0"/>
                <a:ea typeface="Calibri" pitchFamily="34" charset="-122"/>
                <a:cs typeface="Calibri" pitchFamily="34" charset="-120"/>
              </a:rPr>
              <a:t>Grande porte, automatizado</a:t>
            </a:r>
            <a:endParaRPr lang="en-US" sz="1300" dirty="0"/>
          </a:p>
        </p:txBody>
      </p:sp>
      <p:sp>
        <p:nvSpPr>
          <p:cNvPr id="15" name="Text 12"/>
          <p:cNvSpPr/>
          <p:nvPr/>
        </p:nvSpPr>
        <p:spPr>
          <a:xfrm>
            <a:off x="3977640" y="1947672"/>
            <a:ext cx="2377440" cy="685800"/>
          </a:xfrm>
          <a:prstGeom prst="rect">
            <a:avLst/>
          </a:prstGeom>
          <a:noFill/>
          <a:ln/>
        </p:spPr>
        <p:txBody>
          <a:bodyPr wrap="square" lIns="0" tIns="0" rIns="0" bIns="0" rtlCol="0" anchor="t"/>
          <a:lstStyle/>
          <a:p>
            <a:pPr marL="0" indent="0">
              <a:buNone/>
            </a:pPr>
            <a:r>
              <a:rPr lang="en-US" sz="1050" dirty="0">
                <a:solidFill>
                  <a:srgbClr val="4A5560"/>
                </a:solidFill>
                <a:latin typeface="Calibri" pitchFamily="34" charset="0"/>
                <a:ea typeface="Calibri" pitchFamily="34" charset="-122"/>
                <a:cs typeface="Calibri" pitchFamily="34" charset="-120"/>
              </a:rPr>
              <a:t>Foco da v1.0. Disputado por Cargill e DSM/Prodap. Território do TN Manager completo.</a:t>
            </a:r>
            <a:endParaRPr lang="en-US" sz="1050" dirty="0"/>
          </a:p>
        </p:txBody>
      </p:sp>
      <p:sp>
        <p:nvSpPr>
          <p:cNvPr id="16" name="Shape 13"/>
          <p:cNvSpPr/>
          <p:nvPr/>
        </p:nvSpPr>
        <p:spPr>
          <a:xfrm>
            <a:off x="1088136" y="2734056"/>
            <a:ext cx="2670048" cy="1481328"/>
          </a:xfrm>
          <a:prstGeom prst="rect">
            <a:avLst/>
          </a:prstGeom>
          <a:solidFill>
            <a:srgbClr val="C8106E"/>
          </a:solidFill>
          <a:ln/>
        </p:spPr>
        <p:txBody>
          <a:bodyPr/>
          <a:lstStyle/>
          <a:p>
            <a:endParaRPr lang="pt-BR"/>
          </a:p>
        </p:txBody>
      </p:sp>
      <p:sp>
        <p:nvSpPr>
          <p:cNvPr id="17" name="Shape 14"/>
          <p:cNvSpPr/>
          <p:nvPr/>
        </p:nvSpPr>
        <p:spPr>
          <a:xfrm>
            <a:off x="1234440" y="2880360"/>
            <a:ext cx="1097280" cy="219456"/>
          </a:xfrm>
          <a:prstGeom prst="roundRect">
            <a:avLst>
              <a:gd name="adj" fmla="val 50000"/>
            </a:avLst>
          </a:prstGeom>
          <a:solidFill>
            <a:srgbClr val="1B3A8C"/>
          </a:solidFill>
          <a:ln/>
        </p:spPr>
        <p:txBody>
          <a:bodyPr/>
          <a:lstStyle/>
          <a:p>
            <a:endParaRPr lang="pt-BR"/>
          </a:p>
        </p:txBody>
      </p:sp>
      <p:sp>
        <p:nvSpPr>
          <p:cNvPr id="18" name="Text 15"/>
          <p:cNvSpPr/>
          <p:nvPr/>
        </p:nvSpPr>
        <p:spPr>
          <a:xfrm>
            <a:off x="1234440" y="2880360"/>
            <a:ext cx="109728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PILOTO</a:t>
            </a:r>
            <a:endParaRPr lang="en-US" sz="900" dirty="0"/>
          </a:p>
        </p:txBody>
      </p:sp>
      <p:sp>
        <p:nvSpPr>
          <p:cNvPr id="19" name="Text 16"/>
          <p:cNvSpPr/>
          <p:nvPr/>
        </p:nvSpPr>
        <p:spPr>
          <a:xfrm>
            <a:off x="1234440" y="3200400"/>
            <a:ext cx="2377440"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Médio porte, registro manual</a:t>
            </a:r>
            <a:endParaRPr lang="en-US" sz="1300" dirty="0"/>
          </a:p>
        </p:txBody>
      </p:sp>
      <p:sp>
        <p:nvSpPr>
          <p:cNvPr id="20" name="Text 17"/>
          <p:cNvSpPr/>
          <p:nvPr/>
        </p:nvSpPr>
        <p:spPr>
          <a:xfrm>
            <a:off x="1234440" y="3502152"/>
            <a:ext cx="2377440" cy="685800"/>
          </a:xfrm>
          <a:prstGeom prst="rect">
            <a:avLst/>
          </a:prstGeom>
          <a:noFill/>
          <a:ln/>
        </p:spPr>
        <p:txBody>
          <a:bodyPr wrap="square" lIns="0" tIns="0" rIns="0" bIns="0" rtlCol="0" anchor="t"/>
          <a:lstStyle/>
          <a:p>
            <a:pPr marL="0" indent="0">
              <a:buNone/>
            </a:pPr>
            <a:r>
              <a:rPr lang="en-US" sz="1050" dirty="0">
                <a:solidFill>
                  <a:srgbClr val="FFFFFF"/>
                </a:solidFill>
                <a:latin typeface="Calibri" pitchFamily="34" charset="0"/>
                <a:ea typeface="Calibri" pitchFamily="34" charset="-122"/>
                <a:cs typeface="Calibri" pitchFamily="34" charset="-120"/>
              </a:rPr>
              <a:t>Mais fazendas e menos software simples disponível. Ponto de entrada sugerido para o piloto.</a:t>
            </a:r>
            <a:endParaRPr lang="en-US" sz="1050" dirty="0"/>
          </a:p>
        </p:txBody>
      </p:sp>
      <p:sp>
        <p:nvSpPr>
          <p:cNvPr id="21" name="Shape 18"/>
          <p:cNvSpPr/>
          <p:nvPr/>
        </p:nvSpPr>
        <p:spPr>
          <a:xfrm>
            <a:off x="3831336" y="2734056"/>
            <a:ext cx="2670048" cy="1481328"/>
          </a:xfrm>
          <a:prstGeom prst="rect">
            <a:avLst/>
          </a:prstGeom>
          <a:solidFill>
            <a:srgbClr val="F4F6F8"/>
          </a:solidFill>
          <a:ln/>
        </p:spPr>
        <p:txBody>
          <a:bodyPr/>
          <a:lstStyle/>
          <a:p>
            <a:endParaRPr lang="pt-BR"/>
          </a:p>
        </p:txBody>
      </p:sp>
      <p:sp>
        <p:nvSpPr>
          <p:cNvPr id="22" name="Shape 19"/>
          <p:cNvSpPr/>
          <p:nvPr/>
        </p:nvSpPr>
        <p:spPr>
          <a:xfrm>
            <a:off x="3977640" y="2880360"/>
            <a:ext cx="1097280" cy="219456"/>
          </a:xfrm>
          <a:prstGeom prst="roundRect">
            <a:avLst>
              <a:gd name="adj" fmla="val 50000"/>
            </a:avLst>
          </a:prstGeom>
          <a:solidFill>
            <a:srgbClr val="7A858F"/>
          </a:solidFill>
          <a:ln/>
        </p:spPr>
        <p:txBody>
          <a:bodyPr/>
          <a:lstStyle/>
          <a:p>
            <a:endParaRPr lang="pt-BR"/>
          </a:p>
        </p:txBody>
      </p:sp>
      <p:sp>
        <p:nvSpPr>
          <p:cNvPr id="23" name="Text 20"/>
          <p:cNvSpPr/>
          <p:nvPr/>
        </p:nvSpPr>
        <p:spPr>
          <a:xfrm>
            <a:off x="3977640" y="2880360"/>
            <a:ext cx="109728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AVALIAR</a:t>
            </a:r>
            <a:endParaRPr lang="en-US" sz="900" dirty="0"/>
          </a:p>
        </p:txBody>
      </p:sp>
      <p:sp>
        <p:nvSpPr>
          <p:cNvPr id="24" name="Text 21"/>
          <p:cNvSpPr/>
          <p:nvPr/>
        </p:nvSpPr>
        <p:spPr>
          <a:xfrm>
            <a:off x="3977640" y="3200400"/>
            <a:ext cx="2377440" cy="274320"/>
          </a:xfrm>
          <a:prstGeom prst="rect">
            <a:avLst/>
          </a:prstGeom>
          <a:noFill/>
          <a:ln/>
        </p:spPr>
        <p:txBody>
          <a:bodyPr wrap="square" lIns="0" tIns="0" rIns="0" bIns="0" rtlCol="0" anchor="t"/>
          <a:lstStyle/>
          <a:p>
            <a:pPr marL="0" indent="0">
              <a:buNone/>
            </a:pPr>
            <a:r>
              <a:rPr lang="en-US" sz="1300" b="1" dirty="0">
                <a:solidFill>
                  <a:srgbClr val="1B3A8C"/>
                </a:solidFill>
                <a:latin typeface="Calibri" pitchFamily="34" charset="0"/>
                <a:ea typeface="Calibri" pitchFamily="34" charset="-122"/>
                <a:cs typeface="Calibri" pitchFamily="34" charset="-120"/>
              </a:rPr>
              <a:t>Médio porte, automatizado</a:t>
            </a:r>
            <a:endParaRPr lang="en-US" sz="1300" dirty="0"/>
          </a:p>
        </p:txBody>
      </p:sp>
      <p:sp>
        <p:nvSpPr>
          <p:cNvPr id="25" name="Text 22"/>
          <p:cNvSpPr/>
          <p:nvPr/>
        </p:nvSpPr>
        <p:spPr>
          <a:xfrm>
            <a:off x="3977640" y="3502152"/>
            <a:ext cx="2377440" cy="685800"/>
          </a:xfrm>
          <a:prstGeom prst="rect">
            <a:avLst/>
          </a:prstGeom>
          <a:noFill/>
          <a:ln/>
        </p:spPr>
        <p:txBody>
          <a:bodyPr wrap="square" lIns="0" tIns="0" rIns="0" bIns="0" rtlCol="0" anchor="t"/>
          <a:lstStyle/>
          <a:p>
            <a:pPr marL="0" indent="0">
              <a:buNone/>
            </a:pPr>
            <a:r>
              <a:rPr lang="en-US" sz="1050" dirty="0">
                <a:solidFill>
                  <a:srgbClr val="4A5560"/>
                </a:solidFill>
                <a:latin typeface="Calibri" pitchFamily="34" charset="0"/>
                <a:ea typeface="Calibri" pitchFamily="34" charset="-122"/>
                <a:cs typeface="Calibri" pitchFamily="34" charset="-120"/>
              </a:rPr>
              <a:t>Já usa alguma ferramenta. Avaliar troca ou integração em versão futura.</a:t>
            </a:r>
            <a:endParaRPr lang="en-US" sz="1050" dirty="0"/>
          </a:p>
        </p:txBody>
      </p:sp>
      <p:sp>
        <p:nvSpPr>
          <p:cNvPr id="26" name="Text 23"/>
          <p:cNvSpPr/>
          <p:nvPr/>
        </p:nvSpPr>
        <p:spPr>
          <a:xfrm>
            <a:off x="320040" y="1143000"/>
            <a:ext cx="640080" cy="274320"/>
          </a:xfrm>
          <a:prstGeom prst="rect">
            <a:avLst/>
          </a:prstGeom>
          <a:noFill/>
          <a:ln/>
        </p:spPr>
        <p:txBody>
          <a:bodyPr wrap="square" lIns="0" tIns="0" rIns="0" bIns="0" rtlCol="0" anchor="t"/>
          <a:lstStyle/>
          <a:p>
            <a:pPr marL="0" indent="0">
              <a:buNone/>
            </a:pPr>
            <a:r>
              <a:rPr lang="en-US" sz="1000" b="1" dirty="0">
                <a:solidFill>
                  <a:srgbClr val="1B3A8C"/>
                </a:solidFill>
                <a:latin typeface="Calibri" pitchFamily="34" charset="0"/>
                <a:ea typeface="Calibri" pitchFamily="34" charset="-122"/>
                <a:cs typeface="Calibri" pitchFamily="34" charset="-120"/>
              </a:rPr>
              <a:t>Porte</a:t>
            </a:r>
            <a:endParaRPr lang="en-US" sz="1000" dirty="0"/>
          </a:p>
        </p:txBody>
      </p:sp>
      <p:sp>
        <p:nvSpPr>
          <p:cNvPr id="27" name="Text 24"/>
          <p:cNvSpPr/>
          <p:nvPr/>
        </p:nvSpPr>
        <p:spPr>
          <a:xfrm>
            <a:off x="320040" y="1920240"/>
            <a:ext cx="685800" cy="274320"/>
          </a:xfrm>
          <a:prstGeom prst="rect">
            <a:avLst/>
          </a:prstGeom>
          <a:noFill/>
          <a:ln/>
        </p:spPr>
        <p:txBody>
          <a:bodyPr wrap="square" lIns="0" tIns="0" rIns="0" bIns="0" rtlCol="0" anchor="t"/>
          <a:lstStyle/>
          <a:p>
            <a:pPr marL="0" indent="0">
              <a:buNone/>
            </a:pPr>
            <a:r>
              <a:rPr lang="en-US" sz="1000" dirty="0">
                <a:solidFill>
                  <a:srgbClr val="7A858F"/>
                </a:solidFill>
                <a:latin typeface="Calibri" pitchFamily="34" charset="0"/>
                <a:ea typeface="Calibri" pitchFamily="34" charset="-122"/>
                <a:cs typeface="Calibri" pitchFamily="34" charset="-120"/>
              </a:rPr>
              <a:t>Grande</a:t>
            </a:r>
            <a:endParaRPr lang="en-US" sz="1000" dirty="0"/>
          </a:p>
        </p:txBody>
      </p:sp>
      <p:sp>
        <p:nvSpPr>
          <p:cNvPr id="28" name="Text 25"/>
          <p:cNvSpPr/>
          <p:nvPr/>
        </p:nvSpPr>
        <p:spPr>
          <a:xfrm>
            <a:off x="320040" y="3474720"/>
            <a:ext cx="685800" cy="274320"/>
          </a:xfrm>
          <a:prstGeom prst="rect">
            <a:avLst/>
          </a:prstGeom>
          <a:noFill/>
          <a:ln/>
        </p:spPr>
        <p:txBody>
          <a:bodyPr wrap="square" lIns="0" tIns="0" rIns="0" bIns="0" rtlCol="0" anchor="t"/>
          <a:lstStyle/>
          <a:p>
            <a:pPr marL="0" indent="0">
              <a:buNone/>
            </a:pPr>
            <a:r>
              <a:rPr lang="en-US" sz="1000" dirty="0">
                <a:solidFill>
                  <a:srgbClr val="7A858F"/>
                </a:solidFill>
                <a:latin typeface="Calibri" pitchFamily="34" charset="0"/>
                <a:ea typeface="Calibri" pitchFamily="34" charset="-122"/>
                <a:cs typeface="Calibri" pitchFamily="34" charset="-120"/>
              </a:rPr>
              <a:t>Médio</a:t>
            </a:r>
            <a:endParaRPr lang="en-US" sz="1000" dirty="0"/>
          </a:p>
        </p:txBody>
      </p:sp>
      <p:sp>
        <p:nvSpPr>
          <p:cNvPr id="29" name="Text 26"/>
          <p:cNvSpPr/>
          <p:nvPr/>
        </p:nvSpPr>
        <p:spPr>
          <a:xfrm>
            <a:off x="1051560" y="4306824"/>
            <a:ext cx="2743200" cy="228600"/>
          </a:xfrm>
          <a:prstGeom prst="rect">
            <a:avLst/>
          </a:prstGeom>
          <a:noFill/>
          <a:ln/>
        </p:spPr>
        <p:txBody>
          <a:bodyPr wrap="square" lIns="0" tIns="0" rIns="0" bIns="0" rtlCol="0" anchor="t"/>
          <a:lstStyle/>
          <a:p>
            <a:pPr marL="0" indent="0" algn="ctr">
              <a:buNone/>
            </a:pPr>
            <a:r>
              <a:rPr lang="en-US" sz="1000" dirty="0">
                <a:solidFill>
                  <a:srgbClr val="7A858F"/>
                </a:solidFill>
                <a:latin typeface="Calibri" pitchFamily="34" charset="0"/>
                <a:ea typeface="Calibri" pitchFamily="34" charset="-122"/>
                <a:cs typeface="Calibri" pitchFamily="34" charset="-120"/>
              </a:rPr>
              <a:t>Registro manual ou planilha</a:t>
            </a:r>
            <a:endParaRPr lang="en-US" sz="1000" dirty="0"/>
          </a:p>
        </p:txBody>
      </p:sp>
      <p:sp>
        <p:nvSpPr>
          <p:cNvPr id="30" name="Text 27"/>
          <p:cNvSpPr/>
          <p:nvPr/>
        </p:nvSpPr>
        <p:spPr>
          <a:xfrm>
            <a:off x="3794760" y="4306824"/>
            <a:ext cx="2743200" cy="228600"/>
          </a:xfrm>
          <a:prstGeom prst="rect">
            <a:avLst/>
          </a:prstGeom>
          <a:noFill/>
          <a:ln/>
        </p:spPr>
        <p:txBody>
          <a:bodyPr wrap="square" lIns="0" tIns="0" rIns="0" bIns="0" rtlCol="0" anchor="t"/>
          <a:lstStyle/>
          <a:p>
            <a:pPr marL="0" indent="0" algn="ctr">
              <a:buNone/>
            </a:pPr>
            <a:r>
              <a:rPr lang="en-US" sz="1000" dirty="0">
                <a:solidFill>
                  <a:srgbClr val="7A858F"/>
                </a:solidFill>
                <a:latin typeface="Calibri" pitchFamily="34" charset="0"/>
                <a:ea typeface="Calibri" pitchFamily="34" charset="-122"/>
                <a:cs typeface="Calibri" pitchFamily="34" charset="-120"/>
              </a:rPr>
              <a:t>Balança, vagão e software</a:t>
            </a:r>
            <a:endParaRPr lang="en-US" sz="1000" dirty="0"/>
          </a:p>
        </p:txBody>
      </p:sp>
      <p:sp>
        <p:nvSpPr>
          <p:cNvPr id="31" name="Text 28"/>
          <p:cNvSpPr/>
          <p:nvPr/>
        </p:nvSpPr>
        <p:spPr>
          <a:xfrm>
            <a:off x="1051560" y="4526280"/>
            <a:ext cx="5486400" cy="228600"/>
          </a:xfrm>
          <a:prstGeom prst="rect">
            <a:avLst/>
          </a:prstGeom>
          <a:noFill/>
          <a:ln/>
        </p:spPr>
        <p:txBody>
          <a:bodyPr wrap="square" lIns="0" tIns="0" rIns="0" bIns="0" rtlCol="0" anchor="t"/>
          <a:lstStyle/>
          <a:p>
            <a:pPr marL="0" indent="0" algn="ctr">
              <a:buNone/>
            </a:pPr>
            <a:r>
              <a:rPr lang="en-US" sz="1000" b="1" dirty="0">
                <a:solidFill>
                  <a:srgbClr val="1B3A8C"/>
                </a:solidFill>
                <a:latin typeface="Calibri" pitchFamily="34" charset="0"/>
                <a:ea typeface="Calibri" pitchFamily="34" charset="-122"/>
                <a:cs typeface="Calibri" pitchFamily="34" charset="-120"/>
              </a:rPr>
              <a:t>Maturidade de gestão de dados</a:t>
            </a:r>
            <a:endParaRPr lang="en-US" sz="1000" dirty="0"/>
          </a:p>
        </p:txBody>
      </p:sp>
      <p:sp>
        <p:nvSpPr>
          <p:cNvPr id="32" name="Shape 29"/>
          <p:cNvSpPr/>
          <p:nvPr/>
        </p:nvSpPr>
        <p:spPr>
          <a:xfrm>
            <a:off x="6812280" y="1143000"/>
            <a:ext cx="1920240" cy="3108960"/>
          </a:xfrm>
          <a:prstGeom prst="rect">
            <a:avLst/>
          </a:prstGeom>
          <a:solidFill>
            <a:srgbClr val="1B3A8C"/>
          </a:solidFill>
          <a:ln/>
        </p:spPr>
        <p:txBody>
          <a:bodyPr/>
          <a:lstStyle/>
          <a:p>
            <a:endParaRPr lang="pt-BR"/>
          </a:p>
        </p:txBody>
      </p:sp>
      <p:sp>
        <p:nvSpPr>
          <p:cNvPr id="33" name="Text 30"/>
          <p:cNvSpPr/>
          <p:nvPr/>
        </p:nvSpPr>
        <p:spPr>
          <a:xfrm>
            <a:off x="6967728" y="1280160"/>
            <a:ext cx="1645920" cy="274320"/>
          </a:xfrm>
          <a:prstGeom prst="rect">
            <a:avLst/>
          </a:prstGeom>
          <a:noFill/>
          <a:ln/>
        </p:spPr>
        <p:txBody>
          <a:bodyPr wrap="square" lIns="0" tIns="0" rIns="0" bIns="0" rtlCol="0" anchor="t"/>
          <a:lstStyle/>
          <a:p>
            <a:pPr marL="0" indent="0">
              <a:buNone/>
            </a:pPr>
            <a:r>
              <a:rPr lang="en-US" sz="1200" b="1" dirty="0">
                <a:solidFill>
                  <a:srgbClr val="C5D300"/>
                </a:solidFill>
                <a:latin typeface="Calibri" pitchFamily="34" charset="0"/>
                <a:ea typeface="Calibri" pitchFamily="34" charset="-122"/>
                <a:cs typeface="Calibri" pitchFamily="34" charset="-120"/>
              </a:rPr>
              <a:t>Por que mudar o foco</a:t>
            </a:r>
            <a:endParaRPr lang="en-US" sz="1200" dirty="0"/>
          </a:p>
        </p:txBody>
      </p:sp>
      <p:sp>
        <p:nvSpPr>
          <p:cNvPr id="34" name="Text 31"/>
          <p:cNvSpPr/>
          <p:nvPr/>
        </p:nvSpPr>
        <p:spPr>
          <a:xfrm>
            <a:off x="6967728" y="1627632"/>
            <a:ext cx="1645920" cy="2560320"/>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Quem já tem balança e vagão compara o TN Manager com sistemas maduros e equipes de campo maiores.</a:t>
            </a:r>
            <a:endParaRPr lang="en-US" sz="1000" dirty="0"/>
          </a:p>
          <a:p>
            <a:pPr marL="0" indent="0">
              <a:buNone/>
            </a:pPr>
            <a:r>
              <a:rPr lang="en-US" sz="500" dirty="0">
                <a:solidFill>
                  <a:srgbClr val="FFFFFF"/>
                </a:solidFill>
                <a:latin typeface="Calibri" pitchFamily="34" charset="0"/>
                <a:ea typeface="Calibri" pitchFamily="34" charset="-122"/>
                <a:cs typeface="Calibri" pitchFamily="34" charset="-120"/>
              </a:rPr>
              <a:t> </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Quem registra no papel compara com o caderno. Um produto simples já entrega ganho visível.</a:t>
            </a:r>
            <a:endParaRPr lang="en-US" sz="1000" dirty="0"/>
          </a:p>
          <a:p>
            <a:pPr marL="0" indent="0">
              <a:buNone/>
            </a:pPr>
            <a:r>
              <a:rPr lang="en-US" sz="500" dirty="0">
                <a:solidFill>
                  <a:srgbClr val="FFFFFF"/>
                </a:solidFill>
                <a:latin typeface="Calibri" pitchFamily="34" charset="0"/>
                <a:ea typeface="Calibri" pitchFamily="34" charset="-122"/>
                <a:cs typeface="Calibri" pitchFamily="34" charset="-120"/>
              </a:rPr>
              <a:t> </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O discovery confirma porte mínimo e tamanho de cada quadrante.</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Proposta de valor: canvas para o TN Manager Web</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Lado esquerdo: o que entregamos. Lado direito: o que o confinamento precisa. Hipóteses para o discovery.</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39</a:t>
            </a:r>
            <a:endParaRPr lang="en-US" sz="900" dirty="0"/>
          </a:p>
        </p:txBody>
      </p:sp>
      <p:sp>
        <p:nvSpPr>
          <p:cNvPr id="6" name="Text 3"/>
          <p:cNvSpPr/>
          <p:nvPr/>
        </p:nvSpPr>
        <p:spPr>
          <a:xfrm>
            <a:off x="457200" y="1097280"/>
            <a:ext cx="3840480" cy="228600"/>
          </a:xfrm>
          <a:prstGeom prst="rect">
            <a:avLst/>
          </a:prstGeom>
          <a:noFill/>
          <a:ln/>
        </p:spPr>
        <p:txBody>
          <a:bodyPr wrap="square" lIns="0" tIns="0" rIns="0" bIns="0" rtlCol="0" anchor="t"/>
          <a:lstStyle/>
          <a:p>
            <a:pPr marL="0" indent="0">
              <a:buNone/>
            </a:pPr>
            <a:r>
              <a:rPr lang="en-US" sz="1000" b="1" kern="0" spc="200" dirty="0">
                <a:solidFill>
                  <a:srgbClr val="1B3A8C"/>
                </a:solidFill>
                <a:latin typeface="Calibri" pitchFamily="34" charset="0"/>
                <a:ea typeface="Calibri" pitchFamily="34" charset="-122"/>
                <a:cs typeface="Calibri" pitchFamily="34" charset="-120"/>
              </a:rPr>
              <a:t>MAPA DE VALOR</a:t>
            </a:r>
            <a:endParaRPr lang="en-US" sz="1000" dirty="0"/>
          </a:p>
        </p:txBody>
      </p:sp>
      <p:sp>
        <p:nvSpPr>
          <p:cNvPr id="7" name="Text 4"/>
          <p:cNvSpPr/>
          <p:nvPr/>
        </p:nvSpPr>
        <p:spPr>
          <a:xfrm>
            <a:off x="4846320" y="1097280"/>
            <a:ext cx="3840480" cy="228600"/>
          </a:xfrm>
          <a:prstGeom prst="rect">
            <a:avLst/>
          </a:prstGeom>
          <a:noFill/>
          <a:ln/>
        </p:spPr>
        <p:txBody>
          <a:bodyPr wrap="square" lIns="0" tIns="0" rIns="0" bIns="0" rtlCol="0" anchor="t"/>
          <a:lstStyle/>
          <a:p>
            <a:pPr marL="0" indent="0">
              <a:buNone/>
            </a:pPr>
            <a:r>
              <a:rPr lang="en-US" sz="1000" b="1" kern="0" spc="200" dirty="0">
                <a:solidFill>
                  <a:srgbClr val="C8106E"/>
                </a:solidFill>
                <a:latin typeface="Calibri" pitchFamily="34" charset="0"/>
                <a:ea typeface="Calibri" pitchFamily="34" charset="-122"/>
                <a:cs typeface="Calibri" pitchFamily="34" charset="-120"/>
              </a:rPr>
              <a:t>PERFIL DO CLIENTE</a:t>
            </a:r>
            <a:endParaRPr lang="en-US" sz="1000" dirty="0"/>
          </a:p>
        </p:txBody>
      </p:sp>
      <p:sp>
        <p:nvSpPr>
          <p:cNvPr id="8" name="Shape 5"/>
          <p:cNvSpPr/>
          <p:nvPr/>
        </p:nvSpPr>
        <p:spPr>
          <a:xfrm>
            <a:off x="457200" y="1371600"/>
            <a:ext cx="1783080" cy="2926080"/>
          </a:xfrm>
          <a:prstGeom prst="rect">
            <a:avLst/>
          </a:prstGeom>
          <a:solidFill>
            <a:srgbClr val="FFFFFF"/>
          </a:solidFill>
          <a:ln w="12700">
            <a:solidFill>
              <a:srgbClr val="1B3A8C"/>
            </a:solidFill>
            <a:prstDash val="solid"/>
          </a:ln>
        </p:spPr>
        <p:txBody>
          <a:bodyPr/>
          <a:lstStyle/>
          <a:p>
            <a:endParaRPr lang="pt-BR"/>
          </a:p>
        </p:txBody>
      </p:sp>
      <p:sp>
        <p:nvSpPr>
          <p:cNvPr id="9" name="Shape 6"/>
          <p:cNvSpPr/>
          <p:nvPr/>
        </p:nvSpPr>
        <p:spPr>
          <a:xfrm>
            <a:off x="457200" y="1371600"/>
            <a:ext cx="1783080" cy="274320"/>
          </a:xfrm>
          <a:prstGeom prst="rect">
            <a:avLst/>
          </a:prstGeom>
          <a:solidFill>
            <a:srgbClr val="1B3A8C"/>
          </a:solidFill>
          <a:ln/>
        </p:spPr>
        <p:txBody>
          <a:bodyPr/>
          <a:lstStyle/>
          <a:p>
            <a:endParaRPr lang="pt-BR"/>
          </a:p>
        </p:txBody>
      </p:sp>
      <p:sp>
        <p:nvSpPr>
          <p:cNvPr id="10" name="Text 7"/>
          <p:cNvSpPr/>
          <p:nvPr/>
        </p:nvSpPr>
        <p:spPr>
          <a:xfrm>
            <a:off x="548640" y="1371600"/>
            <a:ext cx="160020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Produto e serviço</a:t>
            </a:r>
            <a:endParaRPr lang="en-US" sz="1050" dirty="0"/>
          </a:p>
        </p:txBody>
      </p:sp>
      <p:sp>
        <p:nvSpPr>
          <p:cNvPr id="11" name="Text 8"/>
          <p:cNvSpPr/>
          <p:nvPr/>
        </p:nvSpPr>
        <p:spPr>
          <a:xfrm>
            <a:off x="512064" y="1700784"/>
            <a:ext cx="1673352" cy="256032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Aplicação web com lançamento manual</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Painel com poucos indicadores</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Relatório semanal automático</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Acompanhamento do técnico TN</a:t>
            </a:r>
            <a:endParaRPr lang="en-US" sz="900" dirty="0"/>
          </a:p>
        </p:txBody>
      </p:sp>
      <p:sp>
        <p:nvSpPr>
          <p:cNvPr id="12" name="Shape 9"/>
          <p:cNvSpPr/>
          <p:nvPr/>
        </p:nvSpPr>
        <p:spPr>
          <a:xfrm>
            <a:off x="2331720" y="1371600"/>
            <a:ext cx="1965960" cy="1417320"/>
          </a:xfrm>
          <a:prstGeom prst="rect">
            <a:avLst/>
          </a:prstGeom>
          <a:solidFill>
            <a:srgbClr val="FFFFFF"/>
          </a:solidFill>
          <a:ln w="12700">
            <a:solidFill>
              <a:srgbClr val="26668F"/>
            </a:solidFill>
            <a:prstDash val="solid"/>
          </a:ln>
        </p:spPr>
        <p:txBody>
          <a:bodyPr/>
          <a:lstStyle/>
          <a:p>
            <a:endParaRPr lang="pt-BR"/>
          </a:p>
        </p:txBody>
      </p:sp>
      <p:sp>
        <p:nvSpPr>
          <p:cNvPr id="13" name="Shape 10"/>
          <p:cNvSpPr/>
          <p:nvPr/>
        </p:nvSpPr>
        <p:spPr>
          <a:xfrm>
            <a:off x="2331720" y="1371600"/>
            <a:ext cx="1965960" cy="274320"/>
          </a:xfrm>
          <a:prstGeom prst="rect">
            <a:avLst/>
          </a:prstGeom>
          <a:solidFill>
            <a:srgbClr val="26668F"/>
          </a:solidFill>
          <a:ln/>
        </p:spPr>
        <p:txBody>
          <a:bodyPr/>
          <a:lstStyle/>
          <a:p>
            <a:endParaRPr lang="pt-BR"/>
          </a:p>
        </p:txBody>
      </p:sp>
      <p:sp>
        <p:nvSpPr>
          <p:cNvPr id="14" name="Text 11"/>
          <p:cNvSpPr/>
          <p:nvPr/>
        </p:nvSpPr>
        <p:spPr>
          <a:xfrm>
            <a:off x="2423160" y="1371600"/>
            <a:ext cx="178308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Aliviadores de dor</a:t>
            </a:r>
            <a:endParaRPr lang="en-US" sz="1050" dirty="0"/>
          </a:p>
        </p:txBody>
      </p:sp>
      <p:sp>
        <p:nvSpPr>
          <p:cNvPr id="15" name="Text 12"/>
          <p:cNvSpPr/>
          <p:nvPr/>
        </p:nvSpPr>
        <p:spPr>
          <a:xfrm>
            <a:off x="2386584" y="1700784"/>
            <a:ext cx="1856232" cy="105156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Formulários padronizados e curtos</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Sem custo de licença para o cliente</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Suporte de quem já visita a fazenda</a:t>
            </a:r>
            <a:endParaRPr lang="en-US" sz="900" dirty="0"/>
          </a:p>
        </p:txBody>
      </p:sp>
      <p:sp>
        <p:nvSpPr>
          <p:cNvPr id="16" name="Shape 13"/>
          <p:cNvSpPr/>
          <p:nvPr/>
        </p:nvSpPr>
        <p:spPr>
          <a:xfrm>
            <a:off x="2331720" y="2880360"/>
            <a:ext cx="1965960" cy="1417320"/>
          </a:xfrm>
          <a:prstGeom prst="rect">
            <a:avLst/>
          </a:prstGeom>
          <a:solidFill>
            <a:srgbClr val="FFFFFF"/>
          </a:solidFill>
          <a:ln w="12700">
            <a:solidFill>
              <a:srgbClr val="0096B4"/>
            </a:solidFill>
            <a:prstDash val="solid"/>
          </a:ln>
        </p:spPr>
        <p:txBody>
          <a:bodyPr/>
          <a:lstStyle/>
          <a:p>
            <a:endParaRPr lang="pt-BR"/>
          </a:p>
        </p:txBody>
      </p:sp>
      <p:sp>
        <p:nvSpPr>
          <p:cNvPr id="17" name="Shape 14"/>
          <p:cNvSpPr/>
          <p:nvPr/>
        </p:nvSpPr>
        <p:spPr>
          <a:xfrm>
            <a:off x="2331720" y="2880360"/>
            <a:ext cx="1965960" cy="274320"/>
          </a:xfrm>
          <a:prstGeom prst="rect">
            <a:avLst/>
          </a:prstGeom>
          <a:solidFill>
            <a:srgbClr val="0096B4"/>
          </a:solidFill>
          <a:ln/>
        </p:spPr>
        <p:txBody>
          <a:bodyPr/>
          <a:lstStyle/>
          <a:p>
            <a:endParaRPr lang="pt-BR"/>
          </a:p>
        </p:txBody>
      </p:sp>
      <p:sp>
        <p:nvSpPr>
          <p:cNvPr id="18" name="Text 15"/>
          <p:cNvSpPr/>
          <p:nvPr/>
        </p:nvSpPr>
        <p:spPr>
          <a:xfrm>
            <a:off x="2423160" y="2880360"/>
            <a:ext cx="178308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Criadores de ganho</a:t>
            </a:r>
            <a:endParaRPr lang="en-US" sz="1050" dirty="0"/>
          </a:p>
        </p:txBody>
      </p:sp>
      <p:sp>
        <p:nvSpPr>
          <p:cNvPr id="19" name="Text 16"/>
          <p:cNvSpPr/>
          <p:nvPr/>
        </p:nvSpPr>
        <p:spPr>
          <a:xfrm>
            <a:off x="2386584" y="3209544"/>
            <a:ext cx="1856232" cy="105156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Relatório pronto para o dono</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Recomendação de ajuste de dieta</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Comparativo entre lotes</a:t>
            </a:r>
            <a:endParaRPr lang="en-US" sz="900" dirty="0"/>
          </a:p>
        </p:txBody>
      </p:sp>
      <p:sp>
        <p:nvSpPr>
          <p:cNvPr id="20" name="Shape 17"/>
          <p:cNvSpPr/>
          <p:nvPr/>
        </p:nvSpPr>
        <p:spPr>
          <a:xfrm>
            <a:off x="4846320" y="1371600"/>
            <a:ext cx="1965960" cy="1417320"/>
          </a:xfrm>
          <a:prstGeom prst="rect">
            <a:avLst/>
          </a:prstGeom>
          <a:solidFill>
            <a:srgbClr val="FFFFFF"/>
          </a:solidFill>
          <a:ln w="12700">
            <a:solidFill>
              <a:srgbClr val="C8106E"/>
            </a:solidFill>
            <a:prstDash val="solid"/>
          </a:ln>
        </p:spPr>
        <p:txBody>
          <a:bodyPr/>
          <a:lstStyle/>
          <a:p>
            <a:endParaRPr lang="pt-BR"/>
          </a:p>
        </p:txBody>
      </p:sp>
      <p:sp>
        <p:nvSpPr>
          <p:cNvPr id="21" name="Shape 18"/>
          <p:cNvSpPr/>
          <p:nvPr/>
        </p:nvSpPr>
        <p:spPr>
          <a:xfrm>
            <a:off x="4846320" y="1371600"/>
            <a:ext cx="1965960" cy="274320"/>
          </a:xfrm>
          <a:prstGeom prst="rect">
            <a:avLst/>
          </a:prstGeom>
          <a:solidFill>
            <a:srgbClr val="C8106E"/>
          </a:solidFill>
          <a:ln/>
        </p:spPr>
        <p:txBody>
          <a:bodyPr/>
          <a:lstStyle/>
          <a:p>
            <a:endParaRPr lang="pt-BR"/>
          </a:p>
        </p:txBody>
      </p:sp>
      <p:sp>
        <p:nvSpPr>
          <p:cNvPr id="22" name="Text 19"/>
          <p:cNvSpPr/>
          <p:nvPr/>
        </p:nvSpPr>
        <p:spPr>
          <a:xfrm>
            <a:off x="4937760" y="1371600"/>
            <a:ext cx="178308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Dores</a:t>
            </a:r>
            <a:endParaRPr lang="en-US" sz="1050" dirty="0"/>
          </a:p>
        </p:txBody>
      </p:sp>
      <p:sp>
        <p:nvSpPr>
          <p:cNvPr id="23" name="Text 20"/>
          <p:cNvSpPr/>
          <p:nvPr/>
        </p:nvSpPr>
        <p:spPr>
          <a:xfrm>
            <a:off x="4901184" y="1700784"/>
            <a:ext cx="1856232" cy="105156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Dados espalhados em caderno e planilha</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Erro de digitação e retrabalho</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Software caro, complexo ou sem suporte</a:t>
            </a:r>
            <a:endParaRPr lang="en-US" sz="900" dirty="0"/>
          </a:p>
        </p:txBody>
      </p:sp>
      <p:sp>
        <p:nvSpPr>
          <p:cNvPr id="24" name="Shape 21"/>
          <p:cNvSpPr/>
          <p:nvPr/>
        </p:nvSpPr>
        <p:spPr>
          <a:xfrm>
            <a:off x="4846320" y="2880360"/>
            <a:ext cx="1965960" cy="1417320"/>
          </a:xfrm>
          <a:prstGeom prst="rect">
            <a:avLst/>
          </a:prstGeom>
          <a:solidFill>
            <a:srgbClr val="FFFFFF"/>
          </a:solidFill>
          <a:ln w="12700">
            <a:solidFill>
              <a:srgbClr val="A30C5A"/>
            </a:solidFill>
            <a:prstDash val="solid"/>
          </a:ln>
        </p:spPr>
        <p:txBody>
          <a:bodyPr/>
          <a:lstStyle/>
          <a:p>
            <a:endParaRPr lang="pt-BR"/>
          </a:p>
        </p:txBody>
      </p:sp>
      <p:sp>
        <p:nvSpPr>
          <p:cNvPr id="25" name="Shape 22"/>
          <p:cNvSpPr/>
          <p:nvPr/>
        </p:nvSpPr>
        <p:spPr>
          <a:xfrm>
            <a:off x="4846320" y="2880360"/>
            <a:ext cx="1965960" cy="274320"/>
          </a:xfrm>
          <a:prstGeom prst="rect">
            <a:avLst/>
          </a:prstGeom>
          <a:solidFill>
            <a:srgbClr val="A30C5A"/>
          </a:solidFill>
          <a:ln/>
        </p:spPr>
        <p:txBody>
          <a:bodyPr/>
          <a:lstStyle/>
          <a:p>
            <a:endParaRPr lang="pt-BR"/>
          </a:p>
        </p:txBody>
      </p:sp>
      <p:sp>
        <p:nvSpPr>
          <p:cNvPr id="26" name="Text 23"/>
          <p:cNvSpPr/>
          <p:nvPr/>
        </p:nvSpPr>
        <p:spPr>
          <a:xfrm>
            <a:off x="4937760" y="2880360"/>
            <a:ext cx="178308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Ganhos esperados</a:t>
            </a:r>
            <a:endParaRPr lang="en-US" sz="1050" dirty="0"/>
          </a:p>
        </p:txBody>
      </p:sp>
      <p:sp>
        <p:nvSpPr>
          <p:cNvPr id="27" name="Text 24"/>
          <p:cNvSpPr/>
          <p:nvPr/>
        </p:nvSpPr>
        <p:spPr>
          <a:xfrm>
            <a:off x="4901184" y="3209544"/>
            <a:ext cx="1856232" cy="105156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Ver o desempenho do lote na semana</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Comparar com fazendas parecidas</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Um técnico olhando os números junto</a:t>
            </a:r>
            <a:endParaRPr lang="en-US" sz="900" dirty="0"/>
          </a:p>
        </p:txBody>
      </p:sp>
      <p:sp>
        <p:nvSpPr>
          <p:cNvPr id="28" name="Shape 25"/>
          <p:cNvSpPr/>
          <p:nvPr/>
        </p:nvSpPr>
        <p:spPr>
          <a:xfrm>
            <a:off x="6903720" y="1371600"/>
            <a:ext cx="1783080" cy="2926080"/>
          </a:xfrm>
          <a:prstGeom prst="rect">
            <a:avLst/>
          </a:prstGeom>
          <a:solidFill>
            <a:srgbClr val="FFFFFF"/>
          </a:solidFill>
          <a:ln w="12700">
            <a:solidFill>
              <a:srgbClr val="12295F"/>
            </a:solidFill>
            <a:prstDash val="solid"/>
          </a:ln>
        </p:spPr>
        <p:txBody>
          <a:bodyPr/>
          <a:lstStyle/>
          <a:p>
            <a:endParaRPr lang="pt-BR"/>
          </a:p>
        </p:txBody>
      </p:sp>
      <p:sp>
        <p:nvSpPr>
          <p:cNvPr id="29" name="Shape 26"/>
          <p:cNvSpPr/>
          <p:nvPr/>
        </p:nvSpPr>
        <p:spPr>
          <a:xfrm>
            <a:off x="6903720" y="1371600"/>
            <a:ext cx="1783080" cy="274320"/>
          </a:xfrm>
          <a:prstGeom prst="rect">
            <a:avLst/>
          </a:prstGeom>
          <a:solidFill>
            <a:srgbClr val="12295F"/>
          </a:solidFill>
          <a:ln/>
        </p:spPr>
        <p:txBody>
          <a:bodyPr/>
          <a:lstStyle/>
          <a:p>
            <a:endParaRPr lang="pt-BR"/>
          </a:p>
        </p:txBody>
      </p:sp>
      <p:sp>
        <p:nvSpPr>
          <p:cNvPr id="30" name="Text 27"/>
          <p:cNvSpPr/>
          <p:nvPr/>
        </p:nvSpPr>
        <p:spPr>
          <a:xfrm>
            <a:off x="6995160" y="1371600"/>
            <a:ext cx="160020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Tarefas do cliente</a:t>
            </a:r>
            <a:endParaRPr lang="en-US" sz="1050" dirty="0"/>
          </a:p>
        </p:txBody>
      </p:sp>
      <p:sp>
        <p:nvSpPr>
          <p:cNvPr id="31" name="Text 28"/>
          <p:cNvSpPr/>
          <p:nvPr/>
        </p:nvSpPr>
        <p:spPr>
          <a:xfrm>
            <a:off x="6958584" y="1700784"/>
            <a:ext cx="1673352" cy="256032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Ajustar o trato diário</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Fechar custo por lote e por arroba</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Controlar entradas, saídas e mortes</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Prestar contas ao dono ou sócio</a:t>
            </a:r>
            <a:endParaRPr lang="en-US" sz="900" dirty="0"/>
          </a:p>
        </p:txBody>
      </p:sp>
      <p:sp>
        <p:nvSpPr>
          <p:cNvPr id="32" name="Shape 29"/>
          <p:cNvSpPr/>
          <p:nvPr/>
        </p:nvSpPr>
        <p:spPr>
          <a:xfrm>
            <a:off x="4325112" y="2578608"/>
            <a:ext cx="502920" cy="502920"/>
          </a:xfrm>
          <a:prstGeom prst="ellipse">
            <a:avLst/>
          </a:prstGeom>
          <a:solidFill>
            <a:srgbClr val="C5D300"/>
          </a:solidFill>
          <a:ln/>
        </p:spPr>
        <p:txBody>
          <a:bodyPr/>
          <a:lstStyle/>
          <a:p>
            <a:endParaRPr lang="pt-BR"/>
          </a:p>
        </p:txBody>
      </p:sp>
      <p:sp>
        <p:nvSpPr>
          <p:cNvPr id="33" name="Text 30"/>
          <p:cNvSpPr/>
          <p:nvPr/>
        </p:nvSpPr>
        <p:spPr>
          <a:xfrm>
            <a:off x="4325112" y="2578608"/>
            <a:ext cx="502920" cy="502920"/>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FIT</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ítulo 4">
            <a:extLst>
              <a:ext uri="{FF2B5EF4-FFF2-40B4-BE49-F238E27FC236}">
                <a16:creationId xmlns:a16="http://schemas.microsoft.com/office/drawing/2014/main" id="{B2DA0B8F-6275-5FF9-F0FA-D4F4A45023B6}"/>
              </a:ext>
            </a:extLst>
          </p:cNvPr>
          <p:cNvSpPr txBox="1">
            <a:spLocks/>
          </p:cNvSpPr>
          <p:nvPr/>
        </p:nvSpPr>
        <p:spPr>
          <a:xfrm>
            <a:off x="89503" y="87475"/>
            <a:ext cx="7074785" cy="837590"/>
          </a:xfrm>
          <a:prstGeom prst="rect">
            <a:avLst/>
          </a:prstGeom>
        </p:spPr>
        <p:txBody>
          <a:bodyPr vert="horz" wrap="square" lIns="27000" tIns="27000" rIns="27000" bIns="27000" rtlCol="0" anchor="t" anchorCtr="0">
            <a:noAutofit/>
          </a:bodyPr>
          <a:lstStyle>
            <a:lvl1pPr algn="l" defTabSz="914400" rtl="0" eaLnBrk="1" latinLnBrk="0" hangingPunct="1">
              <a:lnSpc>
                <a:spcPts val="4200"/>
              </a:lnSpc>
              <a:spcBef>
                <a:spcPct val="0"/>
              </a:spcBef>
              <a:buNone/>
              <a:defRPr sz="4400" b="1" kern="1200" baseline="0">
                <a:solidFill>
                  <a:schemeClr val="tx2"/>
                </a:solidFill>
                <a:latin typeface="+mn-lt"/>
                <a:ea typeface="+mj-ea"/>
                <a:cs typeface="+mj-cs"/>
              </a:defRPr>
            </a:lvl1pPr>
          </a:lstStyle>
          <a:p>
            <a:pPr>
              <a:lnSpc>
                <a:spcPct val="100000"/>
              </a:lnSpc>
            </a:pPr>
            <a:r>
              <a:rPr lang="en-US" sz="2400" dirty="0"/>
              <a:t>Escopo e Descrição do Projeto</a:t>
            </a:r>
            <a:br>
              <a:rPr lang="en-CA" sz="2400" dirty="0"/>
            </a:br>
            <a:r>
              <a:rPr lang="en-US" sz="1350" b="0" i="1" dirty="0"/>
              <a:t>O que está incluído neste projeto e, portanto, nos custos de investimento e no cálculo do ROI.</a:t>
            </a:r>
            <a:endParaRPr lang="en-CA" sz="2400" b="0" i="1" dirty="0"/>
          </a:p>
        </p:txBody>
      </p:sp>
      <p:sp>
        <p:nvSpPr>
          <p:cNvPr id="2" name="Rectangle 6">
            <a:extLst>
              <a:ext uri="{FF2B5EF4-FFF2-40B4-BE49-F238E27FC236}">
                <a16:creationId xmlns:a16="http://schemas.microsoft.com/office/drawing/2014/main" id="{71C4FEAC-BFE9-9936-0DEB-32AB6A7DB426}"/>
              </a:ext>
            </a:extLst>
          </p:cNvPr>
          <p:cNvSpPr/>
          <p:nvPr/>
        </p:nvSpPr>
        <p:spPr>
          <a:xfrm>
            <a:off x="0" y="1744232"/>
            <a:ext cx="4425802" cy="2102362"/>
          </a:xfrm>
          <a:prstGeom prst="rect">
            <a:avLst/>
          </a:prstGeom>
          <a:solidFill>
            <a:srgbClr val="0195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 name="Rectangle 7">
            <a:extLst>
              <a:ext uri="{FF2B5EF4-FFF2-40B4-BE49-F238E27FC236}">
                <a16:creationId xmlns:a16="http://schemas.microsoft.com/office/drawing/2014/main" id="{16B0D241-57FA-8BF8-1F89-AF51AFA631B7}"/>
              </a:ext>
            </a:extLst>
          </p:cNvPr>
          <p:cNvSpPr/>
          <p:nvPr/>
        </p:nvSpPr>
        <p:spPr>
          <a:xfrm>
            <a:off x="4425802" y="1744232"/>
            <a:ext cx="4718198" cy="2097952"/>
          </a:xfrm>
          <a:prstGeom prst="rect">
            <a:avLst/>
          </a:prstGeom>
          <a:solidFill>
            <a:srgbClr val="246C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6" name="Group 16">
            <a:extLst>
              <a:ext uri="{FF2B5EF4-FFF2-40B4-BE49-F238E27FC236}">
                <a16:creationId xmlns:a16="http://schemas.microsoft.com/office/drawing/2014/main" id="{147D7F80-D61F-16B1-585B-8C9096DC2367}"/>
              </a:ext>
            </a:extLst>
          </p:cNvPr>
          <p:cNvGrpSpPr/>
          <p:nvPr/>
        </p:nvGrpSpPr>
        <p:grpSpPr>
          <a:xfrm>
            <a:off x="3005826" y="1545637"/>
            <a:ext cx="2901953" cy="2516981"/>
            <a:chOff x="4162425" y="1835149"/>
            <a:chExt cx="3869270" cy="3355975"/>
          </a:xfrm>
        </p:grpSpPr>
        <p:sp>
          <p:nvSpPr>
            <p:cNvPr id="7" name="Rectangle 14">
              <a:extLst>
                <a:ext uri="{FF2B5EF4-FFF2-40B4-BE49-F238E27FC236}">
                  <a16:creationId xmlns:a16="http://schemas.microsoft.com/office/drawing/2014/main" id="{B2977A67-8290-D44C-F14B-14E20264A50A}"/>
                </a:ext>
              </a:extLst>
            </p:cNvPr>
            <p:cNvSpPr/>
            <p:nvPr/>
          </p:nvSpPr>
          <p:spPr>
            <a:xfrm>
              <a:off x="4162425" y="1835149"/>
              <a:ext cx="1935695" cy="3355975"/>
            </a:xfrm>
            <a:prstGeom prst="rect">
              <a:avLst/>
            </a:prstGeom>
            <a:solidFill>
              <a:srgbClr val="262626">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Rectangle 15">
              <a:extLst>
                <a:ext uri="{FF2B5EF4-FFF2-40B4-BE49-F238E27FC236}">
                  <a16:creationId xmlns:a16="http://schemas.microsoft.com/office/drawing/2014/main" id="{01BC83C4-AB27-3565-1219-F8F759FF64D7}"/>
                </a:ext>
              </a:extLst>
            </p:cNvPr>
            <p:cNvSpPr/>
            <p:nvPr/>
          </p:nvSpPr>
          <p:spPr>
            <a:xfrm>
              <a:off x="6096000" y="1835149"/>
              <a:ext cx="1935695" cy="3355975"/>
            </a:xfrm>
            <a:prstGeom prst="rect">
              <a:avLst/>
            </a:prstGeom>
            <a:solidFill>
              <a:srgbClr val="262626">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10" name="Title 4">
            <a:extLst>
              <a:ext uri="{FF2B5EF4-FFF2-40B4-BE49-F238E27FC236}">
                <a16:creationId xmlns:a16="http://schemas.microsoft.com/office/drawing/2014/main" id="{50BEDB88-DCFE-42E0-1AC0-84B2901D6CEB}"/>
              </a:ext>
            </a:extLst>
          </p:cNvPr>
          <p:cNvSpPr txBox="1">
            <a:spLocks/>
          </p:cNvSpPr>
          <p:nvPr/>
        </p:nvSpPr>
        <p:spPr>
          <a:xfrm>
            <a:off x="3120524" y="3144276"/>
            <a:ext cx="1222374" cy="2492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800" b="1" kern="1200">
                <a:solidFill>
                  <a:srgbClr val="262626"/>
                </a:solidFill>
                <a:latin typeface="+mj-lt"/>
                <a:ea typeface="+mj-ea"/>
                <a:cs typeface="+mj-cs"/>
              </a:defRPr>
            </a:lvl1pPr>
          </a:lstStyle>
          <a:p>
            <a:pPr algn="ctr"/>
            <a:r>
              <a:rPr lang="en-US" sz="1800">
                <a:solidFill>
                  <a:schemeClr val="bg1"/>
                </a:solidFill>
              </a:rPr>
              <a:t>No Escopo</a:t>
            </a:r>
          </a:p>
        </p:txBody>
      </p:sp>
      <p:sp>
        <p:nvSpPr>
          <p:cNvPr id="11" name="Oval 11">
            <a:extLst>
              <a:ext uri="{FF2B5EF4-FFF2-40B4-BE49-F238E27FC236}">
                <a16:creationId xmlns:a16="http://schemas.microsoft.com/office/drawing/2014/main" id="{62A7E422-C076-0351-1B6A-4327F95A8625}"/>
              </a:ext>
            </a:extLst>
          </p:cNvPr>
          <p:cNvSpPr/>
          <p:nvPr/>
        </p:nvSpPr>
        <p:spPr>
          <a:xfrm>
            <a:off x="3371746" y="2226413"/>
            <a:ext cx="719930" cy="719928"/>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Title 4">
            <a:extLst>
              <a:ext uri="{FF2B5EF4-FFF2-40B4-BE49-F238E27FC236}">
                <a16:creationId xmlns:a16="http://schemas.microsoft.com/office/drawing/2014/main" id="{F425D2BD-C878-E7D8-DFEB-589DFA5139A8}"/>
              </a:ext>
            </a:extLst>
          </p:cNvPr>
          <p:cNvSpPr txBox="1">
            <a:spLocks/>
          </p:cNvSpPr>
          <p:nvPr/>
        </p:nvSpPr>
        <p:spPr>
          <a:xfrm>
            <a:off x="4570706" y="3146232"/>
            <a:ext cx="1222374" cy="4985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800" b="1" kern="1200">
                <a:solidFill>
                  <a:srgbClr val="262626"/>
                </a:solidFill>
                <a:latin typeface="+mj-lt"/>
                <a:ea typeface="+mj-ea"/>
                <a:cs typeface="+mj-cs"/>
              </a:defRPr>
            </a:lvl1pPr>
          </a:lstStyle>
          <a:p>
            <a:pPr algn="ctr"/>
            <a:r>
              <a:rPr lang="en-US" sz="1800">
                <a:solidFill>
                  <a:schemeClr val="bg1"/>
                </a:solidFill>
              </a:rPr>
              <a:t>Fora do Escopo</a:t>
            </a:r>
          </a:p>
        </p:txBody>
      </p:sp>
      <p:sp>
        <p:nvSpPr>
          <p:cNvPr id="13" name="Oval 12">
            <a:extLst>
              <a:ext uri="{FF2B5EF4-FFF2-40B4-BE49-F238E27FC236}">
                <a16:creationId xmlns:a16="http://schemas.microsoft.com/office/drawing/2014/main" id="{4652899E-A96C-1253-CEE1-48D0C2683A61}"/>
              </a:ext>
            </a:extLst>
          </p:cNvPr>
          <p:cNvSpPr/>
          <p:nvPr/>
        </p:nvSpPr>
        <p:spPr>
          <a:xfrm>
            <a:off x="4821928" y="2228369"/>
            <a:ext cx="719930" cy="719928"/>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TextBox 20">
            <a:extLst>
              <a:ext uri="{FF2B5EF4-FFF2-40B4-BE49-F238E27FC236}">
                <a16:creationId xmlns:a16="http://schemas.microsoft.com/office/drawing/2014/main" id="{41B97859-F92A-F433-4938-019E44FF3A35}"/>
              </a:ext>
            </a:extLst>
          </p:cNvPr>
          <p:cNvSpPr txBox="1"/>
          <p:nvPr/>
        </p:nvSpPr>
        <p:spPr>
          <a:xfrm>
            <a:off x="143509" y="1902377"/>
            <a:ext cx="2879888" cy="1836204"/>
          </a:xfrm>
          <a:prstGeom prst="rect">
            <a:avLst/>
          </a:prstGeom>
          <a:noFill/>
        </p:spPr>
        <p:txBody>
          <a:bodyPr wrap="square" lIns="0" tIns="0" rIns="0" bIns="0" rtlCol="0">
            <a:noAutofit/>
          </a:bodyPr>
          <a:lstStyle/>
          <a:p>
            <a:pPr marL="214313" indent="-214313">
              <a:lnSpc>
                <a:spcPct val="120000"/>
              </a:lnSpc>
              <a:buFont typeface="Arial" panose="020B0604020202020204" pitchFamily="34" charset="0"/>
              <a:buChar char="•"/>
            </a:pPr>
            <a:r>
              <a:rPr lang="en-US" sz="1200">
                <a:solidFill>
                  <a:schemeClr val="bg1"/>
                </a:solidFill>
              </a:rPr>
              <a:t>Desenvolvimento completo do aplicativo para confinamento</a:t>
            </a:r>
          </a:p>
          <a:p>
            <a:pPr marL="214313" indent="-214313">
              <a:lnSpc>
                <a:spcPct val="120000"/>
              </a:lnSpc>
              <a:buFont typeface="Arial" panose="020B0604020202020204" pitchFamily="34" charset="0"/>
              <a:buChar char="•"/>
            </a:pPr>
            <a:r>
              <a:rPr lang="en-US" sz="1200">
                <a:solidFill>
                  <a:schemeClr val="bg1"/>
                </a:solidFill>
              </a:rPr>
              <a:t>Equipe adicional para implantação e suporte</a:t>
            </a:r>
          </a:p>
          <a:p>
            <a:pPr marL="214313" indent="-214313">
              <a:lnSpc>
                <a:spcPct val="120000"/>
              </a:lnSpc>
              <a:buFont typeface="Arial" panose="020B0604020202020204" pitchFamily="34" charset="0"/>
              <a:buChar char="•"/>
            </a:pPr>
            <a:r>
              <a:rPr lang="en-US" sz="1200">
                <a:solidFill>
                  <a:schemeClr val="bg1"/>
                </a:solidFill>
              </a:rPr>
              <a:t>Campanhas de Marketing / Comunicação</a:t>
            </a:r>
          </a:p>
          <a:p>
            <a:pPr marL="214313" indent="-214313">
              <a:lnSpc>
                <a:spcPct val="120000"/>
              </a:lnSpc>
              <a:buFont typeface="Arial" panose="020B0604020202020204" pitchFamily="34" charset="0"/>
              <a:buChar char="•"/>
            </a:pPr>
            <a:r>
              <a:rPr lang="en-US" sz="1200">
                <a:solidFill>
                  <a:schemeClr val="bg1"/>
                </a:solidFill>
              </a:rPr>
              <a:t>Todas as funcionalidades descritas neste documento</a:t>
            </a:r>
          </a:p>
        </p:txBody>
      </p:sp>
      <p:sp>
        <p:nvSpPr>
          <p:cNvPr id="28" name="TextBox 20">
            <a:extLst>
              <a:ext uri="{FF2B5EF4-FFF2-40B4-BE49-F238E27FC236}">
                <a16:creationId xmlns:a16="http://schemas.microsoft.com/office/drawing/2014/main" id="{09DBE4F7-BAD1-E359-1BAE-091AFDA3F252}"/>
              </a:ext>
            </a:extLst>
          </p:cNvPr>
          <p:cNvSpPr txBox="1"/>
          <p:nvPr/>
        </p:nvSpPr>
        <p:spPr>
          <a:xfrm>
            <a:off x="6143942" y="1877310"/>
            <a:ext cx="2879888" cy="1836204"/>
          </a:xfrm>
          <a:prstGeom prst="rect">
            <a:avLst/>
          </a:prstGeom>
          <a:noFill/>
        </p:spPr>
        <p:txBody>
          <a:bodyPr wrap="square" lIns="0" tIns="0" rIns="0" bIns="0" rtlCol="0">
            <a:noAutofit/>
          </a:bodyPr>
          <a:lstStyle/>
          <a:p>
            <a:pPr marL="214313" indent="-214313">
              <a:lnSpc>
                <a:spcPct val="120000"/>
              </a:lnSpc>
              <a:buFont typeface="Arial" panose="020B0604020202020204" pitchFamily="34" charset="0"/>
              <a:buChar char="•"/>
            </a:pPr>
            <a:r>
              <a:rPr lang="en-US" sz="1200" dirty="0">
                <a:solidFill>
                  <a:schemeClr val="bg1"/>
                </a:solidFill>
              </a:rPr>
              <a:t>Desenvolvimento para CORTE extensivo, Leite ou outras espécies</a:t>
            </a:r>
          </a:p>
          <a:p>
            <a:pPr marL="214313" indent="-214313">
              <a:lnSpc>
                <a:spcPct val="120000"/>
              </a:lnSpc>
              <a:buFont typeface="Arial" panose="020B0604020202020204" pitchFamily="34" charset="0"/>
              <a:buChar char="•"/>
            </a:pPr>
            <a:endParaRPr lang="en-US" sz="1200" dirty="0">
              <a:solidFill>
                <a:schemeClr val="bg1"/>
              </a:solidFill>
            </a:endParaRPr>
          </a:p>
        </p:txBody>
      </p:sp>
      <p:pic>
        <p:nvPicPr>
          <p:cNvPr id="1026" name="Picture 2" descr="yes - no - tick and cross icon on transparent background. 21013497 PNG">
            <a:extLst>
              <a:ext uri="{FF2B5EF4-FFF2-40B4-BE49-F238E27FC236}">
                <a16:creationId xmlns:a16="http://schemas.microsoft.com/office/drawing/2014/main" id="{D3703575-90C5-264C-9629-F61129EEFC2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7211"/>
          <a:stretch/>
        </p:blipFill>
        <p:spPr bwMode="auto">
          <a:xfrm>
            <a:off x="3524432" y="2209230"/>
            <a:ext cx="411394" cy="76061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yes - no - tick and cross icon on transparent background. 21013497 PNG">
            <a:extLst>
              <a:ext uri="{FF2B5EF4-FFF2-40B4-BE49-F238E27FC236}">
                <a16:creationId xmlns:a16="http://schemas.microsoft.com/office/drawing/2014/main" id="{DFE1A444-3452-30A8-F9B3-C984DADECEA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5317"/>
          <a:stretch/>
        </p:blipFill>
        <p:spPr bwMode="auto">
          <a:xfrm>
            <a:off x="4949215" y="2209230"/>
            <a:ext cx="435152" cy="760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91866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Espaço Reservado para Número de Slide 3">
            <a:extLst>
              <a:ext uri="{FF2B5EF4-FFF2-40B4-BE49-F238E27FC236}">
                <a16:creationId xmlns:a16="http://schemas.microsoft.com/office/drawing/2014/main" id="{27FA9E84-6933-866E-9740-F1E0400C3752}"/>
              </a:ext>
            </a:extLst>
          </p:cNvPr>
          <p:cNvSpPr>
            <a:spLocks noGrp="1"/>
          </p:cNvSpPr>
          <p:nvPr>
            <p:ph type="sldNum" sz="quarter" idx="15"/>
          </p:nvPr>
        </p:nvSpPr>
        <p:spPr/>
        <p:txBody>
          <a:bodyPr/>
          <a:lstStyle/>
          <a:p>
            <a:fld id="{82366C92-DFCE-40A6-8CC1-5A4741E3726D}" type="slidenum">
              <a:rPr lang="en-GB" smtClean="0"/>
              <a:pPr/>
              <a:t>37</a:t>
            </a:fld>
            <a:endParaRPr lang="en-GB"/>
          </a:p>
        </p:txBody>
      </p:sp>
      <p:sp>
        <p:nvSpPr>
          <p:cNvPr id="5" name="Título 4">
            <a:extLst>
              <a:ext uri="{FF2B5EF4-FFF2-40B4-BE49-F238E27FC236}">
                <a16:creationId xmlns:a16="http://schemas.microsoft.com/office/drawing/2014/main" id="{C4741695-FE94-C58F-C66F-FA9D5E4EA7E9}"/>
              </a:ext>
            </a:extLst>
          </p:cNvPr>
          <p:cNvSpPr txBox="1">
            <a:spLocks/>
          </p:cNvSpPr>
          <p:nvPr/>
        </p:nvSpPr>
        <p:spPr>
          <a:xfrm>
            <a:off x="89503" y="87475"/>
            <a:ext cx="7074785" cy="837590"/>
          </a:xfrm>
          <a:prstGeom prst="rect">
            <a:avLst/>
          </a:prstGeom>
        </p:spPr>
        <p:txBody>
          <a:bodyPr vert="horz" wrap="square" lIns="27000" tIns="27000" rIns="27000" bIns="27000" rtlCol="0" anchor="t" anchorCtr="0">
            <a:noAutofit/>
          </a:bodyPr>
          <a:lstStyle>
            <a:lvl1pPr algn="l" defTabSz="914400" rtl="0" eaLnBrk="1" latinLnBrk="0" hangingPunct="1">
              <a:lnSpc>
                <a:spcPts val="4200"/>
              </a:lnSpc>
              <a:spcBef>
                <a:spcPct val="0"/>
              </a:spcBef>
              <a:buNone/>
              <a:defRPr sz="4400" b="1" kern="1200" baseline="0">
                <a:solidFill>
                  <a:schemeClr val="tx2"/>
                </a:solidFill>
                <a:latin typeface="+mn-lt"/>
                <a:ea typeface="+mj-ea"/>
                <a:cs typeface="+mj-cs"/>
              </a:defRPr>
            </a:lvl1pPr>
          </a:lstStyle>
          <a:p>
            <a:pPr>
              <a:lnSpc>
                <a:spcPct val="100000"/>
              </a:lnSpc>
            </a:pPr>
            <a:r>
              <a:rPr lang="en-US" sz="2400" dirty="0"/>
              <a:t>Prospecção de Novos Clientes</a:t>
            </a:r>
            <a:br>
              <a:rPr lang="en-CA" sz="2400" dirty="0"/>
            </a:br>
            <a:r>
              <a:rPr lang="en-US" sz="1350" b="0" i="1" dirty="0"/>
              <a:t>Abordamos 28 prospects com os quais ainda não conseguimos avançar de forma significativa…</a:t>
            </a:r>
            <a:endParaRPr lang="en-CA" sz="2400" b="0" i="1" dirty="0"/>
          </a:p>
        </p:txBody>
      </p:sp>
      <p:pic>
        <p:nvPicPr>
          <p:cNvPr id="2" name="Imagem 1">
            <a:extLst>
              <a:ext uri="{FF2B5EF4-FFF2-40B4-BE49-F238E27FC236}">
                <a16:creationId xmlns:a16="http://schemas.microsoft.com/office/drawing/2014/main" id="{C6A64F14-B6A5-E891-AFCA-0CDA7045E08E}"/>
              </a:ext>
            </a:extLst>
          </p:cNvPr>
          <p:cNvPicPr>
            <a:picLocks noChangeAspect="1"/>
          </p:cNvPicPr>
          <p:nvPr/>
        </p:nvPicPr>
        <p:blipFill>
          <a:blip r:embed="rId2"/>
          <a:stretch>
            <a:fillRect/>
          </a:stretch>
        </p:blipFill>
        <p:spPr>
          <a:xfrm>
            <a:off x="89502" y="774900"/>
            <a:ext cx="5133975" cy="4133850"/>
          </a:xfrm>
          <a:prstGeom prst="rect">
            <a:avLst/>
          </a:prstGeom>
        </p:spPr>
      </p:pic>
      <p:pic>
        <p:nvPicPr>
          <p:cNvPr id="7" name="Imagem 6">
            <a:extLst>
              <a:ext uri="{FF2B5EF4-FFF2-40B4-BE49-F238E27FC236}">
                <a16:creationId xmlns:a16="http://schemas.microsoft.com/office/drawing/2014/main" id="{73B5D19C-A3CA-70AD-7881-9593AA2D11C5}"/>
              </a:ext>
            </a:extLst>
          </p:cNvPr>
          <p:cNvPicPr>
            <a:picLocks noChangeAspect="1"/>
          </p:cNvPicPr>
          <p:nvPr/>
        </p:nvPicPr>
        <p:blipFill>
          <a:blip r:embed="rId3"/>
          <a:stretch>
            <a:fillRect/>
          </a:stretch>
        </p:blipFill>
        <p:spPr>
          <a:xfrm>
            <a:off x="5511433" y="850184"/>
            <a:ext cx="3438442" cy="2066723"/>
          </a:xfrm>
          <a:prstGeom prst="rect">
            <a:avLst/>
          </a:prstGeom>
        </p:spPr>
      </p:pic>
      <p:graphicFrame>
        <p:nvGraphicFramePr>
          <p:cNvPr id="3" name="Tabela 2">
            <a:extLst>
              <a:ext uri="{FF2B5EF4-FFF2-40B4-BE49-F238E27FC236}">
                <a16:creationId xmlns:a16="http://schemas.microsoft.com/office/drawing/2014/main" id="{E5F7C463-C261-7E9F-24A4-0FB810FA7CFE}"/>
              </a:ext>
            </a:extLst>
          </p:cNvPr>
          <p:cNvGraphicFramePr>
            <a:graphicFrameLocks noGrp="1"/>
          </p:cNvGraphicFramePr>
          <p:nvPr/>
        </p:nvGraphicFramePr>
        <p:xfrm>
          <a:off x="5511433" y="3464642"/>
          <a:ext cx="3438441" cy="1141095"/>
        </p:xfrm>
        <a:graphic>
          <a:graphicData uri="http://schemas.openxmlformats.org/drawingml/2006/table">
            <a:tbl>
              <a:tblPr>
                <a:tableStyleId>{69012ECD-51FC-41F1-AA8D-1B2483CD663E}</a:tableStyleId>
              </a:tblPr>
              <a:tblGrid>
                <a:gridCol w="2480755">
                  <a:extLst>
                    <a:ext uri="{9D8B030D-6E8A-4147-A177-3AD203B41FA5}">
                      <a16:colId xmlns:a16="http://schemas.microsoft.com/office/drawing/2014/main" val="604473642"/>
                    </a:ext>
                  </a:extLst>
                </a:gridCol>
                <a:gridCol w="957686">
                  <a:extLst>
                    <a:ext uri="{9D8B030D-6E8A-4147-A177-3AD203B41FA5}">
                      <a16:colId xmlns:a16="http://schemas.microsoft.com/office/drawing/2014/main" val="1869619365"/>
                    </a:ext>
                  </a:extLst>
                </a:gridCol>
              </a:tblGrid>
              <a:tr h="165735">
                <a:tc>
                  <a:txBody>
                    <a:bodyPr/>
                    <a:lstStyle/>
                    <a:p>
                      <a:pPr algn="l" fontAlgn="b"/>
                      <a:r>
                        <a:rPr lang="pt-BR" sz="1100" u="none" strike="noStrike">
                          <a:effectLst/>
                        </a:rPr>
                        <a:t>Cabeças de Gado</a:t>
                      </a:r>
                      <a:endParaRPr lang="pt-BR" sz="1100" b="0" i="0" u="none" strike="noStrike">
                        <a:solidFill>
                          <a:srgbClr val="000000"/>
                        </a:solidFill>
                        <a:effectLst/>
                        <a:latin typeface="Calibri" panose="020F0502020204030204" pitchFamily="34" charset="0"/>
                      </a:endParaRPr>
                    </a:p>
                  </a:txBody>
                  <a:tcPr marL="5715" marR="5715" marT="5715" marB="0" anchor="b"/>
                </a:tc>
                <a:tc>
                  <a:txBody>
                    <a:bodyPr/>
                    <a:lstStyle/>
                    <a:p>
                      <a:pPr algn="r" fontAlgn="b"/>
                      <a:r>
                        <a:rPr lang="pt-BR" sz="1100" u="none" strike="noStrike">
                          <a:effectLst/>
                        </a:rPr>
                        <a:t>400,000</a:t>
                      </a:r>
                      <a:endParaRPr lang="pt-BR" sz="1100" b="0" i="0" u="none" strike="noStrike">
                        <a:solidFill>
                          <a:srgbClr val="000000"/>
                        </a:solidFill>
                        <a:effectLst/>
                        <a:latin typeface="Calibri" panose="020F0502020204030204" pitchFamily="34" charset="0"/>
                      </a:endParaRPr>
                    </a:p>
                  </a:txBody>
                  <a:tcPr marL="5715" marR="5715" marT="5715" marB="0" anchor="b"/>
                </a:tc>
                <a:extLst>
                  <a:ext uri="{0D108BD9-81ED-4DB2-BD59-A6C34878D82A}">
                    <a16:rowId xmlns:a16="http://schemas.microsoft.com/office/drawing/2014/main" val="1353093704"/>
                  </a:ext>
                </a:extLst>
              </a:tr>
              <a:tr h="165735">
                <a:tc>
                  <a:txBody>
                    <a:bodyPr/>
                    <a:lstStyle/>
                    <a:p>
                      <a:pPr algn="l" fontAlgn="b"/>
                      <a:r>
                        <a:rPr lang="en-US" sz="1100" u="none" strike="noStrike" dirty="0">
                          <a:effectLst/>
                        </a:rPr>
                        <a:t>Consumo Diário / Animal </a:t>
                      </a:r>
                      <a:r>
                        <a:rPr lang="en-US" sz="700" i="1" u="none" strike="noStrike" dirty="0">
                          <a:effectLst/>
                        </a:rPr>
                        <a:t>(</a:t>
                      </a:r>
                      <a:r>
                        <a:rPr lang="en-US" sz="700" i="1" u="none" strike="noStrike" dirty="0" err="1">
                          <a:effectLst/>
                        </a:rPr>
                        <a:t>Bellpeso</a:t>
                      </a:r>
                      <a:r>
                        <a:rPr lang="en-US" sz="700" i="1" u="none" strike="noStrike" dirty="0">
                          <a:effectLst/>
                        </a:rPr>
                        <a:t> Super 2000 </a:t>
                      </a:r>
                      <a:r>
                        <a:rPr lang="en-US" sz="700" i="1" u="none" strike="noStrike" dirty="0" err="1">
                          <a:effectLst/>
                        </a:rPr>
                        <a:t>Avance</a:t>
                      </a:r>
                      <a:r>
                        <a:rPr lang="en-US" sz="700" i="1" u="none" strike="noStrike" dirty="0">
                          <a:effectLst/>
                        </a:rPr>
                        <a:t>)</a:t>
                      </a:r>
                      <a:endParaRPr lang="en-US" sz="1100" b="0" i="1" u="none" strike="noStrike" dirty="0">
                        <a:solidFill>
                          <a:srgbClr val="000000"/>
                        </a:solidFill>
                        <a:effectLst/>
                        <a:latin typeface="Calibri" panose="020F0502020204030204" pitchFamily="34" charset="0"/>
                      </a:endParaRPr>
                    </a:p>
                  </a:txBody>
                  <a:tcPr marL="5715" marR="5715" marT="5715" marB="0" anchor="b"/>
                </a:tc>
                <a:tc>
                  <a:txBody>
                    <a:bodyPr/>
                    <a:lstStyle/>
                    <a:p>
                      <a:pPr algn="r" fontAlgn="b"/>
                      <a:r>
                        <a:rPr lang="pt-BR" sz="1100" u="none" strike="noStrike" dirty="0">
                          <a:effectLst/>
                        </a:rPr>
                        <a:t>100</a:t>
                      </a:r>
                      <a:endParaRPr lang="pt-BR" sz="1100" b="0" i="0" u="none" strike="noStrike" dirty="0">
                        <a:solidFill>
                          <a:srgbClr val="000000"/>
                        </a:solidFill>
                        <a:effectLst/>
                        <a:latin typeface="Calibri" panose="020F0502020204030204" pitchFamily="34" charset="0"/>
                      </a:endParaRPr>
                    </a:p>
                  </a:txBody>
                  <a:tcPr marL="5715" marR="5715" marT="5715" marB="0" anchor="b"/>
                </a:tc>
                <a:extLst>
                  <a:ext uri="{0D108BD9-81ED-4DB2-BD59-A6C34878D82A}">
                    <a16:rowId xmlns:a16="http://schemas.microsoft.com/office/drawing/2014/main" val="2698322057"/>
                  </a:ext>
                </a:extLst>
              </a:tr>
              <a:tr h="165735">
                <a:tc>
                  <a:txBody>
                    <a:bodyPr/>
                    <a:lstStyle/>
                    <a:p>
                      <a:pPr algn="l" fontAlgn="b"/>
                      <a:r>
                        <a:rPr lang="pt-BR" sz="1100" u="none" strike="noStrike" dirty="0">
                          <a:effectLst/>
                        </a:rPr>
                        <a:t>Volume Total </a:t>
                      </a:r>
                      <a:r>
                        <a:rPr lang="pt-BR" sz="700" i="1" u="none" strike="noStrike" dirty="0">
                          <a:effectLst/>
                        </a:rPr>
                        <a:t>(</a:t>
                      </a:r>
                      <a:r>
                        <a:rPr lang="pt-BR" sz="700" i="1" u="none" strike="noStrike" dirty="0" err="1">
                          <a:effectLst/>
                        </a:rPr>
                        <a:t>Bellpeso</a:t>
                      </a:r>
                      <a:r>
                        <a:rPr lang="pt-BR" sz="700" i="1" u="none" strike="noStrike" dirty="0">
                          <a:effectLst/>
                        </a:rPr>
                        <a:t> Super 2000 Avance)</a:t>
                      </a:r>
                      <a:endParaRPr lang="pt-BR" sz="1100" b="0" i="1" u="none" strike="noStrike" dirty="0">
                        <a:solidFill>
                          <a:srgbClr val="000000"/>
                        </a:solidFill>
                        <a:effectLst/>
                        <a:latin typeface="Calibri" panose="020F0502020204030204" pitchFamily="34" charset="0"/>
                      </a:endParaRPr>
                    </a:p>
                  </a:txBody>
                  <a:tcPr marL="5715" marR="5715" marT="5715" marB="0" anchor="b"/>
                </a:tc>
                <a:tc>
                  <a:txBody>
                    <a:bodyPr/>
                    <a:lstStyle/>
                    <a:p>
                      <a:pPr algn="r" fontAlgn="b"/>
                      <a:r>
                        <a:rPr lang="pt-BR" sz="1100" u="none" strike="noStrike">
                          <a:effectLst/>
                        </a:rPr>
                        <a:t>3,600</a:t>
                      </a:r>
                      <a:endParaRPr lang="pt-BR" sz="1100" b="0" i="0" u="none" strike="noStrike">
                        <a:solidFill>
                          <a:srgbClr val="000000"/>
                        </a:solidFill>
                        <a:effectLst/>
                        <a:latin typeface="Calibri" panose="020F0502020204030204" pitchFamily="34" charset="0"/>
                      </a:endParaRPr>
                    </a:p>
                  </a:txBody>
                  <a:tcPr marL="5715" marR="5715" marT="5715" marB="0" anchor="b"/>
                </a:tc>
                <a:extLst>
                  <a:ext uri="{0D108BD9-81ED-4DB2-BD59-A6C34878D82A}">
                    <a16:rowId xmlns:a16="http://schemas.microsoft.com/office/drawing/2014/main" val="2147563399"/>
                  </a:ext>
                </a:extLst>
              </a:tr>
              <a:tr h="165735">
                <a:tc>
                  <a:txBody>
                    <a:bodyPr/>
                    <a:lstStyle/>
                    <a:p>
                      <a:pPr algn="l" fontAlgn="b"/>
                      <a:r>
                        <a:rPr lang="pt-BR" sz="1100" u="none" strike="noStrike" dirty="0">
                          <a:effectLst/>
                        </a:rPr>
                        <a:t>SP/Ton </a:t>
                      </a:r>
                      <a:r>
                        <a:rPr lang="pt-BR" sz="600" i="1" u="none" strike="noStrike" dirty="0">
                          <a:effectLst/>
                        </a:rPr>
                        <a:t>(</a:t>
                      </a:r>
                      <a:r>
                        <a:rPr lang="pt-BR" sz="600" i="1" u="none" strike="noStrike" dirty="0" err="1">
                          <a:effectLst/>
                        </a:rPr>
                        <a:t>Bellpeso</a:t>
                      </a:r>
                      <a:r>
                        <a:rPr lang="pt-BR" sz="600" i="1" u="none" strike="noStrike" dirty="0">
                          <a:effectLst/>
                        </a:rPr>
                        <a:t> Super 2000 Avance)</a:t>
                      </a:r>
                      <a:endParaRPr lang="pt-BR" sz="1100" b="0" i="1" u="none" strike="noStrike" dirty="0">
                        <a:solidFill>
                          <a:srgbClr val="000000"/>
                        </a:solidFill>
                        <a:effectLst/>
                        <a:latin typeface="Calibri" panose="020F0502020204030204" pitchFamily="34" charset="0"/>
                      </a:endParaRPr>
                    </a:p>
                  </a:txBody>
                  <a:tcPr marL="5715" marR="5715" marT="5715" marB="0" anchor="b"/>
                </a:tc>
                <a:tc>
                  <a:txBody>
                    <a:bodyPr/>
                    <a:lstStyle/>
                    <a:p>
                      <a:pPr algn="r" fontAlgn="b"/>
                      <a:r>
                        <a:rPr lang="pt-BR" sz="1100" u="none" strike="noStrike">
                          <a:effectLst/>
                        </a:rPr>
                        <a:t>1,300</a:t>
                      </a:r>
                      <a:endParaRPr lang="pt-BR" sz="1100" b="0" i="0" u="none" strike="noStrike">
                        <a:solidFill>
                          <a:srgbClr val="000000"/>
                        </a:solidFill>
                        <a:effectLst/>
                        <a:latin typeface="Calibri" panose="020F0502020204030204" pitchFamily="34" charset="0"/>
                      </a:endParaRPr>
                    </a:p>
                  </a:txBody>
                  <a:tcPr marL="5715" marR="5715" marT="5715" marB="0" anchor="b"/>
                </a:tc>
                <a:extLst>
                  <a:ext uri="{0D108BD9-81ED-4DB2-BD59-A6C34878D82A}">
                    <a16:rowId xmlns:a16="http://schemas.microsoft.com/office/drawing/2014/main" val="1722811295"/>
                  </a:ext>
                </a:extLst>
              </a:tr>
              <a:tr h="165735">
                <a:tc>
                  <a:txBody>
                    <a:bodyPr/>
                    <a:lstStyle/>
                    <a:p>
                      <a:pPr algn="l" fontAlgn="b"/>
                      <a:r>
                        <a:rPr lang="en-US" sz="1100" u="none" strike="noStrike" dirty="0">
                          <a:effectLst/>
                        </a:rPr>
                        <a:t>Sales Profit Potencial (28 Clientes)</a:t>
                      </a:r>
                      <a:endParaRPr lang="en-US" sz="1100" b="0" i="0" u="none" strike="noStrike" dirty="0">
                        <a:solidFill>
                          <a:srgbClr val="000000"/>
                        </a:solidFill>
                        <a:effectLst/>
                        <a:latin typeface="Calibri" panose="020F0502020204030204" pitchFamily="34" charset="0"/>
                      </a:endParaRPr>
                    </a:p>
                  </a:txBody>
                  <a:tcPr marL="5715" marR="5715" marT="5715" marB="0" anchor="b"/>
                </a:tc>
                <a:tc>
                  <a:txBody>
                    <a:bodyPr/>
                    <a:lstStyle/>
                    <a:p>
                      <a:pPr algn="l" fontAlgn="b"/>
                      <a:r>
                        <a:rPr lang="pt-BR" sz="1100" u="none" strike="noStrike" dirty="0">
                          <a:effectLst/>
                        </a:rPr>
                        <a:t> R$  4,680,000.00 </a:t>
                      </a:r>
                      <a:endParaRPr lang="pt-BR" sz="1100" b="0" i="0" u="none" strike="noStrike" dirty="0">
                        <a:solidFill>
                          <a:srgbClr val="000000"/>
                        </a:solidFill>
                        <a:effectLst/>
                        <a:latin typeface="Calibri" panose="020F0502020204030204" pitchFamily="34" charset="0"/>
                      </a:endParaRPr>
                    </a:p>
                  </a:txBody>
                  <a:tcPr marL="5715" marR="5715" marT="5715" marB="0" anchor="b"/>
                </a:tc>
                <a:extLst>
                  <a:ext uri="{0D108BD9-81ED-4DB2-BD59-A6C34878D82A}">
                    <a16:rowId xmlns:a16="http://schemas.microsoft.com/office/drawing/2014/main" val="2602195234"/>
                  </a:ext>
                </a:extLst>
              </a:tr>
            </a:tbl>
          </a:graphicData>
        </a:graphic>
      </p:graphicFrame>
    </p:spTree>
    <p:extLst>
      <p:ext uri="{BB962C8B-B14F-4D97-AF65-F5344CB8AC3E}">
        <p14:creationId xmlns:p14="http://schemas.microsoft.com/office/powerpoint/2010/main" val="1474382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ítulo 4">
            <a:extLst>
              <a:ext uri="{FF2B5EF4-FFF2-40B4-BE49-F238E27FC236}">
                <a16:creationId xmlns:a16="http://schemas.microsoft.com/office/drawing/2014/main" id="{B2DA0B8F-6275-5FF9-F0FA-D4F4A45023B6}"/>
              </a:ext>
            </a:extLst>
          </p:cNvPr>
          <p:cNvSpPr txBox="1">
            <a:spLocks/>
          </p:cNvSpPr>
          <p:nvPr/>
        </p:nvSpPr>
        <p:spPr>
          <a:xfrm>
            <a:off x="89503" y="87475"/>
            <a:ext cx="7074785" cy="837590"/>
          </a:xfrm>
          <a:prstGeom prst="rect">
            <a:avLst/>
          </a:prstGeom>
        </p:spPr>
        <p:txBody>
          <a:bodyPr vert="horz" wrap="square" lIns="27000" tIns="27000" rIns="27000" bIns="27000" rtlCol="0" anchor="t" anchorCtr="0">
            <a:noAutofit/>
          </a:bodyPr>
          <a:lstStyle>
            <a:lvl1pPr algn="l" defTabSz="914400" rtl="0" eaLnBrk="1" latinLnBrk="0" hangingPunct="1">
              <a:lnSpc>
                <a:spcPts val="4200"/>
              </a:lnSpc>
              <a:spcBef>
                <a:spcPct val="0"/>
              </a:spcBef>
              <a:buNone/>
              <a:defRPr sz="4400" b="1" kern="1200" baseline="0">
                <a:solidFill>
                  <a:schemeClr val="tx2"/>
                </a:solidFill>
                <a:latin typeface="+mn-lt"/>
                <a:ea typeface="+mj-ea"/>
                <a:cs typeface="+mj-cs"/>
              </a:defRPr>
            </a:lvl1pPr>
          </a:lstStyle>
          <a:p>
            <a:pPr>
              <a:lnSpc>
                <a:spcPct val="100000"/>
              </a:lnSpc>
            </a:pPr>
            <a:r>
              <a:rPr lang="en-US" sz="2400" dirty="0"/>
              <a:t>Conclusão</a:t>
            </a:r>
          </a:p>
          <a:p>
            <a:pPr>
              <a:lnSpc>
                <a:spcPct val="100000"/>
              </a:lnSpc>
            </a:pPr>
            <a:r>
              <a:rPr lang="en-US" sz="1350" b="0" i="1" dirty="0"/>
              <a:t>Cinco conclusões sustentam a aprovação deste projeto.</a:t>
            </a:r>
            <a:endParaRPr lang="en-CA" sz="2400" b="0" i="1" dirty="0"/>
          </a:p>
        </p:txBody>
      </p:sp>
      <p:sp>
        <p:nvSpPr>
          <p:cNvPr id="2" name="Retângulo 1">
            <a:extLst>
              <a:ext uri="{FF2B5EF4-FFF2-40B4-BE49-F238E27FC236}">
                <a16:creationId xmlns:a16="http://schemas.microsoft.com/office/drawing/2014/main" id="{A2A25C0B-CDE2-46E4-6226-A99BBA96BC8F}"/>
              </a:ext>
            </a:extLst>
          </p:cNvPr>
          <p:cNvSpPr/>
          <p:nvPr/>
        </p:nvSpPr>
        <p:spPr>
          <a:xfrm>
            <a:off x="296736" y="2093785"/>
            <a:ext cx="1516270" cy="2008610"/>
          </a:xfrm>
          <a:prstGeom prst="rect">
            <a:avLst/>
          </a:prstGeom>
          <a:solidFill>
            <a:schemeClr val="accent1">
              <a:alpha val="5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1800"/>
              </a:spcAft>
            </a:pPr>
            <a:endParaRPr lang="en-US" sz="1125" dirty="0">
              <a:solidFill>
                <a:schemeClr val="bg2">
                  <a:lumMod val="10000"/>
                </a:schemeClr>
              </a:solidFill>
            </a:endParaRPr>
          </a:p>
          <a:p>
            <a:pPr>
              <a:spcAft>
                <a:spcPts val="1800"/>
              </a:spcAft>
            </a:pPr>
            <a:r>
              <a:rPr lang="en-US" sz="1125" dirty="0">
                <a:solidFill>
                  <a:schemeClr val="bg2">
                    <a:lumMod val="10000"/>
                  </a:schemeClr>
                </a:solidFill>
              </a:rPr>
              <a:t>O projeto está alinhado às nossas Prioridades Estratégicas de Crescimento Orgânico (Receita).</a:t>
            </a:r>
          </a:p>
        </p:txBody>
      </p:sp>
      <p:sp>
        <p:nvSpPr>
          <p:cNvPr id="3" name="Retângulo 2">
            <a:extLst>
              <a:ext uri="{FF2B5EF4-FFF2-40B4-BE49-F238E27FC236}">
                <a16:creationId xmlns:a16="http://schemas.microsoft.com/office/drawing/2014/main" id="{12DF898B-8045-D307-C5F6-7E7C24910433}"/>
              </a:ext>
            </a:extLst>
          </p:cNvPr>
          <p:cNvSpPr/>
          <p:nvPr/>
        </p:nvSpPr>
        <p:spPr>
          <a:xfrm>
            <a:off x="2083623" y="2093785"/>
            <a:ext cx="1516270" cy="2008610"/>
          </a:xfrm>
          <a:prstGeom prst="rect">
            <a:avLst/>
          </a:prstGeom>
          <a:solidFill>
            <a:schemeClr val="accent1">
              <a:alpha val="5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1800"/>
              </a:spcAft>
            </a:pPr>
            <a:endParaRPr lang="en-US" sz="1125" dirty="0">
              <a:solidFill>
                <a:schemeClr val="bg2">
                  <a:lumMod val="10000"/>
                </a:schemeClr>
              </a:solidFill>
            </a:endParaRPr>
          </a:p>
          <a:p>
            <a:pPr>
              <a:spcAft>
                <a:spcPts val="1800"/>
              </a:spcAft>
            </a:pPr>
            <a:r>
              <a:rPr lang="en-US" sz="1125" dirty="0">
                <a:solidFill>
                  <a:schemeClr val="bg2">
                    <a:lumMod val="10000"/>
                  </a:schemeClr>
                </a:solidFill>
              </a:rPr>
              <a:t>Aumentar o Market Share de 9,8% para X%, trazendo X </a:t>
            </a:r>
            <a:r>
              <a:rPr lang="en-US" sz="1125" dirty="0" err="1">
                <a:solidFill>
                  <a:schemeClr val="bg2">
                    <a:lumMod val="10000"/>
                  </a:schemeClr>
                </a:solidFill>
              </a:rPr>
              <a:t>milhões de</a:t>
            </a:r>
            <a:r>
              <a:rPr lang="en-US" sz="1125" dirty="0">
                <a:solidFill>
                  <a:schemeClr val="bg2">
                    <a:lumMod val="10000"/>
                  </a:schemeClr>
                </a:solidFill>
              </a:rPr>
              <a:t> R$ adicionais</a:t>
            </a:r>
          </a:p>
        </p:txBody>
      </p:sp>
      <p:sp>
        <p:nvSpPr>
          <p:cNvPr id="5" name="Retângulo 4">
            <a:extLst>
              <a:ext uri="{FF2B5EF4-FFF2-40B4-BE49-F238E27FC236}">
                <a16:creationId xmlns:a16="http://schemas.microsoft.com/office/drawing/2014/main" id="{69BAE7BC-4D8C-21E1-471B-7FC55C53B4E6}"/>
              </a:ext>
            </a:extLst>
          </p:cNvPr>
          <p:cNvSpPr/>
          <p:nvPr/>
        </p:nvSpPr>
        <p:spPr>
          <a:xfrm>
            <a:off x="3850749" y="2093785"/>
            <a:ext cx="1516270" cy="2008610"/>
          </a:xfrm>
          <a:prstGeom prst="rect">
            <a:avLst/>
          </a:prstGeom>
          <a:solidFill>
            <a:schemeClr val="accent1">
              <a:alpha val="5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1800"/>
              </a:spcAft>
            </a:pPr>
            <a:endParaRPr lang="en-US" sz="1125" dirty="0">
              <a:solidFill>
                <a:schemeClr val="bg2">
                  <a:lumMod val="10000"/>
                </a:schemeClr>
              </a:solidFill>
            </a:endParaRPr>
          </a:p>
          <a:p>
            <a:pPr>
              <a:spcAft>
                <a:spcPts val="1800"/>
              </a:spcAft>
            </a:pPr>
            <a:r>
              <a:rPr lang="en-US" sz="1125" dirty="0">
                <a:solidFill>
                  <a:schemeClr val="bg2">
                    <a:lumMod val="10000"/>
                  </a:schemeClr>
                </a:solidFill>
              </a:rPr>
              <a:t>É o movimento certo, considerando as tendências dos clientes e os movimentos dos concorrentes.</a:t>
            </a:r>
          </a:p>
        </p:txBody>
      </p:sp>
      <p:sp>
        <p:nvSpPr>
          <p:cNvPr id="6" name="Retângulo 5">
            <a:extLst>
              <a:ext uri="{FF2B5EF4-FFF2-40B4-BE49-F238E27FC236}">
                <a16:creationId xmlns:a16="http://schemas.microsoft.com/office/drawing/2014/main" id="{613F4F04-4365-B53B-D98F-8826FF3A88F5}"/>
              </a:ext>
            </a:extLst>
          </p:cNvPr>
          <p:cNvSpPr/>
          <p:nvPr/>
        </p:nvSpPr>
        <p:spPr>
          <a:xfrm>
            <a:off x="5594013" y="2106189"/>
            <a:ext cx="1516270" cy="2008610"/>
          </a:xfrm>
          <a:prstGeom prst="rect">
            <a:avLst/>
          </a:prstGeom>
          <a:solidFill>
            <a:schemeClr val="accent1">
              <a:alpha val="5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1800"/>
              </a:spcAft>
            </a:pPr>
            <a:endParaRPr lang="en-US" sz="1125" dirty="0">
              <a:solidFill>
                <a:schemeClr val="bg2">
                  <a:lumMod val="10000"/>
                </a:schemeClr>
              </a:solidFill>
            </a:endParaRPr>
          </a:p>
          <a:p>
            <a:pPr>
              <a:spcAft>
                <a:spcPts val="1800"/>
              </a:spcAft>
            </a:pPr>
            <a:endParaRPr lang="en-US" sz="1125" dirty="0">
              <a:solidFill>
                <a:schemeClr val="bg2">
                  <a:lumMod val="10000"/>
                </a:schemeClr>
              </a:solidFill>
            </a:endParaRPr>
          </a:p>
          <a:p>
            <a:pPr>
              <a:spcAft>
                <a:spcPts val="1800"/>
              </a:spcAft>
            </a:pPr>
            <a:r>
              <a:rPr lang="en-US" sz="1125" dirty="0">
                <a:solidFill>
                  <a:schemeClr val="bg2">
                    <a:lumMod val="10000"/>
                  </a:schemeClr>
                </a:solidFill>
              </a:rPr>
              <a:t>A análise SWOT indica que o desenvolvimento interno tem mais vantagens do que desvantagens.</a:t>
            </a:r>
          </a:p>
        </p:txBody>
      </p:sp>
      <p:sp>
        <p:nvSpPr>
          <p:cNvPr id="7" name="Retângulo 6">
            <a:extLst>
              <a:ext uri="{FF2B5EF4-FFF2-40B4-BE49-F238E27FC236}">
                <a16:creationId xmlns:a16="http://schemas.microsoft.com/office/drawing/2014/main" id="{CE875A9F-5557-5B56-ED7B-BD675CA5F89B}"/>
              </a:ext>
            </a:extLst>
          </p:cNvPr>
          <p:cNvSpPr/>
          <p:nvPr/>
        </p:nvSpPr>
        <p:spPr>
          <a:xfrm>
            <a:off x="7272300" y="2105382"/>
            <a:ext cx="1516270" cy="2008610"/>
          </a:xfrm>
          <a:prstGeom prst="rect">
            <a:avLst/>
          </a:prstGeom>
          <a:solidFill>
            <a:schemeClr val="accent1">
              <a:alpha val="5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1800"/>
              </a:spcAft>
            </a:pPr>
            <a:endParaRPr lang="en-US" sz="1125" dirty="0">
              <a:solidFill>
                <a:schemeClr val="bg2">
                  <a:lumMod val="10000"/>
                </a:schemeClr>
              </a:solidFill>
            </a:endParaRPr>
          </a:p>
          <a:p>
            <a:pPr>
              <a:spcAft>
                <a:spcPts val="1800"/>
              </a:spcAft>
            </a:pPr>
            <a:endParaRPr lang="en-US" sz="1125" dirty="0">
              <a:solidFill>
                <a:schemeClr val="bg2">
                  <a:lumMod val="10000"/>
                </a:schemeClr>
              </a:solidFill>
            </a:endParaRPr>
          </a:p>
          <a:p>
            <a:pPr>
              <a:spcAft>
                <a:spcPts val="1800"/>
              </a:spcAft>
            </a:pPr>
            <a:r>
              <a:rPr lang="en-US" sz="1125" dirty="0">
                <a:solidFill>
                  <a:schemeClr val="bg2">
                    <a:lumMod val="10000"/>
                  </a:schemeClr>
                </a:solidFill>
              </a:rPr>
              <a:t>Em 5 anos, vamos investir R$ 3 milhões para capturar R$ 15 milhões em Sales Profit adicional.</a:t>
            </a:r>
          </a:p>
        </p:txBody>
      </p:sp>
      <p:sp>
        <p:nvSpPr>
          <p:cNvPr id="9" name="Oval 6">
            <a:extLst>
              <a:ext uri="{FF2B5EF4-FFF2-40B4-BE49-F238E27FC236}">
                <a16:creationId xmlns:a16="http://schemas.microsoft.com/office/drawing/2014/main" id="{82246C32-42C8-BD0E-C682-86C1BC2C007A}"/>
              </a:ext>
            </a:extLst>
          </p:cNvPr>
          <p:cNvSpPr/>
          <p:nvPr/>
        </p:nvSpPr>
        <p:spPr>
          <a:xfrm rot="16200000">
            <a:off x="6787966" y="1424521"/>
            <a:ext cx="768345" cy="1242779"/>
          </a:xfrm>
          <a:custGeom>
            <a:avLst/>
            <a:gdLst/>
            <a:ahLst/>
            <a:cxnLst/>
            <a:rect l="l" t="t" r="r" b="b"/>
            <a:pathLst>
              <a:path w="890376" h="1440160">
                <a:moveTo>
                  <a:pt x="445188" y="0"/>
                </a:moveTo>
                <a:cubicBezTo>
                  <a:pt x="614149" y="0"/>
                  <a:pt x="769519" y="58193"/>
                  <a:pt x="890376" y="158114"/>
                </a:cubicBezTo>
                <a:cubicBezTo>
                  <a:pt x="722128" y="287532"/>
                  <a:pt x="615484" y="491352"/>
                  <a:pt x="615484" y="720080"/>
                </a:cubicBezTo>
                <a:cubicBezTo>
                  <a:pt x="615484" y="948808"/>
                  <a:pt x="722128" y="1152628"/>
                  <a:pt x="890376" y="1282046"/>
                </a:cubicBezTo>
                <a:cubicBezTo>
                  <a:pt x="769519" y="1381967"/>
                  <a:pt x="614149" y="1440160"/>
                  <a:pt x="445188" y="1440160"/>
                </a:cubicBezTo>
                <a:cubicBezTo>
                  <a:pt x="276227" y="1440160"/>
                  <a:pt x="120857" y="1381967"/>
                  <a:pt x="0" y="1282046"/>
                </a:cubicBezTo>
                <a:cubicBezTo>
                  <a:pt x="168248" y="1152628"/>
                  <a:pt x="274891" y="948808"/>
                  <a:pt x="274891" y="720080"/>
                </a:cubicBezTo>
                <a:cubicBezTo>
                  <a:pt x="274891" y="491352"/>
                  <a:pt x="168248" y="287532"/>
                  <a:pt x="0" y="158114"/>
                </a:cubicBezTo>
                <a:cubicBezTo>
                  <a:pt x="120857" y="58193"/>
                  <a:pt x="276227" y="0"/>
                  <a:pt x="445188" y="0"/>
                </a:cubicBezTo>
                <a:close/>
              </a:path>
            </a:pathLst>
          </a:cu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0" name="Oval 18">
            <a:extLst>
              <a:ext uri="{FF2B5EF4-FFF2-40B4-BE49-F238E27FC236}">
                <a16:creationId xmlns:a16="http://schemas.microsoft.com/office/drawing/2014/main" id="{DA5EE5D7-7915-2D80-262A-75EDA6928FB2}"/>
              </a:ext>
            </a:extLst>
          </p:cNvPr>
          <p:cNvSpPr/>
          <p:nvPr/>
        </p:nvSpPr>
        <p:spPr>
          <a:xfrm>
            <a:off x="7360839" y="1393451"/>
            <a:ext cx="1304918" cy="1304918"/>
          </a:xfrm>
          <a:prstGeom prst="ellipse">
            <a:avLst/>
          </a:pr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1" name="Oval 3">
            <a:extLst>
              <a:ext uri="{FF2B5EF4-FFF2-40B4-BE49-F238E27FC236}">
                <a16:creationId xmlns:a16="http://schemas.microsoft.com/office/drawing/2014/main" id="{DCF6A255-DEBF-46A4-E765-AC00AEECCBA8}"/>
              </a:ext>
            </a:extLst>
          </p:cNvPr>
          <p:cNvSpPr/>
          <p:nvPr/>
        </p:nvSpPr>
        <p:spPr>
          <a:xfrm>
            <a:off x="7422978" y="1455590"/>
            <a:ext cx="1180640" cy="1180640"/>
          </a:xfrm>
          <a:custGeom>
            <a:avLst/>
            <a:gdLst/>
            <a:ahLst/>
            <a:cxnLst/>
            <a:rect l="l" t="t" r="r" b="b"/>
            <a:pathLst>
              <a:path w="1368152" h="1368152">
                <a:moveTo>
                  <a:pt x="684076" y="0"/>
                </a:moveTo>
                <a:cubicBezTo>
                  <a:pt x="1061881" y="0"/>
                  <a:pt x="1368152" y="306271"/>
                  <a:pt x="1368152" y="684076"/>
                </a:cubicBezTo>
                <a:lnTo>
                  <a:pt x="1359710" y="767824"/>
                </a:lnTo>
                <a:cubicBezTo>
                  <a:pt x="1086175" y="819898"/>
                  <a:pt x="877562" y="1054565"/>
                  <a:pt x="866904" y="1340297"/>
                </a:cubicBezTo>
                <a:cubicBezTo>
                  <a:pt x="809279" y="1359469"/>
                  <a:pt x="747692" y="1368152"/>
                  <a:pt x="684076" y="1368152"/>
                </a:cubicBezTo>
                <a:cubicBezTo>
                  <a:pt x="306271" y="1368152"/>
                  <a:pt x="0" y="1061881"/>
                  <a:pt x="0" y="684076"/>
                </a:cubicBezTo>
                <a:cubicBezTo>
                  <a:pt x="0" y="306271"/>
                  <a:pt x="306271" y="0"/>
                  <a:pt x="684076" y="0"/>
                </a:cubicBezTo>
                <a:close/>
              </a:path>
            </a:pathLst>
          </a:custGeom>
          <a:solidFill>
            <a:schemeClr val="accent1"/>
          </a:solidFill>
          <a:ln>
            <a:noFill/>
          </a:ln>
          <a:effectLst>
            <a:outerShdw blurRad="254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2" name="TextBox 307">
            <a:extLst>
              <a:ext uri="{FF2B5EF4-FFF2-40B4-BE49-F238E27FC236}">
                <a16:creationId xmlns:a16="http://schemas.microsoft.com/office/drawing/2014/main" id="{95FD6FA0-D3E3-D0AA-0D53-8D6F52B36528}"/>
              </a:ext>
            </a:extLst>
          </p:cNvPr>
          <p:cNvSpPr txBox="1"/>
          <p:nvPr/>
        </p:nvSpPr>
        <p:spPr>
          <a:xfrm>
            <a:off x="8213124" y="2189168"/>
            <a:ext cx="379183" cy="415498"/>
          </a:xfrm>
          <a:prstGeom prst="rect">
            <a:avLst/>
          </a:prstGeom>
          <a:noFill/>
        </p:spPr>
        <p:txBody>
          <a:bodyPr wrap="square" rtlCol="0">
            <a:spAutoFit/>
          </a:bodyPr>
          <a:lstStyle/>
          <a:p>
            <a:pPr algn="ctr"/>
            <a:r>
              <a:rPr lang="en-US" altLang="ko-KR" sz="2100" b="1">
                <a:solidFill>
                  <a:schemeClr val="accent3"/>
                </a:solidFill>
              </a:rPr>
              <a:t>5</a:t>
            </a:r>
            <a:endParaRPr lang="ko-KR" altLang="en-US" sz="2100" b="1">
              <a:solidFill>
                <a:schemeClr val="accent3"/>
              </a:solidFill>
            </a:endParaRPr>
          </a:p>
        </p:txBody>
      </p:sp>
      <p:sp>
        <p:nvSpPr>
          <p:cNvPr id="14" name="Oval 6">
            <a:extLst>
              <a:ext uri="{FF2B5EF4-FFF2-40B4-BE49-F238E27FC236}">
                <a16:creationId xmlns:a16="http://schemas.microsoft.com/office/drawing/2014/main" id="{D0426ABC-37BB-357D-8CC5-AD87FA09C2F7}"/>
              </a:ext>
            </a:extLst>
          </p:cNvPr>
          <p:cNvSpPr/>
          <p:nvPr/>
        </p:nvSpPr>
        <p:spPr>
          <a:xfrm rot="16200000">
            <a:off x="5113780" y="1424521"/>
            <a:ext cx="768345" cy="1242779"/>
          </a:xfrm>
          <a:custGeom>
            <a:avLst/>
            <a:gdLst/>
            <a:ahLst/>
            <a:cxnLst/>
            <a:rect l="l" t="t" r="r" b="b"/>
            <a:pathLst>
              <a:path w="890376" h="1440160">
                <a:moveTo>
                  <a:pt x="445188" y="0"/>
                </a:moveTo>
                <a:cubicBezTo>
                  <a:pt x="614149" y="0"/>
                  <a:pt x="769519" y="58193"/>
                  <a:pt x="890376" y="158114"/>
                </a:cubicBezTo>
                <a:cubicBezTo>
                  <a:pt x="722128" y="287532"/>
                  <a:pt x="615484" y="491352"/>
                  <a:pt x="615484" y="720080"/>
                </a:cubicBezTo>
                <a:cubicBezTo>
                  <a:pt x="615484" y="948808"/>
                  <a:pt x="722128" y="1152628"/>
                  <a:pt x="890376" y="1282046"/>
                </a:cubicBezTo>
                <a:cubicBezTo>
                  <a:pt x="769519" y="1381967"/>
                  <a:pt x="614149" y="1440160"/>
                  <a:pt x="445188" y="1440160"/>
                </a:cubicBezTo>
                <a:cubicBezTo>
                  <a:pt x="276227" y="1440160"/>
                  <a:pt x="120857" y="1381967"/>
                  <a:pt x="0" y="1282046"/>
                </a:cubicBezTo>
                <a:cubicBezTo>
                  <a:pt x="168248" y="1152628"/>
                  <a:pt x="274891" y="948808"/>
                  <a:pt x="274891" y="720080"/>
                </a:cubicBezTo>
                <a:cubicBezTo>
                  <a:pt x="274891" y="491352"/>
                  <a:pt x="168248" y="287532"/>
                  <a:pt x="0" y="158114"/>
                </a:cubicBezTo>
                <a:cubicBezTo>
                  <a:pt x="120857" y="58193"/>
                  <a:pt x="276227" y="0"/>
                  <a:pt x="445188" y="0"/>
                </a:cubicBezTo>
                <a:close/>
              </a:path>
            </a:pathLst>
          </a:cu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5" name="Oval 6">
            <a:extLst>
              <a:ext uri="{FF2B5EF4-FFF2-40B4-BE49-F238E27FC236}">
                <a16:creationId xmlns:a16="http://schemas.microsoft.com/office/drawing/2014/main" id="{B8030DFD-E081-A16A-3534-DE314258713C}"/>
              </a:ext>
            </a:extLst>
          </p:cNvPr>
          <p:cNvSpPr/>
          <p:nvPr/>
        </p:nvSpPr>
        <p:spPr>
          <a:xfrm rot="16200000">
            <a:off x="3331582" y="1424521"/>
            <a:ext cx="768345" cy="1242779"/>
          </a:xfrm>
          <a:custGeom>
            <a:avLst/>
            <a:gdLst/>
            <a:ahLst/>
            <a:cxnLst/>
            <a:rect l="l" t="t" r="r" b="b"/>
            <a:pathLst>
              <a:path w="890376" h="1440160">
                <a:moveTo>
                  <a:pt x="445188" y="0"/>
                </a:moveTo>
                <a:cubicBezTo>
                  <a:pt x="614149" y="0"/>
                  <a:pt x="769519" y="58193"/>
                  <a:pt x="890376" y="158114"/>
                </a:cubicBezTo>
                <a:cubicBezTo>
                  <a:pt x="722128" y="287532"/>
                  <a:pt x="615484" y="491352"/>
                  <a:pt x="615484" y="720080"/>
                </a:cubicBezTo>
                <a:cubicBezTo>
                  <a:pt x="615484" y="948808"/>
                  <a:pt x="722128" y="1152628"/>
                  <a:pt x="890376" y="1282046"/>
                </a:cubicBezTo>
                <a:cubicBezTo>
                  <a:pt x="769519" y="1381967"/>
                  <a:pt x="614149" y="1440160"/>
                  <a:pt x="445188" y="1440160"/>
                </a:cubicBezTo>
                <a:cubicBezTo>
                  <a:pt x="276227" y="1440160"/>
                  <a:pt x="120857" y="1381967"/>
                  <a:pt x="0" y="1282046"/>
                </a:cubicBezTo>
                <a:cubicBezTo>
                  <a:pt x="168248" y="1152628"/>
                  <a:pt x="274891" y="948808"/>
                  <a:pt x="274891" y="720080"/>
                </a:cubicBezTo>
                <a:cubicBezTo>
                  <a:pt x="274891" y="491352"/>
                  <a:pt x="168248" y="287532"/>
                  <a:pt x="0" y="158114"/>
                </a:cubicBezTo>
                <a:cubicBezTo>
                  <a:pt x="120857" y="58193"/>
                  <a:pt x="276227" y="0"/>
                  <a:pt x="445188" y="0"/>
                </a:cubicBezTo>
                <a:close/>
              </a:path>
            </a:pathLst>
          </a:cu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6" name="Oval 6">
            <a:extLst>
              <a:ext uri="{FF2B5EF4-FFF2-40B4-BE49-F238E27FC236}">
                <a16:creationId xmlns:a16="http://schemas.microsoft.com/office/drawing/2014/main" id="{77D3E33F-9390-C5D6-5A33-A31DCC037386}"/>
              </a:ext>
            </a:extLst>
          </p:cNvPr>
          <p:cNvSpPr/>
          <p:nvPr/>
        </p:nvSpPr>
        <p:spPr>
          <a:xfrm rot="16200000">
            <a:off x="1603390" y="1424521"/>
            <a:ext cx="768345" cy="1242779"/>
          </a:xfrm>
          <a:custGeom>
            <a:avLst/>
            <a:gdLst/>
            <a:ahLst/>
            <a:cxnLst/>
            <a:rect l="l" t="t" r="r" b="b"/>
            <a:pathLst>
              <a:path w="890376" h="1440160">
                <a:moveTo>
                  <a:pt x="445188" y="0"/>
                </a:moveTo>
                <a:cubicBezTo>
                  <a:pt x="614149" y="0"/>
                  <a:pt x="769519" y="58193"/>
                  <a:pt x="890376" y="158114"/>
                </a:cubicBezTo>
                <a:cubicBezTo>
                  <a:pt x="722128" y="287532"/>
                  <a:pt x="615484" y="491352"/>
                  <a:pt x="615484" y="720080"/>
                </a:cubicBezTo>
                <a:cubicBezTo>
                  <a:pt x="615484" y="948808"/>
                  <a:pt x="722128" y="1152628"/>
                  <a:pt x="890376" y="1282046"/>
                </a:cubicBezTo>
                <a:cubicBezTo>
                  <a:pt x="769519" y="1381967"/>
                  <a:pt x="614149" y="1440160"/>
                  <a:pt x="445188" y="1440160"/>
                </a:cubicBezTo>
                <a:cubicBezTo>
                  <a:pt x="276227" y="1440160"/>
                  <a:pt x="120857" y="1381967"/>
                  <a:pt x="0" y="1282046"/>
                </a:cubicBezTo>
                <a:cubicBezTo>
                  <a:pt x="168248" y="1152628"/>
                  <a:pt x="274891" y="948808"/>
                  <a:pt x="274891" y="720080"/>
                </a:cubicBezTo>
                <a:cubicBezTo>
                  <a:pt x="274891" y="491352"/>
                  <a:pt x="168248" y="287532"/>
                  <a:pt x="0" y="158114"/>
                </a:cubicBezTo>
                <a:cubicBezTo>
                  <a:pt x="120857" y="58193"/>
                  <a:pt x="276227" y="0"/>
                  <a:pt x="445188" y="0"/>
                </a:cubicBezTo>
                <a:close/>
              </a:path>
            </a:pathLst>
          </a:cu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7" name="Oval 9">
            <a:extLst>
              <a:ext uri="{FF2B5EF4-FFF2-40B4-BE49-F238E27FC236}">
                <a16:creationId xmlns:a16="http://schemas.microsoft.com/office/drawing/2014/main" id="{8CA2FD6A-42C6-F9E0-C448-2FF6A00FFB0B}"/>
              </a:ext>
            </a:extLst>
          </p:cNvPr>
          <p:cNvSpPr/>
          <p:nvPr/>
        </p:nvSpPr>
        <p:spPr>
          <a:xfrm>
            <a:off x="413538" y="1393451"/>
            <a:ext cx="1304918" cy="1304918"/>
          </a:xfrm>
          <a:prstGeom prst="ellipse">
            <a:avLst/>
          </a:pr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8" name="Oval 3">
            <a:extLst>
              <a:ext uri="{FF2B5EF4-FFF2-40B4-BE49-F238E27FC236}">
                <a16:creationId xmlns:a16="http://schemas.microsoft.com/office/drawing/2014/main" id="{1AC894EE-6512-91BA-0119-608367E522B9}"/>
              </a:ext>
            </a:extLst>
          </p:cNvPr>
          <p:cNvSpPr/>
          <p:nvPr/>
        </p:nvSpPr>
        <p:spPr>
          <a:xfrm>
            <a:off x="475677" y="1455590"/>
            <a:ext cx="1180640" cy="1180640"/>
          </a:xfrm>
          <a:custGeom>
            <a:avLst/>
            <a:gdLst/>
            <a:ahLst/>
            <a:cxnLst/>
            <a:rect l="l" t="t" r="r" b="b"/>
            <a:pathLst>
              <a:path w="1368152" h="1368152">
                <a:moveTo>
                  <a:pt x="684076" y="0"/>
                </a:moveTo>
                <a:cubicBezTo>
                  <a:pt x="1061881" y="0"/>
                  <a:pt x="1368152" y="306271"/>
                  <a:pt x="1368152" y="684076"/>
                </a:cubicBezTo>
                <a:lnTo>
                  <a:pt x="1359710" y="767824"/>
                </a:lnTo>
                <a:cubicBezTo>
                  <a:pt x="1086175" y="819898"/>
                  <a:pt x="877562" y="1054565"/>
                  <a:pt x="866904" y="1340297"/>
                </a:cubicBezTo>
                <a:cubicBezTo>
                  <a:pt x="809279" y="1359469"/>
                  <a:pt x="747692" y="1368152"/>
                  <a:pt x="684076" y="1368152"/>
                </a:cubicBezTo>
                <a:cubicBezTo>
                  <a:pt x="306271" y="1368152"/>
                  <a:pt x="0" y="1061881"/>
                  <a:pt x="0" y="684076"/>
                </a:cubicBezTo>
                <a:cubicBezTo>
                  <a:pt x="0" y="306271"/>
                  <a:pt x="306271" y="0"/>
                  <a:pt x="684076" y="0"/>
                </a:cubicBezTo>
                <a:close/>
              </a:path>
            </a:pathLst>
          </a:custGeom>
          <a:solidFill>
            <a:schemeClr val="accent1"/>
          </a:solidFill>
          <a:ln>
            <a:noFill/>
          </a:ln>
          <a:effectLst>
            <a:outerShdw blurRad="254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9" name="Oval 12">
            <a:extLst>
              <a:ext uri="{FF2B5EF4-FFF2-40B4-BE49-F238E27FC236}">
                <a16:creationId xmlns:a16="http://schemas.microsoft.com/office/drawing/2014/main" id="{7EE0F3AA-ED48-9AB9-CB02-A69C133FBDDE}"/>
              </a:ext>
            </a:extLst>
          </p:cNvPr>
          <p:cNvSpPr/>
          <p:nvPr/>
        </p:nvSpPr>
        <p:spPr>
          <a:xfrm>
            <a:off x="2176263" y="1393451"/>
            <a:ext cx="1304918" cy="1304918"/>
          </a:xfrm>
          <a:prstGeom prst="ellipse">
            <a:avLst/>
          </a:pr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0" name="Oval 3">
            <a:extLst>
              <a:ext uri="{FF2B5EF4-FFF2-40B4-BE49-F238E27FC236}">
                <a16:creationId xmlns:a16="http://schemas.microsoft.com/office/drawing/2014/main" id="{ACB96CD0-70C8-E643-F902-F6F4A6A9552B}"/>
              </a:ext>
            </a:extLst>
          </p:cNvPr>
          <p:cNvSpPr/>
          <p:nvPr/>
        </p:nvSpPr>
        <p:spPr>
          <a:xfrm>
            <a:off x="2238402" y="1455590"/>
            <a:ext cx="1180640" cy="1180640"/>
          </a:xfrm>
          <a:custGeom>
            <a:avLst/>
            <a:gdLst/>
            <a:ahLst/>
            <a:cxnLst/>
            <a:rect l="l" t="t" r="r" b="b"/>
            <a:pathLst>
              <a:path w="1368152" h="1368152">
                <a:moveTo>
                  <a:pt x="684076" y="0"/>
                </a:moveTo>
                <a:cubicBezTo>
                  <a:pt x="1061881" y="0"/>
                  <a:pt x="1368152" y="306271"/>
                  <a:pt x="1368152" y="684076"/>
                </a:cubicBezTo>
                <a:lnTo>
                  <a:pt x="1359710" y="767824"/>
                </a:lnTo>
                <a:cubicBezTo>
                  <a:pt x="1086175" y="819898"/>
                  <a:pt x="877562" y="1054565"/>
                  <a:pt x="866904" y="1340297"/>
                </a:cubicBezTo>
                <a:cubicBezTo>
                  <a:pt x="809279" y="1359469"/>
                  <a:pt x="747692" y="1368152"/>
                  <a:pt x="684076" y="1368152"/>
                </a:cubicBezTo>
                <a:cubicBezTo>
                  <a:pt x="306271" y="1368152"/>
                  <a:pt x="0" y="1061881"/>
                  <a:pt x="0" y="684076"/>
                </a:cubicBezTo>
                <a:cubicBezTo>
                  <a:pt x="0" y="306271"/>
                  <a:pt x="306271" y="0"/>
                  <a:pt x="684076" y="0"/>
                </a:cubicBezTo>
                <a:close/>
              </a:path>
            </a:pathLst>
          </a:custGeom>
          <a:solidFill>
            <a:schemeClr val="accent1"/>
          </a:solidFill>
          <a:ln>
            <a:noFill/>
          </a:ln>
          <a:effectLst>
            <a:outerShdw blurRad="254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1" name="Oval 15">
            <a:extLst>
              <a:ext uri="{FF2B5EF4-FFF2-40B4-BE49-F238E27FC236}">
                <a16:creationId xmlns:a16="http://schemas.microsoft.com/office/drawing/2014/main" id="{1041ED6B-1CD8-DCF6-AC71-96B184B7ECEA}"/>
              </a:ext>
            </a:extLst>
          </p:cNvPr>
          <p:cNvSpPr/>
          <p:nvPr/>
        </p:nvSpPr>
        <p:spPr>
          <a:xfrm>
            <a:off x="3958461" y="1393451"/>
            <a:ext cx="1304918" cy="1304918"/>
          </a:xfrm>
          <a:prstGeom prst="ellipse">
            <a:avLst/>
          </a:pr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2" name="Oval 3">
            <a:extLst>
              <a:ext uri="{FF2B5EF4-FFF2-40B4-BE49-F238E27FC236}">
                <a16:creationId xmlns:a16="http://schemas.microsoft.com/office/drawing/2014/main" id="{74B4D89E-7FFE-349E-512D-7BDE977E894A}"/>
              </a:ext>
            </a:extLst>
          </p:cNvPr>
          <p:cNvSpPr/>
          <p:nvPr/>
        </p:nvSpPr>
        <p:spPr>
          <a:xfrm>
            <a:off x="4020600" y="1455590"/>
            <a:ext cx="1180640" cy="1180640"/>
          </a:xfrm>
          <a:custGeom>
            <a:avLst/>
            <a:gdLst/>
            <a:ahLst/>
            <a:cxnLst/>
            <a:rect l="l" t="t" r="r" b="b"/>
            <a:pathLst>
              <a:path w="1368152" h="1368152">
                <a:moveTo>
                  <a:pt x="684076" y="0"/>
                </a:moveTo>
                <a:cubicBezTo>
                  <a:pt x="1061881" y="0"/>
                  <a:pt x="1368152" y="306271"/>
                  <a:pt x="1368152" y="684076"/>
                </a:cubicBezTo>
                <a:lnTo>
                  <a:pt x="1359710" y="767824"/>
                </a:lnTo>
                <a:cubicBezTo>
                  <a:pt x="1086175" y="819898"/>
                  <a:pt x="877562" y="1054565"/>
                  <a:pt x="866904" y="1340297"/>
                </a:cubicBezTo>
                <a:cubicBezTo>
                  <a:pt x="809279" y="1359469"/>
                  <a:pt x="747692" y="1368152"/>
                  <a:pt x="684076" y="1368152"/>
                </a:cubicBezTo>
                <a:cubicBezTo>
                  <a:pt x="306271" y="1368152"/>
                  <a:pt x="0" y="1061881"/>
                  <a:pt x="0" y="684076"/>
                </a:cubicBezTo>
                <a:cubicBezTo>
                  <a:pt x="0" y="306271"/>
                  <a:pt x="306271" y="0"/>
                  <a:pt x="684076" y="0"/>
                </a:cubicBezTo>
                <a:close/>
              </a:path>
            </a:pathLst>
          </a:custGeom>
          <a:solidFill>
            <a:schemeClr val="accent1"/>
          </a:solidFill>
          <a:ln>
            <a:noFill/>
          </a:ln>
          <a:effectLst>
            <a:outerShdw blurRad="254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3" name="Oval 18">
            <a:extLst>
              <a:ext uri="{FF2B5EF4-FFF2-40B4-BE49-F238E27FC236}">
                <a16:creationId xmlns:a16="http://schemas.microsoft.com/office/drawing/2014/main" id="{ADABE66C-BEF4-87BF-17FE-0BBEBF459A72}"/>
              </a:ext>
            </a:extLst>
          </p:cNvPr>
          <p:cNvSpPr/>
          <p:nvPr/>
        </p:nvSpPr>
        <p:spPr>
          <a:xfrm>
            <a:off x="5686653" y="1393451"/>
            <a:ext cx="1304918" cy="1304918"/>
          </a:xfrm>
          <a:prstGeom prst="ellipse">
            <a:avLst/>
          </a:pr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4" name="Oval 3">
            <a:extLst>
              <a:ext uri="{FF2B5EF4-FFF2-40B4-BE49-F238E27FC236}">
                <a16:creationId xmlns:a16="http://schemas.microsoft.com/office/drawing/2014/main" id="{496816FF-1DCE-C27F-E1BB-A34B20085C34}"/>
              </a:ext>
            </a:extLst>
          </p:cNvPr>
          <p:cNvSpPr/>
          <p:nvPr/>
        </p:nvSpPr>
        <p:spPr>
          <a:xfrm>
            <a:off x="5748792" y="1455590"/>
            <a:ext cx="1180640" cy="1180640"/>
          </a:xfrm>
          <a:custGeom>
            <a:avLst/>
            <a:gdLst/>
            <a:ahLst/>
            <a:cxnLst/>
            <a:rect l="l" t="t" r="r" b="b"/>
            <a:pathLst>
              <a:path w="1368152" h="1368152">
                <a:moveTo>
                  <a:pt x="684076" y="0"/>
                </a:moveTo>
                <a:cubicBezTo>
                  <a:pt x="1061881" y="0"/>
                  <a:pt x="1368152" y="306271"/>
                  <a:pt x="1368152" y="684076"/>
                </a:cubicBezTo>
                <a:lnTo>
                  <a:pt x="1359710" y="767824"/>
                </a:lnTo>
                <a:cubicBezTo>
                  <a:pt x="1086175" y="819898"/>
                  <a:pt x="877562" y="1054565"/>
                  <a:pt x="866904" y="1340297"/>
                </a:cubicBezTo>
                <a:cubicBezTo>
                  <a:pt x="809279" y="1359469"/>
                  <a:pt x="747692" y="1368152"/>
                  <a:pt x="684076" y="1368152"/>
                </a:cubicBezTo>
                <a:cubicBezTo>
                  <a:pt x="306271" y="1368152"/>
                  <a:pt x="0" y="1061881"/>
                  <a:pt x="0" y="684076"/>
                </a:cubicBezTo>
                <a:cubicBezTo>
                  <a:pt x="0" y="306271"/>
                  <a:pt x="306271" y="0"/>
                  <a:pt x="684076" y="0"/>
                </a:cubicBezTo>
                <a:close/>
              </a:path>
            </a:pathLst>
          </a:custGeom>
          <a:solidFill>
            <a:schemeClr val="accent1"/>
          </a:solidFill>
          <a:ln>
            <a:noFill/>
          </a:ln>
          <a:effectLst>
            <a:outerShdw blurRad="254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5" name="TextBox 304">
            <a:extLst>
              <a:ext uri="{FF2B5EF4-FFF2-40B4-BE49-F238E27FC236}">
                <a16:creationId xmlns:a16="http://schemas.microsoft.com/office/drawing/2014/main" id="{180A2A0C-B094-EEEF-30D1-6D2F9A74DCC3}"/>
              </a:ext>
            </a:extLst>
          </p:cNvPr>
          <p:cNvSpPr txBox="1"/>
          <p:nvPr/>
        </p:nvSpPr>
        <p:spPr>
          <a:xfrm>
            <a:off x="1246235" y="2189168"/>
            <a:ext cx="379183" cy="415498"/>
          </a:xfrm>
          <a:prstGeom prst="rect">
            <a:avLst/>
          </a:prstGeom>
          <a:noFill/>
        </p:spPr>
        <p:txBody>
          <a:bodyPr wrap="square" rtlCol="0">
            <a:spAutoFit/>
          </a:bodyPr>
          <a:lstStyle/>
          <a:p>
            <a:pPr algn="ctr"/>
            <a:r>
              <a:rPr lang="en-US" altLang="ko-KR" sz="2100" b="1">
                <a:solidFill>
                  <a:schemeClr val="accent3"/>
                </a:solidFill>
              </a:rPr>
              <a:t>1</a:t>
            </a:r>
            <a:endParaRPr lang="ko-KR" altLang="en-US" sz="2100" b="1">
              <a:solidFill>
                <a:schemeClr val="accent3"/>
              </a:solidFill>
            </a:endParaRPr>
          </a:p>
        </p:txBody>
      </p:sp>
      <p:sp>
        <p:nvSpPr>
          <p:cNvPr id="26" name="TextBox 305">
            <a:extLst>
              <a:ext uri="{FF2B5EF4-FFF2-40B4-BE49-F238E27FC236}">
                <a16:creationId xmlns:a16="http://schemas.microsoft.com/office/drawing/2014/main" id="{5D5691D9-14B7-FB6E-59C8-FF2F60520D2F}"/>
              </a:ext>
            </a:extLst>
          </p:cNvPr>
          <p:cNvSpPr txBox="1"/>
          <p:nvPr/>
        </p:nvSpPr>
        <p:spPr>
          <a:xfrm>
            <a:off x="3015489" y="2189168"/>
            <a:ext cx="379183" cy="415498"/>
          </a:xfrm>
          <a:prstGeom prst="rect">
            <a:avLst/>
          </a:prstGeom>
          <a:noFill/>
        </p:spPr>
        <p:txBody>
          <a:bodyPr wrap="square" rtlCol="0">
            <a:spAutoFit/>
          </a:bodyPr>
          <a:lstStyle/>
          <a:p>
            <a:pPr algn="ctr"/>
            <a:r>
              <a:rPr lang="en-US" altLang="ko-KR" sz="2100" b="1">
                <a:solidFill>
                  <a:schemeClr val="accent3"/>
                </a:solidFill>
              </a:rPr>
              <a:t>2</a:t>
            </a:r>
            <a:endParaRPr lang="ko-KR" altLang="en-US" sz="2100" b="1">
              <a:solidFill>
                <a:schemeClr val="accent3"/>
              </a:solidFill>
            </a:endParaRPr>
          </a:p>
        </p:txBody>
      </p:sp>
      <p:sp>
        <p:nvSpPr>
          <p:cNvPr id="27" name="TextBox 306">
            <a:extLst>
              <a:ext uri="{FF2B5EF4-FFF2-40B4-BE49-F238E27FC236}">
                <a16:creationId xmlns:a16="http://schemas.microsoft.com/office/drawing/2014/main" id="{1EEE707E-A837-EDFB-A2B7-0DA1C3E462C1}"/>
              </a:ext>
            </a:extLst>
          </p:cNvPr>
          <p:cNvSpPr txBox="1"/>
          <p:nvPr/>
        </p:nvSpPr>
        <p:spPr>
          <a:xfrm>
            <a:off x="4804216" y="2189168"/>
            <a:ext cx="379183" cy="415498"/>
          </a:xfrm>
          <a:prstGeom prst="rect">
            <a:avLst/>
          </a:prstGeom>
          <a:noFill/>
        </p:spPr>
        <p:txBody>
          <a:bodyPr wrap="square" rtlCol="0">
            <a:spAutoFit/>
          </a:bodyPr>
          <a:lstStyle/>
          <a:p>
            <a:pPr algn="ctr"/>
            <a:r>
              <a:rPr lang="en-US" altLang="ko-KR" sz="2100" b="1" dirty="0">
                <a:solidFill>
                  <a:schemeClr val="accent3"/>
                </a:solidFill>
              </a:rPr>
              <a:t>3</a:t>
            </a:r>
            <a:endParaRPr lang="ko-KR" altLang="en-US" sz="2100" b="1" dirty="0">
              <a:solidFill>
                <a:schemeClr val="accent3"/>
              </a:solidFill>
            </a:endParaRPr>
          </a:p>
        </p:txBody>
      </p:sp>
      <p:sp>
        <p:nvSpPr>
          <p:cNvPr id="28" name="TextBox 307">
            <a:extLst>
              <a:ext uri="{FF2B5EF4-FFF2-40B4-BE49-F238E27FC236}">
                <a16:creationId xmlns:a16="http://schemas.microsoft.com/office/drawing/2014/main" id="{425134F9-9578-43B9-56C0-0745A73EB542}"/>
              </a:ext>
            </a:extLst>
          </p:cNvPr>
          <p:cNvSpPr txBox="1"/>
          <p:nvPr/>
        </p:nvSpPr>
        <p:spPr>
          <a:xfrm>
            <a:off x="6538938" y="2189168"/>
            <a:ext cx="379183" cy="415498"/>
          </a:xfrm>
          <a:prstGeom prst="rect">
            <a:avLst/>
          </a:prstGeom>
          <a:noFill/>
        </p:spPr>
        <p:txBody>
          <a:bodyPr wrap="square" rtlCol="0">
            <a:spAutoFit/>
          </a:bodyPr>
          <a:lstStyle/>
          <a:p>
            <a:pPr algn="ctr"/>
            <a:r>
              <a:rPr lang="en-US" altLang="ko-KR" sz="2100" b="1">
                <a:solidFill>
                  <a:schemeClr val="accent3"/>
                </a:solidFill>
              </a:rPr>
              <a:t>4</a:t>
            </a:r>
            <a:endParaRPr lang="ko-KR" altLang="en-US" sz="2100" b="1">
              <a:solidFill>
                <a:schemeClr val="accent3"/>
              </a:solidFill>
            </a:endParaRPr>
          </a:p>
        </p:txBody>
      </p:sp>
      <p:sp>
        <p:nvSpPr>
          <p:cNvPr id="29" name="TextBox 308">
            <a:extLst>
              <a:ext uri="{FF2B5EF4-FFF2-40B4-BE49-F238E27FC236}">
                <a16:creationId xmlns:a16="http://schemas.microsoft.com/office/drawing/2014/main" id="{EEA57E96-F4A2-2171-260C-8F00DD91D3B7}"/>
              </a:ext>
            </a:extLst>
          </p:cNvPr>
          <p:cNvSpPr txBox="1"/>
          <p:nvPr/>
        </p:nvSpPr>
        <p:spPr>
          <a:xfrm>
            <a:off x="565353" y="1815074"/>
            <a:ext cx="870473" cy="461665"/>
          </a:xfrm>
          <a:prstGeom prst="rect">
            <a:avLst/>
          </a:prstGeom>
          <a:noFill/>
        </p:spPr>
        <p:txBody>
          <a:bodyPr wrap="square" rtlCol="0">
            <a:spAutoFit/>
          </a:bodyPr>
          <a:lstStyle/>
          <a:p>
            <a:pPr algn="ctr"/>
            <a:r>
              <a:rPr lang="en-US" altLang="ko-KR" sz="1200" b="1" dirty="0">
                <a:solidFill>
                  <a:schemeClr val="bg1"/>
                </a:solidFill>
                <a:cs typeface="Arial" pitchFamily="34" charset="0"/>
              </a:rPr>
              <a:t>Aderência Estratégica</a:t>
            </a:r>
            <a:endParaRPr lang="ko-KR" altLang="en-US" sz="1200" b="1" dirty="0">
              <a:solidFill>
                <a:schemeClr val="bg1"/>
              </a:solidFill>
              <a:cs typeface="Arial" pitchFamily="34" charset="0"/>
            </a:endParaRPr>
          </a:p>
        </p:txBody>
      </p:sp>
      <p:sp>
        <p:nvSpPr>
          <p:cNvPr id="33" name="TextBox 308">
            <a:extLst>
              <a:ext uri="{FF2B5EF4-FFF2-40B4-BE49-F238E27FC236}">
                <a16:creationId xmlns:a16="http://schemas.microsoft.com/office/drawing/2014/main" id="{FA280527-06BC-9F1F-1DDF-15072CD80472}"/>
              </a:ext>
            </a:extLst>
          </p:cNvPr>
          <p:cNvSpPr txBox="1"/>
          <p:nvPr/>
        </p:nvSpPr>
        <p:spPr>
          <a:xfrm>
            <a:off x="2329396" y="1816787"/>
            <a:ext cx="870473" cy="646331"/>
          </a:xfrm>
          <a:prstGeom prst="rect">
            <a:avLst/>
          </a:prstGeom>
          <a:noFill/>
        </p:spPr>
        <p:txBody>
          <a:bodyPr wrap="square" rtlCol="0">
            <a:spAutoFit/>
          </a:bodyPr>
          <a:lstStyle/>
          <a:p>
            <a:pPr algn="ctr"/>
            <a:r>
              <a:rPr lang="en-US" altLang="ko-KR" sz="1200" b="1" dirty="0">
                <a:solidFill>
                  <a:schemeClr val="bg1"/>
                </a:solidFill>
                <a:cs typeface="Arial" pitchFamily="34" charset="0"/>
              </a:rPr>
              <a:t>Potencial de Mercado</a:t>
            </a:r>
            <a:endParaRPr lang="ko-KR" altLang="en-US" sz="1200" b="1" dirty="0">
              <a:solidFill>
                <a:schemeClr val="bg1"/>
              </a:solidFill>
              <a:cs typeface="Arial" pitchFamily="34" charset="0"/>
            </a:endParaRPr>
          </a:p>
        </p:txBody>
      </p:sp>
      <p:sp>
        <p:nvSpPr>
          <p:cNvPr id="34" name="TextBox 308">
            <a:extLst>
              <a:ext uri="{FF2B5EF4-FFF2-40B4-BE49-F238E27FC236}">
                <a16:creationId xmlns:a16="http://schemas.microsoft.com/office/drawing/2014/main" id="{BE54EA84-BC53-453D-20C7-F23543C6C9ED}"/>
              </a:ext>
            </a:extLst>
          </p:cNvPr>
          <p:cNvSpPr txBox="1"/>
          <p:nvPr/>
        </p:nvSpPr>
        <p:spPr>
          <a:xfrm>
            <a:off x="4108423" y="1826619"/>
            <a:ext cx="956321" cy="646331"/>
          </a:xfrm>
          <a:prstGeom prst="rect">
            <a:avLst/>
          </a:prstGeom>
          <a:noFill/>
        </p:spPr>
        <p:txBody>
          <a:bodyPr wrap="square" rtlCol="0">
            <a:spAutoFit/>
          </a:bodyPr>
          <a:lstStyle/>
          <a:p>
            <a:pPr algn="ctr"/>
            <a:r>
              <a:rPr lang="en-US" altLang="ko-KR" sz="1200" b="1" dirty="0">
                <a:solidFill>
                  <a:schemeClr val="bg1"/>
                </a:solidFill>
                <a:cs typeface="Arial" pitchFamily="34" charset="0"/>
              </a:rPr>
              <a:t>Cenário Competitivo</a:t>
            </a:r>
            <a:endParaRPr lang="ko-KR" altLang="en-US" sz="1200" b="1" dirty="0">
              <a:solidFill>
                <a:schemeClr val="bg1"/>
              </a:solidFill>
              <a:cs typeface="Arial" pitchFamily="34" charset="0"/>
            </a:endParaRPr>
          </a:p>
        </p:txBody>
      </p:sp>
      <p:sp>
        <p:nvSpPr>
          <p:cNvPr id="35" name="TextBox 308">
            <a:extLst>
              <a:ext uri="{FF2B5EF4-FFF2-40B4-BE49-F238E27FC236}">
                <a16:creationId xmlns:a16="http://schemas.microsoft.com/office/drawing/2014/main" id="{0C1E30B5-47EE-12EB-6CC9-53F7AA290B54}"/>
              </a:ext>
            </a:extLst>
          </p:cNvPr>
          <p:cNvSpPr txBox="1"/>
          <p:nvPr/>
        </p:nvSpPr>
        <p:spPr>
          <a:xfrm>
            <a:off x="5858056" y="1799535"/>
            <a:ext cx="870473" cy="461665"/>
          </a:xfrm>
          <a:prstGeom prst="rect">
            <a:avLst/>
          </a:prstGeom>
          <a:noFill/>
        </p:spPr>
        <p:txBody>
          <a:bodyPr wrap="square" rtlCol="0">
            <a:spAutoFit/>
          </a:bodyPr>
          <a:lstStyle/>
          <a:p>
            <a:pPr algn="ctr"/>
            <a:r>
              <a:rPr lang="en-US" altLang="ko-KR" sz="1200" b="1" dirty="0">
                <a:solidFill>
                  <a:schemeClr val="bg1"/>
                </a:solidFill>
                <a:cs typeface="Arial" pitchFamily="34" charset="0"/>
              </a:rPr>
              <a:t>Abordagem Correta</a:t>
            </a:r>
            <a:endParaRPr lang="ko-KR" altLang="en-US" sz="1200" b="1" dirty="0">
              <a:solidFill>
                <a:schemeClr val="bg1"/>
              </a:solidFill>
              <a:cs typeface="Arial" pitchFamily="34" charset="0"/>
            </a:endParaRPr>
          </a:p>
        </p:txBody>
      </p:sp>
      <p:sp>
        <p:nvSpPr>
          <p:cNvPr id="36" name="TextBox 308">
            <a:extLst>
              <a:ext uri="{FF2B5EF4-FFF2-40B4-BE49-F238E27FC236}">
                <a16:creationId xmlns:a16="http://schemas.microsoft.com/office/drawing/2014/main" id="{E13F61C0-8521-A2B0-BA13-B107D335DA18}"/>
              </a:ext>
            </a:extLst>
          </p:cNvPr>
          <p:cNvSpPr txBox="1"/>
          <p:nvPr/>
        </p:nvSpPr>
        <p:spPr>
          <a:xfrm>
            <a:off x="7541690" y="1826618"/>
            <a:ext cx="870473" cy="461665"/>
          </a:xfrm>
          <a:prstGeom prst="rect">
            <a:avLst/>
          </a:prstGeom>
          <a:noFill/>
        </p:spPr>
        <p:txBody>
          <a:bodyPr wrap="square" rtlCol="0">
            <a:spAutoFit/>
          </a:bodyPr>
          <a:lstStyle/>
          <a:p>
            <a:pPr algn="ctr"/>
            <a:r>
              <a:rPr lang="en-US" altLang="ko-KR" sz="1200" b="1" dirty="0">
                <a:solidFill>
                  <a:schemeClr val="bg1"/>
                </a:solidFill>
                <a:cs typeface="Arial" pitchFamily="34" charset="0"/>
              </a:rPr>
              <a:t>ROI Atrativo</a:t>
            </a:r>
            <a:endParaRPr lang="ko-KR" altLang="en-US" sz="1200" b="1" dirty="0">
              <a:solidFill>
                <a:schemeClr val="bg1"/>
              </a:solidFill>
              <a:cs typeface="Arial" pitchFamily="34" charset="0"/>
            </a:endParaRPr>
          </a:p>
        </p:txBody>
      </p:sp>
    </p:spTree>
    <p:extLst>
      <p:ext uri="{BB962C8B-B14F-4D97-AF65-F5344CB8AC3E}">
        <p14:creationId xmlns:p14="http://schemas.microsoft.com/office/powerpoint/2010/main" val="2216692116"/>
      </p:ext>
    </p:extLst>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Quem atende quem: três frentes, sem conflito</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Web para novos clientes pequenos e médios. Quem precisa de automação segue com a PecCode.</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6" name="Shape 3"/>
          <p:cNvSpPr/>
          <p:nvPr/>
        </p:nvSpPr>
        <p:spPr>
          <a:xfrm>
            <a:off x="457200" y="1143000"/>
            <a:ext cx="2633472" cy="2468880"/>
          </a:xfrm>
          <a:prstGeom prst="rect">
            <a:avLst/>
          </a:prstGeom>
          <a:solidFill>
            <a:srgbClr val="F4F6F8"/>
          </a:solidFill>
          <a:ln/>
        </p:spPr>
        <p:txBody>
          <a:bodyPr/>
          <a:p/>
        </p:txBody>
      </p:sp>
      <p:sp>
        <p:nvSpPr>
          <p:cNvPr id="7" name="Shape 4"/>
          <p:cNvSpPr/>
          <p:nvPr/>
        </p:nvSpPr>
        <p:spPr>
          <a:xfrm>
            <a:off x="457200" y="1143000"/>
            <a:ext cx="2633472" cy="566928"/>
          </a:xfrm>
          <a:prstGeom prst="rect">
            <a:avLst/>
          </a:prstGeom>
          <a:solidFill>
            <a:srgbClr val="1B3A8C"/>
          </a:solidFill>
          <a:ln/>
        </p:spPr>
        <p:txBody>
          <a:bodyPr/>
          <a:p/>
        </p:txBody>
      </p:sp>
      <p:sp>
        <p:nvSpPr>
          <p:cNvPr id="8" name="Text 5"/>
          <p:cNvSpPr/>
          <p:nvPr/>
        </p:nvSpPr>
        <p:spPr>
          <a:xfrm>
            <a:off x="585216" y="1197864"/>
            <a:ext cx="2450592" cy="182880"/>
          </a:xfrm>
          <a:prstGeom prst="rect">
            <a:avLst/>
          </a:prstGeom>
          <a:noFill/>
          <a:ln/>
        </p:spPr>
        <p:txBody>
          <a:bodyPr wrap="square" lIns="0" tIns="0" rIns="0" bIns="0" rtlCol="0" anchor="t"/>
          <a:lstStyle/>
          <a:p>
            <a:pPr indent="0" marL="0">
              <a:buNone/>
            </a:pPr>
            <a:r>
              <a:rPr lang="en-US" sz="850" b="1" spc="200" kern="0" dirty="0">
                <a:solidFill>
                  <a:srgbClr val="C5D300"/>
                </a:solidFill>
                <a:latin typeface="Calibri" pitchFamily="34" charset="0"/>
                <a:ea typeface="Calibri" pitchFamily="34" charset="-122"/>
                <a:cs typeface="Calibri" pitchFamily="34" charset="-120"/>
              </a:rPr>
              <a:t>AGORA</a:t>
            </a:r>
            <a:endParaRPr lang="en-US" sz="850" dirty="0"/>
          </a:p>
        </p:txBody>
      </p:sp>
      <p:sp>
        <p:nvSpPr>
          <p:cNvPr id="9" name="Text 6"/>
          <p:cNvSpPr/>
          <p:nvPr/>
        </p:nvSpPr>
        <p:spPr>
          <a:xfrm>
            <a:off x="585216" y="1389888"/>
            <a:ext cx="2450592"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TN Manager Web</a:t>
            </a:r>
            <a:endParaRPr lang="en-US" sz="1400" dirty="0"/>
          </a:p>
        </p:txBody>
      </p:sp>
      <p:sp>
        <p:nvSpPr>
          <p:cNvPr id="10" name="Text 7"/>
          <p:cNvSpPr/>
          <p:nvPr/>
        </p:nvSpPr>
        <p:spPr>
          <a:xfrm>
            <a:off x="585216" y="1819656"/>
            <a:ext cx="2395728" cy="182880"/>
          </a:xfrm>
          <a:prstGeom prst="rect">
            <a:avLst/>
          </a:prstGeom>
          <a:noFill/>
          <a:ln/>
        </p:spPr>
        <p:txBody>
          <a:bodyPr wrap="square" lIns="0" tIns="0" rIns="0" bIns="0" rtlCol="0" anchor="t"/>
          <a:lstStyle/>
          <a:p>
            <a:pPr indent="0" marL="0">
              <a:buNone/>
            </a:pPr>
            <a:r>
              <a:rPr lang="en-US" sz="950" b="1" dirty="0">
                <a:solidFill>
                  <a:srgbClr val="1B3A8C"/>
                </a:solidFill>
                <a:latin typeface="Calibri" pitchFamily="34" charset="0"/>
                <a:ea typeface="Calibri" pitchFamily="34" charset="-122"/>
                <a:cs typeface="Calibri" pitchFamily="34" charset="-120"/>
              </a:rPr>
              <a:t>Para quem</a:t>
            </a:r>
            <a:endParaRPr lang="en-US" sz="950" dirty="0"/>
          </a:p>
        </p:txBody>
      </p:sp>
      <p:sp>
        <p:nvSpPr>
          <p:cNvPr id="11" name="Text 8"/>
          <p:cNvSpPr/>
          <p:nvPr/>
        </p:nvSpPr>
        <p:spPr>
          <a:xfrm>
            <a:off x="585216" y="2002536"/>
            <a:ext cx="2395728" cy="36576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Novos clientes: confinamentos pequenos e médios, de 200 a 2.000 cabeças</a:t>
            </a:r>
            <a:endParaRPr lang="en-US" sz="950" dirty="0"/>
          </a:p>
        </p:txBody>
      </p:sp>
      <p:sp>
        <p:nvSpPr>
          <p:cNvPr id="12" name="Text 9"/>
          <p:cNvSpPr/>
          <p:nvPr/>
        </p:nvSpPr>
        <p:spPr>
          <a:xfrm>
            <a:off x="585216" y="2404872"/>
            <a:ext cx="2395728" cy="182880"/>
          </a:xfrm>
          <a:prstGeom prst="rect">
            <a:avLst/>
          </a:prstGeom>
          <a:noFill/>
          <a:ln/>
        </p:spPr>
        <p:txBody>
          <a:bodyPr wrap="square" lIns="0" tIns="0" rIns="0" bIns="0" rtlCol="0" anchor="t"/>
          <a:lstStyle/>
          <a:p>
            <a:pPr indent="0" marL="0">
              <a:buNone/>
            </a:pPr>
            <a:r>
              <a:rPr lang="en-US" sz="950" b="1" dirty="0">
                <a:solidFill>
                  <a:srgbClr val="1B3A8C"/>
                </a:solidFill>
                <a:latin typeface="Calibri" pitchFamily="34" charset="0"/>
                <a:ea typeface="Calibri" pitchFamily="34" charset="-122"/>
                <a:cs typeface="Calibri" pitchFamily="34" charset="-120"/>
              </a:rPr>
              <a:t>Como</a:t>
            </a:r>
            <a:endParaRPr lang="en-US" sz="950" dirty="0"/>
          </a:p>
        </p:txBody>
      </p:sp>
      <p:sp>
        <p:nvSpPr>
          <p:cNvPr id="13" name="Text 10"/>
          <p:cNvSpPr/>
          <p:nvPr/>
        </p:nvSpPr>
        <p:spPr>
          <a:xfrm>
            <a:off x="585216" y="2587752"/>
            <a:ext cx="2395728" cy="36576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Lançamento manual, sem automação no momento, com analista TN</a:t>
            </a:r>
            <a:endParaRPr lang="en-US" sz="950" dirty="0"/>
          </a:p>
        </p:txBody>
      </p:sp>
      <p:sp>
        <p:nvSpPr>
          <p:cNvPr id="14" name="Text 11"/>
          <p:cNvSpPr/>
          <p:nvPr/>
        </p:nvSpPr>
        <p:spPr>
          <a:xfrm>
            <a:off x="585216" y="2990088"/>
            <a:ext cx="2395728" cy="182880"/>
          </a:xfrm>
          <a:prstGeom prst="rect">
            <a:avLst/>
          </a:prstGeom>
          <a:noFill/>
          <a:ln/>
        </p:spPr>
        <p:txBody>
          <a:bodyPr wrap="square" lIns="0" tIns="0" rIns="0" bIns="0" rtlCol="0" anchor="t"/>
          <a:lstStyle/>
          <a:p>
            <a:pPr indent="0" marL="0">
              <a:buNone/>
            </a:pPr>
            <a:r>
              <a:rPr lang="en-US" sz="950" b="1" dirty="0">
                <a:solidFill>
                  <a:srgbClr val="1B3A8C"/>
                </a:solidFill>
                <a:latin typeface="Calibri" pitchFamily="34" charset="0"/>
                <a:ea typeface="Calibri" pitchFamily="34" charset="-122"/>
                <a:cs typeface="Calibri" pitchFamily="34" charset="-120"/>
              </a:rPr>
              <a:t>Papel</a:t>
            </a:r>
            <a:endParaRPr lang="en-US" sz="950" dirty="0"/>
          </a:p>
        </p:txBody>
      </p:sp>
      <p:sp>
        <p:nvSpPr>
          <p:cNvPr id="15" name="Text 12"/>
          <p:cNvSpPr/>
          <p:nvPr/>
        </p:nvSpPr>
        <p:spPr>
          <a:xfrm>
            <a:off x="585216" y="3172968"/>
            <a:ext cx="2395728" cy="36576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Abrir mercado e fidelizar</a:t>
            </a:r>
            <a:endParaRPr lang="en-US" sz="950" dirty="0"/>
          </a:p>
        </p:txBody>
      </p:sp>
      <p:sp>
        <p:nvSpPr>
          <p:cNvPr id="16" name="Shape 13"/>
          <p:cNvSpPr/>
          <p:nvPr/>
        </p:nvSpPr>
        <p:spPr>
          <a:xfrm>
            <a:off x="3246120" y="1143000"/>
            <a:ext cx="2633472" cy="2468880"/>
          </a:xfrm>
          <a:prstGeom prst="rect">
            <a:avLst/>
          </a:prstGeom>
          <a:solidFill>
            <a:srgbClr val="F4F6F8"/>
          </a:solidFill>
          <a:ln/>
        </p:spPr>
        <p:txBody>
          <a:bodyPr/>
          <a:p/>
        </p:txBody>
      </p:sp>
      <p:sp>
        <p:nvSpPr>
          <p:cNvPr id="17" name="Shape 14"/>
          <p:cNvSpPr/>
          <p:nvPr/>
        </p:nvSpPr>
        <p:spPr>
          <a:xfrm>
            <a:off x="3246120" y="1143000"/>
            <a:ext cx="2633472" cy="566928"/>
          </a:xfrm>
          <a:prstGeom prst="rect">
            <a:avLst/>
          </a:prstGeom>
          <a:solidFill>
            <a:srgbClr val="26668F"/>
          </a:solidFill>
          <a:ln/>
        </p:spPr>
        <p:txBody>
          <a:bodyPr/>
          <a:p/>
        </p:txBody>
      </p:sp>
      <p:sp>
        <p:nvSpPr>
          <p:cNvPr id="18" name="Text 15"/>
          <p:cNvSpPr/>
          <p:nvPr/>
        </p:nvSpPr>
        <p:spPr>
          <a:xfrm>
            <a:off x="3374136" y="1197864"/>
            <a:ext cx="2450592" cy="182880"/>
          </a:xfrm>
          <a:prstGeom prst="rect">
            <a:avLst/>
          </a:prstGeom>
          <a:noFill/>
          <a:ln/>
        </p:spPr>
        <p:txBody>
          <a:bodyPr wrap="square" lIns="0" tIns="0" rIns="0" bIns="0" rtlCol="0" anchor="t"/>
          <a:lstStyle/>
          <a:p>
            <a:pPr indent="0" marL="0">
              <a:buNone/>
            </a:pPr>
            <a:r>
              <a:rPr lang="en-US" sz="850" b="1" spc="200" kern="0" dirty="0">
                <a:solidFill>
                  <a:srgbClr val="FFFFFF"/>
                </a:solidFill>
                <a:latin typeface="Calibri" pitchFamily="34" charset="0"/>
                <a:ea typeface="Calibri" pitchFamily="34" charset="-122"/>
                <a:cs typeface="Calibri" pitchFamily="34" charset="-120"/>
              </a:rPr>
              <a:t>CONTINUA</a:t>
            </a:r>
            <a:endParaRPr lang="en-US" sz="850" dirty="0"/>
          </a:p>
        </p:txBody>
      </p:sp>
      <p:sp>
        <p:nvSpPr>
          <p:cNvPr id="19" name="Text 16"/>
          <p:cNvSpPr/>
          <p:nvPr/>
        </p:nvSpPr>
        <p:spPr>
          <a:xfrm>
            <a:off x="3374136" y="1389888"/>
            <a:ext cx="2450592"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PecCode (parceria)</a:t>
            </a:r>
            <a:endParaRPr lang="en-US" sz="1400" dirty="0"/>
          </a:p>
        </p:txBody>
      </p:sp>
      <p:sp>
        <p:nvSpPr>
          <p:cNvPr id="20" name="Text 17"/>
          <p:cNvSpPr/>
          <p:nvPr/>
        </p:nvSpPr>
        <p:spPr>
          <a:xfrm>
            <a:off x="3374136" y="1819656"/>
            <a:ext cx="2395728" cy="182880"/>
          </a:xfrm>
          <a:prstGeom prst="rect">
            <a:avLst/>
          </a:prstGeom>
          <a:noFill/>
          <a:ln/>
        </p:spPr>
        <p:txBody>
          <a:bodyPr wrap="square" lIns="0" tIns="0" rIns="0" bIns="0" rtlCol="0" anchor="t"/>
          <a:lstStyle/>
          <a:p>
            <a:pPr indent="0" marL="0">
              <a:buNone/>
            </a:pPr>
            <a:r>
              <a:rPr lang="en-US" sz="950" b="1" dirty="0">
                <a:solidFill>
                  <a:srgbClr val="26668F"/>
                </a:solidFill>
                <a:latin typeface="Calibri" pitchFamily="34" charset="0"/>
                <a:ea typeface="Calibri" pitchFamily="34" charset="-122"/>
                <a:cs typeface="Calibri" pitchFamily="34" charset="-120"/>
              </a:rPr>
              <a:t>Para quem</a:t>
            </a:r>
            <a:endParaRPr lang="en-US" sz="950" dirty="0"/>
          </a:p>
        </p:txBody>
      </p:sp>
      <p:sp>
        <p:nvSpPr>
          <p:cNvPr id="21" name="Text 18"/>
          <p:cNvSpPr/>
          <p:nvPr/>
        </p:nvSpPr>
        <p:spPr>
          <a:xfrm>
            <a:off x="3374136" y="2002536"/>
            <a:ext cx="2395728" cy="36576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Clientes maiores que querem automação</a:t>
            </a:r>
            <a:endParaRPr lang="en-US" sz="950" dirty="0"/>
          </a:p>
        </p:txBody>
      </p:sp>
      <p:sp>
        <p:nvSpPr>
          <p:cNvPr id="22" name="Text 19"/>
          <p:cNvSpPr/>
          <p:nvPr/>
        </p:nvSpPr>
        <p:spPr>
          <a:xfrm>
            <a:off x="3374136" y="2404872"/>
            <a:ext cx="2395728" cy="182880"/>
          </a:xfrm>
          <a:prstGeom prst="rect">
            <a:avLst/>
          </a:prstGeom>
          <a:noFill/>
          <a:ln/>
        </p:spPr>
        <p:txBody>
          <a:bodyPr wrap="square" lIns="0" tIns="0" rIns="0" bIns="0" rtlCol="0" anchor="t"/>
          <a:lstStyle/>
          <a:p>
            <a:pPr indent="0" marL="0">
              <a:buNone/>
            </a:pPr>
            <a:r>
              <a:rPr lang="en-US" sz="950" b="1" dirty="0">
                <a:solidFill>
                  <a:srgbClr val="26668F"/>
                </a:solidFill>
                <a:latin typeface="Calibri" pitchFamily="34" charset="0"/>
                <a:ea typeface="Calibri" pitchFamily="34" charset="-122"/>
                <a:cs typeface="Calibri" pitchFamily="34" charset="-120"/>
              </a:rPr>
              <a:t>Como</a:t>
            </a:r>
            <a:endParaRPr lang="en-US" sz="950" dirty="0"/>
          </a:p>
        </p:txBody>
      </p:sp>
      <p:sp>
        <p:nvSpPr>
          <p:cNvPr id="23" name="Text 20"/>
          <p:cNvSpPr/>
          <p:nvPr/>
        </p:nvSpPr>
        <p:spPr>
          <a:xfrm>
            <a:off x="3374136" y="2587752"/>
            <a:ext cx="2395728" cy="36576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Balança, vagão e integrações. Parceria consolidada e rodando bem</a:t>
            </a:r>
            <a:endParaRPr lang="en-US" sz="950" dirty="0"/>
          </a:p>
        </p:txBody>
      </p:sp>
      <p:sp>
        <p:nvSpPr>
          <p:cNvPr id="24" name="Text 21"/>
          <p:cNvSpPr/>
          <p:nvPr/>
        </p:nvSpPr>
        <p:spPr>
          <a:xfrm>
            <a:off x="3374136" y="2990088"/>
            <a:ext cx="2395728" cy="182880"/>
          </a:xfrm>
          <a:prstGeom prst="rect">
            <a:avLst/>
          </a:prstGeom>
          <a:noFill/>
          <a:ln/>
        </p:spPr>
        <p:txBody>
          <a:bodyPr wrap="square" lIns="0" tIns="0" rIns="0" bIns="0" rtlCol="0" anchor="t"/>
          <a:lstStyle/>
          <a:p>
            <a:pPr indent="0" marL="0">
              <a:buNone/>
            </a:pPr>
            <a:r>
              <a:rPr lang="en-US" sz="950" b="1" dirty="0">
                <a:solidFill>
                  <a:srgbClr val="26668F"/>
                </a:solidFill>
                <a:latin typeface="Calibri" pitchFamily="34" charset="0"/>
                <a:ea typeface="Calibri" pitchFamily="34" charset="-122"/>
                <a:cs typeface="Calibri" pitchFamily="34" charset="-120"/>
              </a:rPr>
              <a:t>Papel</a:t>
            </a:r>
            <a:endParaRPr lang="en-US" sz="950" dirty="0"/>
          </a:p>
        </p:txBody>
      </p:sp>
      <p:sp>
        <p:nvSpPr>
          <p:cNvPr id="25" name="Text 22"/>
          <p:cNvSpPr/>
          <p:nvPr/>
        </p:nvSpPr>
        <p:spPr>
          <a:xfrm>
            <a:off x="3374136" y="3172968"/>
            <a:ext cx="2395728" cy="36576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Atender hoje quem precisa de automação</a:t>
            </a:r>
            <a:endParaRPr lang="en-US" sz="950" dirty="0"/>
          </a:p>
        </p:txBody>
      </p:sp>
      <p:sp>
        <p:nvSpPr>
          <p:cNvPr id="26" name="Shape 23"/>
          <p:cNvSpPr/>
          <p:nvPr/>
        </p:nvSpPr>
        <p:spPr>
          <a:xfrm>
            <a:off x="6035040" y="1143000"/>
            <a:ext cx="2633472" cy="2468880"/>
          </a:xfrm>
          <a:prstGeom prst="rect">
            <a:avLst/>
          </a:prstGeom>
          <a:solidFill>
            <a:srgbClr val="F4F6F8"/>
          </a:solidFill>
          <a:ln/>
        </p:spPr>
        <p:txBody>
          <a:bodyPr/>
          <a:p/>
        </p:txBody>
      </p:sp>
      <p:sp>
        <p:nvSpPr>
          <p:cNvPr id="27" name="Shape 24"/>
          <p:cNvSpPr/>
          <p:nvPr/>
        </p:nvSpPr>
        <p:spPr>
          <a:xfrm>
            <a:off x="6035040" y="1143000"/>
            <a:ext cx="2633472" cy="566928"/>
          </a:xfrm>
          <a:prstGeom prst="rect">
            <a:avLst/>
          </a:prstGeom>
          <a:solidFill>
            <a:srgbClr val="C8106E"/>
          </a:solidFill>
          <a:ln/>
        </p:spPr>
        <p:txBody>
          <a:bodyPr/>
          <a:p/>
        </p:txBody>
      </p:sp>
      <p:sp>
        <p:nvSpPr>
          <p:cNvPr id="28" name="Text 25"/>
          <p:cNvSpPr/>
          <p:nvPr/>
        </p:nvSpPr>
        <p:spPr>
          <a:xfrm>
            <a:off x="6163056" y="1197864"/>
            <a:ext cx="2450592" cy="182880"/>
          </a:xfrm>
          <a:prstGeom prst="rect">
            <a:avLst/>
          </a:prstGeom>
          <a:noFill/>
          <a:ln/>
        </p:spPr>
        <p:txBody>
          <a:bodyPr wrap="square" lIns="0" tIns="0" rIns="0" bIns="0" rtlCol="0" anchor="t"/>
          <a:lstStyle/>
          <a:p>
            <a:pPr indent="0" marL="0">
              <a:buNone/>
            </a:pPr>
            <a:r>
              <a:rPr lang="en-US" sz="850" b="1" spc="200" kern="0" dirty="0">
                <a:solidFill>
                  <a:srgbClr val="FFFFFF"/>
                </a:solidFill>
                <a:latin typeface="Calibri" pitchFamily="34" charset="0"/>
                <a:ea typeface="Calibri" pitchFamily="34" charset="-122"/>
                <a:cs typeface="Calibri" pitchFamily="34" charset="-120"/>
              </a:rPr>
              <a:t>FUTURO</a:t>
            </a:r>
            <a:endParaRPr lang="en-US" sz="850" dirty="0"/>
          </a:p>
        </p:txBody>
      </p:sp>
      <p:sp>
        <p:nvSpPr>
          <p:cNvPr id="29" name="Text 26"/>
          <p:cNvSpPr/>
          <p:nvPr/>
        </p:nvSpPr>
        <p:spPr>
          <a:xfrm>
            <a:off x="6163056" y="1389888"/>
            <a:ext cx="2450592"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TN Manager Automação</a:t>
            </a:r>
            <a:endParaRPr lang="en-US" sz="1400" dirty="0"/>
          </a:p>
        </p:txBody>
      </p:sp>
      <p:sp>
        <p:nvSpPr>
          <p:cNvPr id="30" name="Text 27"/>
          <p:cNvSpPr/>
          <p:nvPr/>
        </p:nvSpPr>
        <p:spPr>
          <a:xfrm>
            <a:off x="6163056" y="1819656"/>
            <a:ext cx="2395728" cy="182880"/>
          </a:xfrm>
          <a:prstGeom prst="rect">
            <a:avLst/>
          </a:prstGeom>
          <a:noFill/>
          <a:ln/>
        </p:spPr>
        <p:txBody>
          <a:bodyPr wrap="square" lIns="0" tIns="0" rIns="0" bIns="0" rtlCol="0" anchor="t"/>
          <a:lstStyle/>
          <a:p>
            <a:pPr indent="0" marL="0">
              <a:buNone/>
            </a:pPr>
            <a:r>
              <a:rPr lang="en-US" sz="950" b="1" dirty="0">
                <a:solidFill>
                  <a:srgbClr val="C8106E"/>
                </a:solidFill>
                <a:latin typeface="Calibri" pitchFamily="34" charset="0"/>
                <a:ea typeface="Calibri" pitchFamily="34" charset="-122"/>
                <a:cs typeface="Calibri" pitchFamily="34" charset="-120"/>
              </a:rPr>
              <a:t>Para quem</a:t>
            </a:r>
            <a:endParaRPr lang="en-US" sz="950" dirty="0"/>
          </a:p>
        </p:txBody>
      </p:sp>
      <p:sp>
        <p:nvSpPr>
          <p:cNvPr id="31" name="Text 28"/>
          <p:cNvSpPr/>
          <p:nvPr/>
        </p:nvSpPr>
        <p:spPr>
          <a:xfrm>
            <a:off x="6163056" y="2002536"/>
            <a:ext cx="2395728" cy="36576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Clientes maiores e fazendas Web que crescerem</a:t>
            </a:r>
            <a:endParaRPr lang="en-US" sz="950" dirty="0"/>
          </a:p>
        </p:txBody>
      </p:sp>
      <p:sp>
        <p:nvSpPr>
          <p:cNvPr id="32" name="Text 29"/>
          <p:cNvSpPr/>
          <p:nvPr/>
        </p:nvSpPr>
        <p:spPr>
          <a:xfrm>
            <a:off x="6163056" y="2404872"/>
            <a:ext cx="2395728" cy="182880"/>
          </a:xfrm>
          <a:prstGeom prst="rect">
            <a:avLst/>
          </a:prstGeom>
          <a:noFill/>
          <a:ln/>
        </p:spPr>
        <p:txBody>
          <a:bodyPr wrap="square" lIns="0" tIns="0" rIns="0" bIns="0" rtlCol="0" anchor="t"/>
          <a:lstStyle/>
          <a:p>
            <a:pPr indent="0" marL="0">
              <a:buNone/>
            </a:pPr>
            <a:r>
              <a:rPr lang="en-US" sz="950" b="1" dirty="0">
                <a:solidFill>
                  <a:srgbClr val="C8106E"/>
                </a:solidFill>
                <a:latin typeface="Calibri" pitchFamily="34" charset="0"/>
                <a:ea typeface="Calibri" pitchFamily="34" charset="-122"/>
                <a:cs typeface="Calibri" pitchFamily="34" charset="-120"/>
              </a:rPr>
              <a:t>Como</a:t>
            </a:r>
            <a:endParaRPr lang="en-US" sz="950" dirty="0"/>
          </a:p>
        </p:txBody>
      </p:sp>
      <p:sp>
        <p:nvSpPr>
          <p:cNvPr id="33" name="Text 30"/>
          <p:cNvSpPr/>
          <p:nvPr/>
        </p:nvSpPr>
        <p:spPr>
          <a:xfrm>
            <a:off x="6163056" y="2587752"/>
            <a:ext cx="2395728" cy="36576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Retomado no futuro, trabalhando em paralelo com a versão Web</a:t>
            </a:r>
            <a:endParaRPr lang="en-US" sz="950" dirty="0"/>
          </a:p>
        </p:txBody>
      </p:sp>
      <p:sp>
        <p:nvSpPr>
          <p:cNvPr id="34" name="Text 31"/>
          <p:cNvSpPr/>
          <p:nvPr/>
        </p:nvSpPr>
        <p:spPr>
          <a:xfrm>
            <a:off x="6163056" y="2990088"/>
            <a:ext cx="2395728" cy="182880"/>
          </a:xfrm>
          <a:prstGeom prst="rect">
            <a:avLst/>
          </a:prstGeom>
          <a:noFill/>
          <a:ln/>
        </p:spPr>
        <p:txBody>
          <a:bodyPr wrap="square" lIns="0" tIns="0" rIns="0" bIns="0" rtlCol="0" anchor="t"/>
          <a:lstStyle/>
          <a:p>
            <a:pPr indent="0" marL="0">
              <a:buNone/>
            </a:pPr>
            <a:r>
              <a:rPr lang="en-US" sz="950" b="1" dirty="0">
                <a:solidFill>
                  <a:srgbClr val="C8106E"/>
                </a:solidFill>
                <a:latin typeface="Calibri" pitchFamily="34" charset="0"/>
                <a:ea typeface="Calibri" pitchFamily="34" charset="-122"/>
                <a:cs typeface="Calibri" pitchFamily="34" charset="-120"/>
              </a:rPr>
              <a:t>Papel</a:t>
            </a:r>
            <a:endParaRPr lang="en-US" sz="950" dirty="0"/>
          </a:p>
        </p:txBody>
      </p:sp>
      <p:sp>
        <p:nvSpPr>
          <p:cNvPr id="35" name="Text 32"/>
          <p:cNvSpPr/>
          <p:nvPr/>
        </p:nvSpPr>
        <p:spPr>
          <a:xfrm>
            <a:off x="6163056" y="3172968"/>
            <a:ext cx="2395728" cy="36576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Completar a oferta digital da TN</a:t>
            </a:r>
            <a:endParaRPr lang="en-US" sz="950" dirty="0"/>
          </a:p>
        </p:txBody>
      </p:sp>
      <p:sp>
        <p:nvSpPr>
          <p:cNvPr id="36" name="Shape 33"/>
          <p:cNvSpPr/>
          <p:nvPr/>
        </p:nvSpPr>
        <p:spPr>
          <a:xfrm>
            <a:off x="457200" y="3749040"/>
            <a:ext cx="8229600" cy="566928"/>
          </a:xfrm>
          <a:prstGeom prst="rect">
            <a:avLst/>
          </a:prstGeom>
          <a:solidFill>
            <a:srgbClr val="1B3A8C"/>
          </a:solidFill>
          <a:ln/>
        </p:spPr>
        <p:txBody>
          <a:bodyPr/>
          <a:p/>
        </p:txBody>
      </p:sp>
      <p:sp>
        <p:nvSpPr>
          <p:cNvPr id="37" name="Text 34"/>
          <p:cNvSpPr/>
          <p:nvPr/>
        </p:nvSpPr>
        <p:spPr>
          <a:xfrm>
            <a:off x="621792" y="3749040"/>
            <a:ext cx="7955280" cy="566928"/>
          </a:xfrm>
          <a:prstGeom prst="rect">
            <a:avLst/>
          </a:prstGeom>
          <a:noFill/>
          <a:ln/>
        </p:spPr>
        <p:txBody>
          <a:bodyPr wrap="square" lIns="0" tIns="0" rIns="0" bIns="0" rtlCol="0" anchor="ctr"/>
          <a:lstStyle/>
          <a:p>
            <a:pPr indent="0" marL="0">
              <a:buNone/>
            </a:pPr>
            <a:r>
              <a:rPr lang="en-US" sz="1150" b="1" dirty="0">
                <a:solidFill>
                  <a:srgbClr val="C5D300"/>
                </a:solidFill>
                <a:latin typeface="Calibri" pitchFamily="34" charset="0"/>
                <a:ea typeface="Calibri" pitchFamily="34" charset="-122"/>
                <a:cs typeface="Calibri" pitchFamily="34" charset="-120"/>
              </a:rPr>
              <a:t>Regra simples: </a:t>
            </a:r>
            <a:pPr indent="0" marL="0">
              <a:buNone/>
            </a:pPr>
            <a:r>
              <a:rPr lang="en-US" sz="1150" dirty="0">
                <a:solidFill>
                  <a:srgbClr val="FFFFFF"/>
                </a:solidFill>
                <a:latin typeface="Calibri" pitchFamily="34" charset="0"/>
                <a:ea typeface="Calibri" pitchFamily="34" charset="-122"/>
                <a:cs typeface="Calibri" pitchFamily="34" charset="-120"/>
              </a:rPr>
              <a:t>sem automação, TN Manager Web. Com automação, PecCode hoje e TN Manager Automação no futuro, lado a lado com a versão Web.</a:t>
            </a:r>
            <a:endParaRPr lang="en-US" sz="1150" dirty="0"/>
          </a:p>
        </p:txBody>
      </p:sp>
      <p:sp>
        <p:nvSpPr>
          <p:cNvPr id="38" name="TextBox 37"/>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1  ·  DE ONDE VIEMOS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6430</TotalTime>
  <Words>7305</Words>
  <Application>Microsoft Office PowerPoint</Application>
  <PresentationFormat>Apresentação na tela (16:9)</PresentationFormat>
  <Paragraphs>899</Paragraphs>
  <Slides>38</Slides>
  <Notes>32</Notes>
  <HiddenSlides>6</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38</vt:i4>
      </vt:variant>
    </vt:vector>
  </HeadingPairs>
  <TitlesOfParts>
    <vt:vector size="43" baseType="lpstr">
      <vt:lpstr>Aptos</vt:lpstr>
      <vt:lpstr>Arial</vt:lpstr>
      <vt:lpstr>Calibri</vt:lpstr>
      <vt:lpstr>Calibri Light</vt:lpstr>
      <vt:lpstr>Office Theme</vt:lpstr>
      <vt:lpstr> </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Case v2.0 TN Manager e TN Manager Web</dc:title>
  <dc:subject>PptxGenJS Presentation</dc:subject>
  <dc:creator>Rodrigo Gennari</dc:creator>
  <cp:lastModifiedBy>Rodrigo Gennari</cp:lastModifiedBy>
  <cp:revision>13</cp:revision>
  <dcterms:created xsi:type="dcterms:W3CDTF">2026-10-07T20:43:28Z</dcterms:created>
  <dcterms:modified xsi:type="dcterms:W3CDTF">2026-10-21T00:19:23Z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6de8be1-d189-4942-ac4d-e73ca8d25762_Enabled">
    <vt:lpwstr>true</vt:lpwstr>
  </property>
  <property fmtid="{D5CDD505-2E9C-101B-9397-08002B2CF9AE}" pid="3" name="MSIP_Label_36de8be1-d189-4942-ac4d-e73ca8d25762_SetDate">
    <vt:lpwstr>2026-10-16T09:33:55Z</vt:lpwstr>
  </property>
  <property fmtid="{D5CDD505-2E9C-101B-9397-08002B2CF9AE}" pid="4" name="MSIP_Label_36de8be1-d189-4942-ac4d-e73ca8d25762_Method">
    <vt:lpwstr>Privileged</vt:lpwstr>
  </property>
  <property fmtid="{D5CDD505-2E9C-101B-9397-08002B2CF9AE}" pid="5" name="MSIP_Label_36de8be1-d189-4942-ac4d-e73ca8d25762_Name">
    <vt:lpwstr>Public</vt:lpwstr>
  </property>
  <property fmtid="{D5CDD505-2E9C-101B-9397-08002B2CF9AE}" pid="6" name="MSIP_Label_36de8be1-d189-4942-ac4d-e73ca8d25762_SiteId">
    <vt:lpwstr>aaace049-6505-453e-94a3-c70dcacf2984</vt:lpwstr>
  </property>
  <property fmtid="{D5CDD505-2E9C-101B-9397-08002B2CF9AE}" pid="7" name="MSIP_Label_36de8be1-d189-4942-ac4d-e73ca8d25762_ActionId">
    <vt:lpwstr>49bb33d2-cc89-4221-8ff2-c54442898523</vt:lpwstr>
  </property>
  <property fmtid="{D5CDD505-2E9C-101B-9397-08002B2CF9AE}" pid="8" name="MSIP_Label_36de8be1-d189-4942-ac4d-e73ca8d25762_ContentBits">
    <vt:lpwstr>0</vt:lpwstr>
  </property>
  <property fmtid="{D5CDD505-2E9C-101B-9397-08002B2CF9AE}" pid="9" name="MSIP_Label_36de8be1-d189-4942-ac4d-e73ca8d25762_Tag">
    <vt:lpwstr>10, 0, 1, 1</vt:lpwstr>
  </property>
</Properties>
</file>