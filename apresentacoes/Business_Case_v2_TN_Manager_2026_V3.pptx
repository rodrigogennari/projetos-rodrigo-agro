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media/image1.svg" ContentType="image/svg+xml"/>
  <Override PartName="/ppt/media/image4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5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75" r:id="rId2"/>
    <p:sldId id="256" r:id="rId3"/>
    <p:sldId id="2147471979" r:id="rId38"/>
    <p:sldId id="2142533174" r:id="rId4"/>
    <p:sldId id="257" r:id="rId5"/>
    <p:sldId id="258" r:id="rId6"/>
    <p:sldId id="259" r:id="rId7"/>
    <p:sldId id="2147471990" r:id="rId49"/>
    <p:sldId id="2147471991" r:id="rId50"/>
    <p:sldId id="260" r:id="rId8"/>
    <p:sldId id="261" r:id="rId9"/>
    <p:sldId id="262" r:id="rId10"/>
    <p:sldId id="2147471956" r:id="rId11"/>
    <p:sldId id="263" r:id="rId12"/>
    <p:sldId id="264" r:id="rId13"/>
    <p:sldId id="2147471980" r:id="rId39"/>
    <p:sldId id="265" r:id="rId14"/>
    <p:sldId id="2147471981" r:id="rId40"/>
    <p:sldId id="2147471982" r:id="rId41"/>
    <p:sldId id="267" r:id="rId16"/>
    <p:sldId id="268" r:id="rId17"/>
    <p:sldId id="2147471983" r:id="rId42"/>
    <p:sldId id="2147471958" r:id="rId19"/>
    <p:sldId id="2147471978" r:id="rId20"/>
    <p:sldId id="2147471984" r:id="rId43"/>
    <p:sldId id="2147471985" r:id="rId44"/>
    <p:sldId id="2147471986" r:id="rId45"/>
    <p:sldId id="2147471987" r:id="rId46"/>
    <p:sldId id="271" r:id="rId26"/>
    <p:sldId id="2147471988" r:id="rId47"/>
    <p:sldId id="2147471967" r:id="rId28"/>
    <p:sldId id="272" r:id="rId29"/>
    <p:sldId id="2147471989" r:id="rId48"/>
    <p:sldId id="269" r:id="rId31"/>
    <p:sldId id="2142533161" r:id="rId3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6" Type="http://schemas.openxmlformats.org/officeDocument/2006/relationships/slide" Target="slides/slide25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</c:v>
                </c:pt>
              </c:strCache>
            </c:strRef>
          </c:tx>
          <c:spPr>
            <a:solidFill>
              <a:srgbClr val="C8106E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4A5560"/>
                    </a:solidFill>
                    <a:latin typeface="Arial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Top 100 confinamentos</c:v>
                </c:pt>
                <c:pt idx="1">
                  <c:v>Pareto 80% (265 contas)</c:v>
                </c:pt>
                <c:pt idx="2">
                  <c:v>Confinamento</c:v>
                </c:pt>
                <c:pt idx="3">
                  <c:v>Total Beef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6.5</c:v>
                </c:pt>
                <c:pt idx="1">
                  <c:v>10.5</c:v>
                </c:pt>
                <c:pt idx="2">
                  <c:v>13</c:v>
                </c:pt>
                <c:pt idx="3">
                  <c:v>68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658-4AB3-ACA0-7D9616C6425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5560"/>
                </a:solidFill>
                <a:latin typeface="Calibri"/>
              </a:defRPr>
            </a:pPr>
            <a:endParaRPr lang="pt-BR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80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Amostra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B3A8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D6B1-45BF-8B8D-F51A52919082}"/>
              </c:ext>
            </c:extLst>
          </c:dPt>
          <c:dPt>
            <c:idx val="1"/>
            <c:bubble3D val="0"/>
            <c:spPr>
              <a:solidFill>
                <a:srgbClr val="0096B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D6B1-45BF-8B8D-F51A52919082}"/>
              </c:ext>
            </c:extLst>
          </c:dPt>
          <c:dPt>
            <c:idx val="2"/>
            <c:bubble3D val="0"/>
            <c:spPr>
              <a:solidFill>
                <a:srgbClr val="C8106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D6B1-45BF-8B8D-F51A52919082}"/>
              </c:ext>
            </c:extLst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D6B1-45BF-8B8D-F51A52919082}"/>
                </c:ext>
              </c:extLst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D6B1-45BF-8B8D-F51A52919082}"/>
                </c:ext>
              </c:extLst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D6B1-45BF-8B8D-F51A52919082}"/>
                </c:ext>
              </c:extLst>
            </c:dLbl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pt-BR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Clientes ativos</c:v>
                </c:pt>
                <c:pt idx="1">
                  <c:v>Não clientes</c:v>
                </c:pt>
                <c:pt idx="2">
                  <c:v>Ex-clientes e detratores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</c:v>
                </c:pt>
                <c:pt idx="1">
                  <c:v>10</c:v>
                </c:pt>
                <c:pt idx="2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D6B1-45BF-8B8D-F51A5291908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62"/>
      </c:doughnutChart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926435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BB8961-162D-413B-A79F-06D8B6E59E12}" type="slidenum">
              <a:rPr lang="en-GB" smtClean="0"/>
              <a:t>31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8550567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Roteiro sugerido para a diretoria: itens 1 a 4 em 8 minutos; itens 5 e 6 são o coração da conversa (o diferencial é a entrega técnica e como funciona na prática); itens 7 a 11 em 12 minutos; reservar 10 minutos para o item 12.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Termo sugerido: 'item de prateleira' (ou 'commodity', palavra que o agro conhece bem). Mensagem central: qualquer concorrente entrega um sistema; poucos entregam um analista que olha os números toda semana e transforma em ajuste de dieta e manejo. É por isso que o projeto não é de TI: é de serviço técnico apoiado por dados.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passos 1 a 3 são registro, e qualquer sistema faz. Os passos 4 e 5 são o serviço da TN e o motivo do projeto. Plano de capacidade: nos dois primeiros meses (piloto), Rodrigo e o técnico de campo acompanham de perto. Do mês 3 ao 6, Rodrigo analisa até 20 fazendas (estimativa de 1 hora por fazenda por semana, cerca de 20 horas semanais). A partir do mês 7, condicionado ao G2, entram analistas dedicados na proporção proposta de 1 para cada 20 fazendas. A proporção é proposta e será revista com dados do piloto.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Arquitetura proposta para discussão com a software house Dreamer, não definida ainda. Princípio: o produto mínimo é um sistema web (abre no navegador do computador ou do celular), com dados na nuvem. Duas formas de lançar: (1) ficha de papel padrão preenchida no curral e digitada no fim do dia no computador da sede; (2) celular no curral pelo navegador. Guardar no aparelho e enviar depois (modo offline) depende de viabilidade técnica e custo, e o app nativo offline continua fora do produto mínimo, como no slide de MoSCoW. A escala de escore de cocho segue o padrão técnico da TN (por exemplo, notas de 0 a 4). A meta de 10 minutos por dia é critério do G1.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Cargill: CattleView usa visão computacional, drones e nuvem para contagem de animais, leitura de cocho, estruturas, comportamento e bem-estar, água e pesagem; a Nutron usa drones em cerca de 15 confinamentos. Estudo da UFV em 6 confinamentos (1.754 imagens) mostrou que a quantificação de sobras ainda precisa de ajustes. DSM-firmenich comprou a Prodap (Belo Horizonte), que une tecnologia, consultoria e nutrição personalizada e atende mais de 5 mil fazendas. Tecnobeef: empresa de nutrição criada em 2017 dentro do grupo Campanelli, que confina cerca de 110 mil animais (dado do LinkedIn da empresa); não encontramos ferramenta digital pública, item a confirmar nas entrevistas de benchmark (2.1.1). Pontos fracos de Cargill e DSM e da própria TN vêm da avaliação interna do business case de 2023 e devem ser atualizados no benchmark.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Dados informados: 20 licenças pagas a empresas parceiras. TGC (Ponta): 6 licenças de R$ 10 mil a R$ 40 mil. PecCode: 14 licenças de R$ 8 mil a R$ 12,8 mil. Orçado R$ 364 mil, pago até agora R$ 64 mil. Faixas calculadas: TGC 6 x 10 a 40 mil = 60 a 240 mil; PecCode 14 x 8 a 12,8 mil = 112 a 179,2 mil; total 172 a 419 mil. Média: 364 mil / 20 = 18,2 mil por fazenda. Premissa: valores anuais; confirmar a periodicidade dos contratos. As fazendas TGC tendem a ser maiores e podem continuar no TGC até existir a versão com integração. Referência da v1.0 (2023): custo estimado de R$ 2.500 por cliente no app interno contra R$ 13.541 no TGC.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Mudanças em relação à SWOT da v1.0: entram como forças o ganho de tempo (relatório automático), o benchmarking entre fazendas, a posse dos dados e a ausência de licença. Sai a premissa de integração com hardware no início. Entram como fraquezas a dependência do lançamento manual e a capacidade de análise concentrada no Rodrigo nos primeiros meses. Oportunidade nova: o público de menos de 1.000 cabeças do Censo de Confinamento 2025 e a economia com licenças de terceiros.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Capacidade estimada do Rodrigo: cerca de 1 hora por fazenda por semana, ou 20 horas semanais com 20 fazendas, mais a auditoria mensal. A proporção de 1 analista para cada 20 fazendas é proposta e será calibrada com o tempo real medido no piloto. Contar os meses a partir do início do piloto (item 8.0 do cronograma). Começar pelas fazendas que já têm licença paga pela TN gera economia imediata e usa clientes que já registram dados.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Até fevereiro de 2027 as datas são as do cronograma revisado (itens 2.1 a 7.0). G0 em dezembro, com o diagnóstico; a apresentação final de 01 a 05/02/2027 é o momento de aprovar o investimento. Desenvolvimento de cerca de 12 semanas é estimativa a confirmar com a Dreamer após a imersão técnica. O piloto dura 8 semanas, prazo do critério G1. G2 depois de 90 dias com as fazendas ativas. Se um gate não for atingido, as barras seguintes andam para a direita: as datas a partir de março são indicativas.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Metas de fazendas e analistas são propostas: 20 em 2027 (capacidade do Rodrigo), 60 em 2028, 120 em 2029 e 200 em 2030, alinhado à meta de 200 clientes da v1.0. Analistas na proporção de 1 para cada 20 fazendas. As funcionalidades por ano vêm da visão estratégica original: 2027 versão estável e integração com hardware; 2028 versão madura com NOA e complementos da AgTech Garage; 2029 fidelidade, clube de membros e benchmark; 2030 sustentabilidade, pegada de carbono e recomendação de produto. Licenças: priorizar a migração das 14 fazendas PecCode; manter TGC onde a integração com balança e vagão for indispensável até a versão que a ofereça.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Fonte principal: Censo de Confinamento 2025 da dsm-firmenich, divulgado em fevereiro de 2026 (9,25 milhões de cabeças, 2.445 propriedades, 1.095 municípios, 100 maiores com 45% das cabeças; MT 2,2 mi, SP 1,4, GO 1,4, MS 0,9, MG 0,8). 'Outros' = 9,25 menos a soma dos 5 estados. O número de 1.131 propriedades abaixo de 1.000 cabeças vem de reportagem sobre o mesmo censo (CompreRural): confirmar no relatório completo. A faixa do meio (cerca de 1.200; exatamente 1.214) é calculada: 2.445 menos 1.131 menos 100. O censo mapeia propriedades monitoradas, não é a contagem de todos os confinamentos do país. Bioma: não há tabela pública por bioma; o Cerrado é inferência pela concentração no Centro-Oeste, MG e SP. Embrapa (Censos 2006 e 2017): o número de estabelecimentos com confinamento cresceu cerca de 145% e aumentou em todos os biomas.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Estimativa de 'menos de 10% das cabeças': 1.131 propriedades com média hipotética de 500 cabeças dão cerca de 0,57 milhão, ou 6% de 9,25 milhões. É uma conta nossa, não dado do censo. Dados de 2024 (dsm-firmenich): confinamentos acima de 10 mil cabeças passaram de 53,9% para 58,7% das cabeças; abaixo de 10 mil ficaram em 3,3 milhões. Embrapa Pecuária Sudeste: estudos com 184 confinamentos (2023) e 130 confinamentos (2024) mostram que escala, escolaridade e consultoria aumentam a adoção de tecnologia digital; adotantes de software têm eficiência técnica maior (114 confinamentos). A indicação do vagão a partir de cerca de 200 cabeças vem de publicação técnica antiga da Embrapa sobre confinamento de bovinos.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hank you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339B28D0-9ED5-49CC-BDB0-A90FF861F2E3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0" y="1083435"/>
            <a:ext cx="9144000" cy="405863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nl-NL"/>
          </a:p>
        </p:txBody>
      </p:sp>
      <p:sp>
        <p:nvSpPr>
          <p:cNvPr id="2" name="Footer Placeholder 1"/>
          <p:cNvSpPr>
            <a:spLocks noGrp="1"/>
          </p:cNvSpPr>
          <p:nvPr userDrawn="1">
            <p:ph type="ftr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22" name="Tijdelijke aanduiding voor dianummer 5">
            <a:extLst>
              <a:ext uri="{FF2B5EF4-FFF2-40B4-BE49-F238E27FC236}">
                <a16:creationId xmlns:a16="http://schemas.microsoft.com/office/drawing/2014/main" id="{7BD98785-612D-6449-9480-6E8F478993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579106" y="4484368"/>
            <a:ext cx="4572000" cy="659132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 vert="horz" lIns="0" tIns="251999" rIns="396000" bIns="0" rtlCol="0" anchor="ctr" anchorCtr="0"/>
          <a:lstStyle>
            <a:lvl1pPr algn="r">
              <a:defRPr sz="1200"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endParaRPr lang="en-GB"/>
          </a:p>
        </p:txBody>
      </p:sp>
      <p:pic>
        <p:nvPicPr>
          <p:cNvPr id="7" name="Afbeelding 6">
            <a:extLst>
              <a:ext uri="{FF2B5EF4-FFF2-40B4-BE49-F238E27FC236}">
                <a16:creationId xmlns:a16="http://schemas.microsoft.com/office/drawing/2014/main" id="{97036F5A-4F41-9642-8812-E040E741FE0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494886" y="303610"/>
            <a:ext cx="1348788" cy="432048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40708F81-AA0F-4A51-BBF4-B1B17718698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9144900" cy="2343600"/>
          </a:xfrm>
          <a:blipFill>
            <a:blip r:embed="rId4"/>
            <a:stretch>
              <a:fillRect/>
            </a:stretch>
          </a:blipFill>
        </p:spPr>
        <p:txBody>
          <a:bodyPr lIns="871200" tIns="828000" rIns="3816000" bIns="1080000" anchor="ctr" anchorCtr="0"/>
          <a:lstStyle>
            <a:lvl1pPr>
              <a:defRPr/>
            </a:lvl1pPr>
          </a:lstStyle>
          <a:p>
            <a:r>
              <a:rPr lang="en-US"/>
              <a:t>Thank you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370397452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xt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629842" y="465517"/>
            <a:ext cx="5670350" cy="756065"/>
          </a:xfrm>
        </p:spPr>
        <p:txBody>
          <a:bodyPr wrap="square"/>
          <a:lstStyle>
            <a:lvl1pPr algn="l">
              <a:defRPr/>
            </a:lvl1pPr>
          </a:lstStyle>
          <a:p>
            <a:r>
              <a:rPr lang="en-GB"/>
              <a:t>Title paragraph 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629841" y="1491853"/>
            <a:ext cx="7884319" cy="2876747"/>
          </a:xfrm>
        </p:spPr>
        <p:txBody>
          <a:bodyPr lIns="36000" tIns="36000" rIns="36000" bIns="3600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Clr>
                <a:schemeClr val="tx1"/>
              </a:buClr>
              <a:buNone/>
              <a:defRPr sz="1350"/>
            </a:lvl1pPr>
            <a:lvl2pPr marL="286200" indent="-286200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Clr>
                <a:schemeClr val="tx1"/>
              </a:buClr>
              <a:buFont typeface="Calibri" panose="020F0502020204030204" pitchFamily="34" charset="0"/>
              <a:buChar char="●"/>
              <a:defRPr lang="en-GB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72400" indent="-286200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Clr>
                <a:schemeClr val="tx1"/>
              </a:buClr>
              <a:buFont typeface="Calibri" panose="020F0502020204030204" pitchFamily="34" charset="0"/>
              <a:buChar char="−"/>
              <a:defRPr lang="en-GB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28900" indent="-257175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Clr>
                <a:schemeClr val="tx1"/>
              </a:buClr>
              <a:buFont typeface="Calibri" panose="020F0502020204030204" pitchFamily="34" charset="0"/>
              <a:buChar char="−"/>
              <a:defRPr lang="en-GB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85400" indent="-257175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Clr>
                <a:schemeClr val="tx1"/>
              </a:buClr>
              <a:buFont typeface="Calibri" panose="020F0502020204030204" pitchFamily="34" charset="0"/>
              <a:buChar char="−"/>
              <a:defRPr lang="en-GB" sz="135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buClr>
                <a:schemeClr val="tx1"/>
              </a:buClr>
              <a:defRPr/>
            </a:lvl6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997147C5-1F2E-AA4F-935F-91B1D284EFAC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5598116" y="4628529"/>
            <a:ext cx="3545883" cy="524495"/>
          </a:xfrm>
          <a:prstGeom prst="rect">
            <a:avLst/>
          </a:prstGeom>
        </p:spPr>
      </p:pic>
      <p:sp>
        <p:nvSpPr>
          <p:cNvPr id="11" name="Slide Number Placeholder 7">
            <a:extLst>
              <a:ext uri="{FF2B5EF4-FFF2-40B4-BE49-F238E27FC236}">
                <a16:creationId xmlns:a16="http://schemas.microsoft.com/office/drawing/2014/main" id="{84898B21-2385-7249-AE1D-5F0164D15086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8514160" y="4677984"/>
            <a:ext cx="629840" cy="465516"/>
          </a:xfrm>
        </p:spPr>
        <p:txBody>
          <a:bodyPr/>
          <a:lstStyle/>
          <a:p>
            <a:fld id="{82366C92-DFCE-40A6-8CC1-5A4741E3726D}" type="slidenum">
              <a:rPr lang="en-GB" smtClean="0"/>
              <a:pPr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460262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ixed heading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>
            <a:extLst>
              <a:ext uri="{FF2B5EF4-FFF2-40B4-BE49-F238E27FC236}">
                <a16:creationId xmlns:a16="http://schemas.microsoft.com/office/drawing/2014/main" id="{025EED34-690F-CB41-8188-BB2E7E64F799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5598116" y="4628529"/>
            <a:ext cx="3545883" cy="524495"/>
          </a:xfrm>
          <a:prstGeom prst="rect">
            <a:avLst/>
          </a:prstGeom>
        </p:spPr>
      </p:pic>
      <p:sp>
        <p:nvSpPr>
          <p:cNvPr id="7" name="Footer Placeholder 6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82366C92-DFCE-40A6-8CC1-5A4741E3726D}" type="slidenum">
              <a:rPr lang="en-GB" smtClean="0"/>
              <a:pPr/>
              <a:t>‹nº›</a:t>
            </a:fld>
            <a:endParaRPr lang="en-GB"/>
          </a:p>
        </p:txBody>
      </p:sp>
      <p:sp>
        <p:nvSpPr>
          <p:cNvPr id="6" name="Tijdelijke aanduiding voor titel 1">
            <a:extLst>
              <a:ext uri="{FF2B5EF4-FFF2-40B4-BE49-F238E27FC236}">
                <a16:creationId xmlns:a16="http://schemas.microsoft.com/office/drawing/2014/main" id="{9FD576D2-650F-5142-A42C-138C7D767D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9841" y="1491853"/>
            <a:ext cx="7884319" cy="2808089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>
              <a:lnSpc>
                <a:spcPct val="100000"/>
              </a:lnSpc>
              <a:defRPr sz="4950"/>
            </a:lvl1pPr>
          </a:lstStyle>
          <a:p>
            <a:r>
              <a:rPr lang="en-GB"/>
              <a:t>Fixed heading</a:t>
            </a:r>
            <a:br>
              <a:rPr lang="en-GB"/>
            </a:br>
            <a:r>
              <a:rPr lang="en-GB"/>
              <a:t>(statement)</a:t>
            </a:r>
          </a:p>
        </p:txBody>
      </p:sp>
    </p:spTree>
    <p:extLst>
      <p:ext uri="{BB962C8B-B14F-4D97-AF65-F5344CB8AC3E}">
        <p14:creationId xmlns:p14="http://schemas.microsoft.com/office/powerpoint/2010/main" val="263803023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7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Relationship Id="rId4" Type="http://schemas.openxmlformats.org/officeDocument/2006/relationships/chart" Target="../charts/char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3.emf"/><Relationship Id="rId3" Type="http://schemas.openxmlformats.org/officeDocument/2006/relationships/image" Target="../media/image2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.png"/><Relationship Id="rId4" Type="http://schemas.openxmlformats.org/officeDocument/2006/relationships/image" Target="../media/image27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.jpe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20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2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29.png"/><Relationship Id="rId4" Type="http://schemas.openxmlformats.org/officeDocument/2006/relationships/notesSlide" Target="../notesSlides/notesSlide2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image" Target="../media/image32.png"/><Relationship Id="rId6" Type="http://schemas.openxmlformats.org/officeDocument/2006/relationships/image" Target="../media/image33.png"/><Relationship Id="rId7" Type="http://schemas.openxmlformats.org/officeDocument/2006/relationships/image" Target="../media/image8.png"/><Relationship Id="rId8" Type="http://schemas.openxmlformats.org/officeDocument/2006/relationships/image" Target="../media/image29.png"/><Relationship Id="rId9" Type="http://schemas.openxmlformats.org/officeDocument/2006/relationships/image" Target="../media/image34.png"/><Relationship Id="rId10" Type="http://schemas.openxmlformats.org/officeDocument/2006/relationships/notesSlide" Target="../notesSlides/notesSlide23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24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25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26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29.png"/><Relationship Id="rId4" Type="http://schemas.openxmlformats.org/officeDocument/2006/relationships/notesSlide" Target="../notesSlides/notesSlide2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28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29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8.png"/><Relationship Id="rId3" Type="http://schemas.openxmlformats.org/officeDocument/2006/relationships/notesSlide" Target="../notesSlides/notesSlide30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31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Confinamento de gado: veja como fazer de maneira eficaz — CompreRural">
            <a:extLst>
              <a:ext uri="{FF2B5EF4-FFF2-40B4-BE49-F238E27FC236}">
                <a16:creationId xmlns:a16="http://schemas.microsoft.com/office/drawing/2014/main" id="{948B6E11-E154-9C44-5943-13AA2675520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392" b="4112"/>
          <a:stretch/>
        </p:blipFill>
        <p:spPr bwMode="auto">
          <a:xfrm flipH="1">
            <a:off x="14" y="1581845"/>
            <a:ext cx="9143985" cy="3560226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3079" name="Slide Number Placeholder 2">
            <a:extLst>
              <a:ext uri="{FF2B5EF4-FFF2-40B4-BE49-F238E27FC236}">
                <a16:creationId xmlns:a16="http://schemas.microsoft.com/office/drawing/2014/main" id="{EB397809-47F3-012B-A513-6B52402C30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579106" y="4484368"/>
            <a:ext cx="4572000" cy="659132"/>
          </a:xfrm>
        </p:spPr>
        <p:txBody>
          <a:bodyPr/>
          <a:lstStyle/>
          <a:p>
            <a:endParaRPr lang="en-GB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49EA813-F4B8-2D42-B9BF-DD66E13A96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900" cy="2343600"/>
          </a:xfrm>
        </p:spPr>
        <p:txBody>
          <a:bodyPr anchor="ctr">
            <a:normAutofit/>
          </a:bodyPr>
          <a:lstStyle/>
          <a:p>
            <a:r>
              <a:rPr lang="pt-BR" sz="825"/>
              <a:t> </a:t>
            </a:r>
            <a:endParaRPr lang="en-NL" sz="825" dirty="0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A0D481DD-CA22-7E8E-A0F2-65705D288393}"/>
              </a:ext>
            </a:extLst>
          </p:cNvPr>
          <p:cNvSpPr txBox="1"/>
          <p:nvPr/>
        </p:nvSpPr>
        <p:spPr>
          <a:xfrm>
            <a:off x="521550" y="290764"/>
            <a:ext cx="3770480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b="1" dirty="0"/>
              <a:t>TN Manager Web</a:t>
            </a:r>
          </a:p>
          <a:p>
            <a:r>
              <a:rPr lang="en-CA" sz="1350" i="1" dirty="0"/>
              <a:t>Desenvolvimento Interno Personalizado</a:t>
            </a:r>
          </a:p>
          <a:p>
            <a:endParaRPr lang="en-CA" sz="1350" dirty="0"/>
          </a:p>
          <a:p>
            <a:r>
              <a:rPr lang="en-CA" sz="1350" b="1" dirty="0"/>
              <a:t>Trouw Nutrition Brasil</a:t>
            </a:r>
          </a:p>
          <a:p>
            <a:r>
              <a:rPr lang="en-CA" sz="1350" dirty="0"/>
              <a:t>Outubro de 2026</a:t>
            </a:r>
          </a:p>
        </p:txBody>
      </p:sp>
    </p:spTree>
    <p:extLst>
      <p:ext uri="{BB962C8B-B14F-4D97-AF65-F5344CB8AC3E}">
        <p14:creationId xmlns:p14="http://schemas.microsoft.com/office/powerpoint/2010/main" val="16830935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8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5D3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C5D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CASE v2.0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 Manager e TN Manager Web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640080" y="1965960"/>
            <a:ext cx="6766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i="1" dirty="0">
                <a:solidFill>
                  <a:srgbClr val="D6D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o produto gera valor e para quem: revisão do cliente-alvo, proposta de valor, produto mínimo e roadmap macro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61258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Nutreco – </a:t>
            </a:r>
            <a:r>
              <a:rPr lang="en-US" sz="13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Trouw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Nutrition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 do projeto TN Manager: Base Estratégica  |  Outubro de 2026</a:t>
            </a:r>
            <a:endParaRPr lang="en-US" sz="13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4121331"/>
            <a:ext cx="5943600" cy="1028700"/>
          </a:xfrm>
          <a:prstGeom prst="rect">
            <a:avLst/>
          </a:prstGeom>
        </p:spPr>
      </p:pic>
      <p:pic>
        <p:nvPicPr>
          <p:cNvPr id="8" name="Imagem 7" descr="Confinamento de gado: veja como fazer de maneira eficaz — CompreRural">
            <a:extLst>
              <a:ext uri="{FF2B5EF4-FFF2-40B4-BE49-F238E27FC236}">
                <a16:creationId xmlns:a16="http://schemas.microsoft.com/office/drawing/2014/main" id="{C6E60F84-3DD4-EA92-19AE-D3EA16319D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0783" y="3058900"/>
            <a:ext cx="4441371" cy="197356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4">
            <a:extLst>
              <a:ext uri="{FF2B5EF4-FFF2-40B4-BE49-F238E27FC236}">
                <a16:creationId xmlns:a16="http://schemas.microsoft.com/office/drawing/2014/main" id="{B2DA0B8F-6275-5FF9-F0FA-D4F4A45023B6}"/>
              </a:ext>
            </a:extLst>
          </p:cNvPr>
          <p:cNvSpPr txBox="1">
            <a:spLocks/>
          </p:cNvSpPr>
          <p:nvPr/>
        </p:nvSpPr>
        <p:spPr>
          <a:xfrm>
            <a:off x="521550" y="143730"/>
            <a:ext cx="7074785" cy="837590"/>
          </a:xfrm>
          <a:prstGeom prst="rect">
            <a:avLst/>
          </a:prstGeom>
        </p:spPr>
        <p:txBody>
          <a:bodyPr vert="horz" wrap="square" lIns="27000" tIns="27000" rIns="27000" bIns="27000" rtlCol="0" anchor="t" anchorCtr="0">
            <a:noAutofit/>
          </a:bodyPr>
          <a:lstStyle>
            <a:lvl1pPr algn="l" defTabSz="914400" rtl="0" eaLnBrk="1" latinLnBrk="0" hangingPunct="1">
              <a:lnSpc>
                <a:spcPts val="4200"/>
              </a:lnSpc>
              <a:spcBef>
                <a:spcPct val="0"/>
              </a:spcBef>
              <a:buNone/>
              <a:defRPr sz="4400" b="1" kern="1200" baseline="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CA" sz="2400" dirty="0"/>
              <a:t>Resumo Executivo</a:t>
            </a:r>
            <a:br>
              <a:rPr lang="en-CA" sz="2400" dirty="0"/>
            </a:br>
            <a:r>
              <a:rPr lang="en-US" sz="1350" b="0" i="1" dirty="0"/>
              <a:t>Conheça o TN Manager Web, </a:t>
            </a:r>
            <a:r>
              <a:rPr lang="en-US" sz="1350" b="0" i="1" dirty="0" err="1"/>
              <a:t>uma</a:t>
            </a:r>
            <a:r>
              <a:rPr lang="en-US" sz="1350" b="0" i="1" dirty="0"/>
              <a:t> nova </a:t>
            </a:r>
            <a:r>
              <a:rPr lang="en-US" sz="1350" b="0" i="1" dirty="0" err="1"/>
              <a:t>versão</a:t>
            </a:r>
            <a:r>
              <a:rPr lang="en-US" sz="1350" b="0" i="1" dirty="0"/>
              <a:t> do TN Manager que </a:t>
            </a:r>
            <a:r>
              <a:rPr lang="en-US" sz="1350" b="0" i="1" dirty="0" err="1"/>
              <a:t>tem</a:t>
            </a:r>
            <a:r>
              <a:rPr lang="en-US" sz="1350" b="0" i="1" dirty="0"/>
              <a:t> iniciativa estratégica totalmente alinhada à nossa visão de longo prazo de crescimento orgânico e transformação digital.</a:t>
            </a:r>
          </a:p>
          <a:p>
            <a:pPr>
              <a:lnSpc>
                <a:spcPct val="100000"/>
              </a:lnSpc>
            </a:pPr>
            <a:endParaRPr lang="en-CA" sz="2400" b="0" i="1" dirty="0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8FEE3EA-3D4A-DD54-6A99-1DD5E326C43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1550" y="2654710"/>
            <a:ext cx="7884319" cy="1821679"/>
          </a:xfrm>
        </p:spPr>
        <p:txBody>
          <a:bodyPr/>
          <a:lstStyle/>
          <a:p>
            <a:r>
              <a:rPr lang="en-US" dirty="0"/>
              <a:t>O mercado está evoluindo rapidamente, e os concorrentes estão avançando mais rápido do que nós na transformação digital. </a:t>
            </a:r>
          </a:p>
          <a:p>
            <a:r>
              <a:rPr lang="en-US" dirty="0"/>
              <a:t>Este projeto inovador atende um segmento relevante, que representa 19% da nossa Unidade de Negócios Beef. Nosso plano é </a:t>
            </a:r>
            <a:r>
              <a:rPr lang="en-US" dirty="0" err="1"/>
              <a:t>desenvolver</a:t>
            </a:r>
            <a:r>
              <a:rPr lang="en-US" dirty="0"/>
              <a:t> internamente um Sistema web para </a:t>
            </a:r>
            <a:r>
              <a:rPr lang="en-US" dirty="0" err="1"/>
              <a:t>confinamentos</a:t>
            </a:r>
            <a:r>
              <a:rPr lang="en-US" dirty="0"/>
              <a:t> que proteja e fortaleça o relacionamento com os clientes atuais, aumente a fidelização e, ao mesmo tempo, sirva como alavanca para atrair novos clientes.</a:t>
            </a:r>
          </a:p>
          <a:p>
            <a:r>
              <a:rPr lang="en-US" dirty="0"/>
              <a:t>Em um cenário em constante mudança, o TN Manager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versão</a:t>
            </a:r>
            <a:r>
              <a:rPr lang="en-US" dirty="0"/>
              <a:t> web nos </a:t>
            </a:r>
            <a:r>
              <a:rPr lang="en-US" dirty="0" err="1"/>
              <a:t>posiciona</a:t>
            </a:r>
            <a:r>
              <a:rPr lang="en-US" dirty="0"/>
              <a:t> no mercado, garantindo nossa presença no digital e nos levando a novos horizontes.</a:t>
            </a:r>
            <a:endParaRPr lang="en-CA" dirty="0"/>
          </a:p>
        </p:txBody>
      </p:sp>
      <p:sp>
        <p:nvSpPr>
          <p:cNvPr id="2" name="Rectangle 9">
            <a:extLst>
              <a:ext uri="{FF2B5EF4-FFF2-40B4-BE49-F238E27FC236}">
                <a16:creationId xmlns:a16="http://schemas.microsoft.com/office/drawing/2014/main" id="{A9C8DE9B-0182-9F12-A971-BD522072C4A3}"/>
              </a:ext>
            </a:extLst>
          </p:cNvPr>
          <p:cNvSpPr/>
          <p:nvPr/>
        </p:nvSpPr>
        <p:spPr>
          <a:xfrm>
            <a:off x="521550" y="1154220"/>
            <a:ext cx="7884319" cy="1125875"/>
          </a:xfrm>
          <a:prstGeom prst="rect">
            <a:avLst/>
          </a:prstGeom>
          <a:solidFill>
            <a:srgbClr val="0195B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3" name="TextBox 11">
            <a:extLst>
              <a:ext uri="{FF2B5EF4-FFF2-40B4-BE49-F238E27FC236}">
                <a16:creationId xmlns:a16="http://schemas.microsoft.com/office/drawing/2014/main" id="{AB97EAB9-B9D3-2C9B-E5C2-6D2E1CAC77D5}"/>
              </a:ext>
            </a:extLst>
          </p:cNvPr>
          <p:cNvSpPr txBox="1"/>
          <p:nvPr/>
        </p:nvSpPr>
        <p:spPr>
          <a:xfrm>
            <a:off x="1894825" y="1221600"/>
            <a:ext cx="6248567" cy="972108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chemeClr val="bg1"/>
                </a:solidFill>
              </a:rPr>
              <a:t>O TN Manager colocará a Trouw Nutrition Brasil na vanguarda da inovação no mercado de Corte, reforçando nossa tradição em oferecer produtos premium e serviços de excelência, ao mesmo tempo que impulsiona nossa agenda de </a:t>
            </a:r>
            <a:r>
              <a:rPr lang="en-US" sz="1200" dirty="0" err="1">
                <a:solidFill>
                  <a:schemeClr val="bg1"/>
                </a:solidFill>
              </a:rPr>
              <a:t>Transformação</a:t>
            </a:r>
            <a:r>
              <a:rPr lang="en-US" sz="1200" dirty="0">
                <a:solidFill>
                  <a:schemeClr val="bg1"/>
                </a:solidFill>
              </a:rPr>
              <a:t> Digital. </a:t>
            </a:r>
            <a:r>
              <a:rPr lang="en-US" sz="1200" dirty="0" err="1">
                <a:solidFill>
                  <a:schemeClr val="bg1"/>
                </a:solidFill>
              </a:rPr>
              <a:t>Além</a:t>
            </a:r>
            <a:r>
              <a:rPr lang="en-US" sz="1200" dirty="0">
                <a:solidFill>
                  <a:schemeClr val="bg1"/>
                </a:solidFill>
              </a:rPr>
              <a:t> de </a:t>
            </a:r>
            <a:r>
              <a:rPr lang="en-US" sz="1200" dirty="0" err="1">
                <a:solidFill>
                  <a:schemeClr val="bg1"/>
                </a:solidFill>
              </a:rPr>
              <a:t>fornecer</a:t>
            </a:r>
            <a:r>
              <a:rPr lang="en-US" sz="1200" dirty="0">
                <a:solidFill>
                  <a:schemeClr val="bg1"/>
                </a:solidFill>
              </a:rPr>
              <a:t> dados e </a:t>
            </a:r>
            <a:r>
              <a:rPr lang="en-US" sz="1200" dirty="0" err="1">
                <a:solidFill>
                  <a:schemeClr val="bg1"/>
                </a:solidFill>
              </a:rPr>
              <a:t>métricas</a:t>
            </a:r>
            <a:r>
              <a:rPr lang="en-US" sz="1200" dirty="0">
                <a:solidFill>
                  <a:schemeClr val="bg1"/>
                </a:solidFill>
              </a:rPr>
              <a:t> para </a:t>
            </a:r>
            <a:r>
              <a:rPr lang="en-US" sz="1200" dirty="0" err="1">
                <a:solidFill>
                  <a:schemeClr val="bg1"/>
                </a:solidFill>
              </a:rPr>
              <a:t>tomada</a:t>
            </a:r>
            <a:r>
              <a:rPr lang="en-US" sz="1200" dirty="0">
                <a:solidFill>
                  <a:schemeClr val="bg1"/>
                </a:solidFill>
              </a:rPr>
              <a:t> de </a:t>
            </a:r>
            <a:r>
              <a:rPr lang="en-US" sz="1200" dirty="0" err="1">
                <a:solidFill>
                  <a:schemeClr val="bg1"/>
                </a:solidFill>
              </a:rPr>
              <a:t>decisões</a:t>
            </a:r>
            <a:r>
              <a:rPr lang="en-US" sz="1200" dirty="0">
                <a:solidFill>
                  <a:schemeClr val="bg1"/>
                </a:solidFill>
              </a:rPr>
              <a:t> e </a:t>
            </a:r>
            <a:r>
              <a:rPr lang="en-US" sz="1200" dirty="0" err="1">
                <a:solidFill>
                  <a:schemeClr val="bg1"/>
                </a:solidFill>
              </a:rPr>
              <a:t>suporte</a:t>
            </a:r>
            <a:r>
              <a:rPr lang="en-US" sz="1200" dirty="0">
                <a:solidFill>
                  <a:schemeClr val="bg1"/>
                </a:solidFill>
              </a:rPr>
              <a:t> </a:t>
            </a:r>
            <a:r>
              <a:rPr lang="en-US" sz="1200" dirty="0" err="1">
                <a:solidFill>
                  <a:schemeClr val="bg1"/>
                </a:solidFill>
              </a:rPr>
              <a:t>técnico</a:t>
            </a:r>
            <a:r>
              <a:rPr lang="en-US" sz="1200" dirty="0">
                <a:solidFill>
                  <a:schemeClr val="bg1"/>
                </a:solidFill>
              </a:rPr>
              <a:t> de </a:t>
            </a:r>
            <a:r>
              <a:rPr lang="en-US" sz="1200" dirty="0" err="1">
                <a:solidFill>
                  <a:schemeClr val="bg1"/>
                </a:solidFill>
              </a:rPr>
              <a:t>qualidade</a:t>
            </a:r>
            <a:r>
              <a:rPr lang="en-US" sz="1200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5" name="Rectangle 22">
            <a:extLst>
              <a:ext uri="{FF2B5EF4-FFF2-40B4-BE49-F238E27FC236}">
                <a16:creationId xmlns:a16="http://schemas.microsoft.com/office/drawing/2014/main" id="{4BD2E2A4-A5A8-FB8A-00E5-7DB8A880E464}"/>
              </a:ext>
            </a:extLst>
          </p:cNvPr>
          <p:cNvSpPr/>
          <p:nvPr/>
        </p:nvSpPr>
        <p:spPr>
          <a:xfrm>
            <a:off x="521550" y="1154220"/>
            <a:ext cx="1103282" cy="1125875"/>
          </a:xfrm>
          <a:prstGeom prst="rect">
            <a:avLst/>
          </a:prstGeom>
          <a:solidFill>
            <a:srgbClr val="246C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grpSp>
        <p:nvGrpSpPr>
          <p:cNvPr id="6" name="Group 12">
            <a:extLst>
              <a:ext uri="{FF2B5EF4-FFF2-40B4-BE49-F238E27FC236}">
                <a16:creationId xmlns:a16="http://schemas.microsoft.com/office/drawing/2014/main" id="{9FEEAC2A-8F6F-33F1-31DC-45CF7E394C48}"/>
              </a:ext>
            </a:extLst>
          </p:cNvPr>
          <p:cNvGrpSpPr/>
          <p:nvPr/>
        </p:nvGrpSpPr>
        <p:grpSpPr>
          <a:xfrm>
            <a:off x="791580" y="1435871"/>
            <a:ext cx="562571" cy="562571"/>
            <a:chOff x="4119563" y="2171701"/>
            <a:chExt cx="346075" cy="346075"/>
          </a:xfrm>
        </p:grpSpPr>
        <p:sp>
          <p:nvSpPr>
            <p:cNvPr id="7" name="Freeform 307">
              <a:extLst>
                <a:ext uri="{FF2B5EF4-FFF2-40B4-BE49-F238E27FC236}">
                  <a16:creationId xmlns:a16="http://schemas.microsoft.com/office/drawing/2014/main" id="{522FD061-F040-8E76-4307-F7CF91D9DAD5}"/>
                </a:ext>
              </a:extLst>
            </p:cNvPr>
            <p:cNvSpPr>
              <a:spLocks/>
            </p:cNvSpPr>
            <p:nvPr/>
          </p:nvSpPr>
          <p:spPr bwMode="auto">
            <a:xfrm>
              <a:off x="4300538" y="2352676"/>
              <a:ext cx="165100" cy="165100"/>
            </a:xfrm>
            <a:custGeom>
              <a:avLst/>
              <a:gdLst>
                <a:gd name="T0" fmla="*/ 33 w 104"/>
                <a:gd name="T1" fmla="*/ 95 h 104"/>
                <a:gd name="T2" fmla="*/ 0 w 104"/>
                <a:gd name="T3" fmla="*/ 104 h 104"/>
                <a:gd name="T4" fmla="*/ 9 w 104"/>
                <a:gd name="T5" fmla="*/ 71 h 104"/>
                <a:gd name="T6" fmla="*/ 80 w 104"/>
                <a:gd name="T7" fmla="*/ 0 h 104"/>
                <a:gd name="T8" fmla="*/ 104 w 104"/>
                <a:gd name="T9" fmla="*/ 23 h 104"/>
                <a:gd name="T10" fmla="*/ 33 w 104"/>
                <a:gd name="T11" fmla="*/ 95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4" h="104">
                  <a:moveTo>
                    <a:pt x="33" y="95"/>
                  </a:moveTo>
                  <a:lnTo>
                    <a:pt x="0" y="104"/>
                  </a:lnTo>
                  <a:lnTo>
                    <a:pt x="9" y="71"/>
                  </a:lnTo>
                  <a:lnTo>
                    <a:pt x="80" y="0"/>
                  </a:lnTo>
                  <a:lnTo>
                    <a:pt x="104" y="23"/>
                  </a:lnTo>
                  <a:lnTo>
                    <a:pt x="33" y="95"/>
                  </a:lnTo>
                  <a:close/>
                </a:path>
              </a:pathLst>
            </a:custGeom>
            <a:noFill/>
            <a:ln w="15875" cap="rnd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id-ID" sz="1350"/>
            </a:p>
          </p:txBody>
        </p:sp>
        <p:sp>
          <p:nvSpPr>
            <p:cNvPr id="9" name="Line 308">
              <a:extLst>
                <a:ext uri="{FF2B5EF4-FFF2-40B4-BE49-F238E27FC236}">
                  <a16:creationId xmlns:a16="http://schemas.microsoft.com/office/drawing/2014/main" id="{069A3C55-6DD6-04FF-ECB3-363712CEDEE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98963" y="2382838"/>
              <a:ext cx="36513" cy="36513"/>
            </a:xfrm>
            <a:prstGeom prst="line">
              <a:avLst/>
            </a:prstGeom>
            <a:noFill/>
            <a:ln w="15875" cap="flat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id-ID" sz="1350"/>
            </a:p>
          </p:txBody>
        </p:sp>
        <p:sp>
          <p:nvSpPr>
            <p:cNvPr id="10" name="Line 309">
              <a:extLst>
                <a:ext uri="{FF2B5EF4-FFF2-40B4-BE49-F238E27FC236}">
                  <a16:creationId xmlns:a16="http://schemas.microsoft.com/office/drawing/2014/main" id="{ACEFF4E0-BE2A-72D5-3F62-2367F0A886D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14825" y="2465388"/>
              <a:ext cx="38100" cy="38100"/>
            </a:xfrm>
            <a:prstGeom prst="line">
              <a:avLst/>
            </a:prstGeom>
            <a:noFill/>
            <a:ln w="15875" cap="rnd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id-ID" sz="1350"/>
            </a:p>
          </p:txBody>
        </p:sp>
        <p:sp>
          <p:nvSpPr>
            <p:cNvPr id="11" name="Line 310">
              <a:extLst>
                <a:ext uri="{FF2B5EF4-FFF2-40B4-BE49-F238E27FC236}">
                  <a16:creationId xmlns:a16="http://schemas.microsoft.com/office/drawing/2014/main" id="{67C6C67A-3B0A-ED2C-C25D-F507AA69C2E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48150" y="2322513"/>
              <a:ext cx="60325" cy="0"/>
            </a:xfrm>
            <a:prstGeom prst="line">
              <a:avLst/>
            </a:prstGeom>
            <a:noFill/>
            <a:ln w="15875" cap="rnd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id-ID" sz="1350"/>
            </a:p>
          </p:txBody>
        </p:sp>
        <p:sp>
          <p:nvSpPr>
            <p:cNvPr id="12" name="Line 311">
              <a:extLst>
                <a:ext uri="{FF2B5EF4-FFF2-40B4-BE49-F238E27FC236}">
                  <a16:creationId xmlns:a16="http://schemas.microsoft.com/office/drawing/2014/main" id="{EC9255DD-75C5-87A2-45B4-8219D21A44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48150" y="2382838"/>
              <a:ext cx="60325" cy="0"/>
            </a:xfrm>
            <a:prstGeom prst="line">
              <a:avLst/>
            </a:prstGeom>
            <a:noFill/>
            <a:ln w="15875" cap="rnd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id-ID" sz="1350"/>
            </a:p>
          </p:txBody>
        </p:sp>
        <p:sp>
          <p:nvSpPr>
            <p:cNvPr id="13" name="Freeform 312">
              <a:extLst>
                <a:ext uri="{FF2B5EF4-FFF2-40B4-BE49-F238E27FC236}">
                  <a16:creationId xmlns:a16="http://schemas.microsoft.com/office/drawing/2014/main" id="{438BC57C-66BF-790A-EBC2-A11496D2E24F}"/>
                </a:ext>
              </a:extLst>
            </p:cNvPr>
            <p:cNvSpPr>
              <a:spLocks/>
            </p:cNvSpPr>
            <p:nvPr/>
          </p:nvSpPr>
          <p:spPr bwMode="auto">
            <a:xfrm>
              <a:off x="4165600" y="2292351"/>
              <a:ext cx="60325" cy="36513"/>
            </a:xfrm>
            <a:custGeom>
              <a:avLst/>
              <a:gdLst>
                <a:gd name="T0" fmla="*/ 38 w 38"/>
                <a:gd name="T1" fmla="*/ 0 h 23"/>
                <a:gd name="T2" fmla="*/ 14 w 38"/>
                <a:gd name="T3" fmla="*/ 23 h 23"/>
                <a:gd name="T4" fmla="*/ 0 w 38"/>
                <a:gd name="T5" fmla="*/ 9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23">
                  <a:moveTo>
                    <a:pt x="38" y="0"/>
                  </a:moveTo>
                  <a:lnTo>
                    <a:pt x="14" y="23"/>
                  </a:lnTo>
                  <a:lnTo>
                    <a:pt x="0" y="9"/>
                  </a:lnTo>
                </a:path>
              </a:pathLst>
            </a:custGeom>
            <a:noFill/>
            <a:ln w="15875" cap="rnd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id-ID" sz="1350"/>
            </a:p>
          </p:txBody>
        </p:sp>
        <p:sp>
          <p:nvSpPr>
            <p:cNvPr id="14" name="Freeform 313">
              <a:extLst>
                <a:ext uri="{FF2B5EF4-FFF2-40B4-BE49-F238E27FC236}">
                  <a16:creationId xmlns:a16="http://schemas.microsoft.com/office/drawing/2014/main" id="{40071169-1B90-2E5C-B3F8-9C673684073E}"/>
                </a:ext>
              </a:extLst>
            </p:cNvPr>
            <p:cNvSpPr>
              <a:spLocks/>
            </p:cNvSpPr>
            <p:nvPr/>
          </p:nvSpPr>
          <p:spPr bwMode="auto">
            <a:xfrm>
              <a:off x="4165600" y="2352676"/>
              <a:ext cx="60325" cy="36513"/>
            </a:xfrm>
            <a:custGeom>
              <a:avLst/>
              <a:gdLst>
                <a:gd name="T0" fmla="*/ 38 w 38"/>
                <a:gd name="T1" fmla="*/ 0 h 23"/>
                <a:gd name="T2" fmla="*/ 14 w 38"/>
                <a:gd name="T3" fmla="*/ 23 h 23"/>
                <a:gd name="T4" fmla="*/ 0 w 38"/>
                <a:gd name="T5" fmla="*/ 9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" h="23">
                  <a:moveTo>
                    <a:pt x="38" y="0"/>
                  </a:moveTo>
                  <a:lnTo>
                    <a:pt x="14" y="23"/>
                  </a:lnTo>
                  <a:lnTo>
                    <a:pt x="0" y="9"/>
                  </a:lnTo>
                </a:path>
              </a:pathLst>
            </a:custGeom>
            <a:noFill/>
            <a:ln w="15875" cap="rnd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id-ID" sz="1350"/>
            </a:p>
          </p:txBody>
        </p:sp>
        <p:sp>
          <p:nvSpPr>
            <p:cNvPr id="15" name="Freeform 314">
              <a:extLst>
                <a:ext uri="{FF2B5EF4-FFF2-40B4-BE49-F238E27FC236}">
                  <a16:creationId xmlns:a16="http://schemas.microsoft.com/office/drawing/2014/main" id="{7445F3E2-D41E-B5AF-99DD-1A524DF8293D}"/>
                </a:ext>
              </a:extLst>
            </p:cNvPr>
            <p:cNvSpPr>
              <a:spLocks/>
            </p:cNvSpPr>
            <p:nvPr/>
          </p:nvSpPr>
          <p:spPr bwMode="auto">
            <a:xfrm>
              <a:off x="4119563" y="2171701"/>
              <a:ext cx="241300" cy="315913"/>
            </a:xfrm>
            <a:custGeom>
              <a:avLst/>
              <a:gdLst>
                <a:gd name="T0" fmla="*/ 81 w 152"/>
                <a:gd name="T1" fmla="*/ 199 h 199"/>
                <a:gd name="T2" fmla="*/ 0 w 152"/>
                <a:gd name="T3" fmla="*/ 199 h 199"/>
                <a:gd name="T4" fmla="*/ 0 w 152"/>
                <a:gd name="T5" fmla="*/ 0 h 199"/>
                <a:gd name="T6" fmla="*/ 105 w 152"/>
                <a:gd name="T7" fmla="*/ 0 h 199"/>
                <a:gd name="T8" fmla="*/ 152 w 152"/>
                <a:gd name="T9" fmla="*/ 47 h 199"/>
                <a:gd name="T10" fmla="*/ 152 w 152"/>
                <a:gd name="T11" fmla="*/ 118 h 1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2" h="199">
                  <a:moveTo>
                    <a:pt x="81" y="199"/>
                  </a:moveTo>
                  <a:lnTo>
                    <a:pt x="0" y="199"/>
                  </a:lnTo>
                  <a:lnTo>
                    <a:pt x="0" y="0"/>
                  </a:lnTo>
                  <a:lnTo>
                    <a:pt x="105" y="0"/>
                  </a:lnTo>
                  <a:lnTo>
                    <a:pt x="152" y="47"/>
                  </a:lnTo>
                  <a:lnTo>
                    <a:pt x="152" y="118"/>
                  </a:lnTo>
                </a:path>
              </a:pathLst>
            </a:custGeom>
            <a:noFill/>
            <a:ln w="15875" cap="flat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id-ID" sz="1350"/>
            </a:p>
          </p:txBody>
        </p:sp>
        <p:sp>
          <p:nvSpPr>
            <p:cNvPr id="16" name="Freeform 315">
              <a:extLst>
                <a:ext uri="{FF2B5EF4-FFF2-40B4-BE49-F238E27FC236}">
                  <a16:creationId xmlns:a16="http://schemas.microsoft.com/office/drawing/2014/main" id="{3B6C4BF5-8B76-8B82-C592-0D03E6B71C36}"/>
                </a:ext>
              </a:extLst>
            </p:cNvPr>
            <p:cNvSpPr>
              <a:spLocks/>
            </p:cNvSpPr>
            <p:nvPr/>
          </p:nvSpPr>
          <p:spPr bwMode="auto">
            <a:xfrm>
              <a:off x="4286250" y="2171701"/>
              <a:ext cx="74613" cy="74613"/>
            </a:xfrm>
            <a:custGeom>
              <a:avLst/>
              <a:gdLst>
                <a:gd name="T0" fmla="*/ 0 w 47"/>
                <a:gd name="T1" fmla="*/ 0 h 47"/>
                <a:gd name="T2" fmla="*/ 0 w 47"/>
                <a:gd name="T3" fmla="*/ 47 h 47"/>
                <a:gd name="T4" fmla="*/ 47 w 47"/>
                <a:gd name="T5" fmla="*/ 47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7" h="47">
                  <a:moveTo>
                    <a:pt x="0" y="0"/>
                  </a:moveTo>
                  <a:lnTo>
                    <a:pt x="0" y="47"/>
                  </a:lnTo>
                  <a:lnTo>
                    <a:pt x="47" y="47"/>
                  </a:lnTo>
                </a:path>
              </a:pathLst>
            </a:custGeom>
            <a:noFill/>
            <a:ln w="15875" cap="rnd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id-ID" sz="1350"/>
            </a:p>
          </p:txBody>
        </p:sp>
      </p:grpSp>
    </p:spTree>
    <p:extLst>
      <p:ext uri="{BB962C8B-B14F-4D97-AF65-F5344CB8AC3E}">
        <p14:creationId xmlns:p14="http://schemas.microsoft.com/office/powerpoint/2010/main" val="27953696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 err="1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</a:t>
            </a:r>
            <a:r>
              <a:rPr lang="en-US" sz="24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é </a:t>
            </a:r>
            <a:r>
              <a:rPr lang="en-US" sz="2400" b="1" dirty="0" err="1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nosso</a:t>
            </a:r>
            <a:r>
              <a:rPr lang="en-US" sz="24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Target Customer?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 Manager </a:t>
            </a:r>
            <a:r>
              <a:rPr lang="en-US" sz="1300" i="1" dirty="0" err="1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versão</a:t>
            </a:r>
            <a:r>
              <a:rPr lang="en-US" sz="1300" i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Web</a:t>
            </a:r>
            <a:endParaRPr lang="en-US" sz="13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4398264"/>
            <a:ext cx="4572000" cy="7429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503920" y="482803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685800" y="1691640"/>
            <a:ext cx="2834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primeiro o TN Manager Web: uma versão simples, de lançamento manual, testada com 3 a 5 fazendas piloto. Cada nova versão só avança quando a anterior provar uso e valor.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892026" y="1342231"/>
            <a:ext cx="457200" cy="457200"/>
          </a:xfrm>
          <a:prstGeom prst="ellipse">
            <a:avLst/>
          </a:prstGeom>
          <a:solidFill>
            <a:srgbClr val="C8106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/>
          <p:nvPr/>
        </p:nvSpPr>
        <p:spPr>
          <a:xfrm>
            <a:off x="892026" y="1342231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532106" y="1323943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DO CLIENTE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532106" y="1616551"/>
            <a:ext cx="3977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 err="1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Confinamentos</a:t>
            </a:r>
            <a:r>
              <a:rPr lang="en-US" sz="11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pequenos</a:t>
            </a:r>
            <a:r>
              <a:rPr lang="en-US" sz="11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lang="en-US" sz="1100" dirty="0" err="1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médios</a:t>
            </a:r>
            <a:r>
              <a:rPr lang="en-US" sz="11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 </a:t>
            </a:r>
            <a:r>
              <a:rPr lang="en-US" sz="1100" dirty="0" err="1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capacidade</a:t>
            </a:r>
            <a:r>
              <a:rPr lang="en-US" sz="11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estática</a:t>
            </a:r>
            <a:r>
              <a:rPr lang="en-US" sz="11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200 a 2.000 </a:t>
            </a:r>
            <a:r>
              <a:rPr lang="en-US" sz="1100" dirty="0" err="1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cabeças</a:t>
            </a:r>
            <a:r>
              <a:rPr lang="en-US" sz="11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100" dirty="0" err="1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</a:t>
            </a:r>
            <a:r>
              <a:rPr lang="en-US" sz="11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automação</a:t>
            </a:r>
            <a:r>
              <a:rPr lang="en-US" sz="11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com </a:t>
            </a:r>
            <a:r>
              <a:rPr lang="en-US" sz="1100" dirty="0" err="1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nível</a:t>
            </a:r>
            <a:r>
              <a:rPr lang="en-US" sz="11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100" dirty="0" err="1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</a:t>
            </a:r>
            <a:r>
              <a:rPr lang="en-US" sz="11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moderada</a:t>
            </a:r>
            <a:r>
              <a:rPr lang="en-US" sz="11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que </a:t>
            </a:r>
            <a:r>
              <a:rPr lang="en-US" sz="1100" dirty="0" err="1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fazem</a:t>
            </a:r>
            <a:r>
              <a:rPr lang="en-US" sz="11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anotações</a:t>
            </a:r>
            <a:r>
              <a:rPr lang="en-US" sz="11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em </a:t>
            </a:r>
            <a:r>
              <a:rPr lang="en-US" sz="1100" dirty="0" err="1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papel</a:t>
            </a:r>
            <a:r>
              <a:rPr lang="en-US" sz="11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100" dirty="0" err="1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planilhas</a:t>
            </a:r>
            <a:r>
              <a:rPr lang="en-US" sz="11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</a:t>
            </a:r>
            <a:r>
              <a:rPr lang="en-US" sz="11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</a:t>
            </a:r>
            <a:r>
              <a:rPr lang="en-US" sz="11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simples.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892026" y="2393791"/>
            <a:ext cx="457200" cy="457200"/>
          </a:xfrm>
          <a:prstGeom prst="ellipse">
            <a:avLst/>
          </a:prstGeom>
          <a:solidFill>
            <a:srgbClr val="C8106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2"/>
          <p:cNvSpPr/>
          <p:nvPr/>
        </p:nvSpPr>
        <p:spPr>
          <a:xfrm>
            <a:off x="892026" y="2393791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1532106" y="2375503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 FERRAMENTA ENTREGA?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532106" y="2668111"/>
            <a:ext cx="3977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 err="1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</a:t>
            </a:r>
            <a:r>
              <a:rPr lang="en-US" sz="11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100" dirty="0" err="1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trato</a:t>
            </a:r>
            <a:r>
              <a:rPr lang="en-US" sz="11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lang="en-US" sz="1100" dirty="0" err="1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consumo</a:t>
            </a:r>
            <a:r>
              <a:rPr lang="en-US" sz="11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100" dirty="0" err="1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</a:t>
            </a:r>
            <a:r>
              <a:rPr lang="en-US" sz="11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entradas e </a:t>
            </a:r>
            <a:r>
              <a:rPr lang="en-US" sz="1100" dirty="0" err="1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saídas</a:t>
            </a:r>
            <a:r>
              <a:rPr lang="en-US" sz="11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100" dirty="0" err="1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</a:t>
            </a:r>
            <a:r>
              <a:rPr lang="en-US" sz="11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100" dirty="0" err="1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desempenho</a:t>
            </a:r>
            <a:r>
              <a:rPr lang="en-US" sz="11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(GMD, </a:t>
            </a:r>
            <a:r>
              <a:rPr lang="en-US" sz="1100" dirty="0" err="1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lotação</a:t>
            </a:r>
            <a:r>
              <a:rPr lang="en-US" sz="11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100" dirty="0" err="1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consumo</a:t>
            </a:r>
            <a:r>
              <a:rPr lang="en-US" sz="11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IMS, </a:t>
            </a:r>
            <a:r>
              <a:rPr lang="en-US" sz="1100" dirty="0" err="1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dias</a:t>
            </a:r>
            <a:r>
              <a:rPr lang="en-US" sz="11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em </a:t>
            </a:r>
            <a:r>
              <a:rPr lang="en-US" sz="1100" dirty="0" err="1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cocho</a:t>
            </a:r>
            <a:r>
              <a:rPr lang="en-US" sz="11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), </a:t>
            </a:r>
            <a:r>
              <a:rPr lang="en-US" sz="1100" dirty="0" err="1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além</a:t>
            </a:r>
            <a:r>
              <a:rPr lang="en-US" sz="11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100" dirty="0" err="1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relatórios</a:t>
            </a:r>
            <a:r>
              <a:rPr lang="en-US" sz="11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semanais</a:t>
            </a:r>
            <a:r>
              <a:rPr lang="en-US" sz="11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para </a:t>
            </a:r>
            <a:r>
              <a:rPr lang="en-US" sz="1100" dirty="0" err="1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tomada</a:t>
            </a:r>
            <a:r>
              <a:rPr lang="en-US" sz="11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100" dirty="0" err="1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decisões</a:t>
            </a:r>
            <a:r>
              <a:rPr lang="en-US" sz="11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892026" y="3445351"/>
            <a:ext cx="457200" cy="457200"/>
          </a:xfrm>
          <a:prstGeom prst="ellipse">
            <a:avLst/>
          </a:prstGeom>
          <a:solidFill>
            <a:srgbClr val="C8106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6"/>
          <p:cNvSpPr/>
          <p:nvPr/>
        </p:nvSpPr>
        <p:spPr>
          <a:xfrm>
            <a:off x="892026" y="3445351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1532106" y="3427063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NOS DIFERENCIA DA CONCORRÊNCIA?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1532106" y="3712997"/>
            <a:ext cx="3977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é a ferramenta: software de gestão virou item de prateleira. O diferencial é a entrega técnica: a TN acompanha toda a engorda, analisa os números toda semana, compara com o benchmark e transforma dados em decisão para o confinador. Sem custo de licença.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muda da v1.0 para a v2.0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pergunta deixa de ser como defender a base e passa a ser onde o produto gera valor e para quem.</a:t>
            </a:r>
            <a:endParaRPr lang="en-US" sz="13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4398264"/>
            <a:ext cx="4572000" cy="7429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503920" y="482803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9232090"/>
              </p:ext>
            </p:extLst>
          </p:nvPr>
        </p:nvGraphicFramePr>
        <p:xfrm>
          <a:off x="457200" y="1188720"/>
          <a:ext cx="8229600" cy="2962656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7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37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8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v1.0 (outubro de 2023)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66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v2.0 (outubro de 2026)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0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B3A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Cliente-alvo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Confinamentos </a:t>
                      </a:r>
                      <a:r>
                        <a:rPr lang="en-US" sz="1100" dirty="0" err="1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grandes</a:t>
                      </a:r>
                      <a:r>
                        <a:rPr lang="en-US" sz="110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a </a:t>
                      </a:r>
                      <a:r>
                        <a:rPr lang="en-US" sz="1100" dirty="0" err="1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partir</a:t>
                      </a:r>
                      <a:r>
                        <a:rPr lang="en-US" sz="110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de 2.000) </a:t>
                      </a:r>
                      <a:r>
                        <a:rPr lang="en-US" sz="1100" dirty="0" err="1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cabeças</a:t>
                      </a:r>
                      <a:r>
                        <a:rPr lang="en-US" sz="110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(</a:t>
                      </a:r>
                      <a:r>
                        <a:rPr lang="en-US" sz="1100" dirty="0" err="1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capacidade</a:t>
                      </a:r>
                      <a:r>
                        <a:rPr lang="en-US" sz="110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100" dirty="0" err="1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estática</a:t>
                      </a:r>
                      <a:r>
                        <a:rPr lang="en-US" sz="110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), com </a:t>
                      </a:r>
                      <a:r>
                        <a:rPr lang="en-US" sz="1100" dirty="0" err="1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automação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 err="1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Confinamentos</a:t>
                      </a:r>
                      <a:r>
                        <a:rPr lang="en-US" sz="110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100" dirty="0" err="1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pequenos</a:t>
                      </a:r>
                      <a:r>
                        <a:rPr lang="en-US" sz="110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e </a:t>
                      </a:r>
                      <a:r>
                        <a:rPr lang="en-US" sz="1100" dirty="0" err="1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médios</a:t>
                      </a:r>
                      <a:r>
                        <a:rPr lang="en-US" sz="110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(200 a 2.000) </a:t>
                      </a:r>
                      <a:r>
                        <a:rPr lang="en-US" sz="1100" dirty="0" err="1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cabeças</a:t>
                      </a:r>
                      <a:r>
                        <a:rPr lang="en-US" sz="110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(</a:t>
                      </a:r>
                      <a:r>
                        <a:rPr lang="en-US" sz="1100" dirty="0" err="1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capacidade</a:t>
                      </a:r>
                      <a:r>
                        <a:rPr lang="en-US" sz="110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100" dirty="0" err="1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estática</a:t>
                      </a:r>
                      <a:r>
                        <a:rPr lang="en-US" sz="110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), </a:t>
                      </a:r>
                      <a:r>
                        <a:rPr lang="en-US" sz="1100" dirty="0" err="1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gestão</a:t>
                      </a:r>
                      <a:r>
                        <a:rPr lang="en-US" sz="110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manual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B3A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Produto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Sistema </a:t>
                      </a:r>
                      <a:r>
                        <a:rPr lang="en-US" sz="1100" dirty="0" err="1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integração</a:t>
                      </a:r>
                      <a:r>
                        <a:rPr lang="en-US" sz="110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com hardware, terminal offline e </a:t>
                      </a:r>
                      <a:r>
                        <a:rPr lang="en-US" sz="1100" dirty="0" err="1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automação</a:t>
                      </a:r>
                      <a:r>
                        <a:rPr lang="en-US" sz="110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TN Manager Web: lançamento manual, poucos indicadores, evolução por versões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B3A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 da decisão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Premissas internas e base de </a:t>
                      </a:r>
                      <a:r>
                        <a:rPr lang="en-US" sz="1100" dirty="0" err="1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grandes</a:t>
                      </a:r>
                      <a:r>
                        <a:rPr lang="en-US" sz="110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fazendas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Entrevistas internas, benchmark externo e discovery com 30 ou mais fazendas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B3A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Implantação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 clientes no ano 1 e 200 no ano 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a 5 fazendas piloto, com critério de </a:t>
                      </a:r>
                      <a:r>
                        <a:rPr lang="en-US" sz="1100" dirty="0" err="1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avanço</a:t>
                      </a:r>
                      <a:r>
                        <a:rPr lang="en-US" sz="110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(5, 20 e 50 fazendas)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B3A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Métrica de sucesso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Sales Profit e market share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Uso recorrente e valor percebido primeiro; Sales Profit em seguida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 de negócio da v1.0 continua válido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números de 2023 justificam o projeto. A v2.0 revisa a forma de resolver o problema.</a:t>
            </a:r>
            <a:endParaRPr lang="en-US" sz="13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4398264"/>
            <a:ext cx="4572000" cy="7429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503920" y="482803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57200" y="4791456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A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Business Case Feedlot App v1.0 (out/2023) e OGP Brazil 2023. Atualizar no diagnóstico.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457200" y="11430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Profit Beef 2022 (R$ milhões)</a:t>
            </a:r>
            <a:endParaRPr lang="en-US" sz="120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365760" y="1417320"/>
          <a:ext cx="4937760" cy="2788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Shape 5"/>
          <p:cNvSpPr/>
          <p:nvPr/>
        </p:nvSpPr>
        <p:spPr>
          <a:xfrm>
            <a:off x="5577840" y="1188720"/>
            <a:ext cx="1463040" cy="132588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Shape 6"/>
          <p:cNvSpPr/>
          <p:nvPr/>
        </p:nvSpPr>
        <p:spPr>
          <a:xfrm>
            <a:off x="5577840" y="1188720"/>
            <a:ext cx="54864" cy="1325880"/>
          </a:xfrm>
          <a:prstGeom prst="rect">
            <a:avLst/>
          </a:prstGeom>
          <a:solidFill>
            <a:srgbClr val="C8106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7"/>
          <p:cNvSpPr/>
          <p:nvPr/>
        </p:nvSpPr>
        <p:spPr>
          <a:xfrm>
            <a:off x="5733288" y="1298448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C81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19%</a:t>
            </a:r>
            <a:endParaRPr lang="en-US" sz="2400" dirty="0"/>
          </a:p>
        </p:txBody>
      </p:sp>
      <p:sp>
        <p:nvSpPr>
          <p:cNvPr id="12" name="Text 8"/>
          <p:cNvSpPr/>
          <p:nvPr/>
        </p:nvSpPr>
        <p:spPr>
          <a:xfrm>
            <a:off x="5733288" y="1783080"/>
            <a:ext cx="12618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Sales Profit Beef vem de confinamento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7178040" y="1188720"/>
            <a:ext cx="1463040" cy="132588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Shape 10"/>
          <p:cNvSpPr/>
          <p:nvPr/>
        </p:nvSpPr>
        <p:spPr>
          <a:xfrm>
            <a:off x="7178040" y="1188720"/>
            <a:ext cx="54864" cy="1325880"/>
          </a:xfrm>
          <a:prstGeom prst="rect">
            <a:avLst/>
          </a:prstGeom>
          <a:solidFill>
            <a:srgbClr val="1B3A8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1"/>
          <p:cNvSpPr/>
          <p:nvPr/>
        </p:nvSpPr>
        <p:spPr>
          <a:xfrm>
            <a:off x="7333488" y="1298448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 mil</a:t>
            </a:r>
            <a:endParaRPr lang="en-US" sz="2400" dirty="0"/>
          </a:p>
        </p:txBody>
      </p:sp>
      <p:sp>
        <p:nvSpPr>
          <p:cNvPr id="16" name="Text 12"/>
          <p:cNvSpPr/>
          <p:nvPr/>
        </p:nvSpPr>
        <p:spPr>
          <a:xfrm>
            <a:off x="7333488" y="1783080"/>
            <a:ext cx="12618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cabeças perdidas em 7 clientes, a maior parte para a Cargill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5577840" y="2670048"/>
            <a:ext cx="1463040" cy="132588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Shape 14"/>
          <p:cNvSpPr/>
          <p:nvPr/>
        </p:nvSpPr>
        <p:spPr>
          <a:xfrm>
            <a:off x="5577840" y="2670048"/>
            <a:ext cx="54864" cy="1325880"/>
          </a:xfrm>
          <a:prstGeom prst="rect">
            <a:avLst/>
          </a:prstGeom>
          <a:solidFill>
            <a:srgbClr val="26668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5"/>
          <p:cNvSpPr/>
          <p:nvPr/>
        </p:nvSpPr>
        <p:spPr>
          <a:xfrm>
            <a:off x="5733288" y="2779776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266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12,5 mil</a:t>
            </a:r>
            <a:endParaRPr lang="en-US" sz="2400" dirty="0"/>
          </a:p>
        </p:txBody>
      </p:sp>
      <p:sp>
        <p:nvSpPr>
          <p:cNvPr id="20" name="Text 16"/>
          <p:cNvSpPr/>
          <p:nvPr/>
        </p:nvSpPr>
        <p:spPr>
          <a:xfrm>
            <a:off x="5733288" y="3264408"/>
            <a:ext cx="12618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cabeças em risco de perda em 2023</a:t>
            </a:r>
            <a:endParaRPr lang="en-US" sz="950" dirty="0"/>
          </a:p>
        </p:txBody>
      </p:sp>
      <p:sp>
        <p:nvSpPr>
          <p:cNvPr id="21" name="Shape 17"/>
          <p:cNvSpPr/>
          <p:nvPr/>
        </p:nvSpPr>
        <p:spPr>
          <a:xfrm>
            <a:off x="7178040" y="2670048"/>
            <a:ext cx="1463040" cy="132588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Shape 18"/>
          <p:cNvSpPr/>
          <p:nvPr/>
        </p:nvSpPr>
        <p:spPr>
          <a:xfrm>
            <a:off x="7178040" y="2670048"/>
            <a:ext cx="54864" cy="1325880"/>
          </a:xfrm>
          <a:prstGeom prst="rect">
            <a:avLst/>
          </a:prstGeom>
          <a:solidFill>
            <a:srgbClr val="0096B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Text 19"/>
          <p:cNvSpPr/>
          <p:nvPr/>
        </p:nvSpPr>
        <p:spPr>
          <a:xfrm>
            <a:off x="7333488" y="2779776"/>
            <a:ext cx="1261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009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9,6%</a:t>
            </a:r>
            <a:endParaRPr lang="en-US" sz="2400" dirty="0"/>
          </a:p>
        </p:txBody>
      </p:sp>
      <p:sp>
        <p:nvSpPr>
          <p:cNvPr id="24" name="Text 20"/>
          <p:cNvSpPr/>
          <p:nvPr/>
        </p:nvSpPr>
        <p:spPr>
          <a:xfrm>
            <a:off x="7333488" y="3264408"/>
            <a:ext cx="12618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market share em premix, mineral e concentrado para confinamento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de valor: quem ganha o quê com o TN Manager Web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Quatro públicos, quatro tipos de valor. Todos são hipóteses a validar no discovery.</a:t>
            </a:r>
            <a:endParaRPr lang="en-US" sz="13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4398264"/>
            <a:ext cx="4572000" cy="7429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503920" y="482803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1920240" y="1874520"/>
            <a:ext cx="2651760" cy="731520"/>
          </a:xfrm>
          <a:prstGeom prst="line">
            <a:avLst/>
          </a:prstGeom>
          <a:noFill/>
          <a:ln w="25400">
            <a:solidFill>
              <a:srgbClr val="1B3A8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Shape 4"/>
          <p:cNvSpPr/>
          <p:nvPr/>
        </p:nvSpPr>
        <p:spPr>
          <a:xfrm flipV="1">
            <a:off x="1920240" y="2606040"/>
            <a:ext cx="2651760" cy="731520"/>
          </a:xfrm>
          <a:prstGeom prst="line">
            <a:avLst/>
          </a:prstGeom>
          <a:noFill/>
          <a:ln w="25400">
            <a:solidFill>
              <a:srgbClr val="26668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Shape 5"/>
          <p:cNvSpPr/>
          <p:nvPr/>
        </p:nvSpPr>
        <p:spPr>
          <a:xfrm flipV="1">
            <a:off x="4572000" y="1874520"/>
            <a:ext cx="2651760" cy="731520"/>
          </a:xfrm>
          <a:prstGeom prst="line">
            <a:avLst/>
          </a:prstGeom>
          <a:noFill/>
          <a:ln w="25400">
            <a:solidFill>
              <a:srgbClr val="0096B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Shape 6"/>
          <p:cNvSpPr/>
          <p:nvPr/>
        </p:nvSpPr>
        <p:spPr>
          <a:xfrm>
            <a:off x="4572000" y="2606040"/>
            <a:ext cx="2651760" cy="731520"/>
          </a:xfrm>
          <a:prstGeom prst="line">
            <a:avLst/>
          </a:prstGeom>
          <a:noFill/>
          <a:ln w="25400">
            <a:solidFill>
              <a:srgbClr val="C8106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7"/>
          <p:cNvSpPr/>
          <p:nvPr/>
        </p:nvSpPr>
        <p:spPr>
          <a:xfrm>
            <a:off x="3657600" y="2103120"/>
            <a:ext cx="1828800" cy="1005840"/>
          </a:xfrm>
          <a:prstGeom prst="ellipse">
            <a:avLst/>
          </a:prstGeom>
          <a:solidFill>
            <a:srgbClr val="1B3A8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/>
          <p:nvPr/>
        </p:nvSpPr>
        <p:spPr>
          <a:xfrm>
            <a:off x="3657600" y="210312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 Manager Web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1645920" y="1600200"/>
            <a:ext cx="548640" cy="548640"/>
          </a:xfrm>
          <a:prstGeom prst="ellipse">
            <a:avLst/>
          </a:prstGeom>
          <a:solidFill>
            <a:srgbClr val="1B3A8C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3080" y="1737360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267712" y="1755648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Gestor do confinamento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411480" y="1078992"/>
            <a:ext cx="1170432" cy="502920"/>
          </a:xfrm>
          <a:prstGeom prst="roundRect">
            <a:avLst>
              <a:gd name="adj" fmla="val 14545"/>
            </a:avLst>
          </a:prstGeom>
          <a:solidFill>
            <a:srgbClr val="F4F6F8"/>
          </a:solidFill>
          <a:ln w="9525">
            <a:solidFill>
              <a:srgbClr val="1B3A8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2"/>
          <p:cNvSpPr/>
          <p:nvPr/>
        </p:nvSpPr>
        <p:spPr>
          <a:xfrm>
            <a:off x="466344" y="1097280"/>
            <a:ext cx="106070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e desempenho por lote sem montar planilha</a:t>
            </a:r>
            <a:endParaRPr lang="en-US" sz="850" dirty="0"/>
          </a:p>
        </p:txBody>
      </p:sp>
      <p:sp>
        <p:nvSpPr>
          <p:cNvPr id="17" name="Shape 13"/>
          <p:cNvSpPr/>
          <p:nvPr/>
        </p:nvSpPr>
        <p:spPr>
          <a:xfrm>
            <a:off x="1645920" y="1078992"/>
            <a:ext cx="1170432" cy="502920"/>
          </a:xfrm>
          <a:prstGeom prst="roundRect">
            <a:avLst>
              <a:gd name="adj" fmla="val 14545"/>
            </a:avLst>
          </a:prstGeom>
          <a:solidFill>
            <a:srgbClr val="F4F6F8"/>
          </a:solidFill>
          <a:ln w="9525">
            <a:solidFill>
              <a:srgbClr val="1B3A8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4"/>
          <p:cNvSpPr/>
          <p:nvPr/>
        </p:nvSpPr>
        <p:spPr>
          <a:xfrm>
            <a:off x="1700784" y="1097280"/>
            <a:ext cx="106070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Decidir com o dados da semana, não do mês</a:t>
            </a:r>
            <a:endParaRPr lang="en-US" sz="850" dirty="0"/>
          </a:p>
        </p:txBody>
      </p:sp>
      <p:sp>
        <p:nvSpPr>
          <p:cNvPr id="19" name="Shape 15"/>
          <p:cNvSpPr/>
          <p:nvPr/>
        </p:nvSpPr>
        <p:spPr>
          <a:xfrm>
            <a:off x="1645920" y="3063240"/>
            <a:ext cx="548640" cy="548640"/>
          </a:xfrm>
          <a:prstGeom prst="ellipse">
            <a:avLst/>
          </a:prstGeom>
          <a:solidFill>
            <a:srgbClr val="26668F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83080" y="3200400"/>
            <a:ext cx="274320" cy="27432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2267712" y="3218688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266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Equipe do curral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411480" y="3675888"/>
            <a:ext cx="1170432" cy="502920"/>
          </a:xfrm>
          <a:prstGeom prst="roundRect">
            <a:avLst>
              <a:gd name="adj" fmla="val 14545"/>
            </a:avLst>
          </a:prstGeom>
          <a:solidFill>
            <a:srgbClr val="F4F6F8"/>
          </a:solidFill>
          <a:ln w="9525">
            <a:solidFill>
              <a:srgbClr val="26668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18"/>
          <p:cNvSpPr/>
          <p:nvPr/>
        </p:nvSpPr>
        <p:spPr>
          <a:xfrm>
            <a:off x="466344" y="3694176"/>
            <a:ext cx="106070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Lançar leitura de cocho e trato em poucos minutos</a:t>
            </a:r>
            <a:endParaRPr lang="en-US" sz="850" dirty="0"/>
          </a:p>
        </p:txBody>
      </p:sp>
      <p:sp>
        <p:nvSpPr>
          <p:cNvPr id="24" name="Shape 19"/>
          <p:cNvSpPr/>
          <p:nvPr/>
        </p:nvSpPr>
        <p:spPr>
          <a:xfrm>
            <a:off x="1645920" y="3675888"/>
            <a:ext cx="1170432" cy="502920"/>
          </a:xfrm>
          <a:prstGeom prst="roundRect">
            <a:avLst>
              <a:gd name="adj" fmla="val 14545"/>
            </a:avLst>
          </a:prstGeom>
          <a:solidFill>
            <a:srgbClr val="F4F6F8"/>
          </a:solidFill>
          <a:ln w="9525">
            <a:solidFill>
              <a:srgbClr val="26668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Text 20"/>
          <p:cNvSpPr/>
          <p:nvPr/>
        </p:nvSpPr>
        <p:spPr>
          <a:xfrm>
            <a:off x="1700784" y="3694176"/>
            <a:ext cx="106070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Tela simples, no celular ou no computador</a:t>
            </a:r>
            <a:endParaRPr lang="en-US" sz="850" dirty="0"/>
          </a:p>
        </p:txBody>
      </p:sp>
      <p:sp>
        <p:nvSpPr>
          <p:cNvPr id="26" name="Shape 21"/>
          <p:cNvSpPr/>
          <p:nvPr/>
        </p:nvSpPr>
        <p:spPr>
          <a:xfrm>
            <a:off x="6949440" y="1600200"/>
            <a:ext cx="548640" cy="548640"/>
          </a:xfrm>
          <a:prstGeom prst="ellipse">
            <a:avLst/>
          </a:prstGeom>
          <a:solidFill>
            <a:srgbClr val="0096B4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86600" y="1737360"/>
            <a:ext cx="274320" cy="27432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5303520" y="1755648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009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Técnico TN</a:t>
            </a:r>
            <a:endParaRPr lang="en-US" sz="1150" dirty="0"/>
          </a:p>
        </p:txBody>
      </p:sp>
      <p:sp>
        <p:nvSpPr>
          <p:cNvPr id="29" name="Shape 23"/>
          <p:cNvSpPr/>
          <p:nvPr/>
        </p:nvSpPr>
        <p:spPr>
          <a:xfrm>
            <a:off x="6309360" y="1078992"/>
            <a:ext cx="1170432" cy="502920"/>
          </a:xfrm>
          <a:prstGeom prst="roundRect">
            <a:avLst>
              <a:gd name="adj" fmla="val 14545"/>
            </a:avLst>
          </a:prstGeom>
          <a:solidFill>
            <a:srgbClr val="F4F6F8"/>
          </a:solidFill>
          <a:ln w="9525">
            <a:solidFill>
              <a:srgbClr val="0096B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0" name="Text 24"/>
          <p:cNvSpPr/>
          <p:nvPr/>
        </p:nvSpPr>
        <p:spPr>
          <a:xfrm>
            <a:off x="6364224" y="1097280"/>
            <a:ext cx="106070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Acompanhar várias fazendas à distância</a:t>
            </a:r>
            <a:endParaRPr lang="en-US" sz="850" dirty="0"/>
          </a:p>
        </p:txBody>
      </p:sp>
      <p:sp>
        <p:nvSpPr>
          <p:cNvPr id="31" name="Shape 25"/>
          <p:cNvSpPr/>
          <p:nvPr/>
        </p:nvSpPr>
        <p:spPr>
          <a:xfrm>
            <a:off x="7543800" y="1078992"/>
            <a:ext cx="1170432" cy="502920"/>
          </a:xfrm>
          <a:prstGeom prst="roundRect">
            <a:avLst>
              <a:gd name="adj" fmla="val 14545"/>
            </a:avLst>
          </a:prstGeom>
          <a:solidFill>
            <a:srgbClr val="F4F6F8"/>
          </a:solidFill>
          <a:ln w="9525">
            <a:solidFill>
              <a:srgbClr val="0096B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2" name="Text 26"/>
          <p:cNvSpPr/>
          <p:nvPr/>
        </p:nvSpPr>
        <p:spPr>
          <a:xfrm>
            <a:off x="7598664" y="1097280"/>
            <a:ext cx="106070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Recomendar ajuste de dieta com dado real</a:t>
            </a:r>
            <a:endParaRPr lang="en-US" sz="850" dirty="0"/>
          </a:p>
        </p:txBody>
      </p:sp>
      <p:sp>
        <p:nvSpPr>
          <p:cNvPr id="33" name="Shape 27"/>
          <p:cNvSpPr/>
          <p:nvPr/>
        </p:nvSpPr>
        <p:spPr>
          <a:xfrm>
            <a:off x="6949440" y="3063240"/>
            <a:ext cx="548640" cy="548640"/>
          </a:xfrm>
          <a:prstGeom prst="ellipse">
            <a:avLst/>
          </a:prstGeom>
          <a:solidFill>
            <a:srgbClr val="C8106E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86600" y="3200400"/>
            <a:ext cx="274320" cy="274320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5303520" y="3218688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C81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Trouw Nutrition</a:t>
            </a:r>
            <a:endParaRPr lang="en-US" sz="1150" dirty="0"/>
          </a:p>
        </p:txBody>
      </p:sp>
      <p:sp>
        <p:nvSpPr>
          <p:cNvPr id="36" name="Shape 29"/>
          <p:cNvSpPr/>
          <p:nvPr/>
        </p:nvSpPr>
        <p:spPr>
          <a:xfrm>
            <a:off x="6309360" y="3675888"/>
            <a:ext cx="1170432" cy="502920"/>
          </a:xfrm>
          <a:prstGeom prst="roundRect">
            <a:avLst>
              <a:gd name="adj" fmla="val 14545"/>
            </a:avLst>
          </a:prstGeom>
          <a:solidFill>
            <a:srgbClr val="F4F6F8"/>
          </a:solidFill>
          <a:ln w="9525">
            <a:solidFill>
              <a:srgbClr val="C8106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7" name="Text 30"/>
          <p:cNvSpPr/>
          <p:nvPr/>
        </p:nvSpPr>
        <p:spPr>
          <a:xfrm>
            <a:off x="6364224" y="3694176"/>
            <a:ext cx="106070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Fidelizar </a:t>
            </a:r>
            <a:r>
              <a:rPr lang="en-US" sz="850" dirty="0" err="1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</a:t>
            </a:r>
            <a:r>
              <a:rPr lang="en-US" sz="8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em </a:t>
            </a:r>
            <a:r>
              <a:rPr lang="en-US" sz="850" dirty="0" err="1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nutrição</a:t>
            </a:r>
            <a:endParaRPr lang="en-US" sz="850" dirty="0"/>
          </a:p>
        </p:txBody>
      </p:sp>
      <p:sp>
        <p:nvSpPr>
          <p:cNvPr id="38" name="Shape 31"/>
          <p:cNvSpPr/>
          <p:nvPr/>
        </p:nvSpPr>
        <p:spPr>
          <a:xfrm>
            <a:off x="7543800" y="3675888"/>
            <a:ext cx="1170432" cy="502920"/>
          </a:xfrm>
          <a:prstGeom prst="roundRect">
            <a:avLst>
              <a:gd name="adj" fmla="val 14545"/>
            </a:avLst>
          </a:prstGeom>
          <a:solidFill>
            <a:srgbClr val="F4F6F8"/>
          </a:solidFill>
          <a:ln w="9525">
            <a:solidFill>
              <a:srgbClr val="C8106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9" name="Text 32"/>
          <p:cNvSpPr/>
          <p:nvPr/>
        </p:nvSpPr>
        <p:spPr>
          <a:xfrm>
            <a:off x="7598664" y="3694176"/>
            <a:ext cx="106070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 de entrada para não clientes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Revisão do cliente-alvo: onde o TN Manager Web entra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v1.0 mirou o quadrante mais disputado. A v2.0 propõe começar onde há dor e pouca oferta simples.</a:t>
            </a:r>
            <a:endParaRPr lang="en-US" sz="13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4398264"/>
            <a:ext cx="4572000" cy="7429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503920" y="482803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1088136" y="1179576"/>
            <a:ext cx="2670048" cy="1481328"/>
          </a:xfrm>
          <a:prstGeom prst="rect">
            <a:avLst/>
          </a:prstGeom>
          <a:solidFill>
            <a:srgbClr val="FBE7F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Shape 4"/>
          <p:cNvSpPr/>
          <p:nvPr/>
        </p:nvSpPr>
        <p:spPr>
          <a:xfrm>
            <a:off x="1234440" y="1325880"/>
            <a:ext cx="1097280" cy="219456"/>
          </a:xfrm>
          <a:prstGeom prst="roundRect">
            <a:avLst>
              <a:gd name="adj" fmla="val 50000"/>
            </a:avLst>
          </a:prstGeom>
          <a:solidFill>
            <a:srgbClr val="C8106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1234440" y="132588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PRIORIDADE 2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234440" y="16459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Grande porte, registro manual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234440" y="1947672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dor e alto volume de produto. Segunda onda do TN Manager Web.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831336" y="1179576"/>
            <a:ext cx="2670048" cy="1481328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Shape 9"/>
          <p:cNvSpPr/>
          <p:nvPr/>
        </p:nvSpPr>
        <p:spPr>
          <a:xfrm>
            <a:off x="3977640" y="1325880"/>
            <a:ext cx="1097280" cy="219456"/>
          </a:xfrm>
          <a:prstGeom prst="roundRect">
            <a:avLst>
              <a:gd name="adj" fmla="val 50000"/>
            </a:avLst>
          </a:prstGeom>
          <a:solidFill>
            <a:srgbClr val="26668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/>
          <p:nvPr/>
        </p:nvSpPr>
        <p:spPr>
          <a:xfrm>
            <a:off x="3977640" y="132588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 MANAGER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3977640" y="16459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Grande porte, automatizado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3977640" y="1947672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Foco da v1.0. Disputado por Cargill e DSM/Prodap. Território do TN Manager completo.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1088136" y="2734056"/>
            <a:ext cx="2670048" cy="1481328"/>
          </a:xfrm>
          <a:prstGeom prst="rect">
            <a:avLst/>
          </a:prstGeom>
          <a:solidFill>
            <a:srgbClr val="C8106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Shape 14"/>
          <p:cNvSpPr/>
          <p:nvPr/>
        </p:nvSpPr>
        <p:spPr>
          <a:xfrm>
            <a:off x="1234440" y="2880360"/>
            <a:ext cx="1097280" cy="219456"/>
          </a:xfrm>
          <a:prstGeom prst="roundRect">
            <a:avLst>
              <a:gd name="adj" fmla="val 50000"/>
            </a:avLst>
          </a:prstGeom>
          <a:solidFill>
            <a:srgbClr val="1B3A8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5"/>
          <p:cNvSpPr/>
          <p:nvPr/>
        </p:nvSpPr>
        <p:spPr>
          <a:xfrm>
            <a:off x="1234440" y="288036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PILOTO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234440" y="32004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Médio porte, registro manual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1234440" y="3502152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fazendas e menos software simples disponível. Ponto de entrada sugerido para o piloto.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3831336" y="2734056"/>
            <a:ext cx="2670048" cy="1481328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Shape 19"/>
          <p:cNvSpPr/>
          <p:nvPr/>
        </p:nvSpPr>
        <p:spPr>
          <a:xfrm>
            <a:off x="3977640" y="2880360"/>
            <a:ext cx="1097280" cy="219456"/>
          </a:xfrm>
          <a:prstGeom prst="roundRect">
            <a:avLst>
              <a:gd name="adj" fmla="val 50000"/>
            </a:avLst>
          </a:prstGeom>
          <a:solidFill>
            <a:srgbClr val="7A858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Text 20"/>
          <p:cNvSpPr/>
          <p:nvPr/>
        </p:nvSpPr>
        <p:spPr>
          <a:xfrm>
            <a:off x="3977640" y="288036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AVALIAR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3977640" y="32004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Médio porte, automatizado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3977640" y="3502152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Já usa alguma ferramenta. Avaliar troca ou integração em versão futura.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320040" y="11430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Porte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320040" y="192024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7A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Grande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320040" y="347472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7A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Médio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1051560" y="430682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manual ou planilha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3794760" y="430682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Balança, vagão e software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1051560" y="45262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Maturidade de gestão de dados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6812280" y="1143000"/>
            <a:ext cx="1920240" cy="3108960"/>
          </a:xfrm>
          <a:prstGeom prst="rect">
            <a:avLst/>
          </a:prstGeom>
          <a:solidFill>
            <a:srgbClr val="1B3A8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3" name="Text 30"/>
          <p:cNvSpPr/>
          <p:nvPr/>
        </p:nvSpPr>
        <p:spPr>
          <a:xfrm>
            <a:off x="6967728" y="12801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C5D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mudar o foco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6967728" y="1627632"/>
            <a:ext cx="16459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já tem balança e vagão compara o TN Manager com sistemas maduros e equipes de campo maiores.</a:t>
            </a:r>
            <a:endParaRPr lang="en-US" sz="1000" dirty="0"/>
          </a:p>
          <a:p>
            <a:pPr marL="0" indent="0">
              <a:buNone/>
            </a:pPr>
            <a:r>
              <a:rPr lang="en-US" sz="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registra no papel compara com o caderno. Um produto simples já entrega ganho visível.</a:t>
            </a:r>
            <a:endParaRPr lang="en-US" sz="1000" dirty="0"/>
          </a:p>
          <a:p>
            <a:pPr marL="0" indent="0">
              <a:buNone/>
            </a:pPr>
            <a:r>
              <a:rPr lang="en-US" sz="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discovery confirma porte mínimo e tamanho de cada quadrante.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do cliente-alvo para o piloto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propostos para escolher as primeiras fazendas. A faixa de porte sai do discovery.</a:t>
            </a:r>
            <a:endParaRPr lang="en-US" sz="13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4398264"/>
            <a:ext cx="4572000" cy="7429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503920" y="482803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457200" y="1188720"/>
            <a:ext cx="2606040" cy="411480"/>
          </a:xfrm>
          <a:prstGeom prst="rect">
            <a:avLst/>
          </a:prstGeom>
          <a:solidFill>
            <a:srgbClr val="1B3A8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/>
          <p:nvPr/>
        </p:nvSpPr>
        <p:spPr>
          <a:xfrm>
            <a:off x="594360" y="118872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Obrigatórios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57200" y="1600200"/>
            <a:ext cx="2606040" cy="233172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6"/>
          <p:cNvSpPr/>
          <p:nvPr/>
        </p:nvSpPr>
        <p:spPr>
          <a:xfrm>
            <a:off x="548640" y="1719072"/>
            <a:ext cx="2404872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Confinamento ativo, com ciclo regular de entrada e saída</a:t>
            </a:r>
            <a:endParaRPr lang="en-US" sz="10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</a:t>
            </a:r>
            <a:r>
              <a:rPr lang="en-US" sz="1050" dirty="0" err="1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atual</a:t>
            </a:r>
            <a:r>
              <a:rPr lang="en-US" sz="10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em </a:t>
            </a:r>
            <a:r>
              <a:rPr lang="en-US" sz="1050" dirty="0" err="1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caderno</a:t>
            </a:r>
            <a:r>
              <a:rPr lang="en-US" sz="10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050" dirty="0" err="1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planilhas</a:t>
            </a:r>
            <a:r>
              <a:rPr lang="en-US" sz="10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050" dirty="0" err="1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</a:t>
            </a:r>
            <a:r>
              <a:rPr lang="en-US" sz="10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</a:t>
            </a:r>
            <a:r>
              <a:rPr lang="en-US" sz="10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simples</a:t>
            </a:r>
            <a:endParaRPr lang="en-US" sz="10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pessoa responsável por lançar os dados todo dia</a:t>
            </a:r>
            <a:endParaRPr lang="en-US" sz="10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 err="1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Acompanhamento</a:t>
            </a:r>
            <a:r>
              <a:rPr lang="en-US" sz="10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técnico</a:t>
            </a:r>
            <a:r>
              <a:rPr lang="en-US" sz="10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 visita ou contato recorrente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246120" y="1188720"/>
            <a:ext cx="2606040" cy="411480"/>
          </a:xfrm>
          <a:prstGeom prst="rect">
            <a:avLst/>
          </a:prstGeom>
          <a:solidFill>
            <a:srgbClr val="0096B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/>
          <p:nvPr/>
        </p:nvSpPr>
        <p:spPr>
          <a:xfrm>
            <a:off x="3383280" y="118872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Desejáveis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3246120" y="1600200"/>
            <a:ext cx="2606040" cy="233172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/>
          <p:nvPr/>
        </p:nvSpPr>
        <p:spPr>
          <a:xfrm>
            <a:off x="3337560" y="1719072"/>
            <a:ext cx="2404872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Pesagem na entrada e na saída dos animais</a:t>
            </a:r>
            <a:endParaRPr lang="en-US" sz="10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Leitura de cocho diária</a:t>
            </a:r>
            <a:endParaRPr lang="en-US" sz="10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na sede da fazenda</a:t>
            </a:r>
            <a:endParaRPr lang="en-US" sz="10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Gestor disposto a dar retorno a cada 15 dias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6035040" y="1188720"/>
            <a:ext cx="2606040" cy="411480"/>
          </a:xfrm>
          <a:prstGeom prst="rect">
            <a:avLst/>
          </a:prstGeom>
          <a:solidFill>
            <a:srgbClr val="C8106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2"/>
          <p:cNvSpPr/>
          <p:nvPr/>
        </p:nvSpPr>
        <p:spPr>
          <a:xfrm>
            <a:off x="6172200" y="118872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Fora do perfil inicial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035040" y="1600200"/>
            <a:ext cx="2606040" cy="233172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4"/>
          <p:cNvSpPr/>
          <p:nvPr/>
        </p:nvSpPr>
        <p:spPr>
          <a:xfrm>
            <a:off x="6126480" y="1719072"/>
            <a:ext cx="2404872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Operações já integradas a balança, vagão e software</a:t>
            </a:r>
            <a:endParaRPr lang="en-US" sz="10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Confinamentos sem rotina mínima de registro</a:t>
            </a:r>
            <a:endParaRPr lang="en-US" sz="10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Recria a pasto, leite e outras espécies (mantido da v1.0)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457200" y="4041648"/>
            <a:ext cx="8229600" cy="365760"/>
          </a:xfrm>
          <a:prstGeom prst="rect">
            <a:avLst/>
          </a:prstGeom>
          <a:solidFill>
            <a:srgbClr val="FBE7F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6"/>
          <p:cNvSpPr/>
          <p:nvPr/>
        </p:nvSpPr>
        <p:spPr>
          <a:xfrm>
            <a:off x="594360" y="4041648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81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Porte mínimo: </a:t>
            </a:r>
            <a:r>
              <a:rPr lang="en-US" sz="10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v1.0 usava 2.000 cabeças. Para a versão manual, a faixa ideal 200 a 2.000 </a:t>
            </a:r>
            <a:r>
              <a:rPr lang="en-US" sz="1050" dirty="0" err="1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cabeças</a:t>
            </a:r>
            <a:r>
              <a:rPr lang="en-US" sz="10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4">
            <a:extLst>
              <a:ext uri="{FF2B5EF4-FFF2-40B4-BE49-F238E27FC236}">
                <a16:creationId xmlns:a16="http://schemas.microsoft.com/office/drawing/2014/main" id="{B2DA0B8F-6275-5FF9-F0FA-D4F4A45023B6}"/>
              </a:ext>
            </a:extLst>
          </p:cNvPr>
          <p:cNvSpPr txBox="1">
            <a:spLocks/>
          </p:cNvSpPr>
          <p:nvPr/>
        </p:nvSpPr>
        <p:spPr>
          <a:xfrm>
            <a:off x="89503" y="87475"/>
            <a:ext cx="7074785" cy="837590"/>
          </a:xfrm>
          <a:prstGeom prst="rect">
            <a:avLst/>
          </a:prstGeom>
        </p:spPr>
        <p:txBody>
          <a:bodyPr vert="horz" wrap="square" lIns="27000" tIns="27000" rIns="27000" bIns="27000" rtlCol="0" anchor="t" anchorCtr="0">
            <a:noAutofit/>
          </a:bodyPr>
          <a:lstStyle>
            <a:lvl1pPr algn="l" defTabSz="914400" rtl="0" eaLnBrk="1" latinLnBrk="0" hangingPunct="1">
              <a:lnSpc>
                <a:spcPts val="4200"/>
              </a:lnSpc>
              <a:spcBef>
                <a:spcPct val="0"/>
              </a:spcBef>
              <a:buNone/>
              <a:defRPr sz="4400" b="1" kern="1200" baseline="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2400" dirty="0" err="1"/>
              <a:t>Objetivos</a:t>
            </a:r>
            <a:r>
              <a:rPr lang="en-US" sz="2400" dirty="0"/>
              <a:t> do </a:t>
            </a:r>
            <a:r>
              <a:rPr lang="en-US" sz="2400" dirty="0" err="1"/>
              <a:t>Projeto</a:t>
            </a:r>
            <a:br>
              <a:rPr lang="en-CA" sz="2400" dirty="0"/>
            </a:br>
            <a:r>
              <a:rPr lang="en-US" sz="1350" b="0" i="1" dirty="0"/>
              <a:t>Com o </a:t>
            </a:r>
            <a:r>
              <a:rPr lang="en-US" sz="1350" b="0" i="1" dirty="0" err="1"/>
              <a:t>desenvolvimento</a:t>
            </a:r>
            <a:r>
              <a:rPr lang="en-US" sz="1350" b="0" i="1" dirty="0"/>
              <a:t> do TN Manager, </a:t>
            </a:r>
            <a:r>
              <a:rPr lang="en-US" sz="1350" b="0" i="1" dirty="0" err="1"/>
              <a:t>vamos</a:t>
            </a:r>
            <a:r>
              <a:rPr lang="en-US" sz="1350" b="0" i="1" dirty="0"/>
              <a:t> </a:t>
            </a:r>
            <a:r>
              <a:rPr lang="en-US" sz="1350" b="0" i="1" dirty="0" err="1"/>
              <a:t>entregar</a:t>
            </a:r>
            <a:r>
              <a:rPr lang="en-US" sz="1350" b="0" i="1" dirty="0"/>
              <a:t> 4 </a:t>
            </a:r>
            <a:r>
              <a:rPr lang="en-US" sz="1350" b="0" i="1" dirty="0" err="1"/>
              <a:t>benefícios</a:t>
            </a:r>
            <a:r>
              <a:rPr lang="en-US" sz="1350" b="0" i="1" dirty="0"/>
              <a:t> </a:t>
            </a:r>
            <a:r>
              <a:rPr lang="en-US" sz="1350" b="0" i="1" dirty="0" err="1"/>
              <a:t>principais</a:t>
            </a:r>
            <a:r>
              <a:rPr lang="en-US" sz="1350" b="0" i="1" dirty="0"/>
              <a:t> </a:t>
            </a:r>
            <a:r>
              <a:rPr lang="en-US" sz="1350" b="0" i="1" dirty="0" err="1"/>
              <a:t>ao</a:t>
            </a:r>
            <a:r>
              <a:rPr lang="en-US" sz="1350" b="0" i="1" dirty="0"/>
              <a:t> </a:t>
            </a:r>
            <a:r>
              <a:rPr lang="en-US" sz="1350" b="0" i="1" dirty="0" err="1"/>
              <a:t>negócio</a:t>
            </a:r>
            <a:r>
              <a:rPr lang="en-US" sz="1350" b="0" i="1" dirty="0"/>
              <a:t> da TNB.</a:t>
            </a:r>
            <a:endParaRPr lang="en-CA" sz="2400" b="0" i="1" dirty="0"/>
          </a:p>
        </p:txBody>
      </p:sp>
      <p:sp>
        <p:nvSpPr>
          <p:cNvPr id="2" name="Line 10">
            <a:extLst>
              <a:ext uri="{FF2B5EF4-FFF2-40B4-BE49-F238E27FC236}">
                <a16:creationId xmlns:a16="http://schemas.microsoft.com/office/drawing/2014/main" id="{1F76DCD9-4EB6-3B83-BAFD-95D6CE4EB64A}"/>
              </a:ext>
            </a:extLst>
          </p:cNvPr>
          <p:cNvSpPr>
            <a:spLocks noChangeShapeType="1"/>
          </p:cNvSpPr>
          <p:nvPr/>
        </p:nvSpPr>
        <p:spPr bwMode="auto">
          <a:xfrm rot="18900000">
            <a:off x="4435830" y="2138883"/>
            <a:ext cx="0" cy="0"/>
          </a:xfrm>
          <a:prstGeom prst="line">
            <a:avLst/>
          </a:prstGeom>
          <a:noFill/>
          <a:ln w="15875" cap="flat">
            <a:solidFill>
              <a:srgbClr val="231F20"/>
            </a:solidFill>
            <a:prstDash val="solid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US" kern="0">
              <a:solidFill>
                <a:prstClr val="black"/>
              </a:solidFill>
            </a:endParaRPr>
          </a:p>
        </p:txBody>
      </p:sp>
      <p:grpSp>
        <p:nvGrpSpPr>
          <p:cNvPr id="3" name="Group 17">
            <a:extLst>
              <a:ext uri="{FF2B5EF4-FFF2-40B4-BE49-F238E27FC236}">
                <a16:creationId xmlns:a16="http://schemas.microsoft.com/office/drawing/2014/main" id="{1C154973-36B7-8247-5FCF-61ABE8ADD461}"/>
              </a:ext>
            </a:extLst>
          </p:cNvPr>
          <p:cNvGrpSpPr/>
          <p:nvPr/>
        </p:nvGrpSpPr>
        <p:grpSpPr>
          <a:xfrm>
            <a:off x="2713445" y="1165688"/>
            <a:ext cx="3444771" cy="3448386"/>
            <a:chOff x="3657600" y="1181940"/>
            <a:chExt cx="4876800" cy="4881918"/>
          </a:xfrm>
        </p:grpSpPr>
        <p:sp>
          <p:nvSpPr>
            <p:cNvPr id="5" name="Freeform 9">
              <a:extLst>
                <a:ext uri="{FF2B5EF4-FFF2-40B4-BE49-F238E27FC236}">
                  <a16:creationId xmlns:a16="http://schemas.microsoft.com/office/drawing/2014/main" id="{E4B2645B-87BD-3850-112A-9912D20BE8CE}"/>
                </a:ext>
              </a:extLst>
            </p:cNvPr>
            <p:cNvSpPr>
              <a:spLocks/>
            </p:cNvSpPr>
            <p:nvPr/>
          </p:nvSpPr>
          <p:spPr bwMode="auto">
            <a:xfrm rot="18900000">
              <a:off x="4112160" y="1181940"/>
              <a:ext cx="2466836" cy="3409445"/>
            </a:xfrm>
            <a:custGeom>
              <a:avLst/>
              <a:gdLst>
                <a:gd name="T0" fmla="*/ 233 w 467"/>
                <a:gd name="T1" fmla="*/ 0 h 646"/>
                <a:gd name="T2" fmla="*/ 0 w 467"/>
                <a:gd name="T3" fmla="*/ 232 h 646"/>
                <a:gd name="T4" fmla="*/ 10 w 467"/>
                <a:gd name="T5" fmla="*/ 299 h 646"/>
                <a:gd name="T6" fmla="*/ 73 w 467"/>
                <a:gd name="T7" fmla="*/ 400 h 646"/>
                <a:gd name="T8" fmla="*/ 73 w 467"/>
                <a:gd name="T9" fmla="*/ 401 h 646"/>
                <a:gd name="T10" fmla="*/ 119 w 467"/>
                <a:gd name="T11" fmla="*/ 522 h 646"/>
                <a:gd name="T12" fmla="*/ 79 w 467"/>
                <a:gd name="T13" fmla="*/ 636 h 646"/>
                <a:gd name="T14" fmla="*/ 84 w 467"/>
                <a:gd name="T15" fmla="*/ 646 h 646"/>
                <a:gd name="T16" fmla="*/ 169 w 467"/>
                <a:gd name="T17" fmla="*/ 586 h 646"/>
                <a:gd name="T18" fmla="*/ 178 w 467"/>
                <a:gd name="T19" fmla="*/ 522 h 646"/>
                <a:gd name="T20" fmla="*/ 169 w 467"/>
                <a:gd name="T21" fmla="*/ 456 h 646"/>
                <a:gd name="T22" fmla="*/ 98 w 467"/>
                <a:gd name="T23" fmla="*/ 342 h 646"/>
                <a:gd name="T24" fmla="*/ 59 w 467"/>
                <a:gd name="T25" fmla="*/ 232 h 646"/>
                <a:gd name="T26" fmla="*/ 233 w 467"/>
                <a:gd name="T27" fmla="*/ 59 h 646"/>
                <a:gd name="T28" fmla="*/ 408 w 467"/>
                <a:gd name="T29" fmla="*/ 232 h 646"/>
                <a:gd name="T30" fmla="*/ 361 w 467"/>
                <a:gd name="T31" fmla="*/ 351 h 646"/>
                <a:gd name="T32" fmla="*/ 457 w 467"/>
                <a:gd name="T33" fmla="*/ 299 h 646"/>
                <a:gd name="T34" fmla="*/ 467 w 467"/>
                <a:gd name="T35" fmla="*/ 232 h 646"/>
                <a:gd name="T36" fmla="*/ 233 w 467"/>
                <a:gd name="T37" fmla="*/ 0 h 6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67" h="646">
                  <a:moveTo>
                    <a:pt x="233" y="0"/>
                  </a:moveTo>
                  <a:cubicBezTo>
                    <a:pt x="105" y="0"/>
                    <a:pt x="0" y="104"/>
                    <a:pt x="0" y="232"/>
                  </a:cubicBezTo>
                  <a:cubicBezTo>
                    <a:pt x="0" y="255"/>
                    <a:pt x="3" y="278"/>
                    <a:pt x="10" y="299"/>
                  </a:cubicBezTo>
                  <a:cubicBezTo>
                    <a:pt x="21" y="338"/>
                    <a:pt x="43" y="373"/>
                    <a:pt x="73" y="400"/>
                  </a:cubicBezTo>
                  <a:cubicBezTo>
                    <a:pt x="73" y="401"/>
                    <a:pt x="73" y="401"/>
                    <a:pt x="73" y="401"/>
                  </a:cubicBezTo>
                  <a:cubicBezTo>
                    <a:pt x="102" y="432"/>
                    <a:pt x="119" y="476"/>
                    <a:pt x="119" y="522"/>
                  </a:cubicBezTo>
                  <a:cubicBezTo>
                    <a:pt x="119" y="565"/>
                    <a:pt x="105" y="605"/>
                    <a:pt x="79" y="636"/>
                  </a:cubicBezTo>
                  <a:cubicBezTo>
                    <a:pt x="84" y="646"/>
                    <a:pt x="84" y="646"/>
                    <a:pt x="84" y="646"/>
                  </a:cubicBezTo>
                  <a:cubicBezTo>
                    <a:pt x="110" y="624"/>
                    <a:pt x="136" y="596"/>
                    <a:pt x="169" y="586"/>
                  </a:cubicBezTo>
                  <a:cubicBezTo>
                    <a:pt x="175" y="566"/>
                    <a:pt x="178" y="544"/>
                    <a:pt x="178" y="522"/>
                  </a:cubicBezTo>
                  <a:cubicBezTo>
                    <a:pt x="178" y="499"/>
                    <a:pt x="175" y="477"/>
                    <a:pt x="169" y="456"/>
                  </a:cubicBezTo>
                  <a:cubicBezTo>
                    <a:pt x="156" y="413"/>
                    <a:pt x="131" y="370"/>
                    <a:pt x="98" y="342"/>
                  </a:cubicBezTo>
                  <a:cubicBezTo>
                    <a:pt x="74" y="312"/>
                    <a:pt x="59" y="274"/>
                    <a:pt x="59" y="232"/>
                  </a:cubicBezTo>
                  <a:cubicBezTo>
                    <a:pt x="59" y="136"/>
                    <a:pt x="137" y="59"/>
                    <a:pt x="233" y="59"/>
                  </a:cubicBezTo>
                  <a:cubicBezTo>
                    <a:pt x="330" y="59"/>
                    <a:pt x="408" y="136"/>
                    <a:pt x="408" y="232"/>
                  </a:cubicBezTo>
                  <a:cubicBezTo>
                    <a:pt x="408" y="278"/>
                    <a:pt x="390" y="320"/>
                    <a:pt x="361" y="351"/>
                  </a:cubicBezTo>
                  <a:cubicBezTo>
                    <a:pt x="361" y="351"/>
                    <a:pt x="422" y="309"/>
                    <a:pt x="457" y="299"/>
                  </a:cubicBezTo>
                  <a:cubicBezTo>
                    <a:pt x="463" y="278"/>
                    <a:pt x="467" y="255"/>
                    <a:pt x="467" y="232"/>
                  </a:cubicBezTo>
                  <a:cubicBezTo>
                    <a:pt x="467" y="104"/>
                    <a:pt x="362" y="0"/>
                    <a:pt x="233" y="0"/>
                  </a:cubicBezTo>
                  <a:close/>
                </a:path>
              </a:pathLst>
            </a:custGeom>
            <a:solidFill>
              <a:srgbClr val="246C97"/>
            </a:solidFill>
            <a:ln>
              <a:noFill/>
            </a:ln>
            <a:effectLst/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kern="0">
                <a:solidFill>
                  <a:prstClr val="black"/>
                </a:solidFill>
              </a:endParaRPr>
            </a:p>
          </p:txBody>
        </p:sp>
        <p:sp>
          <p:nvSpPr>
            <p:cNvPr id="6" name="Freeform 11">
              <a:extLst>
                <a:ext uri="{FF2B5EF4-FFF2-40B4-BE49-F238E27FC236}">
                  <a16:creationId xmlns:a16="http://schemas.microsoft.com/office/drawing/2014/main" id="{9DED8CB3-40C8-F77B-1ACC-64D9AC6241CE}"/>
                </a:ext>
              </a:extLst>
            </p:cNvPr>
            <p:cNvSpPr>
              <a:spLocks/>
            </p:cNvSpPr>
            <p:nvPr/>
          </p:nvSpPr>
          <p:spPr bwMode="auto">
            <a:xfrm rot="18900000">
              <a:off x="5603572" y="2692294"/>
              <a:ext cx="2466836" cy="3371564"/>
            </a:xfrm>
            <a:custGeom>
              <a:avLst/>
              <a:gdLst>
                <a:gd name="T0" fmla="*/ 458 w 467"/>
                <a:gd name="T1" fmla="*/ 343 h 639"/>
                <a:gd name="T2" fmla="*/ 448 w 467"/>
                <a:gd name="T3" fmla="*/ 340 h 639"/>
                <a:gd name="T4" fmla="*/ 458 w 467"/>
                <a:gd name="T5" fmla="*/ 343 h 639"/>
                <a:gd name="T6" fmla="*/ 399 w 467"/>
                <a:gd name="T7" fmla="*/ 243 h 639"/>
                <a:gd name="T8" fmla="*/ 399 w 467"/>
                <a:gd name="T9" fmla="*/ 243 h 639"/>
                <a:gd name="T10" fmla="*/ 348 w 467"/>
                <a:gd name="T11" fmla="*/ 119 h 639"/>
                <a:gd name="T12" fmla="*/ 394 w 467"/>
                <a:gd name="T13" fmla="*/ 2 h 639"/>
                <a:gd name="T14" fmla="*/ 391 w 467"/>
                <a:gd name="T15" fmla="*/ 0 h 639"/>
                <a:gd name="T16" fmla="*/ 299 w 467"/>
                <a:gd name="T17" fmla="*/ 52 h 639"/>
                <a:gd name="T18" fmla="*/ 289 w 467"/>
                <a:gd name="T19" fmla="*/ 119 h 639"/>
                <a:gd name="T20" fmla="*/ 298 w 467"/>
                <a:gd name="T21" fmla="*/ 183 h 639"/>
                <a:gd name="T22" fmla="*/ 346 w 467"/>
                <a:gd name="T23" fmla="*/ 271 h 639"/>
                <a:gd name="T24" fmla="*/ 346 w 467"/>
                <a:gd name="T25" fmla="*/ 271 h 639"/>
                <a:gd name="T26" fmla="*/ 346 w 467"/>
                <a:gd name="T27" fmla="*/ 272 h 639"/>
                <a:gd name="T28" fmla="*/ 368 w 467"/>
                <a:gd name="T29" fmla="*/ 294 h 639"/>
                <a:gd name="T30" fmla="*/ 408 w 467"/>
                <a:gd name="T31" fmla="*/ 407 h 639"/>
                <a:gd name="T32" fmla="*/ 233 w 467"/>
                <a:gd name="T33" fmla="*/ 580 h 639"/>
                <a:gd name="T34" fmla="*/ 59 w 467"/>
                <a:gd name="T35" fmla="*/ 407 h 639"/>
                <a:gd name="T36" fmla="*/ 110 w 467"/>
                <a:gd name="T37" fmla="*/ 284 h 639"/>
                <a:gd name="T38" fmla="*/ 109 w 467"/>
                <a:gd name="T39" fmla="*/ 282 h 639"/>
                <a:gd name="T40" fmla="*/ 9 w 467"/>
                <a:gd name="T41" fmla="*/ 342 h 639"/>
                <a:gd name="T42" fmla="*/ 0 w 467"/>
                <a:gd name="T43" fmla="*/ 407 h 639"/>
                <a:gd name="T44" fmla="*/ 233 w 467"/>
                <a:gd name="T45" fmla="*/ 639 h 639"/>
                <a:gd name="T46" fmla="*/ 467 w 467"/>
                <a:gd name="T47" fmla="*/ 407 h 639"/>
                <a:gd name="T48" fmla="*/ 458 w 467"/>
                <a:gd name="T49" fmla="*/ 343 h 6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467" h="639">
                  <a:moveTo>
                    <a:pt x="458" y="343"/>
                  </a:moveTo>
                  <a:cubicBezTo>
                    <a:pt x="455" y="342"/>
                    <a:pt x="452" y="341"/>
                    <a:pt x="448" y="340"/>
                  </a:cubicBezTo>
                  <a:cubicBezTo>
                    <a:pt x="452" y="341"/>
                    <a:pt x="455" y="342"/>
                    <a:pt x="458" y="343"/>
                  </a:cubicBezTo>
                  <a:cubicBezTo>
                    <a:pt x="447" y="305"/>
                    <a:pt x="426" y="271"/>
                    <a:pt x="399" y="243"/>
                  </a:cubicBezTo>
                  <a:cubicBezTo>
                    <a:pt x="399" y="243"/>
                    <a:pt x="399" y="243"/>
                    <a:pt x="399" y="243"/>
                  </a:cubicBezTo>
                  <a:cubicBezTo>
                    <a:pt x="367" y="212"/>
                    <a:pt x="348" y="168"/>
                    <a:pt x="348" y="119"/>
                  </a:cubicBezTo>
                  <a:cubicBezTo>
                    <a:pt x="348" y="74"/>
                    <a:pt x="365" y="33"/>
                    <a:pt x="394" y="2"/>
                  </a:cubicBezTo>
                  <a:cubicBezTo>
                    <a:pt x="391" y="0"/>
                    <a:pt x="391" y="0"/>
                    <a:pt x="391" y="0"/>
                  </a:cubicBezTo>
                  <a:cubicBezTo>
                    <a:pt x="365" y="24"/>
                    <a:pt x="333" y="42"/>
                    <a:pt x="299" y="52"/>
                  </a:cubicBezTo>
                  <a:cubicBezTo>
                    <a:pt x="292" y="74"/>
                    <a:pt x="289" y="96"/>
                    <a:pt x="289" y="119"/>
                  </a:cubicBezTo>
                  <a:cubicBezTo>
                    <a:pt x="289" y="141"/>
                    <a:pt x="292" y="163"/>
                    <a:pt x="298" y="183"/>
                  </a:cubicBezTo>
                  <a:cubicBezTo>
                    <a:pt x="307" y="216"/>
                    <a:pt x="324" y="246"/>
                    <a:pt x="346" y="271"/>
                  </a:cubicBezTo>
                  <a:cubicBezTo>
                    <a:pt x="346" y="271"/>
                    <a:pt x="346" y="271"/>
                    <a:pt x="346" y="271"/>
                  </a:cubicBezTo>
                  <a:cubicBezTo>
                    <a:pt x="346" y="271"/>
                    <a:pt x="346" y="271"/>
                    <a:pt x="346" y="272"/>
                  </a:cubicBezTo>
                  <a:cubicBezTo>
                    <a:pt x="353" y="279"/>
                    <a:pt x="360" y="287"/>
                    <a:pt x="368" y="294"/>
                  </a:cubicBezTo>
                  <a:cubicBezTo>
                    <a:pt x="393" y="324"/>
                    <a:pt x="408" y="364"/>
                    <a:pt x="408" y="407"/>
                  </a:cubicBezTo>
                  <a:cubicBezTo>
                    <a:pt x="408" y="503"/>
                    <a:pt x="330" y="580"/>
                    <a:pt x="233" y="580"/>
                  </a:cubicBezTo>
                  <a:cubicBezTo>
                    <a:pt x="137" y="580"/>
                    <a:pt x="59" y="503"/>
                    <a:pt x="59" y="407"/>
                  </a:cubicBezTo>
                  <a:cubicBezTo>
                    <a:pt x="59" y="359"/>
                    <a:pt x="78" y="315"/>
                    <a:pt x="110" y="284"/>
                  </a:cubicBezTo>
                  <a:cubicBezTo>
                    <a:pt x="109" y="282"/>
                    <a:pt x="109" y="282"/>
                    <a:pt x="109" y="282"/>
                  </a:cubicBezTo>
                  <a:cubicBezTo>
                    <a:pt x="82" y="310"/>
                    <a:pt x="47" y="331"/>
                    <a:pt x="9" y="342"/>
                  </a:cubicBezTo>
                  <a:cubicBezTo>
                    <a:pt x="3" y="363"/>
                    <a:pt x="0" y="384"/>
                    <a:pt x="0" y="407"/>
                  </a:cubicBezTo>
                  <a:cubicBezTo>
                    <a:pt x="0" y="535"/>
                    <a:pt x="105" y="639"/>
                    <a:pt x="233" y="639"/>
                  </a:cubicBezTo>
                  <a:cubicBezTo>
                    <a:pt x="362" y="639"/>
                    <a:pt x="467" y="535"/>
                    <a:pt x="467" y="407"/>
                  </a:cubicBezTo>
                  <a:cubicBezTo>
                    <a:pt x="467" y="385"/>
                    <a:pt x="464" y="363"/>
                    <a:pt x="458" y="343"/>
                  </a:cubicBezTo>
                  <a:close/>
                </a:path>
              </a:pathLst>
            </a:custGeom>
            <a:solidFill>
              <a:srgbClr val="26B2CE"/>
            </a:solidFill>
            <a:ln>
              <a:noFill/>
            </a:ln>
            <a:effectLst/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kern="0">
                <a:solidFill>
                  <a:prstClr val="black"/>
                </a:solidFill>
              </a:endParaRPr>
            </a:p>
          </p:txBody>
        </p:sp>
        <p:sp>
          <p:nvSpPr>
            <p:cNvPr id="7" name="Freeform 12">
              <a:extLst>
                <a:ext uri="{FF2B5EF4-FFF2-40B4-BE49-F238E27FC236}">
                  <a16:creationId xmlns:a16="http://schemas.microsoft.com/office/drawing/2014/main" id="{3608DDDE-1DAB-807F-54E3-9F12BB05DB14}"/>
                </a:ext>
              </a:extLst>
            </p:cNvPr>
            <p:cNvSpPr>
              <a:spLocks/>
            </p:cNvSpPr>
            <p:nvPr/>
          </p:nvSpPr>
          <p:spPr bwMode="auto">
            <a:xfrm rot="18900000">
              <a:off x="5169521" y="1642599"/>
              <a:ext cx="3364879" cy="2453465"/>
            </a:xfrm>
            <a:custGeom>
              <a:avLst/>
              <a:gdLst>
                <a:gd name="T0" fmla="*/ 403 w 637"/>
                <a:gd name="T1" fmla="*/ 0 h 465"/>
                <a:gd name="T2" fmla="*/ 338 w 637"/>
                <a:gd name="T3" fmla="*/ 9 h 465"/>
                <a:gd name="T4" fmla="*/ 242 w 637"/>
                <a:gd name="T5" fmla="*/ 61 h 465"/>
                <a:gd name="T6" fmla="*/ 114 w 637"/>
                <a:gd name="T7" fmla="*/ 116 h 465"/>
                <a:gd name="T8" fmla="*/ 0 w 637"/>
                <a:gd name="T9" fmla="*/ 74 h 465"/>
                <a:gd name="T10" fmla="*/ 50 w 637"/>
                <a:gd name="T11" fmla="*/ 166 h 465"/>
                <a:gd name="T12" fmla="*/ 114 w 637"/>
                <a:gd name="T13" fmla="*/ 175 h 465"/>
                <a:gd name="T14" fmla="*/ 180 w 637"/>
                <a:gd name="T15" fmla="*/ 165 h 465"/>
                <a:gd name="T16" fmla="*/ 274 w 637"/>
                <a:gd name="T17" fmla="*/ 116 h 465"/>
                <a:gd name="T18" fmla="*/ 285 w 637"/>
                <a:gd name="T19" fmla="*/ 105 h 465"/>
                <a:gd name="T20" fmla="*/ 403 w 637"/>
                <a:gd name="T21" fmla="*/ 59 h 465"/>
                <a:gd name="T22" fmla="*/ 578 w 637"/>
                <a:gd name="T23" fmla="*/ 232 h 465"/>
                <a:gd name="T24" fmla="*/ 403 w 637"/>
                <a:gd name="T25" fmla="*/ 406 h 465"/>
                <a:gd name="T26" fmla="*/ 281 w 637"/>
                <a:gd name="T27" fmla="*/ 356 h 465"/>
                <a:gd name="T28" fmla="*/ 280 w 637"/>
                <a:gd name="T29" fmla="*/ 356 h 465"/>
                <a:gd name="T30" fmla="*/ 280 w 637"/>
                <a:gd name="T31" fmla="*/ 356 h 465"/>
                <a:gd name="T32" fmla="*/ 339 w 637"/>
                <a:gd name="T33" fmla="*/ 456 h 465"/>
                <a:gd name="T34" fmla="*/ 403 w 637"/>
                <a:gd name="T35" fmla="*/ 465 h 465"/>
                <a:gd name="T36" fmla="*/ 637 w 637"/>
                <a:gd name="T37" fmla="*/ 232 h 465"/>
                <a:gd name="T38" fmla="*/ 403 w 637"/>
                <a:gd name="T39" fmla="*/ 0 h 4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637" h="465">
                  <a:moveTo>
                    <a:pt x="403" y="0"/>
                  </a:moveTo>
                  <a:cubicBezTo>
                    <a:pt x="381" y="0"/>
                    <a:pt x="359" y="3"/>
                    <a:pt x="338" y="9"/>
                  </a:cubicBezTo>
                  <a:cubicBezTo>
                    <a:pt x="303" y="19"/>
                    <a:pt x="242" y="61"/>
                    <a:pt x="242" y="61"/>
                  </a:cubicBezTo>
                  <a:cubicBezTo>
                    <a:pt x="210" y="95"/>
                    <a:pt x="165" y="116"/>
                    <a:pt x="114" y="116"/>
                  </a:cubicBezTo>
                  <a:cubicBezTo>
                    <a:pt x="71" y="116"/>
                    <a:pt x="31" y="100"/>
                    <a:pt x="0" y="74"/>
                  </a:cubicBezTo>
                  <a:cubicBezTo>
                    <a:pt x="23" y="100"/>
                    <a:pt x="40" y="133"/>
                    <a:pt x="50" y="166"/>
                  </a:cubicBezTo>
                  <a:cubicBezTo>
                    <a:pt x="70" y="171"/>
                    <a:pt x="92" y="175"/>
                    <a:pt x="114" y="175"/>
                  </a:cubicBezTo>
                  <a:cubicBezTo>
                    <a:pt x="137" y="175"/>
                    <a:pt x="159" y="171"/>
                    <a:pt x="180" y="165"/>
                  </a:cubicBezTo>
                  <a:cubicBezTo>
                    <a:pt x="214" y="155"/>
                    <a:pt x="248" y="139"/>
                    <a:pt x="274" y="116"/>
                  </a:cubicBezTo>
                  <a:cubicBezTo>
                    <a:pt x="278" y="112"/>
                    <a:pt x="282" y="108"/>
                    <a:pt x="285" y="105"/>
                  </a:cubicBezTo>
                  <a:cubicBezTo>
                    <a:pt x="316" y="76"/>
                    <a:pt x="358" y="59"/>
                    <a:pt x="403" y="59"/>
                  </a:cubicBezTo>
                  <a:cubicBezTo>
                    <a:pt x="500" y="59"/>
                    <a:pt x="578" y="136"/>
                    <a:pt x="578" y="232"/>
                  </a:cubicBezTo>
                  <a:cubicBezTo>
                    <a:pt x="578" y="328"/>
                    <a:pt x="500" y="406"/>
                    <a:pt x="403" y="406"/>
                  </a:cubicBezTo>
                  <a:cubicBezTo>
                    <a:pt x="355" y="406"/>
                    <a:pt x="312" y="387"/>
                    <a:pt x="281" y="356"/>
                  </a:cubicBezTo>
                  <a:cubicBezTo>
                    <a:pt x="280" y="356"/>
                    <a:pt x="280" y="356"/>
                    <a:pt x="280" y="356"/>
                  </a:cubicBezTo>
                  <a:cubicBezTo>
                    <a:pt x="280" y="356"/>
                    <a:pt x="280" y="356"/>
                    <a:pt x="280" y="356"/>
                  </a:cubicBezTo>
                  <a:cubicBezTo>
                    <a:pt x="307" y="384"/>
                    <a:pt x="328" y="418"/>
                    <a:pt x="339" y="456"/>
                  </a:cubicBezTo>
                  <a:cubicBezTo>
                    <a:pt x="359" y="462"/>
                    <a:pt x="381" y="465"/>
                    <a:pt x="403" y="465"/>
                  </a:cubicBezTo>
                  <a:cubicBezTo>
                    <a:pt x="532" y="465"/>
                    <a:pt x="637" y="360"/>
                    <a:pt x="637" y="232"/>
                  </a:cubicBezTo>
                  <a:cubicBezTo>
                    <a:pt x="637" y="104"/>
                    <a:pt x="532" y="0"/>
                    <a:pt x="403" y="0"/>
                  </a:cubicBezTo>
                  <a:close/>
                </a:path>
              </a:pathLst>
            </a:custGeom>
            <a:solidFill>
              <a:srgbClr val="71CBD0"/>
            </a:solidFill>
            <a:ln>
              <a:noFill/>
            </a:ln>
            <a:effectLst/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kern="0">
                <a:solidFill>
                  <a:prstClr val="black"/>
                </a:solidFill>
              </a:endParaRPr>
            </a:p>
          </p:txBody>
        </p:sp>
        <p:sp>
          <p:nvSpPr>
            <p:cNvPr id="9" name="Freeform 13">
              <a:extLst>
                <a:ext uri="{FF2B5EF4-FFF2-40B4-BE49-F238E27FC236}">
                  <a16:creationId xmlns:a16="http://schemas.microsoft.com/office/drawing/2014/main" id="{53A938DD-516C-3B07-0158-3BE54D666378}"/>
                </a:ext>
              </a:extLst>
            </p:cNvPr>
            <p:cNvSpPr>
              <a:spLocks noEditPoints="1"/>
            </p:cNvSpPr>
            <p:nvPr/>
          </p:nvSpPr>
          <p:spPr bwMode="auto">
            <a:xfrm rot="18900000">
              <a:off x="3657600" y="3161588"/>
              <a:ext cx="3338137" cy="2453465"/>
            </a:xfrm>
            <a:custGeom>
              <a:avLst/>
              <a:gdLst>
                <a:gd name="T0" fmla="*/ 586 w 632"/>
                <a:gd name="T1" fmla="*/ 304 h 465"/>
                <a:gd name="T2" fmla="*/ 584 w 632"/>
                <a:gd name="T3" fmla="*/ 297 h 465"/>
                <a:gd name="T4" fmla="*/ 519 w 632"/>
                <a:gd name="T5" fmla="*/ 288 h 465"/>
                <a:gd name="T6" fmla="*/ 453 w 632"/>
                <a:gd name="T7" fmla="*/ 298 h 465"/>
                <a:gd name="T8" fmla="*/ 340 w 632"/>
                <a:gd name="T9" fmla="*/ 373 h 465"/>
                <a:gd name="T10" fmla="*/ 234 w 632"/>
                <a:gd name="T11" fmla="*/ 406 h 465"/>
                <a:gd name="T12" fmla="*/ 59 w 632"/>
                <a:gd name="T13" fmla="*/ 233 h 465"/>
                <a:gd name="T14" fmla="*/ 234 w 632"/>
                <a:gd name="T15" fmla="*/ 59 h 465"/>
                <a:gd name="T16" fmla="*/ 357 w 632"/>
                <a:gd name="T17" fmla="*/ 110 h 465"/>
                <a:gd name="T18" fmla="*/ 357 w 632"/>
                <a:gd name="T19" fmla="*/ 110 h 465"/>
                <a:gd name="T20" fmla="*/ 357 w 632"/>
                <a:gd name="T21" fmla="*/ 110 h 465"/>
                <a:gd name="T22" fmla="*/ 296 w 632"/>
                <a:gd name="T23" fmla="*/ 10 h 465"/>
                <a:gd name="T24" fmla="*/ 295 w 632"/>
                <a:gd name="T25" fmla="*/ 9 h 465"/>
                <a:gd name="T26" fmla="*/ 234 w 632"/>
                <a:gd name="T27" fmla="*/ 0 h 465"/>
                <a:gd name="T28" fmla="*/ 0 w 632"/>
                <a:gd name="T29" fmla="*/ 233 h 465"/>
                <a:gd name="T30" fmla="*/ 234 w 632"/>
                <a:gd name="T31" fmla="*/ 465 h 465"/>
                <a:gd name="T32" fmla="*/ 299 w 632"/>
                <a:gd name="T33" fmla="*/ 456 h 465"/>
                <a:gd name="T34" fmla="*/ 300 w 632"/>
                <a:gd name="T35" fmla="*/ 455 h 465"/>
                <a:gd name="T36" fmla="*/ 396 w 632"/>
                <a:gd name="T37" fmla="*/ 396 h 465"/>
                <a:gd name="T38" fmla="*/ 395 w 632"/>
                <a:gd name="T39" fmla="*/ 396 h 465"/>
                <a:gd name="T40" fmla="*/ 396 w 632"/>
                <a:gd name="T41" fmla="*/ 398 h 465"/>
                <a:gd name="T42" fmla="*/ 519 w 632"/>
                <a:gd name="T43" fmla="*/ 347 h 465"/>
                <a:gd name="T44" fmla="*/ 632 w 632"/>
                <a:gd name="T45" fmla="*/ 385 h 465"/>
                <a:gd name="T46" fmla="*/ 632 w 632"/>
                <a:gd name="T47" fmla="*/ 385 h 465"/>
                <a:gd name="T48" fmla="*/ 586 w 632"/>
                <a:gd name="T49" fmla="*/ 304 h 465"/>
                <a:gd name="T50" fmla="*/ 406 w 632"/>
                <a:gd name="T51" fmla="*/ 385 h 465"/>
                <a:gd name="T52" fmla="*/ 399 w 632"/>
                <a:gd name="T53" fmla="*/ 392 h 465"/>
                <a:gd name="T54" fmla="*/ 406 w 632"/>
                <a:gd name="T55" fmla="*/ 385 h 465"/>
                <a:gd name="T56" fmla="*/ 449 w 632"/>
                <a:gd name="T57" fmla="*/ 312 h 465"/>
                <a:gd name="T58" fmla="*/ 447 w 632"/>
                <a:gd name="T59" fmla="*/ 316 h 465"/>
                <a:gd name="T60" fmla="*/ 449 w 632"/>
                <a:gd name="T61" fmla="*/ 312 h 465"/>
                <a:gd name="T62" fmla="*/ 444 w 632"/>
                <a:gd name="T63" fmla="*/ 325 h 465"/>
                <a:gd name="T64" fmla="*/ 441 w 632"/>
                <a:gd name="T65" fmla="*/ 330 h 465"/>
                <a:gd name="T66" fmla="*/ 444 w 632"/>
                <a:gd name="T67" fmla="*/ 325 h 465"/>
                <a:gd name="T68" fmla="*/ 437 w 632"/>
                <a:gd name="T69" fmla="*/ 338 h 465"/>
                <a:gd name="T70" fmla="*/ 435 w 632"/>
                <a:gd name="T71" fmla="*/ 343 h 465"/>
                <a:gd name="T72" fmla="*/ 437 w 632"/>
                <a:gd name="T73" fmla="*/ 338 h 465"/>
                <a:gd name="T74" fmla="*/ 431 w 632"/>
                <a:gd name="T75" fmla="*/ 351 h 465"/>
                <a:gd name="T76" fmla="*/ 427 w 632"/>
                <a:gd name="T77" fmla="*/ 356 h 465"/>
                <a:gd name="T78" fmla="*/ 431 w 632"/>
                <a:gd name="T79" fmla="*/ 351 h 465"/>
                <a:gd name="T80" fmla="*/ 423 w 632"/>
                <a:gd name="T81" fmla="*/ 363 h 465"/>
                <a:gd name="T82" fmla="*/ 419 w 632"/>
                <a:gd name="T83" fmla="*/ 369 h 465"/>
                <a:gd name="T84" fmla="*/ 423 w 632"/>
                <a:gd name="T85" fmla="*/ 363 h 465"/>
                <a:gd name="T86" fmla="*/ 415 w 632"/>
                <a:gd name="T87" fmla="*/ 374 h 465"/>
                <a:gd name="T88" fmla="*/ 409 w 632"/>
                <a:gd name="T89" fmla="*/ 381 h 465"/>
                <a:gd name="T90" fmla="*/ 415 w 632"/>
                <a:gd name="T91" fmla="*/ 374 h 4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632" h="465">
                  <a:moveTo>
                    <a:pt x="586" y="304"/>
                  </a:moveTo>
                  <a:cubicBezTo>
                    <a:pt x="585" y="302"/>
                    <a:pt x="584" y="299"/>
                    <a:pt x="584" y="297"/>
                  </a:cubicBezTo>
                  <a:cubicBezTo>
                    <a:pt x="563" y="291"/>
                    <a:pt x="542" y="288"/>
                    <a:pt x="519" y="288"/>
                  </a:cubicBezTo>
                  <a:cubicBezTo>
                    <a:pt x="496" y="288"/>
                    <a:pt x="474" y="292"/>
                    <a:pt x="453" y="298"/>
                  </a:cubicBezTo>
                  <a:cubicBezTo>
                    <a:pt x="408" y="311"/>
                    <a:pt x="369" y="337"/>
                    <a:pt x="340" y="373"/>
                  </a:cubicBezTo>
                  <a:cubicBezTo>
                    <a:pt x="310" y="394"/>
                    <a:pt x="273" y="406"/>
                    <a:pt x="234" y="406"/>
                  </a:cubicBezTo>
                  <a:cubicBezTo>
                    <a:pt x="137" y="406"/>
                    <a:pt x="59" y="329"/>
                    <a:pt x="59" y="233"/>
                  </a:cubicBezTo>
                  <a:cubicBezTo>
                    <a:pt x="59" y="137"/>
                    <a:pt x="137" y="59"/>
                    <a:pt x="234" y="59"/>
                  </a:cubicBezTo>
                  <a:cubicBezTo>
                    <a:pt x="282" y="59"/>
                    <a:pt x="325" y="79"/>
                    <a:pt x="357" y="110"/>
                  </a:cubicBezTo>
                  <a:cubicBezTo>
                    <a:pt x="357" y="110"/>
                    <a:pt x="357" y="110"/>
                    <a:pt x="357" y="110"/>
                  </a:cubicBezTo>
                  <a:cubicBezTo>
                    <a:pt x="357" y="110"/>
                    <a:pt x="357" y="110"/>
                    <a:pt x="357" y="110"/>
                  </a:cubicBezTo>
                  <a:cubicBezTo>
                    <a:pt x="329" y="83"/>
                    <a:pt x="307" y="48"/>
                    <a:pt x="296" y="10"/>
                  </a:cubicBezTo>
                  <a:cubicBezTo>
                    <a:pt x="295" y="9"/>
                    <a:pt x="295" y="9"/>
                    <a:pt x="295" y="9"/>
                  </a:cubicBezTo>
                  <a:cubicBezTo>
                    <a:pt x="276" y="3"/>
                    <a:pt x="255" y="0"/>
                    <a:pt x="234" y="0"/>
                  </a:cubicBezTo>
                  <a:cubicBezTo>
                    <a:pt x="105" y="0"/>
                    <a:pt x="0" y="105"/>
                    <a:pt x="0" y="233"/>
                  </a:cubicBezTo>
                  <a:cubicBezTo>
                    <a:pt x="0" y="361"/>
                    <a:pt x="105" y="465"/>
                    <a:pt x="234" y="465"/>
                  </a:cubicBezTo>
                  <a:cubicBezTo>
                    <a:pt x="256" y="465"/>
                    <a:pt x="279" y="462"/>
                    <a:pt x="299" y="456"/>
                  </a:cubicBezTo>
                  <a:cubicBezTo>
                    <a:pt x="300" y="455"/>
                    <a:pt x="300" y="455"/>
                    <a:pt x="300" y="455"/>
                  </a:cubicBezTo>
                  <a:cubicBezTo>
                    <a:pt x="337" y="443"/>
                    <a:pt x="370" y="423"/>
                    <a:pt x="396" y="396"/>
                  </a:cubicBezTo>
                  <a:cubicBezTo>
                    <a:pt x="396" y="396"/>
                    <a:pt x="396" y="396"/>
                    <a:pt x="395" y="396"/>
                  </a:cubicBezTo>
                  <a:cubicBezTo>
                    <a:pt x="396" y="398"/>
                    <a:pt x="396" y="398"/>
                    <a:pt x="396" y="398"/>
                  </a:cubicBezTo>
                  <a:cubicBezTo>
                    <a:pt x="428" y="367"/>
                    <a:pt x="471" y="347"/>
                    <a:pt x="519" y="347"/>
                  </a:cubicBezTo>
                  <a:cubicBezTo>
                    <a:pt x="561" y="347"/>
                    <a:pt x="601" y="360"/>
                    <a:pt x="632" y="385"/>
                  </a:cubicBezTo>
                  <a:cubicBezTo>
                    <a:pt x="632" y="385"/>
                    <a:pt x="632" y="385"/>
                    <a:pt x="632" y="385"/>
                  </a:cubicBezTo>
                  <a:cubicBezTo>
                    <a:pt x="611" y="361"/>
                    <a:pt x="596" y="334"/>
                    <a:pt x="586" y="304"/>
                  </a:cubicBezTo>
                  <a:close/>
                  <a:moveTo>
                    <a:pt x="406" y="385"/>
                  </a:moveTo>
                  <a:cubicBezTo>
                    <a:pt x="403" y="388"/>
                    <a:pt x="401" y="390"/>
                    <a:pt x="399" y="392"/>
                  </a:cubicBezTo>
                  <a:cubicBezTo>
                    <a:pt x="401" y="390"/>
                    <a:pt x="403" y="388"/>
                    <a:pt x="406" y="385"/>
                  </a:cubicBezTo>
                  <a:close/>
                  <a:moveTo>
                    <a:pt x="449" y="312"/>
                  </a:moveTo>
                  <a:cubicBezTo>
                    <a:pt x="448" y="313"/>
                    <a:pt x="448" y="314"/>
                    <a:pt x="447" y="316"/>
                  </a:cubicBezTo>
                  <a:cubicBezTo>
                    <a:pt x="448" y="314"/>
                    <a:pt x="448" y="313"/>
                    <a:pt x="449" y="312"/>
                  </a:cubicBezTo>
                  <a:close/>
                  <a:moveTo>
                    <a:pt x="444" y="325"/>
                  </a:moveTo>
                  <a:cubicBezTo>
                    <a:pt x="443" y="327"/>
                    <a:pt x="442" y="328"/>
                    <a:pt x="441" y="330"/>
                  </a:cubicBezTo>
                  <a:cubicBezTo>
                    <a:pt x="442" y="328"/>
                    <a:pt x="443" y="327"/>
                    <a:pt x="444" y="325"/>
                  </a:cubicBezTo>
                  <a:close/>
                  <a:moveTo>
                    <a:pt x="437" y="338"/>
                  </a:moveTo>
                  <a:cubicBezTo>
                    <a:pt x="437" y="340"/>
                    <a:pt x="436" y="342"/>
                    <a:pt x="435" y="343"/>
                  </a:cubicBezTo>
                  <a:cubicBezTo>
                    <a:pt x="436" y="342"/>
                    <a:pt x="437" y="340"/>
                    <a:pt x="437" y="338"/>
                  </a:cubicBezTo>
                  <a:close/>
                  <a:moveTo>
                    <a:pt x="431" y="351"/>
                  </a:moveTo>
                  <a:cubicBezTo>
                    <a:pt x="429" y="353"/>
                    <a:pt x="428" y="354"/>
                    <a:pt x="427" y="356"/>
                  </a:cubicBezTo>
                  <a:cubicBezTo>
                    <a:pt x="428" y="354"/>
                    <a:pt x="429" y="353"/>
                    <a:pt x="431" y="351"/>
                  </a:cubicBezTo>
                  <a:close/>
                  <a:moveTo>
                    <a:pt x="423" y="363"/>
                  </a:moveTo>
                  <a:cubicBezTo>
                    <a:pt x="422" y="365"/>
                    <a:pt x="420" y="367"/>
                    <a:pt x="419" y="369"/>
                  </a:cubicBezTo>
                  <a:cubicBezTo>
                    <a:pt x="420" y="367"/>
                    <a:pt x="422" y="365"/>
                    <a:pt x="423" y="363"/>
                  </a:cubicBezTo>
                  <a:close/>
                  <a:moveTo>
                    <a:pt x="415" y="374"/>
                  </a:moveTo>
                  <a:cubicBezTo>
                    <a:pt x="413" y="376"/>
                    <a:pt x="411" y="379"/>
                    <a:pt x="409" y="381"/>
                  </a:cubicBezTo>
                  <a:cubicBezTo>
                    <a:pt x="411" y="379"/>
                    <a:pt x="413" y="376"/>
                    <a:pt x="415" y="374"/>
                  </a:cubicBezTo>
                  <a:close/>
                </a:path>
              </a:pathLst>
            </a:custGeom>
            <a:solidFill>
              <a:srgbClr val="0195BC"/>
            </a:solidFill>
            <a:ln>
              <a:noFill/>
            </a:ln>
            <a:effectLst/>
          </p:spPr>
          <p:txBody>
            <a:bodyPr vert="horz" wrap="square" lIns="68580" tIns="34290" rIns="68580" bIns="34290" numCol="1" anchor="t" anchorCtr="0" compatLnSpc="1">
              <a:prstTxWarp prst="textNoShape">
                <a:avLst/>
              </a:prstTxWarp>
            </a:bodyPr>
            <a:lstStyle/>
            <a:p>
              <a:endParaRPr lang="en-US" kern="0">
                <a:solidFill>
                  <a:srgbClr val="EF314C"/>
                </a:solidFill>
              </a:endParaRPr>
            </a:p>
          </p:txBody>
        </p:sp>
      </p:grpSp>
      <p:sp>
        <p:nvSpPr>
          <p:cNvPr id="13" name="TextBox 20">
            <a:extLst>
              <a:ext uri="{FF2B5EF4-FFF2-40B4-BE49-F238E27FC236}">
                <a16:creationId xmlns:a16="http://schemas.microsoft.com/office/drawing/2014/main" id="{0DE32EE3-1DE7-18F8-8B09-B288B95BF772}"/>
              </a:ext>
            </a:extLst>
          </p:cNvPr>
          <p:cNvSpPr txBox="1"/>
          <p:nvPr/>
        </p:nvSpPr>
        <p:spPr>
          <a:xfrm>
            <a:off x="6374424" y="1889497"/>
            <a:ext cx="2458845" cy="87164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rgbClr val="262626"/>
                </a:solidFill>
              </a:rPr>
              <a:t>Implantar o aplicativo em quantos clientes quisermos (o limite será a equipe técnica, e não o custo de licenças)</a:t>
            </a:r>
          </a:p>
        </p:txBody>
      </p:sp>
      <p:sp>
        <p:nvSpPr>
          <p:cNvPr id="14" name="TextBox 21">
            <a:extLst>
              <a:ext uri="{FF2B5EF4-FFF2-40B4-BE49-F238E27FC236}">
                <a16:creationId xmlns:a16="http://schemas.microsoft.com/office/drawing/2014/main" id="{C3B57313-899D-7C53-C62A-2F48715CAE51}"/>
              </a:ext>
            </a:extLst>
          </p:cNvPr>
          <p:cNvSpPr txBox="1"/>
          <p:nvPr/>
        </p:nvSpPr>
        <p:spPr>
          <a:xfrm>
            <a:off x="6388712" y="1347861"/>
            <a:ext cx="2592288" cy="4616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500" b="1">
                <a:solidFill>
                  <a:srgbClr val="71CBD0"/>
                </a:solidFill>
                <a:latin typeface="+mj-lt"/>
              </a:rPr>
              <a:t>Desenvolver uma solução de baixo custo e alta escalabilidade</a:t>
            </a:r>
          </a:p>
        </p:txBody>
      </p:sp>
      <p:sp>
        <p:nvSpPr>
          <p:cNvPr id="15" name="TextBox 25">
            <a:extLst>
              <a:ext uri="{FF2B5EF4-FFF2-40B4-BE49-F238E27FC236}">
                <a16:creationId xmlns:a16="http://schemas.microsoft.com/office/drawing/2014/main" id="{006762DB-7025-9349-7673-D65734645A85}"/>
              </a:ext>
            </a:extLst>
          </p:cNvPr>
          <p:cNvSpPr txBox="1"/>
          <p:nvPr/>
        </p:nvSpPr>
        <p:spPr>
          <a:xfrm>
            <a:off x="6408204" y="3867545"/>
            <a:ext cx="1978120" cy="65005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rgbClr val="262626"/>
                </a:solidFill>
              </a:rPr>
              <a:t>Nossos clientes reclamam do suporte fraco prestado </a:t>
            </a:r>
            <a:r>
              <a:rPr lang="en-US" sz="1200" dirty="0" err="1">
                <a:solidFill>
                  <a:srgbClr val="262626"/>
                </a:solidFill>
              </a:rPr>
              <a:t>pelo</a:t>
            </a:r>
            <a:r>
              <a:rPr lang="en-US" sz="1200" dirty="0">
                <a:solidFill>
                  <a:srgbClr val="262626"/>
                </a:solidFill>
              </a:rPr>
              <a:t> TGC e </a:t>
            </a:r>
            <a:r>
              <a:rPr lang="en-US" sz="1200" dirty="0" err="1">
                <a:solidFill>
                  <a:srgbClr val="262626"/>
                </a:solidFill>
              </a:rPr>
              <a:t>concorrentes</a:t>
            </a:r>
            <a:r>
              <a:rPr lang="en-US" sz="1200" dirty="0">
                <a:solidFill>
                  <a:srgbClr val="262626"/>
                </a:solidFill>
              </a:rPr>
              <a:t>.</a:t>
            </a:r>
          </a:p>
        </p:txBody>
      </p:sp>
      <p:sp>
        <p:nvSpPr>
          <p:cNvPr id="16" name="TextBox 26">
            <a:extLst>
              <a:ext uri="{FF2B5EF4-FFF2-40B4-BE49-F238E27FC236}">
                <a16:creationId xmlns:a16="http://schemas.microsoft.com/office/drawing/2014/main" id="{0D20618E-2F69-5DBF-DC5A-BD6C1AF8CCD2}"/>
              </a:ext>
            </a:extLst>
          </p:cNvPr>
          <p:cNvSpPr txBox="1"/>
          <p:nvPr/>
        </p:nvSpPr>
        <p:spPr>
          <a:xfrm>
            <a:off x="6408205" y="3229445"/>
            <a:ext cx="2592288" cy="4616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500" b="1" dirty="0">
                <a:solidFill>
                  <a:srgbClr val="26B2CE"/>
                </a:solidFill>
                <a:latin typeface="+mj-lt"/>
              </a:rPr>
              <a:t>Eliminar dependência de fornecedor mediano</a:t>
            </a:r>
          </a:p>
        </p:txBody>
      </p:sp>
      <p:sp>
        <p:nvSpPr>
          <p:cNvPr id="17" name="TextBox 27">
            <a:extLst>
              <a:ext uri="{FF2B5EF4-FFF2-40B4-BE49-F238E27FC236}">
                <a16:creationId xmlns:a16="http://schemas.microsoft.com/office/drawing/2014/main" id="{65AB0A70-C072-8358-3AC8-1C95A7B8F884}"/>
              </a:ext>
            </a:extLst>
          </p:cNvPr>
          <p:cNvSpPr txBox="1"/>
          <p:nvPr/>
        </p:nvSpPr>
        <p:spPr>
          <a:xfrm>
            <a:off x="569978" y="2072733"/>
            <a:ext cx="1978120" cy="42845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lnSpc>
                <a:spcPct val="120000"/>
              </a:lnSpc>
            </a:pPr>
            <a:r>
              <a:rPr lang="en-US" sz="1200">
                <a:solidFill>
                  <a:srgbClr val="262626"/>
                </a:solidFill>
              </a:rPr>
              <a:t>Aumentar a fidelização e evitar a perda de clientes atuais.</a:t>
            </a:r>
          </a:p>
        </p:txBody>
      </p:sp>
      <p:sp>
        <p:nvSpPr>
          <p:cNvPr id="18" name="TextBox 28">
            <a:extLst>
              <a:ext uri="{FF2B5EF4-FFF2-40B4-BE49-F238E27FC236}">
                <a16:creationId xmlns:a16="http://schemas.microsoft.com/office/drawing/2014/main" id="{7EA496D5-2865-7AB8-CF40-A0BCEAD74FB0}"/>
              </a:ext>
            </a:extLst>
          </p:cNvPr>
          <p:cNvSpPr txBox="1"/>
          <p:nvPr/>
        </p:nvSpPr>
        <p:spPr>
          <a:xfrm>
            <a:off x="305526" y="1599642"/>
            <a:ext cx="2236829" cy="4616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1500" b="1">
                <a:solidFill>
                  <a:srgbClr val="246C97"/>
                </a:solidFill>
                <a:latin typeface="+mj-lt"/>
              </a:rPr>
              <a:t>Defender nossa base atual de clientes</a:t>
            </a:r>
          </a:p>
        </p:txBody>
      </p:sp>
      <p:sp>
        <p:nvSpPr>
          <p:cNvPr id="19" name="TextBox 29">
            <a:extLst>
              <a:ext uri="{FF2B5EF4-FFF2-40B4-BE49-F238E27FC236}">
                <a16:creationId xmlns:a16="http://schemas.microsoft.com/office/drawing/2014/main" id="{87DFAB21-AA01-672C-1D5A-ABD8C49B1B00}"/>
              </a:ext>
            </a:extLst>
          </p:cNvPr>
          <p:cNvSpPr txBox="1"/>
          <p:nvPr/>
        </p:nvSpPr>
        <p:spPr>
          <a:xfrm>
            <a:off x="564235" y="3541781"/>
            <a:ext cx="1978120" cy="131484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lnSpc>
                <a:spcPct val="120000"/>
              </a:lnSpc>
            </a:pPr>
            <a:r>
              <a:rPr lang="en-US" sz="1200" dirty="0">
                <a:solidFill>
                  <a:srgbClr val="262626"/>
                </a:solidFill>
              </a:rPr>
              <a:t>Já temos produtos premium e serviços técnicos. Com o Feedlot App, conseguiremos entrar nos clientes de confinamento mais importantes do mercado.</a:t>
            </a:r>
          </a:p>
        </p:txBody>
      </p:sp>
      <p:sp>
        <p:nvSpPr>
          <p:cNvPr id="20" name="TextBox 30">
            <a:extLst>
              <a:ext uri="{FF2B5EF4-FFF2-40B4-BE49-F238E27FC236}">
                <a16:creationId xmlns:a16="http://schemas.microsoft.com/office/drawing/2014/main" id="{2C52DD92-2745-AB80-0615-62A45B3FCD48}"/>
              </a:ext>
            </a:extLst>
          </p:cNvPr>
          <p:cNvSpPr txBox="1"/>
          <p:nvPr/>
        </p:nvSpPr>
        <p:spPr>
          <a:xfrm>
            <a:off x="616122" y="3229445"/>
            <a:ext cx="1926233" cy="2308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1500" b="1">
                <a:solidFill>
                  <a:srgbClr val="0195BC"/>
                </a:solidFill>
                <a:latin typeface="+mj-lt"/>
              </a:rPr>
              <a:t>Prospectar novos clientes</a:t>
            </a:r>
          </a:p>
        </p:txBody>
      </p:sp>
      <p:cxnSp>
        <p:nvCxnSpPr>
          <p:cNvPr id="22" name="Straight Connector 34">
            <a:extLst>
              <a:ext uri="{FF2B5EF4-FFF2-40B4-BE49-F238E27FC236}">
                <a16:creationId xmlns:a16="http://schemas.microsoft.com/office/drawing/2014/main" id="{94BF73D8-0424-58C7-23B6-3CC7C8F0CA34}"/>
              </a:ext>
            </a:extLst>
          </p:cNvPr>
          <p:cNvCxnSpPr>
            <a:cxnSpLocks/>
          </p:cNvCxnSpPr>
          <p:nvPr/>
        </p:nvCxnSpPr>
        <p:spPr>
          <a:xfrm>
            <a:off x="6408205" y="2875594"/>
            <a:ext cx="1878107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37">
            <a:extLst>
              <a:ext uri="{FF2B5EF4-FFF2-40B4-BE49-F238E27FC236}">
                <a16:creationId xmlns:a16="http://schemas.microsoft.com/office/drawing/2014/main" id="{D20B563F-0D01-910A-1D9F-97DCCC1161B8}"/>
              </a:ext>
            </a:extLst>
          </p:cNvPr>
          <p:cNvCxnSpPr>
            <a:cxnSpLocks/>
          </p:cNvCxnSpPr>
          <p:nvPr/>
        </p:nvCxnSpPr>
        <p:spPr>
          <a:xfrm>
            <a:off x="664248" y="2875594"/>
            <a:ext cx="1878107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Shield variant with white and black borders - Free shapes icons">
            <a:extLst>
              <a:ext uri="{FF2B5EF4-FFF2-40B4-BE49-F238E27FC236}">
                <a16:creationId xmlns:a16="http://schemas.microsoft.com/office/drawing/2014/main" id="{C1EA4ECB-8456-58D9-9368-181B11F08F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8874" y="1882845"/>
            <a:ext cx="499439" cy="4994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Attack - Free gaming icons">
            <a:extLst>
              <a:ext uri="{FF2B5EF4-FFF2-40B4-BE49-F238E27FC236}">
                <a16:creationId xmlns:a16="http://schemas.microsoft.com/office/drawing/2014/main" id="{49F54663-4F8E-A609-6967-4E8B8F2F37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2499" y="3402032"/>
            <a:ext cx="509938" cy="5099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Scalability Icon - Free PNG &amp; SVG 1988846 - Noun Project">
            <a:extLst>
              <a:ext uri="{FF2B5EF4-FFF2-40B4-BE49-F238E27FC236}">
                <a16:creationId xmlns:a16="http://schemas.microsoft.com/office/drawing/2014/main" id="{249122A5-1823-7A1B-0802-DA6E241C64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22520" y="1882845"/>
            <a:ext cx="499439" cy="4994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Dependencies - Free networking icons">
            <a:extLst>
              <a:ext uri="{FF2B5EF4-FFF2-40B4-BE49-F238E27FC236}">
                <a16:creationId xmlns:a16="http://schemas.microsoft.com/office/drawing/2014/main" id="{8DAD9F1F-F22A-86FD-B87B-5E65344757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1099" y="3340064"/>
            <a:ext cx="629546" cy="6295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480060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Proposta de valor: canvas para o TN Manager Web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Lado esquerdo: o que entregamos. Lado direito: o que o confinamento precisa. Hipóteses para o discovery.</a:t>
            </a:r>
            <a:endParaRPr lang="en-US" sz="13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4398264"/>
            <a:ext cx="4572000" cy="7429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503920" y="482803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57200" y="109728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DE VALOR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846320" y="109728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C81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DO CLIENTE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57200" y="1371600"/>
            <a:ext cx="178308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1B3A8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Shape 6"/>
          <p:cNvSpPr/>
          <p:nvPr/>
        </p:nvSpPr>
        <p:spPr>
          <a:xfrm>
            <a:off x="457200" y="1371600"/>
            <a:ext cx="1783080" cy="274320"/>
          </a:xfrm>
          <a:prstGeom prst="rect">
            <a:avLst/>
          </a:prstGeom>
          <a:solidFill>
            <a:srgbClr val="1B3A8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7"/>
          <p:cNvSpPr/>
          <p:nvPr/>
        </p:nvSpPr>
        <p:spPr>
          <a:xfrm>
            <a:off x="548640" y="137160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 e serviço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12064" y="1700784"/>
            <a:ext cx="1673352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Aplicação web com lançamento manual</a:t>
            </a:r>
            <a:endParaRPr lang="en-US" sz="9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com poucos indicadores</a:t>
            </a:r>
            <a:endParaRPr lang="en-US" sz="9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 semanal automático</a:t>
            </a:r>
            <a:endParaRPr lang="en-US" sz="9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Acompanhamento do técnico TN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2331720" y="1371600"/>
            <a:ext cx="19659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26668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Shape 10"/>
          <p:cNvSpPr/>
          <p:nvPr/>
        </p:nvSpPr>
        <p:spPr>
          <a:xfrm>
            <a:off x="2331720" y="1371600"/>
            <a:ext cx="1965960" cy="274320"/>
          </a:xfrm>
          <a:prstGeom prst="rect">
            <a:avLst/>
          </a:prstGeom>
          <a:solidFill>
            <a:srgbClr val="26668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1"/>
          <p:cNvSpPr/>
          <p:nvPr/>
        </p:nvSpPr>
        <p:spPr>
          <a:xfrm>
            <a:off x="2423160" y="13716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Aliviadores de dor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2386584" y="1700784"/>
            <a:ext cx="18562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Formulários padronizados e curtos</a:t>
            </a:r>
            <a:endParaRPr lang="en-US" sz="9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custo de licença para o cliente</a:t>
            </a:r>
            <a:endParaRPr lang="en-US" sz="9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Suporte de quem já visita a fazenda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2331720" y="2880360"/>
            <a:ext cx="19659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96B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Shape 14"/>
          <p:cNvSpPr/>
          <p:nvPr/>
        </p:nvSpPr>
        <p:spPr>
          <a:xfrm>
            <a:off x="2331720" y="2880360"/>
            <a:ext cx="1965960" cy="274320"/>
          </a:xfrm>
          <a:prstGeom prst="rect">
            <a:avLst/>
          </a:prstGeom>
          <a:solidFill>
            <a:srgbClr val="0096B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5"/>
          <p:cNvSpPr/>
          <p:nvPr/>
        </p:nvSpPr>
        <p:spPr>
          <a:xfrm>
            <a:off x="2423160" y="288036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Criadores de ganho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2386584" y="3209544"/>
            <a:ext cx="18562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 pronto para o dono</a:t>
            </a:r>
            <a:endParaRPr lang="en-US" sz="9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Recomendação de ajuste de dieta</a:t>
            </a:r>
            <a:endParaRPr lang="en-US" sz="9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Comparativo entre lotes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4846320" y="1371600"/>
            <a:ext cx="19659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106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Shape 18"/>
          <p:cNvSpPr/>
          <p:nvPr/>
        </p:nvSpPr>
        <p:spPr>
          <a:xfrm>
            <a:off x="4846320" y="1371600"/>
            <a:ext cx="1965960" cy="274320"/>
          </a:xfrm>
          <a:prstGeom prst="rect">
            <a:avLst/>
          </a:prstGeom>
          <a:solidFill>
            <a:srgbClr val="C8106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Text 19"/>
          <p:cNvSpPr/>
          <p:nvPr/>
        </p:nvSpPr>
        <p:spPr>
          <a:xfrm>
            <a:off x="4937760" y="13716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Dores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4901184" y="1700784"/>
            <a:ext cx="18562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espalhados em caderno e planilha</a:t>
            </a:r>
            <a:endParaRPr lang="en-US" sz="9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 de digitação e retrabalho</a:t>
            </a:r>
            <a:endParaRPr lang="en-US" sz="9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caro, complexo ou sem suporte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4846320" y="2880360"/>
            <a:ext cx="19659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A30C5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Shape 22"/>
          <p:cNvSpPr/>
          <p:nvPr/>
        </p:nvSpPr>
        <p:spPr>
          <a:xfrm>
            <a:off x="4846320" y="2880360"/>
            <a:ext cx="1965960" cy="274320"/>
          </a:xfrm>
          <a:prstGeom prst="rect">
            <a:avLst/>
          </a:prstGeom>
          <a:solidFill>
            <a:srgbClr val="A30C5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Text 23"/>
          <p:cNvSpPr/>
          <p:nvPr/>
        </p:nvSpPr>
        <p:spPr>
          <a:xfrm>
            <a:off x="4937760" y="288036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Ganhos esperados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4901184" y="3209544"/>
            <a:ext cx="18562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o desempenho do lote na semana</a:t>
            </a:r>
            <a:endParaRPr lang="en-US" sz="9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Comparar com fazendas parecidas</a:t>
            </a:r>
            <a:endParaRPr lang="en-US" sz="9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técnico olhando os números junto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6903720" y="1371600"/>
            <a:ext cx="178308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12295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Shape 26"/>
          <p:cNvSpPr/>
          <p:nvPr/>
        </p:nvSpPr>
        <p:spPr>
          <a:xfrm>
            <a:off x="6903720" y="1371600"/>
            <a:ext cx="1783080" cy="274320"/>
          </a:xfrm>
          <a:prstGeom prst="rect">
            <a:avLst/>
          </a:prstGeom>
          <a:solidFill>
            <a:srgbClr val="12295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0" name="Text 27"/>
          <p:cNvSpPr/>
          <p:nvPr/>
        </p:nvSpPr>
        <p:spPr>
          <a:xfrm>
            <a:off x="6995160" y="137160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Tarefas do cliente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6958584" y="1700784"/>
            <a:ext cx="1673352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Ajustar o trato diário</a:t>
            </a:r>
            <a:endParaRPr lang="en-US" sz="9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Fechar custo por lote e por arroba</a:t>
            </a:r>
            <a:endParaRPr lang="en-US" sz="9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Controlar entradas, saídas e mortes</a:t>
            </a:r>
            <a:endParaRPr lang="en-US" sz="9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Prestar contas ao dono ou sócio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4325112" y="2578608"/>
            <a:ext cx="502920" cy="502920"/>
          </a:xfrm>
          <a:prstGeom prst="ellipse">
            <a:avLst/>
          </a:prstGeom>
          <a:solidFill>
            <a:srgbClr val="C5D30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3" name="Text 30"/>
          <p:cNvSpPr/>
          <p:nvPr/>
        </p:nvSpPr>
        <p:spPr>
          <a:xfrm>
            <a:off x="4325112" y="25786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Duas versões, dois papéis na estratégia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TN Manager Web abre a porta e prepara o cliente para migrar à versão completa.</a:t>
            </a:r>
            <a:endParaRPr lang="en-US" sz="13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4398264"/>
            <a:ext cx="4572000" cy="7429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503920" y="482803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2148840" y="1143000"/>
            <a:ext cx="3200400" cy="365760"/>
          </a:xfrm>
          <a:prstGeom prst="rect">
            <a:avLst/>
          </a:prstGeom>
          <a:solidFill>
            <a:srgbClr val="26668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 Manager (escopo da v1.0)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486400" y="1143000"/>
            <a:ext cx="3200400" cy="365760"/>
          </a:xfrm>
          <a:prstGeom prst="rect">
            <a:avLst/>
          </a:prstGeom>
          <a:solidFill>
            <a:srgbClr val="C8106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 Manager Web (proposta v2.0)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57200" y="1600200"/>
            <a:ext cx="8229600" cy="420624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6"/>
          <p:cNvSpPr/>
          <p:nvPr/>
        </p:nvSpPr>
        <p:spPr>
          <a:xfrm>
            <a:off x="548640" y="1600200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quem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2240280" y="1600200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Grandes confinamentos com balança, vagão e equipe estruturada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577840" y="1600200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Confinamentos com registro manual (hipótese)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48640" y="2057400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 de dados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2240280" y="2057400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 com hardware e coleta automática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577840" y="2057400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 err="1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Lançamento</a:t>
            </a:r>
            <a:r>
              <a:rPr lang="en-US" sz="10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manual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57200" y="2514600"/>
            <a:ext cx="8229600" cy="420624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3"/>
          <p:cNvSpPr/>
          <p:nvPr/>
        </p:nvSpPr>
        <p:spPr>
          <a:xfrm>
            <a:off x="548640" y="2514600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2240280" y="2514600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Nuvem e terminal offline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5577840" y="2514600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Navegador, no computador ou no celular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548640" y="2971800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Escopo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2240280" y="2971800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completa, integrações e módulos adicionais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5577840" y="2971800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e </a:t>
            </a:r>
            <a:r>
              <a:rPr lang="en-US" sz="1000" b="1" dirty="0" err="1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módulos</a:t>
            </a:r>
            <a:r>
              <a:rPr lang="en-US" sz="10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b="1" dirty="0" err="1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essenciais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457200" y="3429000"/>
            <a:ext cx="8229600" cy="420624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Text 20"/>
          <p:cNvSpPr/>
          <p:nvPr/>
        </p:nvSpPr>
        <p:spPr>
          <a:xfrm>
            <a:off x="548640" y="3429000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Implantação e suporte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2240280" y="3429000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de implantação com equipe dedicada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5577840" y="3429000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Técnico TN que já atende a fazenda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548640" y="3886200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Papel na estratégia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2240280" y="3886200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Defender contas A+ e B+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5577840" y="3886200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Defender </a:t>
            </a:r>
            <a:r>
              <a:rPr lang="en-US" sz="1000" b="1" dirty="0" err="1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contas</a:t>
            </a:r>
            <a:r>
              <a:rPr lang="en-US" sz="10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000" b="1" dirty="0" err="1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qualquer</a:t>
            </a:r>
            <a:r>
              <a:rPr lang="en-US" sz="10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b="1" dirty="0" err="1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tamanho</a:t>
            </a:r>
            <a:r>
              <a:rPr lang="en-US" sz="10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ferramenta </a:t>
            </a:r>
            <a:r>
              <a:rPr lang="en-US" sz="1000" b="1" dirty="0" err="1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escalável</a:t>
            </a:r>
            <a:r>
              <a:rPr lang="en-US" sz="10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000" b="1" dirty="0" err="1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prospecção</a:t>
            </a:r>
            <a:r>
              <a:rPr lang="en-US" sz="10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(com </a:t>
            </a:r>
            <a:r>
              <a:rPr lang="en-US" sz="1000" b="1" dirty="0" err="1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baixo</a:t>
            </a:r>
            <a:r>
              <a:rPr lang="en-US" sz="10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b="1" dirty="0" err="1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</a:t>
            </a:r>
            <a:r>
              <a:rPr lang="en-US" sz="10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 mínimo: o que entra no TN Manager Web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Priorização MoSCoW. Só a primeira coluna é obrigatória para o piloto.</a:t>
            </a:r>
            <a:endParaRPr lang="en-US" sz="13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4398264"/>
            <a:ext cx="4572000" cy="7429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503920" y="482803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457200" y="1188720"/>
            <a:ext cx="1965960" cy="566928"/>
          </a:xfrm>
          <a:prstGeom prst="rect">
            <a:avLst/>
          </a:prstGeom>
          <a:solidFill>
            <a:srgbClr val="C8106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/>
          <p:nvPr/>
        </p:nvSpPr>
        <p:spPr>
          <a:xfrm>
            <a:off x="566928" y="1225296"/>
            <a:ext cx="1746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Precisa ter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66928" y="1481328"/>
            <a:ext cx="17465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versão 0.1, piloto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457200" y="1755648"/>
            <a:ext cx="1965960" cy="2542032"/>
          </a:xfrm>
          <a:prstGeom prst="rect">
            <a:avLst/>
          </a:prstGeom>
          <a:solidFill>
            <a:srgbClr val="FBE7F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7"/>
          <p:cNvSpPr/>
          <p:nvPr/>
        </p:nvSpPr>
        <p:spPr>
          <a:xfrm>
            <a:off x="512064" y="1847088"/>
            <a:ext cx="183794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Cadastro de fazenda, currais e lotes</a:t>
            </a:r>
            <a:endParaRPr lang="en-US" sz="95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Lançamento diário de trato por curral</a:t>
            </a:r>
            <a:endParaRPr lang="en-US" sz="95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Leitura de cocho</a:t>
            </a:r>
            <a:endParaRPr lang="en-US" sz="95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Entradas, pesagens, saídas, mortes e enfermaria</a:t>
            </a:r>
            <a:endParaRPr lang="en-US" sz="95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Painel: consumo de matéria seca, GMD, dias de cocho e mortalidade</a:t>
            </a:r>
            <a:endParaRPr lang="en-US" sz="95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 semanal em PDF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2532888" y="1188720"/>
            <a:ext cx="1965960" cy="566928"/>
          </a:xfrm>
          <a:prstGeom prst="rect">
            <a:avLst/>
          </a:prstGeom>
          <a:solidFill>
            <a:srgbClr val="1B3A8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9"/>
          <p:cNvSpPr/>
          <p:nvPr/>
        </p:nvSpPr>
        <p:spPr>
          <a:xfrm>
            <a:off x="2642616" y="1225296"/>
            <a:ext cx="1746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Deveria ter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2642616" y="1481328"/>
            <a:ext cx="17465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versão 0.2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2532888" y="1755648"/>
            <a:ext cx="1965960" cy="2542032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2"/>
          <p:cNvSpPr/>
          <p:nvPr/>
        </p:nvSpPr>
        <p:spPr>
          <a:xfrm>
            <a:off x="2587752" y="1847088"/>
            <a:ext cx="183794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Cadastro de dietas com correção de matéria seca</a:t>
            </a:r>
            <a:endParaRPr lang="en-US" sz="95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por lote e por arroba produzida</a:t>
            </a:r>
            <a:endParaRPr lang="en-US" sz="95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simples de consumo fora do previsto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4608576" y="1188720"/>
            <a:ext cx="1965960" cy="566928"/>
          </a:xfrm>
          <a:prstGeom prst="rect">
            <a:avLst/>
          </a:prstGeom>
          <a:solidFill>
            <a:srgbClr val="0096B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4"/>
          <p:cNvSpPr/>
          <p:nvPr/>
        </p:nvSpPr>
        <p:spPr>
          <a:xfrm>
            <a:off x="4718304" y="1225296"/>
            <a:ext cx="1746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Poderia ter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718304" y="1481328"/>
            <a:ext cx="17465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versão 0.3 em diante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4608576" y="1755648"/>
            <a:ext cx="1965960" cy="2542032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Text 17"/>
          <p:cNvSpPr/>
          <p:nvPr/>
        </p:nvSpPr>
        <p:spPr>
          <a:xfrm>
            <a:off x="4663440" y="1847088"/>
            <a:ext cx="183794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Importação de planilha existente</a:t>
            </a:r>
            <a:endParaRPr lang="en-US" sz="95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Comparativo entre lotes</a:t>
            </a:r>
            <a:endParaRPr lang="en-US" sz="95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anônimo entre fazendas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6684264" y="1188720"/>
            <a:ext cx="1965960" cy="566928"/>
          </a:xfrm>
          <a:prstGeom prst="rect">
            <a:avLst/>
          </a:prstGeom>
          <a:solidFill>
            <a:srgbClr val="7A858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Text 19"/>
          <p:cNvSpPr/>
          <p:nvPr/>
        </p:nvSpPr>
        <p:spPr>
          <a:xfrm>
            <a:off x="6793992" y="1225296"/>
            <a:ext cx="1746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terá agora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6793992" y="1481328"/>
            <a:ext cx="17465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fica para a versão completa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6684264" y="1755648"/>
            <a:ext cx="1965960" cy="2542032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Text 22"/>
          <p:cNvSpPr/>
          <p:nvPr/>
        </p:nvSpPr>
        <p:spPr>
          <a:xfrm>
            <a:off x="6739128" y="1847088"/>
            <a:ext cx="183794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7A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 com balança, vagão e hardware</a:t>
            </a:r>
            <a:endParaRPr lang="en-US" sz="95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7A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Aplicativo nativo offline</a:t>
            </a:r>
            <a:endParaRPr lang="en-US" sz="95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7A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Fidelidade e sustentabilidade</a:t>
            </a:r>
            <a:endParaRPr lang="en-US" sz="95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7A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Recria, leite e outras espécies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de pesquisa: três frentes antes de construir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Itens 2.1, 2.1.1 e 2.2 do cronograma, nas semanas 2 e 3.</a:t>
            </a:r>
            <a:endParaRPr lang="en-US" sz="13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4398264"/>
            <a:ext cx="4572000" cy="7429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503920" y="482803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457200" y="1143000"/>
            <a:ext cx="2606040" cy="658368"/>
          </a:xfrm>
          <a:prstGeom prst="rect">
            <a:avLst/>
          </a:prstGeom>
          <a:solidFill>
            <a:srgbClr val="1B3A8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Shape 4"/>
          <p:cNvSpPr/>
          <p:nvPr/>
        </p:nvSpPr>
        <p:spPr>
          <a:xfrm>
            <a:off x="566928" y="1243584"/>
            <a:ext cx="457200" cy="457200"/>
          </a:xfrm>
          <a:prstGeom prst="ellipse">
            <a:avLst/>
          </a:pr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" y="1353312"/>
            <a:ext cx="237744" cy="23774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15568" y="121615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Aderência interna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1115568" y="1481328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Entrevista com stakeholders</a:t>
            </a:r>
            <a:endParaRPr lang="en-US" sz="950" dirty="0"/>
          </a:p>
        </p:txBody>
      </p:sp>
      <p:sp>
        <p:nvSpPr>
          <p:cNvPr id="11" name="Shape 7"/>
          <p:cNvSpPr/>
          <p:nvPr/>
        </p:nvSpPr>
        <p:spPr>
          <a:xfrm>
            <a:off x="457200" y="1801368"/>
            <a:ext cx="2606040" cy="2542032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8"/>
          <p:cNvSpPr/>
          <p:nvPr/>
        </p:nvSpPr>
        <p:spPr>
          <a:xfrm>
            <a:off x="585216" y="1874520"/>
            <a:ext cx="2350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585216" y="2057400"/>
            <a:ext cx="2350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Medir entendimento e apoio entre quem pode acelerar ou travar o projeto na Trouw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585216" y="2487168"/>
            <a:ext cx="2350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PÚBLICO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585216" y="2670048"/>
            <a:ext cx="2350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Diretoria Beef, gerência comercial, técnicos, RTVs, TI e marketing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585216" y="3099816"/>
            <a:ext cx="2350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</a:t>
            </a:r>
            <a:endParaRPr lang="en-US" sz="800" dirty="0"/>
          </a:p>
        </p:txBody>
      </p:sp>
      <p:sp>
        <p:nvSpPr>
          <p:cNvPr id="17" name="Text 13"/>
          <p:cNvSpPr/>
          <p:nvPr/>
        </p:nvSpPr>
        <p:spPr>
          <a:xfrm>
            <a:off x="585216" y="3282696"/>
            <a:ext cx="2350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Entrevista semiestruturada de 30 a 45 minutos</a:t>
            </a:r>
            <a:endParaRPr lang="en-US" sz="950" dirty="0"/>
          </a:p>
        </p:txBody>
      </p:sp>
      <p:sp>
        <p:nvSpPr>
          <p:cNvPr id="18" name="Text 14"/>
          <p:cNvSpPr/>
          <p:nvPr/>
        </p:nvSpPr>
        <p:spPr>
          <a:xfrm>
            <a:off x="585216" y="3712464"/>
            <a:ext cx="2350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SAÍDA</a:t>
            </a:r>
            <a:endParaRPr lang="en-US" sz="800" dirty="0"/>
          </a:p>
        </p:txBody>
      </p:sp>
      <p:sp>
        <p:nvSpPr>
          <p:cNvPr id="19" name="Text 15"/>
          <p:cNvSpPr/>
          <p:nvPr/>
        </p:nvSpPr>
        <p:spPr>
          <a:xfrm>
            <a:off x="585216" y="3895344"/>
            <a:ext cx="2350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de aderência e lista de objeções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3246120" y="1143000"/>
            <a:ext cx="2606040" cy="658368"/>
          </a:xfrm>
          <a:prstGeom prst="rect">
            <a:avLst/>
          </a:prstGeom>
          <a:solidFill>
            <a:srgbClr val="26668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Shape 17"/>
          <p:cNvSpPr/>
          <p:nvPr/>
        </p:nvSpPr>
        <p:spPr>
          <a:xfrm>
            <a:off x="3355848" y="1243584"/>
            <a:ext cx="457200" cy="457200"/>
          </a:xfrm>
          <a:prstGeom prst="ellipse">
            <a:avLst/>
          </a:pr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65576" y="1353312"/>
            <a:ext cx="237744" cy="237744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3904488" y="121615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externo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3904488" y="1481328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concorrentes</a:t>
            </a:r>
            <a:endParaRPr lang="en-US" sz="950" dirty="0"/>
          </a:p>
        </p:txBody>
      </p:sp>
      <p:sp>
        <p:nvSpPr>
          <p:cNvPr id="25" name="Shape 20"/>
          <p:cNvSpPr/>
          <p:nvPr/>
        </p:nvSpPr>
        <p:spPr>
          <a:xfrm>
            <a:off x="3246120" y="1801368"/>
            <a:ext cx="2606040" cy="2542032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Text 21"/>
          <p:cNvSpPr/>
          <p:nvPr/>
        </p:nvSpPr>
        <p:spPr>
          <a:xfrm>
            <a:off x="3374136" y="1874520"/>
            <a:ext cx="2350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266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</a:t>
            </a:r>
            <a:endParaRPr lang="en-US" sz="800" dirty="0"/>
          </a:p>
        </p:txBody>
      </p:sp>
      <p:sp>
        <p:nvSpPr>
          <p:cNvPr id="27" name="Text 22"/>
          <p:cNvSpPr/>
          <p:nvPr/>
        </p:nvSpPr>
        <p:spPr>
          <a:xfrm>
            <a:off x="3374136" y="2057400"/>
            <a:ext cx="2350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 fortes e fracos dos sistemas do mercado</a:t>
            </a:r>
            <a:endParaRPr lang="en-US" sz="950" dirty="0"/>
          </a:p>
        </p:txBody>
      </p:sp>
      <p:sp>
        <p:nvSpPr>
          <p:cNvPr id="28" name="Text 23"/>
          <p:cNvSpPr/>
          <p:nvPr/>
        </p:nvSpPr>
        <p:spPr>
          <a:xfrm>
            <a:off x="3374136" y="2487168"/>
            <a:ext cx="2350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266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PÚBLICO</a:t>
            </a:r>
            <a:endParaRPr lang="en-US" sz="800" dirty="0"/>
          </a:p>
        </p:txBody>
      </p:sp>
      <p:sp>
        <p:nvSpPr>
          <p:cNvPr id="29" name="Text 24"/>
          <p:cNvSpPr/>
          <p:nvPr/>
        </p:nvSpPr>
        <p:spPr>
          <a:xfrm>
            <a:off x="3374136" y="2670048"/>
            <a:ext cx="2350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Auditorias que usam vários sistemas e consultores com sistema próprio</a:t>
            </a:r>
            <a:endParaRPr lang="en-US" sz="950" dirty="0"/>
          </a:p>
        </p:txBody>
      </p:sp>
      <p:sp>
        <p:nvSpPr>
          <p:cNvPr id="30" name="Text 25"/>
          <p:cNvSpPr/>
          <p:nvPr/>
        </p:nvSpPr>
        <p:spPr>
          <a:xfrm>
            <a:off x="3374136" y="3099816"/>
            <a:ext cx="2350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266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</a:t>
            </a:r>
            <a:endParaRPr lang="en-US" sz="800" dirty="0"/>
          </a:p>
        </p:txBody>
      </p:sp>
      <p:sp>
        <p:nvSpPr>
          <p:cNvPr id="31" name="Text 26"/>
          <p:cNvSpPr/>
          <p:nvPr/>
        </p:nvSpPr>
        <p:spPr>
          <a:xfrm>
            <a:off x="3374136" y="3282696"/>
            <a:ext cx="2350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Entrevista com demonstração guiada</a:t>
            </a:r>
            <a:endParaRPr lang="en-US" sz="950" dirty="0"/>
          </a:p>
        </p:txBody>
      </p:sp>
      <p:sp>
        <p:nvSpPr>
          <p:cNvPr id="32" name="Text 27"/>
          <p:cNvSpPr/>
          <p:nvPr/>
        </p:nvSpPr>
        <p:spPr>
          <a:xfrm>
            <a:off x="3374136" y="3712464"/>
            <a:ext cx="2350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266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SAÍDA</a:t>
            </a:r>
            <a:endParaRPr lang="en-US" sz="800" dirty="0"/>
          </a:p>
        </p:txBody>
      </p:sp>
      <p:sp>
        <p:nvSpPr>
          <p:cNvPr id="33" name="Text 28"/>
          <p:cNvSpPr/>
          <p:nvPr/>
        </p:nvSpPr>
        <p:spPr>
          <a:xfrm>
            <a:off x="3374136" y="3895344"/>
            <a:ext cx="2350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de funcionalidades, dores e soluções já testadas</a:t>
            </a:r>
            <a:endParaRPr lang="en-US" sz="950" dirty="0"/>
          </a:p>
        </p:txBody>
      </p:sp>
      <p:sp>
        <p:nvSpPr>
          <p:cNvPr id="34" name="Shape 29"/>
          <p:cNvSpPr/>
          <p:nvPr/>
        </p:nvSpPr>
        <p:spPr>
          <a:xfrm>
            <a:off x="6035040" y="1143000"/>
            <a:ext cx="2606040" cy="658368"/>
          </a:xfrm>
          <a:prstGeom prst="rect">
            <a:avLst/>
          </a:prstGeom>
          <a:solidFill>
            <a:srgbClr val="C8106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5" name="Shape 30"/>
          <p:cNvSpPr/>
          <p:nvPr/>
        </p:nvSpPr>
        <p:spPr>
          <a:xfrm>
            <a:off x="6144768" y="1243584"/>
            <a:ext cx="457200" cy="457200"/>
          </a:xfrm>
          <a:prstGeom prst="ellipse">
            <a:avLst/>
          </a:pr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3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54496" y="1353312"/>
            <a:ext cx="237744" cy="237744"/>
          </a:xfrm>
          <a:prstGeom prst="rect">
            <a:avLst/>
          </a:prstGeom>
        </p:spPr>
      </p:pic>
      <p:sp>
        <p:nvSpPr>
          <p:cNvPr id="37" name="Text 31"/>
          <p:cNvSpPr/>
          <p:nvPr/>
        </p:nvSpPr>
        <p:spPr>
          <a:xfrm>
            <a:off x="6693408" y="121615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com clientes</a:t>
            </a:r>
            <a:endParaRPr lang="en-US" sz="1300" dirty="0"/>
          </a:p>
        </p:txBody>
      </p:sp>
      <p:sp>
        <p:nvSpPr>
          <p:cNvPr id="38" name="Text 32"/>
          <p:cNvSpPr/>
          <p:nvPr/>
        </p:nvSpPr>
        <p:spPr>
          <a:xfrm>
            <a:off x="6693408" y="1481328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Incluindo detratores</a:t>
            </a:r>
            <a:endParaRPr lang="en-US" sz="950" dirty="0"/>
          </a:p>
        </p:txBody>
      </p:sp>
      <p:sp>
        <p:nvSpPr>
          <p:cNvPr id="39" name="Shape 33"/>
          <p:cNvSpPr/>
          <p:nvPr/>
        </p:nvSpPr>
        <p:spPr>
          <a:xfrm>
            <a:off x="6035040" y="1801368"/>
            <a:ext cx="2606040" cy="2542032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0" name="Text 34"/>
          <p:cNvSpPr/>
          <p:nvPr/>
        </p:nvSpPr>
        <p:spPr>
          <a:xfrm>
            <a:off x="6163056" y="1874520"/>
            <a:ext cx="2350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C81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</a:t>
            </a:r>
            <a:endParaRPr lang="en-US" sz="800" dirty="0"/>
          </a:p>
        </p:txBody>
      </p:sp>
      <p:sp>
        <p:nvSpPr>
          <p:cNvPr id="41" name="Text 35"/>
          <p:cNvSpPr/>
          <p:nvPr/>
        </p:nvSpPr>
        <p:spPr>
          <a:xfrm>
            <a:off x="6163056" y="2057400"/>
            <a:ext cx="2350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Percepção real de valor e dores antes de construir</a:t>
            </a:r>
            <a:endParaRPr lang="en-US" sz="950" dirty="0"/>
          </a:p>
        </p:txBody>
      </p:sp>
      <p:sp>
        <p:nvSpPr>
          <p:cNvPr id="42" name="Text 36"/>
          <p:cNvSpPr/>
          <p:nvPr/>
        </p:nvSpPr>
        <p:spPr>
          <a:xfrm>
            <a:off x="6163056" y="2487168"/>
            <a:ext cx="2350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C81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PÚBLICO</a:t>
            </a:r>
            <a:endParaRPr lang="en-US" sz="800" dirty="0"/>
          </a:p>
        </p:txBody>
      </p:sp>
      <p:sp>
        <p:nvSpPr>
          <p:cNvPr id="43" name="Text 37"/>
          <p:cNvSpPr/>
          <p:nvPr/>
        </p:nvSpPr>
        <p:spPr>
          <a:xfrm>
            <a:off x="6163056" y="2670048"/>
            <a:ext cx="2350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Clientes, ex-clientes e não clientes</a:t>
            </a:r>
            <a:endParaRPr lang="en-US" sz="950" dirty="0"/>
          </a:p>
        </p:txBody>
      </p:sp>
      <p:sp>
        <p:nvSpPr>
          <p:cNvPr id="44" name="Text 38"/>
          <p:cNvSpPr/>
          <p:nvPr/>
        </p:nvSpPr>
        <p:spPr>
          <a:xfrm>
            <a:off x="6163056" y="3099816"/>
            <a:ext cx="2350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C81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</a:t>
            </a:r>
            <a:endParaRPr lang="en-US" sz="800" dirty="0"/>
          </a:p>
        </p:txBody>
      </p:sp>
      <p:sp>
        <p:nvSpPr>
          <p:cNvPr id="45" name="Text 39"/>
          <p:cNvSpPr/>
          <p:nvPr/>
        </p:nvSpPr>
        <p:spPr>
          <a:xfrm>
            <a:off x="6163056" y="3282696"/>
            <a:ext cx="2350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Formulário estruturado e entrevista curta</a:t>
            </a:r>
            <a:endParaRPr lang="en-US" sz="950" dirty="0"/>
          </a:p>
        </p:txBody>
      </p:sp>
      <p:sp>
        <p:nvSpPr>
          <p:cNvPr id="46" name="Text 40"/>
          <p:cNvSpPr/>
          <p:nvPr/>
        </p:nvSpPr>
        <p:spPr>
          <a:xfrm>
            <a:off x="6163056" y="3712464"/>
            <a:ext cx="2350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C81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SAÍDA</a:t>
            </a:r>
            <a:endParaRPr lang="en-US" sz="800" dirty="0"/>
          </a:p>
        </p:txBody>
      </p:sp>
      <p:sp>
        <p:nvSpPr>
          <p:cNvPr id="47" name="Text 41"/>
          <p:cNvSpPr/>
          <p:nvPr/>
        </p:nvSpPr>
        <p:spPr>
          <a:xfrm>
            <a:off x="6163056" y="3895344"/>
            <a:ext cx="23500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de cliente validado e ranking de dores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Discovery: no mínimo 30 fazendas, com detratores na amostra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Composição proposta para evitar uma amostra feita só de clientes satisfeitos.</a:t>
            </a:r>
            <a:endParaRPr lang="en-US" sz="13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4398264"/>
            <a:ext cx="4572000" cy="7429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503920" y="482803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365760" y="1143000"/>
          <a:ext cx="310896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Text 3"/>
          <p:cNvSpPr/>
          <p:nvPr/>
        </p:nvSpPr>
        <p:spPr>
          <a:xfrm>
            <a:off x="1463040" y="21488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3000" dirty="0"/>
          </a:p>
        </p:txBody>
      </p:sp>
      <p:sp>
        <p:nvSpPr>
          <p:cNvPr id="8" name="Text 4"/>
          <p:cNvSpPr/>
          <p:nvPr/>
        </p:nvSpPr>
        <p:spPr>
          <a:xfrm>
            <a:off x="1463040" y="257860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fazendas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411480" y="4041648"/>
            <a:ext cx="118872" cy="118872"/>
          </a:xfrm>
          <a:prstGeom prst="rect">
            <a:avLst/>
          </a:prstGeom>
          <a:solidFill>
            <a:srgbClr val="1B3A8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6"/>
          <p:cNvSpPr/>
          <p:nvPr/>
        </p:nvSpPr>
        <p:spPr>
          <a:xfrm>
            <a:off x="576072" y="39959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 ativos</a:t>
            </a:r>
            <a:endParaRPr lang="en-US" sz="850" dirty="0"/>
          </a:p>
        </p:txBody>
      </p:sp>
      <p:sp>
        <p:nvSpPr>
          <p:cNvPr id="11" name="Shape 7"/>
          <p:cNvSpPr/>
          <p:nvPr/>
        </p:nvSpPr>
        <p:spPr>
          <a:xfrm>
            <a:off x="1371600" y="4041648"/>
            <a:ext cx="118872" cy="118872"/>
          </a:xfrm>
          <a:prstGeom prst="rect">
            <a:avLst/>
          </a:prstGeom>
          <a:solidFill>
            <a:srgbClr val="0096B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8"/>
          <p:cNvSpPr/>
          <p:nvPr/>
        </p:nvSpPr>
        <p:spPr>
          <a:xfrm>
            <a:off x="1536192" y="3995928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clientes</a:t>
            </a:r>
            <a:endParaRPr lang="en-US" sz="850" dirty="0"/>
          </a:p>
        </p:txBody>
      </p:sp>
      <p:sp>
        <p:nvSpPr>
          <p:cNvPr id="13" name="Shape 9"/>
          <p:cNvSpPr/>
          <p:nvPr/>
        </p:nvSpPr>
        <p:spPr>
          <a:xfrm>
            <a:off x="2286000" y="4041648"/>
            <a:ext cx="118872" cy="118872"/>
          </a:xfrm>
          <a:prstGeom prst="rect">
            <a:avLst/>
          </a:prstGeom>
          <a:solidFill>
            <a:srgbClr val="C8106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0"/>
          <p:cNvSpPr/>
          <p:nvPr/>
        </p:nvSpPr>
        <p:spPr>
          <a:xfrm>
            <a:off x="2450592" y="3995928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Ex-clientes e detratores</a:t>
            </a:r>
            <a:endParaRPr lang="en-US" sz="850" dirty="0"/>
          </a:p>
        </p:txBody>
      </p:sp>
      <p:sp>
        <p:nvSpPr>
          <p:cNvPr id="15" name="Text 11"/>
          <p:cNvSpPr/>
          <p:nvPr/>
        </p:nvSpPr>
        <p:spPr>
          <a:xfrm>
            <a:off x="3840480" y="114300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Blocos do formulário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3840480" y="1508760"/>
            <a:ext cx="2331720" cy="786384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3"/>
          <p:cNvSpPr/>
          <p:nvPr/>
        </p:nvSpPr>
        <p:spPr>
          <a:xfrm>
            <a:off x="3931920" y="160020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C81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18" name="Text 14"/>
          <p:cNvSpPr/>
          <p:nvPr/>
        </p:nvSpPr>
        <p:spPr>
          <a:xfrm>
            <a:off x="4279392" y="1600200"/>
            <a:ext cx="18105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da operação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4279392" y="1856232"/>
            <a:ext cx="1810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Porte, ciclo, equipe e quem lança os dados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6291072" y="1508760"/>
            <a:ext cx="2331720" cy="786384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ext 17"/>
          <p:cNvSpPr/>
          <p:nvPr/>
        </p:nvSpPr>
        <p:spPr>
          <a:xfrm>
            <a:off x="6382512" y="160020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C81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22" name="Text 18"/>
          <p:cNvSpPr/>
          <p:nvPr/>
        </p:nvSpPr>
        <p:spPr>
          <a:xfrm>
            <a:off x="6729984" y="1600200"/>
            <a:ext cx="18105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registra hoje</a:t>
            </a:r>
            <a:endParaRPr lang="en-US" sz="1050" dirty="0"/>
          </a:p>
        </p:txBody>
      </p:sp>
      <p:sp>
        <p:nvSpPr>
          <p:cNvPr id="23" name="Text 19"/>
          <p:cNvSpPr/>
          <p:nvPr/>
        </p:nvSpPr>
        <p:spPr>
          <a:xfrm>
            <a:off x="6729984" y="1856232"/>
            <a:ext cx="1810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Papel, planilha ou software, e quanto tempo gasta</a:t>
            </a:r>
            <a:endParaRPr lang="en-US" sz="900" dirty="0"/>
          </a:p>
        </p:txBody>
      </p:sp>
      <p:sp>
        <p:nvSpPr>
          <p:cNvPr id="24" name="Shape 20"/>
          <p:cNvSpPr/>
          <p:nvPr/>
        </p:nvSpPr>
        <p:spPr>
          <a:xfrm>
            <a:off x="3840480" y="2404872"/>
            <a:ext cx="2331720" cy="786384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Text 21"/>
          <p:cNvSpPr/>
          <p:nvPr/>
        </p:nvSpPr>
        <p:spPr>
          <a:xfrm>
            <a:off x="3931920" y="2496312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C81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6" name="Text 22"/>
          <p:cNvSpPr/>
          <p:nvPr/>
        </p:nvSpPr>
        <p:spPr>
          <a:xfrm>
            <a:off x="4279392" y="2496312"/>
            <a:ext cx="18105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Dores na rotina de dados</a:t>
            </a:r>
            <a:endParaRPr lang="en-US" sz="1050" dirty="0"/>
          </a:p>
        </p:txBody>
      </p:sp>
      <p:sp>
        <p:nvSpPr>
          <p:cNvPr id="27" name="Text 23"/>
          <p:cNvSpPr/>
          <p:nvPr/>
        </p:nvSpPr>
        <p:spPr>
          <a:xfrm>
            <a:off x="4279392" y="2752344"/>
            <a:ext cx="1810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das cinco maiores dificuldades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6291072" y="2404872"/>
            <a:ext cx="2331720" cy="786384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9" name="Text 25"/>
          <p:cNvSpPr/>
          <p:nvPr/>
        </p:nvSpPr>
        <p:spPr>
          <a:xfrm>
            <a:off x="6382512" y="2496312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C81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30" name="Text 26"/>
          <p:cNvSpPr/>
          <p:nvPr/>
        </p:nvSpPr>
        <p:spPr>
          <a:xfrm>
            <a:off x="6729984" y="2496312"/>
            <a:ext cx="18105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já usados</a:t>
            </a:r>
            <a:endParaRPr lang="en-US" sz="1050" dirty="0"/>
          </a:p>
        </p:txBody>
      </p:sp>
      <p:sp>
        <p:nvSpPr>
          <p:cNvPr id="31" name="Text 27"/>
          <p:cNvSpPr/>
          <p:nvPr/>
        </p:nvSpPr>
        <p:spPr>
          <a:xfrm>
            <a:off x="6729984" y="2752344"/>
            <a:ext cx="1810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funcionou e por que parou de usar</a:t>
            </a:r>
            <a:endParaRPr lang="en-US" sz="900" dirty="0"/>
          </a:p>
        </p:txBody>
      </p:sp>
      <p:sp>
        <p:nvSpPr>
          <p:cNvPr id="32" name="Shape 28"/>
          <p:cNvSpPr/>
          <p:nvPr/>
        </p:nvSpPr>
        <p:spPr>
          <a:xfrm>
            <a:off x="3840480" y="3300984"/>
            <a:ext cx="2331720" cy="786384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3" name="Text 29"/>
          <p:cNvSpPr/>
          <p:nvPr/>
        </p:nvSpPr>
        <p:spPr>
          <a:xfrm>
            <a:off x="3931920" y="3392424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C81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34" name="Text 30"/>
          <p:cNvSpPr/>
          <p:nvPr/>
        </p:nvSpPr>
        <p:spPr>
          <a:xfrm>
            <a:off x="4279392" y="3392424"/>
            <a:ext cx="18105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percebido</a:t>
            </a:r>
            <a:endParaRPr lang="en-US" sz="1050" dirty="0"/>
          </a:p>
        </p:txBody>
      </p:sp>
      <p:sp>
        <p:nvSpPr>
          <p:cNvPr id="35" name="Text 31"/>
          <p:cNvSpPr/>
          <p:nvPr/>
        </p:nvSpPr>
        <p:spPr>
          <a:xfrm>
            <a:off x="4279392" y="3648456"/>
            <a:ext cx="1810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Disposição a usar e a recomendar, de 0 a 10</a:t>
            </a:r>
            <a:endParaRPr lang="en-US" sz="900" dirty="0"/>
          </a:p>
        </p:txBody>
      </p:sp>
      <p:sp>
        <p:nvSpPr>
          <p:cNvPr id="36" name="Shape 32"/>
          <p:cNvSpPr/>
          <p:nvPr/>
        </p:nvSpPr>
        <p:spPr>
          <a:xfrm>
            <a:off x="6291072" y="3300984"/>
            <a:ext cx="2331720" cy="786384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7" name="Text 33"/>
          <p:cNvSpPr/>
          <p:nvPr/>
        </p:nvSpPr>
        <p:spPr>
          <a:xfrm>
            <a:off x="6382512" y="3392424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C81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38" name="Text 34"/>
          <p:cNvSpPr/>
          <p:nvPr/>
        </p:nvSpPr>
        <p:spPr>
          <a:xfrm>
            <a:off x="6729984" y="3392424"/>
            <a:ext cx="18105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Relação com fornecedores</a:t>
            </a:r>
            <a:endParaRPr lang="en-US" sz="1050" dirty="0"/>
          </a:p>
        </p:txBody>
      </p:sp>
      <p:sp>
        <p:nvSpPr>
          <p:cNvPr id="39" name="Text 35"/>
          <p:cNvSpPr/>
          <p:nvPr/>
        </p:nvSpPr>
        <p:spPr>
          <a:xfrm>
            <a:off x="6729984" y="3648456"/>
            <a:ext cx="1810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Peso do suporte digital na escolha da nutrição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4">
            <a:extLst>
              <a:ext uri="{FF2B5EF4-FFF2-40B4-BE49-F238E27FC236}">
                <a16:creationId xmlns:a16="http://schemas.microsoft.com/office/drawing/2014/main" id="{B2DA0B8F-6275-5FF9-F0FA-D4F4A45023B6}"/>
              </a:ext>
            </a:extLst>
          </p:cNvPr>
          <p:cNvSpPr txBox="1">
            <a:spLocks/>
          </p:cNvSpPr>
          <p:nvPr/>
        </p:nvSpPr>
        <p:spPr>
          <a:xfrm>
            <a:off x="89503" y="87475"/>
            <a:ext cx="7074785" cy="837590"/>
          </a:xfrm>
          <a:prstGeom prst="rect">
            <a:avLst/>
          </a:prstGeom>
        </p:spPr>
        <p:txBody>
          <a:bodyPr vert="horz" wrap="square" lIns="27000" tIns="27000" rIns="27000" bIns="27000" rtlCol="0" anchor="t" anchorCtr="0">
            <a:noAutofit/>
          </a:bodyPr>
          <a:lstStyle>
            <a:lvl1pPr algn="l" defTabSz="914400" rtl="0" eaLnBrk="1" latinLnBrk="0" hangingPunct="1">
              <a:lnSpc>
                <a:spcPts val="4200"/>
              </a:lnSpc>
              <a:spcBef>
                <a:spcPct val="0"/>
              </a:spcBef>
              <a:buNone/>
              <a:defRPr sz="4400" b="1" kern="1200" baseline="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2400" dirty="0"/>
              <a:t>Escopo e Descrição do Projeto</a:t>
            </a:r>
            <a:br>
              <a:rPr lang="en-CA" sz="2400" dirty="0"/>
            </a:br>
            <a:r>
              <a:rPr lang="en-US" sz="1350" b="0" i="1" dirty="0"/>
              <a:t>O que está incluído neste projeto e, portanto, nos custos de investimento e no cálculo do ROI.</a:t>
            </a:r>
            <a:endParaRPr lang="en-CA" sz="2400" b="0" i="1" dirty="0"/>
          </a:p>
        </p:txBody>
      </p:sp>
      <p:sp>
        <p:nvSpPr>
          <p:cNvPr id="2" name="Rectangle 6">
            <a:extLst>
              <a:ext uri="{FF2B5EF4-FFF2-40B4-BE49-F238E27FC236}">
                <a16:creationId xmlns:a16="http://schemas.microsoft.com/office/drawing/2014/main" id="{71C4FEAC-BFE9-9936-0DEB-32AB6A7DB426}"/>
              </a:ext>
            </a:extLst>
          </p:cNvPr>
          <p:cNvSpPr/>
          <p:nvPr/>
        </p:nvSpPr>
        <p:spPr>
          <a:xfrm>
            <a:off x="0" y="1744232"/>
            <a:ext cx="4425802" cy="2102362"/>
          </a:xfrm>
          <a:prstGeom prst="rect">
            <a:avLst/>
          </a:prstGeom>
          <a:solidFill>
            <a:srgbClr val="0195B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3" name="Rectangle 7">
            <a:extLst>
              <a:ext uri="{FF2B5EF4-FFF2-40B4-BE49-F238E27FC236}">
                <a16:creationId xmlns:a16="http://schemas.microsoft.com/office/drawing/2014/main" id="{16B0D241-57FA-8BF8-1F89-AF51AFA631B7}"/>
              </a:ext>
            </a:extLst>
          </p:cNvPr>
          <p:cNvSpPr/>
          <p:nvPr/>
        </p:nvSpPr>
        <p:spPr>
          <a:xfrm>
            <a:off x="4425802" y="1744232"/>
            <a:ext cx="4718198" cy="2097952"/>
          </a:xfrm>
          <a:prstGeom prst="rect">
            <a:avLst/>
          </a:prstGeom>
          <a:solidFill>
            <a:srgbClr val="246C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grpSp>
        <p:nvGrpSpPr>
          <p:cNvPr id="6" name="Group 16">
            <a:extLst>
              <a:ext uri="{FF2B5EF4-FFF2-40B4-BE49-F238E27FC236}">
                <a16:creationId xmlns:a16="http://schemas.microsoft.com/office/drawing/2014/main" id="{147D7F80-D61F-16B1-585B-8C9096DC2367}"/>
              </a:ext>
            </a:extLst>
          </p:cNvPr>
          <p:cNvGrpSpPr/>
          <p:nvPr/>
        </p:nvGrpSpPr>
        <p:grpSpPr>
          <a:xfrm>
            <a:off x="3005826" y="1545637"/>
            <a:ext cx="2901953" cy="2516981"/>
            <a:chOff x="4162425" y="1835149"/>
            <a:chExt cx="3869270" cy="3355975"/>
          </a:xfrm>
        </p:grpSpPr>
        <p:sp>
          <p:nvSpPr>
            <p:cNvPr id="7" name="Rectangle 14">
              <a:extLst>
                <a:ext uri="{FF2B5EF4-FFF2-40B4-BE49-F238E27FC236}">
                  <a16:creationId xmlns:a16="http://schemas.microsoft.com/office/drawing/2014/main" id="{B2977A67-8290-D44C-F14B-14E20264A50A}"/>
                </a:ext>
              </a:extLst>
            </p:cNvPr>
            <p:cNvSpPr/>
            <p:nvPr/>
          </p:nvSpPr>
          <p:spPr>
            <a:xfrm>
              <a:off x="4162425" y="1835149"/>
              <a:ext cx="1935695" cy="3355975"/>
            </a:xfrm>
            <a:prstGeom prst="rect">
              <a:avLst/>
            </a:prstGeom>
            <a:solidFill>
              <a:srgbClr val="262626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9" name="Rectangle 15">
              <a:extLst>
                <a:ext uri="{FF2B5EF4-FFF2-40B4-BE49-F238E27FC236}">
                  <a16:creationId xmlns:a16="http://schemas.microsoft.com/office/drawing/2014/main" id="{01BC83C4-AB27-3565-1219-F8F759FF64D7}"/>
                </a:ext>
              </a:extLst>
            </p:cNvPr>
            <p:cNvSpPr/>
            <p:nvPr/>
          </p:nvSpPr>
          <p:spPr>
            <a:xfrm>
              <a:off x="6096000" y="1835149"/>
              <a:ext cx="1935695" cy="3355975"/>
            </a:xfrm>
            <a:prstGeom prst="rect">
              <a:avLst/>
            </a:prstGeom>
            <a:solidFill>
              <a:srgbClr val="262626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</p:grpSp>
      <p:sp>
        <p:nvSpPr>
          <p:cNvPr id="10" name="Title 4">
            <a:extLst>
              <a:ext uri="{FF2B5EF4-FFF2-40B4-BE49-F238E27FC236}">
                <a16:creationId xmlns:a16="http://schemas.microsoft.com/office/drawing/2014/main" id="{50BEDB88-DCFE-42E0-1AC0-84B2901D6CEB}"/>
              </a:ext>
            </a:extLst>
          </p:cNvPr>
          <p:cNvSpPr txBox="1">
            <a:spLocks/>
          </p:cNvSpPr>
          <p:nvPr/>
        </p:nvSpPr>
        <p:spPr>
          <a:xfrm>
            <a:off x="3120524" y="3144276"/>
            <a:ext cx="1222374" cy="249299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rgbClr val="262626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800">
                <a:solidFill>
                  <a:schemeClr val="bg1"/>
                </a:solidFill>
              </a:rPr>
              <a:t>No Escopo</a:t>
            </a:r>
          </a:p>
        </p:txBody>
      </p:sp>
      <p:sp>
        <p:nvSpPr>
          <p:cNvPr id="11" name="Oval 11">
            <a:extLst>
              <a:ext uri="{FF2B5EF4-FFF2-40B4-BE49-F238E27FC236}">
                <a16:creationId xmlns:a16="http://schemas.microsoft.com/office/drawing/2014/main" id="{62A7E422-C076-0351-1B6A-4327F95A8625}"/>
              </a:ext>
            </a:extLst>
          </p:cNvPr>
          <p:cNvSpPr/>
          <p:nvPr/>
        </p:nvSpPr>
        <p:spPr>
          <a:xfrm>
            <a:off x="3371746" y="2226413"/>
            <a:ext cx="719930" cy="719928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2" name="Title 4">
            <a:extLst>
              <a:ext uri="{FF2B5EF4-FFF2-40B4-BE49-F238E27FC236}">
                <a16:creationId xmlns:a16="http://schemas.microsoft.com/office/drawing/2014/main" id="{F425D2BD-C878-E7D8-DFEB-589DFA5139A8}"/>
              </a:ext>
            </a:extLst>
          </p:cNvPr>
          <p:cNvSpPr txBox="1">
            <a:spLocks/>
          </p:cNvSpPr>
          <p:nvPr/>
        </p:nvSpPr>
        <p:spPr>
          <a:xfrm>
            <a:off x="4570706" y="3146232"/>
            <a:ext cx="1222374" cy="4985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rgbClr val="262626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800">
                <a:solidFill>
                  <a:schemeClr val="bg1"/>
                </a:solidFill>
              </a:rPr>
              <a:t>Fora do Escopo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4652899E-A96C-1253-CEE1-48D0C2683A61}"/>
              </a:ext>
            </a:extLst>
          </p:cNvPr>
          <p:cNvSpPr/>
          <p:nvPr/>
        </p:nvSpPr>
        <p:spPr>
          <a:xfrm>
            <a:off x="4821928" y="2228369"/>
            <a:ext cx="719930" cy="719928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4" name="TextBox 20">
            <a:extLst>
              <a:ext uri="{FF2B5EF4-FFF2-40B4-BE49-F238E27FC236}">
                <a16:creationId xmlns:a16="http://schemas.microsoft.com/office/drawing/2014/main" id="{41B97859-F92A-F433-4938-019E44FF3A35}"/>
              </a:ext>
            </a:extLst>
          </p:cNvPr>
          <p:cNvSpPr txBox="1"/>
          <p:nvPr/>
        </p:nvSpPr>
        <p:spPr>
          <a:xfrm>
            <a:off x="143509" y="1902377"/>
            <a:ext cx="2879888" cy="183620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214313" indent="-214313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200">
                <a:solidFill>
                  <a:schemeClr val="bg1"/>
                </a:solidFill>
              </a:rPr>
              <a:t>Desenvolvimento completo do aplicativo para confinamento</a:t>
            </a:r>
          </a:p>
          <a:p>
            <a:pPr marL="214313" indent="-214313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200">
                <a:solidFill>
                  <a:schemeClr val="bg1"/>
                </a:solidFill>
              </a:rPr>
              <a:t>Equipe adicional para implantação e suporte</a:t>
            </a:r>
          </a:p>
          <a:p>
            <a:pPr marL="214313" indent="-214313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200">
                <a:solidFill>
                  <a:schemeClr val="bg1"/>
                </a:solidFill>
              </a:rPr>
              <a:t>Campanhas de Marketing / Comunicação</a:t>
            </a:r>
          </a:p>
          <a:p>
            <a:pPr marL="214313" indent="-214313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200">
                <a:solidFill>
                  <a:schemeClr val="bg1"/>
                </a:solidFill>
              </a:rPr>
              <a:t>Todas as funcionalidades descritas neste documento</a:t>
            </a:r>
          </a:p>
        </p:txBody>
      </p:sp>
      <p:sp>
        <p:nvSpPr>
          <p:cNvPr id="28" name="TextBox 20">
            <a:extLst>
              <a:ext uri="{FF2B5EF4-FFF2-40B4-BE49-F238E27FC236}">
                <a16:creationId xmlns:a16="http://schemas.microsoft.com/office/drawing/2014/main" id="{09DBE4F7-BAD1-E359-1BAE-091AFDA3F252}"/>
              </a:ext>
            </a:extLst>
          </p:cNvPr>
          <p:cNvSpPr txBox="1"/>
          <p:nvPr/>
        </p:nvSpPr>
        <p:spPr>
          <a:xfrm>
            <a:off x="6143942" y="1877310"/>
            <a:ext cx="2879888" cy="183620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214313" indent="-214313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Desenvolvimento para CORTE extensivo, Leite ou outras espécies</a:t>
            </a:r>
          </a:p>
          <a:p>
            <a:pPr marL="214313" indent="-214313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bg1"/>
              </a:solidFill>
            </a:endParaRPr>
          </a:p>
        </p:txBody>
      </p:sp>
      <p:pic>
        <p:nvPicPr>
          <p:cNvPr id="1026" name="Picture 2" descr="yes - no - tick and cross icon on transparent background. 21013497 PNG">
            <a:extLst>
              <a:ext uri="{FF2B5EF4-FFF2-40B4-BE49-F238E27FC236}">
                <a16:creationId xmlns:a16="http://schemas.microsoft.com/office/drawing/2014/main" id="{D3703575-90C5-264C-9629-F61129EEFC2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7211"/>
          <a:stretch/>
        </p:blipFill>
        <p:spPr bwMode="auto">
          <a:xfrm>
            <a:off x="3524432" y="2209230"/>
            <a:ext cx="411394" cy="760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2" descr="yes - no - tick and cross icon on transparent background. 21013497 PNG">
            <a:extLst>
              <a:ext uri="{FF2B5EF4-FFF2-40B4-BE49-F238E27FC236}">
                <a16:creationId xmlns:a16="http://schemas.microsoft.com/office/drawing/2014/main" id="{DFE1A444-3452-30A8-F9B3-C984DADECEA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317"/>
          <a:stretch/>
        </p:blipFill>
        <p:spPr bwMode="auto">
          <a:xfrm>
            <a:off x="4949215" y="2209230"/>
            <a:ext cx="435152" cy="760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891866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7FA9E84-6933-866E-9740-F1E0400C375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82366C92-DFCE-40A6-8CC1-5A4741E3726D}" type="slidenum">
              <a:rPr lang="en-GB" smtClean="0"/>
              <a:pPr/>
              <a:t>19</a:t>
            </a:fld>
            <a:endParaRPr lang="en-GB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C4741695-FE94-C58F-C66F-FA9D5E4EA7E9}"/>
              </a:ext>
            </a:extLst>
          </p:cNvPr>
          <p:cNvSpPr txBox="1">
            <a:spLocks/>
          </p:cNvSpPr>
          <p:nvPr/>
        </p:nvSpPr>
        <p:spPr>
          <a:xfrm>
            <a:off x="89503" y="87475"/>
            <a:ext cx="7074785" cy="837590"/>
          </a:xfrm>
          <a:prstGeom prst="rect">
            <a:avLst/>
          </a:prstGeom>
        </p:spPr>
        <p:txBody>
          <a:bodyPr vert="horz" wrap="square" lIns="27000" tIns="27000" rIns="27000" bIns="27000" rtlCol="0" anchor="t" anchorCtr="0">
            <a:noAutofit/>
          </a:bodyPr>
          <a:lstStyle>
            <a:lvl1pPr algn="l" defTabSz="914400" rtl="0" eaLnBrk="1" latinLnBrk="0" hangingPunct="1">
              <a:lnSpc>
                <a:spcPts val="4200"/>
              </a:lnSpc>
              <a:spcBef>
                <a:spcPct val="0"/>
              </a:spcBef>
              <a:buNone/>
              <a:defRPr sz="4400" b="1" kern="1200" baseline="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2400" dirty="0"/>
              <a:t>Prospecção de Novos Clientes</a:t>
            </a:r>
            <a:br>
              <a:rPr lang="en-CA" sz="2400" dirty="0"/>
            </a:br>
            <a:r>
              <a:rPr lang="en-US" sz="1350" b="0" i="1" dirty="0"/>
              <a:t>Abordamos 28 prospects com os quais ainda não conseguimos avançar de forma significativa…</a:t>
            </a:r>
            <a:endParaRPr lang="en-CA" sz="2400" b="0" i="1" dirty="0"/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C6A64F14-B6A5-E891-AFCA-0CDA7045E0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502" y="774900"/>
            <a:ext cx="5133975" cy="4133850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73B5D19C-A3CA-70AD-7881-9593AA2D11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1433" y="850184"/>
            <a:ext cx="3438442" cy="2066723"/>
          </a:xfrm>
          <a:prstGeom prst="rect">
            <a:avLst/>
          </a:prstGeom>
        </p:spPr>
      </p:pic>
      <p:graphicFrame>
        <p:nvGraphicFramePr>
          <p:cNvPr id="3" name="Tabela 2">
            <a:extLst>
              <a:ext uri="{FF2B5EF4-FFF2-40B4-BE49-F238E27FC236}">
                <a16:creationId xmlns:a16="http://schemas.microsoft.com/office/drawing/2014/main" id="{E5F7C463-C261-7E9F-24A4-0FB810FA7CFE}"/>
              </a:ext>
            </a:extLst>
          </p:cNvPr>
          <p:cNvGraphicFramePr>
            <a:graphicFrameLocks noGrp="1"/>
          </p:cNvGraphicFramePr>
          <p:nvPr/>
        </p:nvGraphicFramePr>
        <p:xfrm>
          <a:off x="5511433" y="3464642"/>
          <a:ext cx="3438441" cy="1141095"/>
        </p:xfrm>
        <a:graphic>
          <a:graphicData uri="http://schemas.openxmlformats.org/drawingml/2006/table">
            <a:tbl>
              <a:tblPr>
                <a:tableStyleId>{69012ECD-51FC-41F1-AA8D-1B2483CD663E}</a:tableStyleId>
              </a:tblPr>
              <a:tblGrid>
                <a:gridCol w="2480755">
                  <a:extLst>
                    <a:ext uri="{9D8B030D-6E8A-4147-A177-3AD203B41FA5}">
                      <a16:colId xmlns:a16="http://schemas.microsoft.com/office/drawing/2014/main" val="604473642"/>
                    </a:ext>
                  </a:extLst>
                </a:gridCol>
                <a:gridCol w="957686">
                  <a:extLst>
                    <a:ext uri="{9D8B030D-6E8A-4147-A177-3AD203B41FA5}">
                      <a16:colId xmlns:a16="http://schemas.microsoft.com/office/drawing/2014/main" val="1869619365"/>
                    </a:ext>
                  </a:extLst>
                </a:gridCol>
              </a:tblGrid>
              <a:tr h="165735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u="none" strike="noStrike">
                          <a:effectLst/>
                        </a:rPr>
                        <a:t>Cabeças de Gado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15" marR="5715" marT="571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u="none" strike="noStrike">
                          <a:effectLst/>
                        </a:rPr>
                        <a:t>400,000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15" marR="5715" marT="5715" marB="0" anchor="b"/>
                </a:tc>
                <a:extLst>
                  <a:ext uri="{0D108BD9-81ED-4DB2-BD59-A6C34878D82A}">
                    <a16:rowId xmlns:a16="http://schemas.microsoft.com/office/drawing/2014/main" val="1353093704"/>
                  </a:ext>
                </a:extLst>
              </a:tr>
              <a:tr h="16573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Consumo Diário / Animal </a:t>
                      </a:r>
                      <a:r>
                        <a:rPr lang="en-US" sz="700" i="1" u="none" strike="noStrike" dirty="0">
                          <a:effectLst/>
                        </a:rPr>
                        <a:t>(</a:t>
                      </a:r>
                      <a:r>
                        <a:rPr lang="en-US" sz="700" i="1" u="none" strike="noStrike" dirty="0" err="1">
                          <a:effectLst/>
                        </a:rPr>
                        <a:t>Bellpeso</a:t>
                      </a:r>
                      <a:r>
                        <a:rPr lang="en-US" sz="700" i="1" u="none" strike="noStrike" dirty="0">
                          <a:effectLst/>
                        </a:rPr>
                        <a:t> Super 2000 </a:t>
                      </a:r>
                      <a:r>
                        <a:rPr lang="en-US" sz="700" i="1" u="none" strike="noStrike" dirty="0" err="1">
                          <a:effectLst/>
                        </a:rPr>
                        <a:t>Avance</a:t>
                      </a:r>
                      <a:r>
                        <a:rPr lang="en-US" sz="700" i="1" u="none" strike="noStrike" dirty="0">
                          <a:effectLst/>
                        </a:rPr>
                        <a:t>)</a:t>
                      </a:r>
                      <a:endParaRPr lang="en-US" sz="1100" b="0" i="1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15" marR="5715" marT="571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u="none" strike="noStrike" dirty="0">
                          <a:effectLst/>
                        </a:rPr>
                        <a:t>100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15" marR="5715" marT="5715" marB="0" anchor="b"/>
                </a:tc>
                <a:extLst>
                  <a:ext uri="{0D108BD9-81ED-4DB2-BD59-A6C34878D82A}">
                    <a16:rowId xmlns:a16="http://schemas.microsoft.com/office/drawing/2014/main" val="2698322057"/>
                  </a:ext>
                </a:extLst>
              </a:tr>
              <a:tr h="165735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u="none" strike="noStrike" dirty="0">
                          <a:effectLst/>
                        </a:rPr>
                        <a:t>Volume Total </a:t>
                      </a:r>
                      <a:r>
                        <a:rPr lang="pt-BR" sz="700" i="1" u="none" strike="noStrike" dirty="0">
                          <a:effectLst/>
                        </a:rPr>
                        <a:t>(</a:t>
                      </a:r>
                      <a:r>
                        <a:rPr lang="pt-BR" sz="700" i="1" u="none" strike="noStrike" dirty="0" err="1">
                          <a:effectLst/>
                        </a:rPr>
                        <a:t>Bellpeso</a:t>
                      </a:r>
                      <a:r>
                        <a:rPr lang="pt-BR" sz="700" i="1" u="none" strike="noStrike" dirty="0">
                          <a:effectLst/>
                        </a:rPr>
                        <a:t> Super 2000 Avance)</a:t>
                      </a:r>
                      <a:endParaRPr lang="pt-BR" sz="1100" b="0" i="1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15" marR="5715" marT="571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u="none" strike="noStrike">
                          <a:effectLst/>
                        </a:rPr>
                        <a:t>3,600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15" marR="5715" marT="5715" marB="0" anchor="b"/>
                </a:tc>
                <a:extLst>
                  <a:ext uri="{0D108BD9-81ED-4DB2-BD59-A6C34878D82A}">
                    <a16:rowId xmlns:a16="http://schemas.microsoft.com/office/drawing/2014/main" val="2147563399"/>
                  </a:ext>
                </a:extLst>
              </a:tr>
              <a:tr h="165735"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u="none" strike="noStrike" dirty="0">
                          <a:effectLst/>
                        </a:rPr>
                        <a:t>SP/Ton </a:t>
                      </a:r>
                      <a:r>
                        <a:rPr lang="pt-BR" sz="600" i="1" u="none" strike="noStrike" dirty="0">
                          <a:effectLst/>
                        </a:rPr>
                        <a:t>(</a:t>
                      </a:r>
                      <a:r>
                        <a:rPr lang="pt-BR" sz="600" i="1" u="none" strike="noStrike" dirty="0" err="1">
                          <a:effectLst/>
                        </a:rPr>
                        <a:t>Bellpeso</a:t>
                      </a:r>
                      <a:r>
                        <a:rPr lang="pt-BR" sz="600" i="1" u="none" strike="noStrike" dirty="0">
                          <a:effectLst/>
                        </a:rPr>
                        <a:t> Super 2000 Avance)</a:t>
                      </a:r>
                      <a:endParaRPr lang="pt-BR" sz="1100" b="0" i="1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15" marR="5715" marT="571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BR" sz="1100" u="none" strike="noStrike">
                          <a:effectLst/>
                        </a:rPr>
                        <a:t>1,300</a:t>
                      </a:r>
                      <a:endParaRPr lang="pt-BR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15" marR="5715" marT="5715" marB="0" anchor="b"/>
                </a:tc>
                <a:extLst>
                  <a:ext uri="{0D108BD9-81ED-4DB2-BD59-A6C34878D82A}">
                    <a16:rowId xmlns:a16="http://schemas.microsoft.com/office/drawing/2014/main" val="1722811295"/>
                  </a:ext>
                </a:extLst>
              </a:tr>
              <a:tr h="165735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u="none" strike="noStrike" dirty="0">
                          <a:effectLst/>
                        </a:rPr>
                        <a:t>Sales Profit Potencial (28 Clientes)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15" marR="5715" marT="571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u="none" strike="noStrike" dirty="0">
                          <a:effectLst/>
                        </a:rPr>
                        <a:t> R$  4,680,000.00 </a:t>
                      </a:r>
                      <a:endParaRPr lang="pt-B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15" marR="5715" marT="5715" marB="0" anchor="b"/>
                </a:tc>
                <a:extLst>
                  <a:ext uri="{0D108BD9-81ED-4DB2-BD59-A6C34878D82A}">
                    <a16:rowId xmlns:a16="http://schemas.microsoft.com/office/drawing/2014/main" val="26021952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743824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de avanço entre fases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Metas propostas para discussão. Nenhuma fase avança só pelo calendário.</a:t>
            </a:r>
            <a:endParaRPr lang="en-US" sz="13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4398264"/>
            <a:ext cx="4572000" cy="7429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503920" y="482803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2889504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00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Decisão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8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8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Critério para avançar (proposta)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B3A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G0  Escopo do produto mínimo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Fim da fase 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ou mais fazendas respondidas; perfil de cliente e cinco dores principais confirmados; patrocinador interno definido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C810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G1  Piloto validado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Fim da fase 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Lançamento em pelo menos 70% dos dias, por 8 semanas; até 10 minutos por dia; gestor usa o relatório semanal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666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G2  Escala aprovada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Fim da fase 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80% das fazendas ativas após 90 dias; nota de recomendação média de 8 ou mais; 20 fazendas atendidas pelo Rodrigo com auditoria mensal. Gatilho para contratar analistas (1 para cada 20 fazendas)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96B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G3  Integração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Durante a fase 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4A55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Pelo menos 5 fazendas pedindo integração com balança ou vagão; custo por fazenda abaixo da licença paga hoje (média de R$ 18,2 mil por ano)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4">
            <a:extLst>
              <a:ext uri="{FF2B5EF4-FFF2-40B4-BE49-F238E27FC236}">
                <a16:creationId xmlns:a16="http://schemas.microsoft.com/office/drawing/2014/main" id="{B2DA0B8F-6275-5FF9-F0FA-D4F4A45023B6}"/>
              </a:ext>
            </a:extLst>
          </p:cNvPr>
          <p:cNvSpPr txBox="1">
            <a:spLocks/>
          </p:cNvSpPr>
          <p:nvPr/>
        </p:nvSpPr>
        <p:spPr>
          <a:xfrm>
            <a:off x="89503" y="87475"/>
            <a:ext cx="7074785" cy="837590"/>
          </a:xfrm>
          <a:prstGeom prst="rect">
            <a:avLst/>
          </a:prstGeom>
        </p:spPr>
        <p:txBody>
          <a:bodyPr vert="horz" wrap="square" lIns="27000" tIns="27000" rIns="27000" bIns="27000" rtlCol="0" anchor="t" anchorCtr="0">
            <a:noAutofit/>
          </a:bodyPr>
          <a:lstStyle>
            <a:lvl1pPr algn="l" defTabSz="914400" rtl="0" eaLnBrk="1" latinLnBrk="0" hangingPunct="1">
              <a:lnSpc>
                <a:spcPts val="4200"/>
              </a:lnSpc>
              <a:spcBef>
                <a:spcPct val="0"/>
              </a:spcBef>
              <a:buNone/>
              <a:defRPr sz="4400" b="1" kern="1200" baseline="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2400" dirty="0"/>
              <a:t>Conclusão</a:t>
            </a:r>
          </a:p>
          <a:p>
            <a:pPr>
              <a:lnSpc>
                <a:spcPct val="100000"/>
              </a:lnSpc>
            </a:pPr>
            <a:r>
              <a:rPr lang="en-US" sz="1350" b="0" i="1" dirty="0"/>
              <a:t>Cinco conclusões sustentam a aprovação deste projeto.</a:t>
            </a:r>
            <a:endParaRPr lang="en-CA" sz="2400" b="0" i="1" dirty="0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A2A25C0B-CDE2-46E4-6226-A99BBA96BC8F}"/>
              </a:ext>
            </a:extLst>
          </p:cNvPr>
          <p:cNvSpPr/>
          <p:nvPr/>
        </p:nvSpPr>
        <p:spPr>
          <a:xfrm>
            <a:off x="296736" y="2093785"/>
            <a:ext cx="1516270" cy="2008610"/>
          </a:xfrm>
          <a:prstGeom prst="rect">
            <a:avLst/>
          </a:prstGeom>
          <a:solidFill>
            <a:schemeClr val="accent1">
              <a:alpha val="5000"/>
            </a:schemeClr>
          </a:solidFill>
          <a:ln w="1270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1800"/>
              </a:spcAft>
            </a:pPr>
            <a:endParaRPr lang="en-US" sz="1125" dirty="0">
              <a:solidFill>
                <a:schemeClr val="bg2">
                  <a:lumMod val="10000"/>
                </a:schemeClr>
              </a:solidFill>
            </a:endParaRPr>
          </a:p>
          <a:p>
            <a:pPr>
              <a:spcAft>
                <a:spcPts val="1800"/>
              </a:spcAft>
            </a:pPr>
            <a:r>
              <a:rPr lang="en-US" sz="1125" dirty="0">
                <a:solidFill>
                  <a:schemeClr val="bg2">
                    <a:lumMod val="10000"/>
                  </a:schemeClr>
                </a:solidFill>
              </a:rPr>
              <a:t>O projeto está alinhado às nossas Prioridades Estratégicas de Crescimento Orgânico (Receita).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12DF898B-8045-D307-C5F6-7E7C24910433}"/>
              </a:ext>
            </a:extLst>
          </p:cNvPr>
          <p:cNvSpPr/>
          <p:nvPr/>
        </p:nvSpPr>
        <p:spPr>
          <a:xfrm>
            <a:off x="2083623" y="2093785"/>
            <a:ext cx="1516270" cy="2008610"/>
          </a:xfrm>
          <a:prstGeom prst="rect">
            <a:avLst/>
          </a:prstGeom>
          <a:solidFill>
            <a:schemeClr val="accent1">
              <a:alpha val="5000"/>
            </a:schemeClr>
          </a:solidFill>
          <a:ln w="1270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1800"/>
              </a:spcAft>
            </a:pPr>
            <a:endParaRPr lang="en-US" sz="1125" dirty="0">
              <a:solidFill>
                <a:schemeClr val="bg2">
                  <a:lumMod val="10000"/>
                </a:schemeClr>
              </a:solidFill>
            </a:endParaRPr>
          </a:p>
          <a:p>
            <a:pPr>
              <a:spcAft>
                <a:spcPts val="1800"/>
              </a:spcAft>
            </a:pPr>
            <a:r>
              <a:rPr lang="en-US" sz="1125" dirty="0">
                <a:solidFill>
                  <a:schemeClr val="bg2">
                    <a:lumMod val="10000"/>
                  </a:schemeClr>
                </a:solidFill>
              </a:rPr>
              <a:t>Aumentar o Market Share de 9,8% para X%, trazendo X </a:t>
            </a:r>
            <a:r>
              <a:rPr lang="en-US" sz="1125" dirty="0" err="1">
                <a:solidFill>
                  <a:schemeClr val="bg2">
                    <a:lumMod val="10000"/>
                  </a:schemeClr>
                </a:solidFill>
              </a:rPr>
              <a:t>milhões de</a:t>
            </a:r>
            <a:r>
              <a:rPr lang="en-US" sz="1125" dirty="0">
                <a:solidFill>
                  <a:schemeClr val="bg2">
                    <a:lumMod val="10000"/>
                  </a:schemeClr>
                </a:solidFill>
              </a:rPr>
              <a:t> R$ adicionais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69BAE7BC-4D8C-21E1-471B-7FC55C53B4E6}"/>
              </a:ext>
            </a:extLst>
          </p:cNvPr>
          <p:cNvSpPr/>
          <p:nvPr/>
        </p:nvSpPr>
        <p:spPr>
          <a:xfrm>
            <a:off x="3850749" y="2093785"/>
            <a:ext cx="1516270" cy="2008610"/>
          </a:xfrm>
          <a:prstGeom prst="rect">
            <a:avLst/>
          </a:prstGeom>
          <a:solidFill>
            <a:schemeClr val="accent1">
              <a:alpha val="5000"/>
            </a:schemeClr>
          </a:solidFill>
          <a:ln w="1270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1800"/>
              </a:spcAft>
            </a:pPr>
            <a:endParaRPr lang="en-US" sz="1125" dirty="0">
              <a:solidFill>
                <a:schemeClr val="bg2">
                  <a:lumMod val="10000"/>
                </a:schemeClr>
              </a:solidFill>
            </a:endParaRPr>
          </a:p>
          <a:p>
            <a:pPr>
              <a:spcAft>
                <a:spcPts val="1800"/>
              </a:spcAft>
            </a:pPr>
            <a:r>
              <a:rPr lang="en-US" sz="1125" dirty="0">
                <a:solidFill>
                  <a:schemeClr val="bg2">
                    <a:lumMod val="10000"/>
                  </a:schemeClr>
                </a:solidFill>
              </a:rPr>
              <a:t>É o movimento certo, considerando as tendências dos clientes e os movimentos dos concorrentes.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613F4F04-4365-B53B-D98F-8826FF3A88F5}"/>
              </a:ext>
            </a:extLst>
          </p:cNvPr>
          <p:cNvSpPr/>
          <p:nvPr/>
        </p:nvSpPr>
        <p:spPr>
          <a:xfrm>
            <a:off x="5594013" y="2106189"/>
            <a:ext cx="1516270" cy="2008610"/>
          </a:xfrm>
          <a:prstGeom prst="rect">
            <a:avLst/>
          </a:prstGeom>
          <a:solidFill>
            <a:schemeClr val="accent1">
              <a:alpha val="5000"/>
            </a:schemeClr>
          </a:solidFill>
          <a:ln w="1270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1800"/>
              </a:spcAft>
            </a:pPr>
            <a:endParaRPr lang="en-US" sz="1125" dirty="0">
              <a:solidFill>
                <a:schemeClr val="bg2">
                  <a:lumMod val="10000"/>
                </a:schemeClr>
              </a:solidFill>
            </a:endParaRPr>
          </a:p>
          <a:p>
            <a:pPr>
              <a:spcAft>
                <a:spcPts val="1800"/>
              </a:spcAft>
            </a:pPr>
            <a:endParaRPr lang="en-US" sz="1125" dirty="0">
              <a:solidFill>
                <a:schemeClr val="bg2">
                  <a:lumMod val="10000"/>
                </a:schemeClr>
              </a:solidFill>
            </a:endParaRPr>
          </a:p>
          <a:p>
            <a:pPr>
              <a:spcAft>
                <a:spcPts val="1800"/>
              </a:spcAft>
            </a:pPr>
            <a:r>
              <a:rPr lang="en-US" sz="1125" dirty="0">
                <a:solidFill>
                  <a:schemeClr val="bg2">
                    <a:lumMod val="10000"/>
                  </a:schemeClr>
                </a:solidFill>
              </a:rPr>
              <a:t>A análise SWOT indica que o desenvolvimento interno tem mais vantagens do que desvantagens.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CE875A9F-5557-5B56-ED7B-BD675CA5F89B}"/>
              </a:ext>
            </a:extLst>
          </p:cNvPr>
          <p:cNvSpPr/>
          <p:nvPr/>
        </p:nvSpPr>
        <p:spPr>
          <a:xfrm>
            <a:off x="7272300" y="2105382"/>
            <a:ext cx="1516270" cy="2008610"/>
          </a:xfrm>
          <a:prstGeom prst="rect">
            <a:avLst/>
          </a:prstGeom>
          <a:solidFill>
            <a:schemeClr val="accent1">
              <a:alpha val="5000"/>
            </a:schemeClr>
          </a:solidFill>
          <a:ln w="12700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1800"/>
              </a:spcAft>
            </a:pPr>
            <a:endParaRPr lang="en-US" sz="1125" dirty="0">
              <a:solidFill>
                <a:schemeClr val="bg2">
                  <a:lumMod val="10000"/>
                </a:schemeClr>
              </a:solidFill>
            </a:endParaRPr>
          </a:p>
          <a:p>
            <a:pPr>
              <a:spcAft>
                <a:spcPts val="1800"/>
              </a:spcAft>
            </a:pPr>
            <a:endParaRPr lang="en-US" sz="1125" dirty="0">
              <a:solidFill>
                <a:schemeClr val="bg2">
                  <a:lumMod val="10000"/>
                </a:schemeClr>
              </a:solidFill>
            </a:endParaRPr>
          </a:p>
          <a:p>
            <a:pPr>
              <a:spcAft>
                <a:spcPts val="1800"/>
              </a:spcAft>
            </a:pPr>
            <a:r>
              <a:rPr lang="en-US" sz="1125" dirty="0">
                <a:solidFill>
                  <a:schemeClr val="bg2">
                    <a:lumMod val="10000"/>
                  </a:schemeClr>
                </a:solidFill>
              </a:rPr>
              <a:t>Em 5 anos, vamos investir R$ 3 milhões para capturar R$ 15 milhões em Sales Profit adicional.</a:t>
            </a:r>
          </a:p>
        </p:txBody>
      </p:sp>
      <p:sp>
        <p:nvSpPr>
          <p:cNvPr id="9" name="Oval 6">
            <a:extLst>
              <a:ext uri="{FF2B5EF4-FFF2-40B4-BE49-F238E27FC236}">
                <a16:creationId xmlns:a16="http://schemas.microsoft.com/office/drawing/2014/main" id="{82246C32-42C8-BD0E-C682-86C1BC2C007A}"/>
              </a:ext>
            </a:extLst>
          </p:cNvPr>
          <p:cNvSpPr/>
          <p:nvPr/>
        </p:nvSpPr>
        <p:spPr>
          <a:xfrm rot="16200000">
            <a:off x="6787966" y="1424521"/>
            <a:ext cx="768345" cy="1242779"/>
          </a:xfrm>
          <a:custGeom>
            <a:avLst/>
            <a:gdLst/>
            <a:ahLst/>
            <a:cxnLst/>
            <a:rect l="l" t="t" r="r" b="b"/>
            <a:pathLst>
              <a:path w="890376" h="1440160">
                <a:moveTo>
                  <a:pt x="445188" y="0"/>
                </a:moveTo>
                <a:cubicBezTo>
                  <a:pt x="614149" y="0"/>
                  <a:pt x="769519" y="58193"/>
                  <a:pt x="890376" y="158114"/>
                </a:cubicBezTo>
                <a:cubicBezTo>
                  <a:pt x="722128" y="287532"/>
                  <a:pt x="615484" y="491352"/>
                  <a:pt x="615484" y="720080"/>
                </a:cubicBezTo>
                <a:cubicBezTo>
                  <a:pt x="615484" y="948808"/>
                  <a:pt x="722128" y="1152628"/>
                  <a:pt x="890376" y="1282046"/>
                </a:cubicBezTo>
                <a:cubicBezTo>
                  <a:pt x="769519" y="1381967"/>
                  <a:pt x="614149" y="1440160"/>
                  <a:pt x="445188" y="1440160"/>
                </a:cubicBezTo>
                <a:cubicBezTo>
                  <a:pt x="276227" y="1440160"/>
                  <a:pt x="120857" y="1381967"/>
                  <a:pt x="0" y="1282046"/>
                </a:cubicBezTo>
                <a:cubicBezTo>
                  <a:pt x="168248" y="1152628"/>
                  <a:pt x="274891" y="948808"/>
                  <a:pt x="274891" y="720080"/>
                </a:cubicBezTo>
                <a:cubicBezTo>
                  <a:pt x="274891" y="491352"/>
                  <a:pt x="168248" y="287532"/>
                  <a:pt x="0" y="158114"/>
                </a:cubicBezTo>
                <a:cubicBezTo>
                  <a:pt x="120857" y="58193"/>
                  <a:pt x="276227" y="0"/>
                  <a:pt x="445188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90500" sx="102000" sy="102000" algn="ctr" rotWithShape="0">
              <a:prstClr val="black">
                <a:alpha val="1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25"/>
          </a:p>
        </p:txBody>
      </p:sp>
      <p:sp>
        <p:nvSpPr>
          <p:cNvPr id="10" name="Oval 18">
            <a:extLst>
              <a:ext uri="{FF2B5EF4-FFF2-40B4-BE49-F238E27FC236}">
                <a16:creationId xmlns:a16="http://schemas.microsoft.com/office/drawing/2014/main" id="{DA5EE5D7-7915-2D80-262A-75EDA6928FB2}"/>
              </a:ext>
            </a:extLst>
          </p:cNvPr>
          <p:cNvSpPr/>
          <p:nvPr/>
        </p:nvSpPr>
        <p:spPr>
          <a:xfrm>
            <a:off x="7360839" y="1393451"/>
            <a:ext cx="1304918" cy="1304918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190500" sx="102000" sy="102000" algn="ctr" rotWithShape="0">
              <a:prstClr val="black">
                <a:alpha val="1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25"/>
          </a:p>
        </p:txBody>
      </p:sp>
      <p:sp>
        <p:nvSpPr>
          <p:cNvPr id="11" name="Oval 3">
            <a:extLst>
              <a:ext uri="{FF2B5EF4-FFF2-40B4-BE49-F238E27FC236}">
                <a16:creationId xmlns:a16="http://schemas.microsoft.com/office/drawing/2014/main" id="{DCF6A255-DEBF-46A4-E765-AC00AEECCBA8}"/>
              </a:ext>
            </a:extLst>
          </p:cNvPr>
          <p:cNvSpPr/>
          <p:nvPr/>
        </p:nvSpPr>
        <p:spPr>
          <a:xfrm>
            <a:off x="7422978" y="1455590"/>
            <a:ext cx="1180640" cy="1180640"/>
          </a:xfrm>
          <a:custGeom>
            <a:avLst/>
            <a:gdLst/>
            <a:ahLst/>
            <a:cxnLst/>
            <a:rect l="l" t="t" r="r" b="b"/>
            <a:pathLst>
              <a:path w="1368152" h="1368152">
                <a:moveTo>
                  <a:pt x="684076" y="0"/>
                </a:moveTo>
                <a:cubicBezTo>
                  <a:pt x="1061881" y="0"/>
                  <a:pt x="1368152" y="306271"/>
                  <a:pt x="1368152" y="684076"/>
                </a:cubicBezTo>
                <a:lnTo>
                  <a:pt x="1359710" y="767824"/>
                </a:lnTo>
                <a:cubicBezTo>
                  <a:pt x="1086175" y="819898"/>
                  <a:pt x="877562" y="1054565"/>
                  <a:pt x="866904" y="1340297"/>
                </a:cubicBezTo>
                <a:cubicBezTo>
                  <a:pt x="809279" y="1359469"/>
                  <a:pt x="747692" y="1368152"/>
                  <a:pt x="684076" y="1368152"/>
                </a:cubicBezTo>
                <a:cubicBezTo>
                  <a:pt x="306271" y="1368152"/>
                  <a:pt x="0" y="1061881"/>
                  <a:pt x="0" y="684076"/>
                </a:cubicBezTo>
                <a:cubicBezTo>
                  <a:pt x="0" y="306271"/>
                  <a:pt x="306271" y="0"/>
                  <a:pt x="68407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25400" sx="102000" sy="102000" algn="ctr" rotWithShape="0">
              <a:prstClr val="black">
                <a:alpha val="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25"/>
          </a:p>
        </p:txBody>
      </p:sp>
      <p:sp>
        <p:nvSpPr>
          <p:cNvPr id="12" name="TextBox 307">
            <a:extLst>
              <a:ext uri="{FF2B5EF4-FFF2-40B4-BE49-F238E27FC236}">
                <a16:creationId xmlns:a16="http://schemas.microsoft.com/office/drawing/2014/main" id="{95FD6FA0-D3E3-D0AA-0D53-8D6F52B36528}"/>
              </a:ext>
            </a:extLst>
          </p:cNvPr>
          <p:cNvSpPr txBox="1"/>
          <p:nvPr/>
        </p:nvSpPr>
        <p:spPr>
          <a:xfrm>
            <a:off x="8213124" y="2189168"/>
            <a:ext cx="379183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100" b="1">
                <a:solidFill>
                  <a:schemeClr val="accent3"/>
                </a:solidFill>
              </a:rPr>
              <a:t>5</a:t>
            </a:r>
            <a:endParaRPr lang="ko-KR" altLang="en-US" sz="2100" b="1">
              <a:solidFill>
                <a:schemeClr val="accent3"/>
              </a:solidFill>
            </a:endParaRPr>
          </a:p>
        </p:txBody>
      </p:sp>
      <p:sp>
        <p:nvSpPr>
          <p:cNvPr id="14" name="Oval 6">
            <a:extLst>
              <a:ext uri="{FF2B5EF4-FFF2-40B4-BE49-F238E27FC236}">
                <a16:creationId xmlns:a16="http://schemas.microsoft.com/office/drawing/2014/main" id="{D0426ABC-37BB-357D-8CC5-AD87FA09C2F7}"/>
              </a:ext>
            </a:extLst>
          </p:cNvPr>
          <p:cNvSpPr/>
          <p:nvPr/>
        </p:nvSpPr>
        <p:spPr>
          <a:xfrm rot="16200000">
            <a:off x="5113780" y="1424521"/>
            <a:ext cx="768345" cy="1242779"/>
          </a:xfrm>
          <a:custGeom>
            <a:avLst/>
            <a:gdLst/>
            <a:ahLst/>
            <a:cxnLst/>
            <a:rect l="l" t="t" r="r" b="b"/>
            <a:pathLst>
              <a:path w="890376" h="1440160">
                <a:moveTo>
                  <a:pt x="445188" y="0"/>
                </a:moveTo>
                <a:cubicBezTo>
                  <a:pt x="614149" y="0"/>
                  <a:pt x="769519" y="58193"/>
                  <a:pt x="890376" y="158114"/>
                </a:cubicBezTo>
                <a:cubicBezTo>
                  <a:pt x="722128" y="287532"/>
                  <a:pt x="615484" y="491352"/>
                  <a:pt x="615484" y="720080"/>
                </a:cubicBezTo>
                <a:cubicBezTo>
                  <a:pt x="615484" y="948808"/>
                  <a:pt x="722128" y="1152628"/>
                  <a:pt x="890376" y="1282046"/>
                </a:cubicBezTo>
                <a:cubicBezTo>
                  <a:pt x="769519" y="1381967"/>
                  <a:pt x="614149" y="1440160"/>
                  <a:pt x="445188" y="1440160"/>
                </a:cubicBezTo>
                <a:cubicBezTo>
                  <a:pt x="276227" y="1440160"/>
                  <a:pt x="120857" y="1381967"/>
                  <a:pt x="0" y="1282046"/>
                </a:cubicBezTo>
                <a:cubicBezTo>
                  <a:pt x="168248" y="1152628"/>
                  <a:pt x="274891" y="948808"/>
                  <a:pt x="274891" y="720080"/>
                </a:cubicBezTo>
                <a:cubicBezTo>
                  <a:pt x="274891" y="491352"/>
                  <a:pt x="168248" y="287532"/>
                  <a:pt x="0" y="158114"/>
                </a:cubicBezTo>
                <a:cubicBezTo>
                  <a:pt x="120857" y="58193"/>
                  <a:pt x="276227" y="0"/>
                  <a:pt x="445188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90500" sx="102000" sy="102000" algn="ctr" rotWithShape="0">
              <a:prstClr val="black">
                <a:alpha val="1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25"/>
          </a:p>
        </p:txBody>
      </p:sp>
      <p:sp>
        <p:nvSpPr>
          <p:cNvPr id="15" name="Oval 6">
            <a:extLst>
              <a:ext uri="{FF2B5EF4-FFF2-40B4-BE49-F238E27FC236}">
                <a16:creationId xmlns:a16="http://schemas.microsoft.com/office/drawing/2014/main" id="{B8030DFD-E081-A16A-3534-DE314258713C}"/>
              </a:ext>
            </a:extLst>
          </p:cNvPr>
          <p:cNvSpPr/>
          <p:nvPr/>
        </p:nvSpPr>
        <p:spPr>
          <a:xfrm rot="16200000">
            <a:off x="3331582" y="1424521"/>
            <a:ext cx="768345" cy="1242779"/>
          </a:xfrm>
          <a:custGeom>
            <a:avLst/>
            <a:gdLst/>
            <a:ahLst/>
            <a:cxnLst/>
            <a:rect l="l" t="t" r="r" b="b"/>
            <a:pathLst>
              <a:path w="890376" h="1440160">
                <a:moveTo>
                  <a:pt x="445188" y="0"/>
                </a:moveTo>
                <a:cubicBezTo>
                  <a:pt x="614149" y="0"/>
                  <a:pt x="769519" y="58193"/>
                  <a:pt x="890376" y="158114"/>
                </a:cubicBezTo>
                <a:cubicBezTo>
                  <a:pt x="722128" y="287532"/>
                  <a:pt x="615484" y="491352"/>
                  <a:pt x="615484" y="720080"/>
                </a:cubicBezTo>
                <a:cubicBezTo>
                  <a:pt x="615484" y="948808"/>
                  <a:pt x="722128" y="1152628"/>
                  <a:pt x="890376" y="1282046"/>
                </a:cubicBezTo>
                <a:cubicBezTo>
                  <a:pt x="769519" y="1381967"/>
                  <a:pt x="614149" y="1440160"/>
                  <a:pt x="445188" y="1440160"/>
                </a:cubicBezTo>
                <a:cubicBezTo>
                  <a:pt x="276227" y="1440160"/>
                  <a:pt x="120857" y="1381967"/>
                  <a:pt x="0" y="1282046"/>
                </a:cubicBezTo>
                <a:cubicBezTo>
                  <a:pt x="168248" y="1152628"/>
                  <a:pt x="274891" y="948808"/>
                  <a:pt x="274891" y="720080"/>
                </a:cubicBezTo>
                <a:cubicBezTo>
                  <a:pt x="274891" y="491352"/>
                  <a:pt x="168248" y="287532"/>
                  <a:pt x="0" y="158114"/>
                </a:cubicBezTo>
                <a:cubicBezTo>
                  <a:pt x="120857" y="58193"/>
                  <a:pt x="276227" y="0"/>
                  <a:pt x="445188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90500" sx="102000" sy="102000" algn="ctr" rotWithShape="0">
              <a:prstClr val="black">
                <a:alpha val="1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25"/>
          </a:p>
        </p:txBody>
      </p:sp>
      <p:sp>
        <p:nvSpPr>
          <p:cNvPr id="16" name="Oval 6">
            <a:extLst>
              <a:ext uri="{FF2B5EF4-FFF2-40B4-BE49-F238E27FC236}">
                <a16:creationId xmlns:a16="http://schemas.microsoft.com/office/drawing/2014/main" id="{77D3E33F-9390-C5D6-5A33-A31DCC037386}"/>
              </a:ext>
            </a:extLst>
          </p:cNvPr>
          <p:cNvSpPr/>
          <p:nvPr/>
        </p:nvSpPr>
        <p:spPr>
          <a:xfrm rot="16200000">
            <a:off x="1603390" y="1424521"/>
            <a:ext cx="768345" cy="1242779"/>
          </a:xfrm>
          <a:custGeom>
            <a:avLst/>
            <a:gdLst/>
            <a:ahLst/>
            <a:cxnLst/>
            <a:rect l="l" t="t" r="r" b="b"/>
            <a:pathLst>
              <a:path w="890376" h="1440160">
                <a:moveTo>
                  <a:pt x="445188" y="0"/>
                </a:moveTo>
                <a:cubicBezTo>
                  <a:pt x="614149" y="0"/>
                  <a:pt x="769519" y="58193"/>
                  <a:pt x="890376" y="158114"/>
                </a:cubicBezTo>
                <a:cubicBezTo>
                  <a:pt x="722128" y="287532"/>
                  <a:pt x="615484" y="491352"/>
                  <a:pt x="615484" y="720080"/>
                </a:cubicBezTo>
                <a:cubicBezTo>
                  <a:pt x="615484" y="948808"/>
                  <a:pt x="722128" y="1152628"/>
                  <a:pt x="890376" y="1282046"/>
                </a:cubicBezTo>
                <a:cubicBezTo>
                  <a:pt x="769519" y="1381967"/>
                  <a:pt x="614149" y="1440160"/>
                  <a:pt x="445188" y="1440160"/>
                </a:cubicBezTo>
                <a:cubicBezTo>
                  <a:pt x="276227" y="1440160"/>
                  <a:pt x="120857" y="1381967"/>
                  <a:pt x="0" y="1282046"/>
                </a:cubicBezTo>
                <a:cubicBezTo>
                  <a:pt x="168248" y="1152628"/>
                  <a:pt x="274891" y="948808"/>
                  <a:pt x="274891" y="720080"/>
                </a:cubicBezTo>
                <a:cubicBezTo>
                  <a:pt x="274891" y="491352"/>
                  <a:pt x="168248" y="287532"/>
                  <a:pt x="0" y="158114"/>
                </a:cubicBezTo>
                <a:cubicBezTo>
                  <a:pt x="120857" y="58193"/>
                  <a:pt x="276227" y="0"/>
                  <a:pt x="445188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190500" sx="102000" sy="102000" algn="ctr" rotWithShape="0">
              <a:prstClr val="black">
                <a:alpha val="1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25"/>
          </a:p>
        </p:txBody>
      </p:sp>
      <p:sp>
        <p:nvSpPr>
          <p:cNvPr id="17" name="Oval 9">
            <a:extLst>
              <a:ext uri="{FF2B5EF4-FFF2-40B4-BE49-F238E27FC236}">
                <a16:creationId xmlns:a16="http://schemas.microsoft.com/office/drawing/2014/main" id="{8CA2FD6A-42C6-F9E0-C448-2FF6A00FFB0B}"/>
              </a:ext>
            </a:extLst>
          </p:cNvPr>
          <p:cNvSpPr/>
          <p:nvPr/>
        </p:nvSpPr>
        <p:spPr>
          <a:xfrm>
            <a:off x="413538" y="1393451"/>
            <a:ext cx="1304918" cy="1304918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190500" sx="102000" sy="102000" algn="ctr" rotWithShape="0">
              <a:prstClr val="black">
                <a:alpha val="1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25"/>
          </a:p>
        </p:txBody>
      </p:sp>
      <p:sp>
        <p:nvSpPr>
          <p:cNvPr id="18" name="Oval 3">
            <a:extLst>
              <a:ext uri="{FF2B5EF4-FFF2-40B4-BE49-F238E27FC236}">
                <a16:creationId xmlns:a16="http://schemas.microsoft.com/office/drawing/2014/main" id="{1AC894EE-6512-91BA-0119-608367E522B9}"/>
              </a:ext>
            </a:extLst>
          </p:cNvPr>
          <p:cNvSpPr/>
          <p:nvPr/>
        </p:nvSpPr>
        <p:spPr>
          <a:xfrm>
            <a:off x="475677" y="1455590"/>
            <a:ext cx="1180640" cy="1180640"/>
          </a:xfrm>
          <a:custGeom>
            <a:avLst/>
            <a:gdLst/>
            <a:ahLst/>
            <a:cxnLst/>
            <a:rect l="l" t="t" r="r" b="b"/>
            <a:pathLst>
              <a:path w="1368152" h="1368152">
                <a:moveTo>
                  <a:pt x="684076" y="0"/>
                </a:moveTo>
                <a:cubicBezTo>
                  <a:pt x="1061881" y="0"/>
                  <a:pt x="1368152" y="306271"/>
                  <a:pt x="1368152" y="684076"/>
                </a:cubicBezTo>
                <a:lnTo>
                  <a:pt x="1359710" y="767824"/>
                </a:lnTo>
                <a:cubicBezTo>
                  <a:pt x="1086175" y="819898"/>
                  <a:pt x="877562" y="1054565"/>
                  <a:pt x="866904" y="1340297"/>
                </a:cubicBezTo>
                <a:cubicBezTo>
                  <a:pt x="809279" y="1359469"/>
                  <a:pt x="747692" y="1368152"/>
                  <a:pt x="684076" y="1368152"/>
                </a:cubicBezTo>
                <a:cubicBezTo>
                  <a:pt x="306271" y="1368152"/>
                  <a:pt x="0" y="1061881"/>
                  <a:pt x="0" y="684076"/>
                </a:cubicBezTo>
                <a:cubicBezTo>
                  <a:pt x="0" y="306271"/>
                  <a:pt x="306271" y="0"/>
                  <a:pt x="68407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25400" sx="102000" sy="102000" algn="ctr" rotWithShape="0">
              <a:prstClr val="black">
                <a:alpha val="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25"/>
          </a:p>
        </p:txBody>
      </p:sp>
      <p:sp>
        <p:nvSpPr>
          <p:cNvPr id="19" name="Oval 12">
            <a:extLst>
              <a:ext uri="{FF2B5EF4-FFF2-40B4-BE49-F238E27FC236}">
                <a16:creationId xmlns:a16="http://schemas.microsoft.com/office/drawing/2014/main" id="{7EE0F3AA-ED48-9AB9-CB02-A69C133FBDDE}"/>
              </a:ext>
            </a:extLst>
          </p:cNvPr>
          <p:cNvSpPr/>
          <p:nvPr/>
        </p:nvSpPr>
        <p:spPr>
          <a:xfrm>
            <a:off x="2176263" y="1393451"/>
            <a:ext cx="1304918" cy="1304918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190500" sx="102000" sy="102000" algn="ctr" rotWithShape="0">
              <a:prstClr val="black">
                <a:alpha val="1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25"/>
          </a:p>
        </p:txBody>
      </p:sp>
      <p:sp>
        <p:nvSpPr>
          <p:cNvPr id="20" name="Oval 3">
            <a:extLst>
              <a:ext uri="{FF2B5EF4-FFF2-40B4-BE49-F238E27FC236}">
                <a16:creationId xmlns:a16="http://schemas.microsoft.com/office/drawing/2014/main" id="{ACB96CD0-70C8-E643-F902-F6F4A6A9552B}"/>
              </a:ext>
            </a:extLst>
          </p:cNvPr>
          <p:cNvSpPr/>
          <p:nvPr/>
        </p:nvSpPr>
        <p:spPr>
          <a:xfrm>
            <a:off x="2238402" y="1455590"/>
            <a:ext cx="1180640" cy="1180640"/>
          </a:xfrm>
          <a:custGeom>
            <a:avLst/>
            <a:gdLst/>
            <a:ahLst/>
            <a:cxnLst/>
            <a:rect l="l" t="t" r="r" b="b"/>
            <a:pathLst>
              <a:path w="1368152" h="1368152">
                <a:moveTo>
                  <a:pt x="684076" y="0"/>
                </a:moveTo>
                <a:cubicBezTo>
                  <a:pt x="1061881" y="0"/>
                  <a:pt x="1368152" y="306271"/>
                  <a:pt x="1368152" y="684076"/>
                </a:cubicBezTo>
                <a:lnTo>
                  <a:pt x="1359710" y="767824"/>
                </a:lnTo>
                <a:cubicBezTo>
                  <a:pt x="1086175" y="819898"/>
                  <a:pt x="877562" y="1054565"/>
                  <a:pt x="866904" y="1340297"/>
                </a:cubicBezTo>
                <a:cubicBezTo>
                  <a:pt x="809279" y="1359469"/>
                  <a:pt x="747692" y="1368152"/>
                  <a:pt x="684076" y="1368152"/>
                </a:cubicBezTo>
                <a:cubicBezTo>
                  <a:pt x="306271" y="1368152"/>
                  <a:pt x="0" y="1061881"/>
                  <a:pt x="0" y="684076"/>
                </a:cubicBezTo>
                <a:cubicBezTo>
                  <a:pt x="0" y="306271"/>
                  <a:pt x="306271" y="0"/>
                  <a:pt x="68407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25400" sx="102000" sy="102000" algn="ctr" rotWithShape="0">
              <a:prstClr val="black">
                <a:alpha val="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25"/>
          </a:p>
        </p:txBody>
      </p:sp>
      <p:sp>
        <p:nvSpPr>
          <p:cNvPr id="21" name="Oval 15">
            <a:extLst>
              <a:ext uri="{FF2B5EF4-FFF2-40B4-BE49-F238E27FC236}">
                <a16:creationId xmlns:a16="http://schemas.microsoft.com/office/drawing/2014/main" id="{1041ED6B-1CD8-DCF6-AC71-96B184B7ECEA}"/>
              </a:ext>
            </a:extLst>
          </p:cNvPr>
          <p:cNvSpPr/>
          <p:nvPr/>
        </p:nvSpPr>
        <p:spPr>
          <a:xfrm>
            <a:off x="3958461" y="1393451"/>
            <a:ext cx="1304918" cy="1304918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190500" sx="102000" sy="102000" algn="ctr" rotWithShape="0">
              <a:prstClr val="black">
                <a:alpha val="1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25"/>
          </a:p>
        </p:txBody>
      </p:sp>
      <p:sp>
        <p:nvSpPr>
          <p:cNvPr id="22" name="Oval 3">
            <a:extLst>
              <a:ext uri="{FF2B5EF4-FFF2-40B4-BE49-F238E27FC236}">
                <a16:creationId xmlns:a16="http://schemas.microsoft.com/office/drawing/2014/main" id="{74B4D89E-7FFE-349E-512D-7BDE977E894A}"/>
              </a:ext>
            </a:extLst>
          </p:cNvPr>
          <p:cNvSpPr/>
          <p:nvPr/>
        </p:nvSpPr>
        <p:spPr>
          <a:xfrm>
            <a:off x="4020600" y="1455590"/>
            <a:ext cx="1180640" cy="1180640"/>
          </a:xfrm>
          <a:custGeom>
            <a:avLst/>
            <a:gdLst/>
            <a:ahLst/>
            <a:cxnLst/>
            <a:rect l="l" t="t" r="r" b="b"/>
            <a:pathLst>
              <a:path w="1368152" h="1368152">
                <a:moveTo>
                  <a:pt x="684076" y="0"/>
                </a:moveTo>
                <a:cubicBezTo>
                  <a:pt x="1061881" y="0"/>
                  <a:pt x="1368152" y="306271"/>
                  <a:pt x="1368152" y="684076"/>
                </a:cubicBezTo>
                <a:lnTo>
                  <a:pt x="1359710" y="767824"/>
                </a:lnTo>
                <a:cubicBezTo>
                  <a:pt x="1086175" y="819898"/>
                  <a:pt x="877562" y="1054565"/>
                  <a:pt x="866904" y="1340297"/>
                </a:cubicBezTo>
                <a:cubicBezTo>
                  <a:pt x="809279" y="1359469"/>
                  <a:pt x="747692" y="1368152"/>
                  <a:pt x="684076" y="1368152"/>
                </a:cubicBezTo>
                <a:cubicBezTo>
                  <a:pt x="306271" y="1368152"/>
                  <a:pt x="0" y="1061881"/>
                  <a:pt x="0" y="684076"/>
                </a:cubicBezTo>
                <a:cubicBezTo>
                  <a:pt x="0" y="306271"/>
                  <a:pt x="306271" y="0"/>
                  <a:pt x="68407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25400" sx="102000" sy="102000" algn="ctr" rotWithShape="0">
              <a:prstClr val="black">
                <a:alpha val="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25"/>
          </a:p>
        </p:txBody>
      </p:sp>
      <p:sp>
        <p:nvSpPr>
          <p:cNvPr id="23" name="Oval 18">
            <a:extLst>
              <a:ext uri="{FF2B5EF4-FFF2-40B4-BE49-F238E27FC236}">
                <a16:creationId xmlns:a16="http://schemas.microsoft.com/office/drawing/2014/main" id="{ADABE66C-BEF4-87BF-17FE-0BBEBF459A72}"/>
              </a:ext>
            </a:extLst>
          </p:cNvPr>
          <p:cNvSpPr/>
          <p:nvPr/>
        </p:nvSpPr>
        <p:spPr>
          <a:xfrm>
            <a:off x="5686653" y="1393451"/>
            <a:ext cx="1304918" cy="1304918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190500" sx="102000" sy="102000" algn="ctr" rotWithShape="0">
              <a:prstClr val="black">
                <a:alpha val="1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25"/>
          </a:p>
        </p:txBody>
      </p:sp>
      <p:sp>
        <p:nvSpPr>
          <p:cNvPr id="24" name="Oval 3">
            <a:extLst>
              <a:ext uri="{FF2B5EF4-FFF2-40B4-BE49-F238E27FC236}">
                <a16:creationId xmlns:a16="http://schemas.microsoft.com/office/drawing/2014/main" id="{496816FF-1DCE-C27F-E1BB-A34B20085C34}"/>
              </a:ext>
            </a:extLst>
          </p:cNvPr>
          <p:cNvSpPr/>
          <p:nvPr/>
        </p:nvSpPr>
        <p:spPr>
          <a:xfrm>
            <a:off x="5748792" y="1455590"/>
            <a:ext cx="1180640" cy="1180640"/>
          </a:xfrm>
          <a:custGeom>
            <a:avLst/>
            <a:gdLst/>
            <a:ahLst/>
            <a:cxnLst/>
            <a:rect l="l" t="t" r="r" b="b"/>
            <a:pathLst>
              <a:path w="1368152" h="1368152">
                <a:moveTo>
                  <a:pt x="684076" y="0"/>
                </a:moveTo>
                <a:cubicBezTo>
                  <a:pt x="1061881" y="0"/>
                  <a:pt x="1368152" y="306271"/>
                  <a:pt x="1368152" y="684076"/>
                </a:cubicBezTo>
                <a:lnTo>
                  <a:pt x="1359710" y="767824"/>
                </a:lnTo>
                <a:cubicBezTo>
                  <a:pt x="1086175" y="819898"/>
                  <a:pt x="877562" y="1054565"/>
                  <a:pt x="866904" y="1340297"/>
                </a:cubicBezTo>
                <a:cubicBezTo>
                  <a:pt x="809279" y="1359469"/>
                  <a:pt x="747692" y="1368152"/>
                  <a:pt x="684076" y="1368152"/>
                </a:cubicBezTo>
                <a:cubicBezTo>
                  <a:pt x="306271" y="1368152"/>
                  <a:pt x="0" y="1061881"/>
                  <a:pt x="0" y="684076"/>
                </a:cubicBezTo>
                <a:cubicBezTo>
                  <a:pt x="0" y="306271"/>
                  <a:pt x="306271" y="0"/>
                  <a:pt x="68407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25400" sx="102000" sy="102000" algn="ctr" rotWithShape="0">
              <a:prstClr val="black">
                <a:alpha val="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25"/>
          </a:p>
        </p:txBody>
      </p:sp>
      <p:sp>
        <p:nvSpPr>
          <p:cNvPr id="25" name="TextBox 304">
            <a:extLst>
              <a:ext uri="{FF2B5EF4-FFF2-40B4-BE49-F238E27FC236}">
                <a16:creationId xmlns:a16="http://schemas.microsoft.com/office/drawing/2014/main" id="{180A2A0C-B094-EEEF-30D1-6D2F9A74DCC3}"/>
              </a:ext>
            </a:extLst>
          </p:cNvPr>
          <p:cNvSpPr txBox="1"/>
          <p:nvPr/>
        </p:nvSpPr>
        <p:spPr>
          <a:xfrm>
            <a:off x="1246235" y="2189168"/>
            <a:ext cx="379183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100" b="1">
                <a:solidFill>
                  <a:schemeClr val="accent3"/>
                </a:solidFill>
              </a:rPr>
              <a:t>1</a:t>
            </a:r>
            <a:endParaRPr lang="ko-KR" altLang="en-US" sz="2100" b="1">
              <a:solidFill>
                <a:schemeClr val="accent3"/>
              </a:solidFill>
            </a:endParaRPr>
          </a:p>
        </p:txBody>
      </p:sp>
      <p:sp>
        <p:nvSpPr>
          <p:cNvPr id="26" name="TextBox 305">
            <a:extLst>
              <a:ext uri="{FF2B5EF4-FFF2-40B4-BE49-F238E27FC236}">
                <a16:creationId xmlns:a16="http://schemas.microsoft.com/office/drawing/2014/main" id="{5D5691D9-14B7-FB6E-59C8-FF2F60520D2F}"/>
              </a:ext>
            </a:extLst>
          </p:cNvPr>
          <p:cNvSpPr txBox="1"/>
          <p:nvPr/>
        </p:nvSpPr>
        <p:spPr>
          <a:xfrm>
            <a:off x="3015489" y="2189168"/>
            <a:ext cx="379183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100" b="1">
                <a:solidFill>
                  <a:schemeClr val="accent3"/>
                </a:solidFill>
              </a:rPr>
              <a:t>2</a:t>
            </a:r>
            <a:endParaRPr lang="ko-KR" altLang="en-US" sz="2100" b="1">
              <a:solidFill>
                <a:schemeClr val="accent3"/>
              </a:solidFill>
            </a:endParaRPr>
          </a:p>
        </p:txBody>
      </p:sp>
      <p:sp>
        <p:nvSpPr>
          <p:cNvPr id="27" name="TextBox 306">
            <a:extLst>
              <a:ext uri="{FF2B5EF4-FFF2-40B4-BE49-F238E27FC236}">
                <a16:creationId xmlns:a16="http://schemas.microsoft.com/office/drawing/2014/main" id="{1EEE707E-A837-EDFB-A2B7-0DA1C3E462C1}"/>
              </a:ext>
            </a:extLst>
          </p:cNvPr>
          <p:cNvSpPr txBox="1"/>
          <p:nvPr/>
        </p:nvSpPr>
        <p:spPr>
          <a:xfrm>
            <a:off x="4804216" y="2189168"/>
            <a:ext cx="379183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100" b="1" dirty="0">
                <a:solidFill>
                  <a:schemeClr val="accent3"/>
                </a:solidFill>
              </a:rPr>
              <a:t>3</a:t>
            </a:r>
            <a:endParaRPr lang="ko-KR" altLang="en-US" sz="2100" b="1" dirty="0">
              <a:solidFill>
                <a:schemeClr val="accent3"/>
              </a:solidFill>
            </a:endParaRPr>
          </a:p>
        </p:txBody>
      </p:sp>
      <p:sp>
        <p:nvSpPr>
          <p:cNvPr id="28" name="TextBox 307">
            <a:extLst>
              <a:ext uri="{FF2B5EF4-FFF2-40B4-BE49-F238E27FC236}">
                <a16:creationId xmlns:a16="http://schemas.microsoft.com/office/drawing/2014/main" id="{425134F9-9578-43B9-56C0-0745A73EB542}"/>
              </a:ext>
            </a:extLst>
          </p:cNvPr>
          <p:cNvSpPr txBox="1"/>
          <p:nvPr/>
        </p:nvSpPr>
        <p:spPr>
          <a:xfrm>
            <a:off x="6538938" y="2189168"/>
            <a:ext cx="379183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100" b="1">
                <a:solidFill>
                  <a:schemeClr val="accent3"/>
                </a:solidFill>
              </a:rPr>
              <a:t>4</a:t>
            </a:r>
            <a:endParaRPr lang="ko-KR" altLang="en-US" sz="2100" b="1">
              <a:solidFill>
                <a:schemeClr val="accent3"/>
              </a:solidFill>
            </a:endParaRPr>
          </a:p>
        </p:txBody>
      </p:sp>
      <p:sp>
        <p:nvSpPr>
          <p:cNvPr id="29" name="TextBox 308">
            <a:extLst>
              <a:ext uri="{FF2B5EF4-FFF2-40B4-BE49-F238E27FC236}">
                <a16:creationId xmlns:a16="http://schemas.microsoft.com/office/drawing/2014/main" id="{EEA57E96-F4A2-2171-260C-8F00DD91D3B7}"/>
              </a:ext>
            </a:extLst>
          </p:cNvPr>
          <p:cNvSpPr txBox="1"/>
          <p:nvPr/>
        </p:nvSpPr>
        <p:spPr>
          <a:xfrm>
            <a:off x="565353" y="1815074"/>
            <a:ext cx="8704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schemeClr val="bg1"/>
                </a:solidFill>
                <a:cs typeface="Arial" pitchFamily="34" charset="0"/>
              </a:rPr>
              <a:t>Aderência Estratégica</a:t>
            </a:r>
            <a:endParaRPr lang="ko-KR" altLang="en-US" sz="12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33" name="TextBox 308">
            <a:extLst>
              <a:ext uri="{FF2B5EF4-FFF2-40B4-BE49-F238E27FC236}">
                <a16:creationId xmlns:a16="http://schemas.microsoft.com/office/drawing/2014/main" id="{FA280527-06BC-9F1F-1DDF-15072CD80472}"/>
              </a:ext>
            </a:extLst>
          </p:cNvPr>
          <p:cNvSpPr txBox="1"/>
          <p:nvPr/>
        </p:nvSpPr>
        <p:spPr>
          <a:xfrm>
            <a:off x="2329396" y="1816787"/>
            <a:ext cx="8704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schemeClr val="bg1"/>
                </a:solidFill>
                <a:cs typeface="Arial" pitchFamily="34" charset="0"/>
              </a:rPr>
              <a:t>Potencial de Mercado</a:t>
            </a:r>
            <a:endParaRPr lang="ko-KR" altLang="en-US" sz="12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34" name="TextBox 308">
            <a:extLst>
              <a:ext uri="{FF2B5EF4-FFF2-40B4-BE49-F238E27FC236}">
                <a16:creationId xmlns:a16="http://schemas.microsoft.com/office/drawing/2014/main" id="{BE54EA84-BC53-453D-20C7-F23543C6C9ED}"/>
              </a:ext>
            </a:extLst>
          </p:cNvPr>
          <p:cNvSpPr txBox="1"/>
          <p:nvPr/>
        </p:nvSpPr>
        <p:spPr>
          <a:xfrm>
            <a:off x="4108423" y="1826619"/>
            <a:ext cx="9563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schemeClr val="bg1"/>
                </a:solidFill>
                <a:cs typeface="Arial" pitchFamily="34" charset="0"/>
              </a:rPr>
              <a:t>Cenário Competitivo</a:t>
            </a:r>
            <a:endParaRPr lang="ko-KR" altLang="en-US" sz="12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35" name="TextBox 308">
            <a:extLst>
              <a:ext uri="{FF2B5EF4-FFF2-40B4-BE49-F238E27FC236}">
                <a16:creationId xmlns:a16="http://schemas.microsoft.com/office/drawing/2014/main" id="{0C1E30B5-47EE-12EB-6CC9-53F7AA290B54}"/>
              </a:ext>
            </a:extLst>
          </p:cNvPr>
          <p:cNvSpPr txBox="1"/>
          <p:nvPr/>
        </p:nvSpPr>
        <p:spPr>
          <a:xfrm>
            <a:off x="5858056" y="1799535"/>
            <a:ext cx="8704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schemeClr val="bg1"/>
                </a:solidFill>
                <a:cs typeface="Arial" pitchFamily="34" charset="0"/>
              </a:rPr>
              <a:t>Abordagem Correta</a:t>
            </a:r>
            <a:endParaRPr lang="ko-KR" altLang="en-US" sz="12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36" name="TextBox 308">
            <a:extLst>
              <a:ext uri="{FF2B5EF4-FFF2-40B4-BE49-F238E27FC236}">
                <a16:creationId xmlns:a16="http://schemas.microsoft.com/office/drawing/2014/main" id="{E13F61C0-8521-A2B0-BA13-B107D335DA18}"/>
              </a:ext>
            </a:extLst>
          </p:cNvPr>
          <p:cNvSpPr txBox="1"/>
          <p:nvPr/>
        </p:nvSpPr>
        <p:spPr>
          <a:xfrm>
            <a:off x="7541690" y="1826618"/>
            <a:ext cx="8704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>
                <a:solidFill>
                  <a:schemeClr val="bg1"/>
                </a:solidFill>
                <a:cs typeface="Arial" pitchFamily="34" charset="0"/>
              </a:rPr>
              <a:t>ROI Atrativo</a:t>
            </a:r>
            <a:endParaRPr lang="ko-KR" altLang="en-US" sz="1200" b="1" dirty="0">
              <a:solidFill>
                <a:schemeClr val="bg1"/>
              </a:solidFill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669211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Riscos principais e como reduzir cada um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maiores riscos da v2.0 estão na adoção pelo campo.</a:t>
            </a:r>
            <a:endParaRPr lang="en-US" sz="13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4398264"/>
            <a:ext cx="4572000" cy="7429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503920" y="482803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457200" y="1188720"/>
            <a:ext cx="4023360" cy="146304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Shape 4"/>
          <p:cNvSpPr/>
          <p:nvPr/>
        </p:nvSpPr>
        <p:spPr>
          <a:xfrm>
            <a:off x="457200" y="1188720"/>
            <a:ext cx="64008" cy="1463040"/>
          </a:xfrm>
          <a:prstGeom prst="rect">
            <a:avLst/>
          </a:prstGeom>
          <a:solidFill>
            <a:srgbClr val="C8106E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1371600"/>
            <a:ext cx="292608" cy="2743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97280" y="1353312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Baixa adesão ao lançamento manual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1097280" y="175564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C81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MITIGAÇÃO</a:t>
            </a:r>
            <a:endParaRPr lang="en-US" sz="800" dirty="0"/>
          </a:p>
        </p:txBody>
      </p:sp>
      <p:sp>
        <p:nvSpPr>
          <p:cNvPr id="11" name="Text 7"/>
          <p:cNvSpPr/>
          <p:nvPr/>
        </p:nvSpPr>
        <p:spPr>
          <a:xfrm>
            <a:off x="1097280" y="1956816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Poucos campos por tela, meta de 10 minutos por dia e o técnico TN como apoio nas primeiras semanas.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4663440" y="1188720"/>
            <a:ext cx="4023360" cy="146304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Shape 9"/>
          <p:cNvSpPr/>
          <p:nvPr/>
        </p:nvSpPr>
        <p:spPr>
          <a:xfrm>
            <a:off x="4663440" y="1188720"/>
            <a:ext cx="64008" cy="1463040"/>
          </a:xfrm>
          <a:prstGeom prst="rect">
            <a:avLst/>
          </a:prstGeom>
          <a:solidFill>
            <a:srgbClr val="C8106E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1371600"/>
            <a:ext cx="292608" cy="2743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303520" y="1353312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Amostra do discovery enviesada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5303520" y="175564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C81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MITIGAÇÃO</a:t>
            </a:r>
            <a:endParaRPr lang="en-US" sz="800" dirty="0"/>
          </a:p>
        </p:txBody>
      </p:sp>
      <p:sp>
        <p:nvSpPr>
          <p:cNvPr id="17" name="Text 12"/>
          <p:cNvSpPr/>
          <p:nvPr/>
        </p:nvSpPr>
        <p:spPr>
          <a:xfrm>
            <a:off x="5303520" y="1956816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Cota mínima de ex-clientes e não clientes. Resultado só orienta decisão com 30 respostas válidas.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457200" y="2788920"/>
            <a:ext cx="4023360" cy="146304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Shape 14"/>
          <p:cNvSpPr/>
          <p:nvPr/>
        </p:nvSpPr>
        <p:spPr>
          <a:xfrm>
            <a:off x="457200" y="2788920"/>
            <a:ext cx="64008" cy="1463040"/>
          </a:xfrm>
          <a:prstGeom prst="rect">
            <a:avLst/>
          </a:prstGeom>
          <a:solidFill>
            <a:srgbClr val="C8106E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2971800"/>
            <a:ext cx="292608" cy="27432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097280" y="2953512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Percepção de versão inferior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1097280" y="335584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C81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MITIGAÇÃO</a:t>
            </a:r>
            <a:endParaRPr lang="en-US" sz="800" dirty="0"/>
          </a:p>
        </p:txBody>
      </p:sp>
      <p:sp>
        <p:nvSpPr>
          <p:cNvPr id="23" name="Text 17"/>
          <p:cNvSpPr/>
          <p:nvPr/>
        </p:nvSpPr>
        <p:spPr>
          <a:xfrm>
            <a:off x="1097280" y="3557016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Posicionar o TN Manager Web como degrau, com caminho claro de migração para a versão completa.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663440" y="2788920"/>
            <a:ext cx="4023360" cy="146304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Shape 19"/>
          <p:cNvSpPr/>
          <p:nvPr/>
        </p:nvSpPr>
        <p:spPr>
          <a:xfrm>
            <a:off x="4663440" y="2788920"/>
            <a:ext cx="64008" cy="1463040"/>
          </a:xfrm>
          <a:prstGeom prst="rect">
            <a:avLst/>
          </a:prstGeom>
          <a:solidFill>
            <a:srgbClr val="C8106E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2971800"/>
            <a:ext cx="292608" cy="27432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303520" y="2953512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Capacidade do time técnico TN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5303520" y="335584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C81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MITIGAÇÃO</a:t>
            </a:r>
            <a:endParaRPr lang="en-US" sz="800" dirty="0"/>
          </a:p>
        </p:txBody>
      </p:sp>
      <p:sp>
        <p:nvSpPr>
          <p:cNvPr id="29" name="Text 22"/>
          <p:cNvSpPr/>
          <p:nvPr/>
        </p:nvSpPr>
        <p:spPr>
          <a:xfrm>
            <a:off x="5303520" y="3557016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Rodrigo atende até 20 fazendas nos 6 primeiros meses, com auditoria mensal; depois, 1 analista dedicado para cada 20 fazendas (G2).</a:t>
            </a:r>
            <a:endParaRPr lang="en-US" sz="11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Aderência interna: mapa inicial de stakeholders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Posições de partida (hipótese). As entrevistas confirmam ou movem cada grupo.</a:t>
            </a:r>
            <a:endParaRPr lang="en-US" sz="13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4398264"/>
            <a:ext cx="4572000" cy="7429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503920" y="482803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850392" y="1170432"/>
            <a:ext cx="2414016" cy="1499616"/>
          </a:xfrm>
          <a:prstGeom prst="rect">
            <a:avLst/>
          </a:prstGeom>
          <a:solidFill>
            <a:srgbClr val="EEF1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/>
          <p:nvPr/>
        </p:nvSpPr>
        <p:spPr>
          <a:xfrm>
            <a:off x="932688" y="123444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7A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MANTER SATISFEITO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3319272" y="1170432"/>
            <a:ext cx="2414016" cy="1499616"/>
          </a:xfrm>
          <a:prstGeom prst="rect">
            <a:avLst/>
          </a:prstGeom>
          <a:solidFill>
            <a:srgbClr val="FBE7F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6"/>
          <p:cNvSpPr/>
          <p:nvPr/>
        </p:nvSpPr>
        <p:spPr>
          <a:xfrm>
            <a:off x="3401568" y="123444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7A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GERENCIAR DE PERTO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850392" y="2724912"/>
            <a:ext cx="2414016" cy="1499616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/>
          <p:nvPr/>
        </p:nvSpPr>
        <p:spPr>
          <a:xfrm>
            <a:off x="932688" y="278892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7A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MONITORAR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3319272" y="2724912"/>
            <a:ext cx="2414016" cy="1499616"/>
          </a:xfrm>
          <a:prstGeom prst="rect">
            <a:avLst/>
          </a:prstGeom>
          <a:solidFill>
            <a:srgbClr val="E8F4F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/>
          <p:nvPr/>
        </p:nvSpPr>
        <p:spPr>
          <a:xfrm>
            <a:off x="3401568" y="278892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7A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MANTER INFORMADO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694176" y="1548994"/>
            <a:ext cx="182880" cy="182880"/>
          </a:xfrm>
          <a:prstGeom prst="ellipse">
            <a:avLst/>
          </a:prstGeom>
          <a:solidFill>
            <a:srgbClr val="1B3A8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2"/>
          <p:cNvSpPr/>
          <p:nvPr/>
        </p:nvSpPr>
        <p:spPr>
          <a:xfrm>
            <a:off x="3913632" y="1530706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Diretoria Beef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4385462" y="1922069"/>
            <a:ext cx="182880" cy="182880"/>
          </a:xfrm>
          <a:prstGeom prst="ellipse">
            <a:avLst/>
          </a:prstGeom>
          <a:solidFill>
            <a:srgbClr val="C8106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4"/>
          <p:cNvSpPr/>
          <p:nvPr/>
        </p:nvSpPr>
        <p:spPr>
          <a:xfrm>
            <a:off x="4604918" y="1903781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Gerência comercial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2015338" y="1673352"/>
            <a:ext cx="182880" cy="182880"/>
          </a:xfrm>
          <a:prstGeom prst="ellipse">
            <a:avLst/>
          </a:prstGeom>
          <a:solidFill>
            <a:srgbClr val="1B3A8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6"/>
          <p:cNvSpPr/>
          <p:nvPr/>
        </p:nvSpPr>
        <p:spPr>
          <a:xfrm>
            <a:off x="2234794" y="1655064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Finanças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3447288" y="2232965"/>
            <a:ext cx="182880" cy="182880"/>
          </a:xfrm>
          <a:prstGeom prst="ellipse">
            <a:avLst/>
          </a:prstGeom>
          <a:solidFill>
            <a:srgbClr val="1B3A8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ext 18"/>
          <p:cNvSpPr/>
          <p:nvPr/>
        </p:nvSpPr>
        <p:spPr>
          <a:xfrm>
            <a:off x="3666744" y="2214677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 e Digital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4484218" y="2979115"/>
            <a:ext cx="182880" cy="182880"/>
          </a:xfrm>
          <a:prstGeom prst="ellipse">
            <a:avLst/>
          </a:prstGeom>
          <a:solidFill>
            <a:srgbClr val="C8106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Text 20"/>
          <p:cNvSpPr/>
          <p:nvPr/>
        </p:nvSpPr>
        <p:spPr>
          <a:xfrm>
            <a:off x="4703674" y="2960827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Técnicos e RTVs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4187952" y="3227832"/>
            <a:ext cx="182880" cy="182880"/>
          </a:xfrm>
          <a:prstGeom prst="ellipse">
            <a:avLst/>
          </a:prstGeom>
          <a:solidFill>
            <a:srgbClr val="0096B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Text 22"/>
          <p:cNvSpPr/>
          <p:nvPr/>
        </p:nvSpPr>
        <p:spPr>
          <a:xfrm>
            <a:off x="4407408" y="3209544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house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2509114" y="3476549"/>
            <a:ext cx="182880" cy="182880"/>
          </a:xfrm>
          <a:prstGeom prst="ellipse">
            <a:avLst/>
          </a:prstGeom>
          <a:solidFill>
            <a:srgbClr val="0096B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7" name="Text 24"/>
          <p:cNvSpPr/>
          <p:nvPr/>
        </p:nvSpPr>
        <p:spPr>
          <a:xfrm>
            <a:off x="2728570" y="3458261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182880" y="256032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Influência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822960" y="4306824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Interesse e envolvimento no projeto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6035040" y="1143000"/>
            <a:ext cx="2651760" cy="3108960"/>
          </a:xfrm>
          <a:prstGeom prst="rect">
            <a:avLst/>
          </a:prstGeom>
          <a:solidFill>
            <a:srgbClr val="1B3A8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1" name="Text 28"/>
          <p:cNvSpPr/>
          <p:nvPr/>
        </p:nvSpPr>
        <p:spPr>
          <a:xfrm>
            <a:off x="6199632" y="126187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C5D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perguntar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6172200" y="1600200"/>
            <a:ext cx="24231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você entende que é o TN Manager hoje?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problema de negócio ele precisa resolver?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faria você apoiar ou frear o projeto?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precisa estar convencido para ele avançar?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medir sucesso em 12 meses?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1">
            <a:extLst>
              <a:ext uri="{FF2B5EF4-FFF2-40B4-BE49-F238E27FC236}">
                <a16:creationId xmlns:a16="http://schemas.microsoft.com/office/drawing/2014/main" id="{629F80C5-4778-80CD-FEEC-246E45CEA5C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8514160" y="4677984"/>
            <a:ext cx="629840" cy="465516"/>
          </a:xfrm>
        </p:spPr>
        <p:txBody>
          <a:bodyPr/>
          <a:lstStyle/>
          <a:p>
            <a:pPr>
              <a:spcAft>
                <a:spcPts val="450"/>
              </a:spcAft>
            </a:pPr>
            <a:fld id="{82366C92-DFCE-40A6-8CC1-5A4741E3726D}" type="slidenum">
              <a:rPr lang="en-GB" smtClean="0"/>
              <a:pPr>
                <a:spcAft>
                  <a:spcPts val="450"/>
                </a:spcAft>
              </a:pPr>
              <a:t>31</a:t>
            </a:fld>
            <a:endParaRPr lang="en-GB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027E2689-CE38-45AB-9EF8-2B100F274755}"/>
              </a:ext>
            </a:extLst>
          </p:cNvPr>
          <p:cNvSpPr txBox="1"/>
          <p:nvPr/>
        </p:nvSpPr>
        <p:spPr>
          <a:xfrm>
            <a:off x="629841" y="465517"/>
            <a:ext cx="5670351" cy="753713"/>
          </a:xfrm>
          <a:prstGeom prst="rect">
            <a:avLst/>
          </a:prstGeom>
        </p:spPr>
        <p:txBody>
          <a:bodyPr vert="horz" lIns="0" tIns="0" rIns="0" bIns="0" rtlCol="0" anchor="ctr" anchorCtr="0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450"/>
              </a:spcAft>
            </a:pPr>
            <a:r>
              <a:rPr lang="en-US" sz="4950" b="1">
                <a:solidFill>
                  <a:schemeClr val="tx2"/>
                </a:solidFill>
              </a:rPr>
              <a:t>Obrigado</a:t>
            </a:r>
          </a:p>
        </p:txBody>
      </p:sp>
      <p:pic>
        <p:nvPicPr>
          <p:cNvPr id="3" name="Picture 2" descr="Confinamento de gado: veja como fazer de maneira eficaz — CompreRural">
            <a:extLst>
              <a:ext uri="{FF2B5EF4-FFF2-40B4-BE49-F238E27FC236}">
                <a16:creationId xmlns:a16="http://schemas.microsoft.com/office/drawing/2014/main" id="{6802C605-735F-7CBF-AF55-9AA80A2795E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753" r="-1" b="-1"/>
          <a:stretch/>
        </p:blipFill>
        <p:spPr bwMode="auto">
          <a:xfrm flipH="1">
            <a:off x="629841" y="1362104"/>
            <a:ext cx="5670351" cy="326440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632287151"/>
      </p:ext>
    </p:extLst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vamos apresentar e decidir hoje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4398264"/>
            <a:ext cx="4572000" cy="7429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503920" y="482803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02920" y="1188720"/>
            <a:ext cx="365760" cy="365760"/>
          </a:xfrm>
          <a:prstGeom prst="ellipse">
            <a:avLst/>
          </a:prstGeom>
          <a:solidFill>
            <a:srgbClr val="C8106E"/>
          </a:solidFill>
          <a:ln/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502920" y="1188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978408" y="116128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 executivo e aderência estratégica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78408" y="1380744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recomendação em uma página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02920" y="1700784"/>
            <a:ext cx="365760" cy="365760"/>
          </a:xfrm>
          <a:prstGeom prst="ellipse">
            <a:avLst/>
          </a:prstGeom>
          <a:solidFill>
            <a:srgbClr val="C8106E"/>
          </a:solidFill>
          <a:ln/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502920" y="17007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978408" y="1673352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Cliente-alvo e o que muda da v1.0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978408" y="1892808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Confinamentos de 200 a 2.000 cabeças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502920" y="2212848"/>
            <a:ext cx="365760" cy="365760"/>
          </a:xfrm>
          <a:prstGeom prst="ellipse">
            <a:avLst/>
          </a:prstGeom>
          <a:solidFill>
            <a:srgbClr val="C8106E"/>
          </a:solidFill>
          <a:ln/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502920" y="22128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978408" y="2185416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Mercado: estamos no caminho certo?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978408" y="2404872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Censo de Confinamento 2025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502920" y="2724912"/>
            <a:ext cx="365760" cy="365760"/>
          </a:xfrm>
          <a:prstGeom prst="ellipse">
            <a:avLst/>
          </a:prstGeom>
          <a:solidFill>
            <a:srgbClr val="C8106E"/>
          </a:solidFill>
          <a:ln/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502920" y="27249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978408" y="269748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Proposta de valor e objetivos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978408" y="2916936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ganha o quê com o TN Manager Web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502920" y="3236976"/>
            <a:ext cx="365760" cy="365760"/>
          </a:xfrm>
          <a:prstGeom prst="ellipse">
            <a:avLst/>
          </a:prstGeom>
          <a:solidFill>
            <a:srgbClr val="1B3A8C"/>
          </a:solidFill>
          <a:ln/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502920" y="32369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978408" y="3209544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Nosso diferencial: a entrega técnica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978408" y="3429000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fazemos com os dados do cliente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502920" y="3749040"/>
            <a:ext cx="365760" cy="365760"/>
          </a:xfrm>
          <a:prstGeom prst="ellipse">
            <a:avLst/>
          </a:prstGeom>
          <a:solidFill>
            <a:srgbClr val="C8106E"/>
          </a:solidFill>
          <a:ln/>
        </p:spPr>
        <p:txBody>
          <a:bodyPr/>
          <a:p/>
        </p:txBody>
      </p:sp>
      <p:sp>
        <p:nvSpPr>
          <p:cNvPr id="27" name="Text 24"/>
          <p:cNvSpPr/>
          <p:nvPr/>
        </p:nvSpPr>
        <p:spPr>
          <a:xfrm>
            <a:off x="502920" y="3749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978408" y="372160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 mínimo e como funciona na prática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978408" y="3941064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Rotina, escore de cocho, internet e arquitetura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4709160" y="1188720"/>
            <a:ext cx="365760" cy="365760"/>
          </a:xfrm>
          <a:prstGeom prst="ellipse">
            <a:avLst/>
          </a:prstGeom>
          <a:solidFill>
            <a:srgbClr val="C8106E"/>
          </a:solidFill>
          <a:ln/>
        </p:spPr>
        <p:txBody>
          <a:bodyPr/>
          <a:p/>
        </p:txBody>
      </p:sp>
      <p:sp>
        <p:nvSpPr>
          <p:cNvPr id="31" name="Text 28"/>
          <p:cNvSpPr/>
          <p:nvPr/>
        </p:nvSpPr>
        <p:spPr>
          <a:xfrm>
            <a:off x="4709160" y="1188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5184648" y="116128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Pesquisa com 30 fazendas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5184648" y="1380744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e composição da amostra</a:t>
            </a:r>
            <a:endParaRPr lang="en-US" sz="950" dirty="0"/>
          </a:p>
        </p:txBody>
      </p:sp>
      <p:sp>
        <p:nvSpPr>
          <p:cNvPr id="34" name="Shape 31"/>
          <p:cNvSpPr/>
          <p:nvPr/>
        </p:nvSpPr>
        <p:spPr>
          <a:xfrm>
            <a:off x="4709160" y="1700784"/>
            <a:ext cx="365760" cy="365760"/>
          </a:xfrm>
          <a:prstGeom prst="ellipse">
            <a:avLst/>
          </a:prstGeom>
          <a:solidFill>
            <a:srgbClr val="C8106E"/>
          </a:solidFill>
          <a:ln/>
        </p:spPr>
        <p:txBody>
          <a:bodyPr/>
          <a:p/>
        </p:txBody>
      </p:sp>
      <p:sp>
        <p:nvSpPr>
          <p:cNvPr id="35" name="Text 32"/>
          <p:cNvSpPr/>
          <p:nvPr/>
        </p:nvSpPr>
        <p:spPr>
          <a:xfrm>
            <a:off x="4709160" y="17007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36" name="Text 33"/>
          <p:cNvSpPr/>
          <p:nvPr/>
        </p:nvSpPr>
        <p:spPr>
          <a:xfrm>
            <a:off x="5184648" y="1673352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Concorrência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5184648" y="1892808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Cargill, DSM e Tecnobeef</a:t>
            </a:r>
            <a:endParaRPr lang="en-US" sz="950" dirty="0"/>
          </a:p>
        </p:txBody>
      </p:sp>
      <p:sp>
        <p:nvSpPr>
          <p:cNvPr id="38" name="Shape 35"/>
          <p:cNvSpPr/>
          <p:nvPr/>
        </p:nvSpPr>
        <p:spPr>
          <a:xfrm>
            <a:off x="4709160" y="2212848"/>
            <a:ext cx="365760" cy="365760"/>
          </a:xfrm>
          <a:prstGeom prst="ellipse">
            <a:avLst/>
          </a:prstGeom>
          <a:solidFill>
            <a:srgbClr val="C8106E"/>
          </a:solidFill>
          <a:ln/>
        </p:spPr>
        <p:txBody>
          <a:bodyPr/>
          <a:p/>
        </p:txBody>
      </p:sp>
      <p:sp>
        <p:nvSpPr>
          <p:cNvPr id="39" name="Text 36"/>
          <p:cNvSpPr/>
          <p:nvPr/>
        </p:nvSpPr>
        <p:spPr>
          <a:xfrm>
            <a:off x="4709160" y="22128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300" dirty="0"/>
          </a:p>
        </p:txBody>
      </p:sp>
      <p:sp>
        <p:nvSpPr>
          <p:cNvPr id="40" name="Text 37"/>
          <p:cNvSpPr/>
          <p:nvPr/>
        </p:nvSpPr>
        <p:spPr>
          <a:xfrm>
            <a:off x="5184648" y="2185416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Custo-benefício e cobrança</a:t>
            </a:r>
            <a:endParaRPr lang="en-US" sz="1200" dirty="0"/>
          </a:p>
        </p:txBody>
      </p:sp>
      <p:sp>
        <p:nvSpPr>
          <p:cNvPr id="41" name="Text 38"/>
          <p:cNvSpPr/>
          <p:nvPr/>
        </p:nvSpPr>
        <p:spPr>
          <a:xfrm>
            <a:off x="5184648" y="2404872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licenças pagas hoje e o que muda</a:t>
            </a:r>
            <a:endParaRPr lang="en-US" sz="950" dirty="0"/>
          </a:p>
        </p:txBody>
      </p:sp>
      <p:sp>
        <p:nvSpPr>
          <p:cNvPr id="42" name="Shape 39"/>
          <p:cNvSpPr/>
          <p:nvPr/>
        </p:nvSpPr>
        <p:spPr>
          <a:xfrm>
            <a:off x="4709160" y="2724912"/>
            <a:ext cx="365760" cy="365760"/>
          </a:xfrm>
          <a:prstGeom prst="ellipse">
            <a:avLst/>
          </a:prstGeom>
          <a:solidFill>
            <a:srgbClr val="C8106E"/>
          </a:solidFill>
          <a:ln/>
        </p:spPr>
        <p:txBody>
          <a:bodyPr/>
          <a:p/>
        </p:txBody>
      </p:sp>
      <p:sp>
        <p:nvSpPr>
          <p:cNvPr id="43" name="Text 40"/>
          <p:cNvSpPr/>
          <p:nvPr/>
        </p:nvSpPr>
        <p:spPr>
          <a:xfrm>
            <a:off x="4709160" y="27249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44" name="Text 41"/>
          <p:cNvSpPr/>
          <p:nvPr/>
        </p:nvSpPr>
        <p:spPr>
          <a:xfrm>
            <a:off x="5184648" y="269748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SWOT e go-to-market</a:t>
            </a:r>
            <a:endParaRPr lang="en-US" sz="1200" dirty="0"/>
          </a:p>
        </p:txBody>
      </p:sp>
      <p:sp>
        <p:nvSpPr>
          <p:cNvPr id="45" name="Text 42"/>
          <p:cNvSpPr/>
          <p:nvPr/>
        </p:nvSpPr>
        <p:spPr>
          <a:xfrm>
            <a:off x="5184648" y="2916936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v1.0 para a Web; 20 fazendas e analistas</a:t>
            </a:r>
            <a:endParaRPr lang="en-US" sz="950" dirty="0"/>
          </a:p>
        </p:txBody>
      </p:sp>
      <p:sp>
        <p:nvSpPr>
          <p:cNvPr id="46" name="Shape 43"/>
          <p:cNvSpPr/>
          <p:nvPr/>
        </p:nvSpPr>
        <p:spPr>
          <a:xfrm>
            <a:off x="4709160" y="3236976"/>
            <a:ext cx="365760" cy="365760"/>
          </a:xfrm>
          <a:prstGeom prst="ellipse">
            <a:avLst/>
          </a:prstGeom>
          <a:solidFill>
            <a:srgbClr val="C8106E"/>
          </a:solidFill>
          <a:ln/>
        </p:spPr>
        <p:txBody>
          <a:bodyPr/>
          <a:p/>
        </p:txBody>
      </p:sp>
      <p:sp>
        <p:nvSpPr>
          <p:cNvPr id="47" name="Text 44"/>
          <p:cNvSpPr/>
          <p:nvPr/>
        </p:nvSpPr>
        <p:spPr>
          <a:xfrm>
            <a:off x="4709160" y="32369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300" dirty="0"/>
          </a:p>
        </p:txBody>
      </p:sp>
      <p:sp>
        <p:nvSpPr>
          <p:cNvPr id="48" name="Text 45"/>
          <p:cNvSpPr/>
          <p:nvPr/>
        </p:nvSpPr>
        <p:spPr>
          <a:xfrm>
            <a:off x="5184648" y="3209544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de 12 meses e cronograma de 4 anos</a:t>
            </a:r>
            <a:endParaRPr lang="en-US" sz="1200" dirty="0"/>
          </a:p>
        </p:txBody>
      </p:sp>
      <p:sp>
        <p:nvSpPr>
          <p:cNvPr id="49" name="Text 46"/>
          <p:cNvSpPr/>
          <p:nvPr/>
        </p:nvSpPr>
        <p:spPr>
          <a:xfrm>
            <a:off x="5184648" y="3429000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Datas, responsáveis e critérios de avanço</a:t>
            </a:r>
            <a:endParaRPr lang="en-US" sz="950" dirty="0"/>
          </a:p>
        </p:txBody>
      </p:sp>
      <p:sp>
        <p:nvSpPr>
          <p:cNvPr id="50" name="Shape 47"/>
          <p:cNvSpPr/>
          <p:nvPr/>
        </p:nvSpPr>
        <p:spPr>
          <a:xfrm>
            <a:off x="4709160" y="3749040"/>
            <a:ext cx="365760" cy="365760"/>
          </a:xfrm>
          <a:prstGeom prst="ellipse">
            <a:avLst/>
          </a:prstGeom>
          <a:solidFill>
            <a:srgbClr val="C8106E"/>
          </a:solidFill>
          <a:ln/>
        </p:spPr>
        <p:txBody>
          <a:bodyPr/>
          <a:p/>
        </p:txBody>
      </p:sp>
      <p:sp>
        <p:nvSpPr>
          <p:cNvPr id="51" name="Text 48"/>
          <p:cNvSpPr/>
          <p:nvPr/>
        </p:nvSpPr>
        <p:spPr>
          <a:xfrm>
            <a:off x="4709160" y="3749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300" dirty="0"/>
          </a:p>
        </p:txBody>
      </p:sp>
      <p:sp>
        <p:nvSpPr>
          <p:cNvPr id="52" name="Text 49"/>
          <p:cNvSpPr/>
          <p:nvPr/>
        </p:nvSpPr>
        <p:spPr>
          <a:xfrm>
            <a:off x="5184648" y="372160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Riscos, decisões e próximos passos</a:t>
            </a:r>
            <a:endParaRPr lang="en-US" sz="1200" dirty="0"/>
          </a:p>
        </p:txBody>
      </p:sp>
      <p:sp>
        <p:nvSpPr>
          <p:cNvPr id="53" name="Text 50"/>
          <p:cNvSpPr/>
          <p:nvPr/>
        </p:nvSpPr>
        <p:spPr>
          <a:xfrm>
            <a:off x="5184648" y="3941064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precisamos aprovar hoje</a:t>
            </a:r>
            <a:endParaRPr lang="en-US" sz="950" dirty="0"/>
          </a:p>
        </p:txBody>
      </p:sp>
      <p:sp>
        <p:nvSpPr>
          <p:cNvPr id="54" name="Shape 51"/>
          <p:cNvSpPr/>
          <p:nvPr/>
        </p:nvSpPr>
        <p:spPr>
          <a:xfrm>
            <a:off x="4572000" y="1188720"/>
            <a:ext cx="914" cy="2926080"/>
          </a:xfrm>
          <a:prstGeom prst="line">
            <a:avLst/>
          </a:prstGeom>
          <a:noFill/>
          <a:ln w="9525">
            <a:solidFill>
              <a:srgbClr val="D9DEE3"/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Nosso diferencial é a entrega técnica, não a ferramenta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de gestão virou item de prateleira. O cliente paga pela decisão que sai dos dados.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4398264"/>
            <a:ext cx="4572000" cy="7429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503920" y="482803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457200" y="1188720"/>
            <a:ext cx="3291840" cy="658368"/>
          </a:xfrm>
          <a:prstGeom prst="rect">
            <a:avLst/>
          </a:prstGeom>
          <a:solidFill>
            <a:srgbClr val="D5DAE0"/>
          </a:solidFill>
          <a:ln/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566928" y="1188720"/>
            <a:ext cx="320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960120" y="1261872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960120" y="1508760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Lançamento, painel e relatório. Cargill, DSM, TGC e outros já oferecem.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840480" y="1408176"/>
            <a:ext cx="1417320" cy="219456"/>
          </a:xfrm>
          <a:prstGeom prst="roundRect">
            <a:avLst>
              <a:gd name="adj" fmla="val 50000"/>
            </a:avLst>
          </a:prstGeom>
          <a:solidFill>
            <a:srgbClr val="7A858F"/>
          </a:solidFill>
          <a:ln/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3840480" y="1408176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de prateleira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57200" y="1956816"/>
            <a:ext cx="3566160" cy="658368"/>
          </a:xfrm>
          <a:prstGeom prst="rect">
            <a:avLst/>
          </a:prstGeom>
          <a:solidFill>
            <a:srgbClr val="26668F"/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566928" y="1956816"/>
            <a:ext cx="320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960120" y="2029968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confiáveis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960120" y="2276856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Lançamento diário conferido por auditoria mensal da rotina.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457200" y="2724912"/>
            <a:ext cx="3840480" cy="658368"/>
          </a:xfrm>
          <a:prstGeom prst="rect">
            <a:avLst/>
          </a:prstGeom>
          <a:solidFill>
            <a:srgbClr val="1B3A8C"/>
          </a:solidFill>
          <a:ln/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566928" y="2724912"/>
            <a:ext cx="320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960120" y="2798064"/>
            <a:ext cx="3200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técnica TN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960120" y="3044952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analista lê os números toda semana e compara com fazendas parecidas (benchmark).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457200" y="3493008"/>
            <a:ext cx="4114800" cy="658368"/>
          </a:xfrm>
          <a:prstGeom prst="rect">
            <a:avLst/>
          </a:prstGeom>
          <a:solidFill>
            <a:srgbClr val="C8106E"/>
          </a:solidFill>
          <a:ln/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566928" y="3493008"/>
            <a:ext cx="320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19"/>
          <p:cNvSpPr/>
          <p:nvPr/>
        </p:nvSpPr>
        <p:spPr>
          <a:xfrm>
            <a:off x="960120" y="3566160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Decisão na fazenda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960120" y="3813048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Ajuste de dieta, trato, lotação, compra e venda de animais.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4663440" y="3712464"/>
            <a:ext cx="1417320" cy="219456"/>
          </a:xfrm>
          <a:prstGeom prst="roundRect">
            <a:avLst>
              <a:gd name="adj" fmla="val 50000"/>
            </a:avLst>
          </a:prstGeom>
          <a:solidFill>
            <a:srgbClr val="C8106E"/>
          </a:solidFill>
          <a:ln/>
        </p:spPr>
        <p:txBody>
          <a:bodyPr/>
          <a:p/>
        </p:txBody>
      </p:sp>
      <p:sp>
        <p:nvSpPr>
          <p:cNvPr id="25" name="Text 22"/>
          <p:cNvSpPr/>
          <p:nvPr/>
        </p:nvSpPr>
        <p:spPr>
          <a:xfrm>
            <a:off x="4663440" y="3712464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está o nosso valor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6263640" y="1188720"/>
            <a:ext cx="2423160" cy="2962656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27" name="Shape 24"/>
          <p:cNvSpPr/>
          <p:nvPr/>
        </p:nvSpPr>
        <p:spPr>
          <a:xfrm>
            <a:off x="6263640" y="1188720"/>
            <a:ext cx="54864" cy="2962656"/>
          </a:xfrm>
          <a:prstGeom prst="rect">
            <a:avLst/>
          </a:prstGeom>
          <a:solidFill>
            <a:srgbClr val="C8106E"/>
          </a:solidFill>
          <a:ln/>
        </p:spPr>
        <p:txBody>
          <a:bodyPr/>
          <a:p/>
        </p:txBody>
      </p:sp>
      <p:sp>
        <p:nvSpPr>
          <p:cNvPr id="28" name="Text 25"/>
          <p:cNvSpPr/>
          <p:nvPr/>
        </p:nvSpPr>
        <p:spPr>
          <a:xfrm>
            <a:off x="6428232" y="12801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explicar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6400800" y="1627632"/>
            <a:ext cx="221284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ferramenta é o meio. O produto é o acompanhamento técnico</a:t>
            </a:r>
            <a:endParaRPr lang="en-US" sz="95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Medimos sucesso pelo resultado do cliente (ganho de peso, custo da arroba), não por acessos ao sistema</a:t>
            </a:r>
            <a:endParaRPr lang="en-US" sz="95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entre fazendas só existe com a base de clientes da TN</a:t>
            </a:r>
            <a:endParaRPr lang="en-US" sz="95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ferramenta pode mudar de fornecedor; o método de análise fica com a TN</a:t>
            </a:r>
            <a:endParaRPr lang="en-US" sz="9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o produto funciona na rotina da fazenda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fazenda registra (passos 1 a 3). A TN transforma em decisão (passos 4 e 5), toda semana.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4398264"/>
            <a:ext cx="4572000" cy="7429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503920" y="482803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010912" y="1078992"/>
            <a:ext cx="3721608" cy="2240280"/>
          </a:xfrm>
          <a:prstGeom prst="rect">
            <a:avLst/>
          </a:prstGeom>
          <a:solidFill>
            <a:srgbClr val="FBE7F1"/>
          </a:solidFill>
          <a:ln/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5120640" y="113385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81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 TÉCNICA TN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457200" y="113385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7A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FAZENDA REGISTRA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868680" y="1499616"/>
            <a:ext cx="548640" cy="548640"/>
          </a:xfrm>
          <a:prstGeom prst="ellipse">
            <a:avLst/>
          </a:prstGeom>
          <a:solidFill>
            <a:srgbClr val="7A858F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868680" y="149961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365760" y="2212848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7A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Cadastrar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365760" y="2441448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A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vez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365760" y="2633472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Fazenda, currais, lotes e dieta</a:t>
            </a:r>
            <a:endParaRPr lang="en-US" sz="9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4792" y="1691640"/>
            <a:ext cx="182880" cy="18288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2587752" y="1499616"/>
            <a:ext cx="548640" cy="548640"/>
          </a:xfrm>
          <a:prstGeom prst="ellipse">
            <a:avLst/>
          </a:prstGeom>
          <a:solidFill>
            <a:srgbClr val="7A858F"/>
          </a:solidFill>
          <a:ln/>
        </p:spPr>
        <p:txBody>
          <a:bodyPr/>
          <a:p/>
        </p:txBody>
      </p:sp>
      <p:sp>
        <p:nvSpPr>
          <p:cNvPr id="16" name="Text 12"/>
          <p:cNvSpPr/>
          <p:nvPr/>
        </p:nvSpPr>
        <p:spPr>
          <a:xfrm>
            <a:off x="2587752" y="149961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2084832" y="2212848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7A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</a:t>
            </a:r>
            <a:endParaRPr lang="en-US" sz="1150" dirty="0"/>
          </a:p>
        </p:txBody>
      </p:sp>
      <p:sp>
        <p:nvSpPr>
          <p:cNvPr id="18" name="Text 14"/>
          <p:cNvSpPr/>
          <p:nvPr/>
        </p:nvSpPr>
        <p:spPr>
          <a:xfrm>
            <a:off x="2084832" y="2441448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A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dia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2084832" y="2633472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Trato fornecido e leitura de cocho</a:t>
            </a:r>
            <a:endParaRPr lang="en-US" sz="900" dirty="0"/>
          </a:p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3864" y="1691640"/>
            <a:ext cx="182880" cy="182880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4306824" y="1499616"/>
            <a:ext cx="548640" cy="548640"/>
          </a:xfrm>
          <a:prstGeom prst="ellipse">
            <a:avLst/>
          </a:prstGeom>
          <a:solidFill>
            <a:srgbClr val="7A858F"/>
          </a:solidFill>
          <a:ln/>
        </p:spPr>
        <p:txBody>
          <a:bodyPr/>
          <a:p/>
        </p:txBody>
      </p:sp>
      <p:sp>
        <p:nvSpPr>
          <p:cNvPr id="22" name="Text 17"/>
          <p:cNvSpPr/>
          <p:nvPr/>
        </p:nvSpPr>
        <p:spPr>
          <a:xfrm>
            <a:off x="4306824" y="149961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3" name="Text 18"/>
          <p:cNvSpPr/>
          <p:nvPr/>
        </p:nvSpPr>
        <p:spPr>
          <a:xfrm>
            <a:off x="3803904" y="2212848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7A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Movimentar</a:t>
            </a:r>
            <a:endParaRPr lang="en-US" sz="1150" dirty="0"/>
          </a:p>
        </p:txBody>
      </p:sp>
      <p:sp>
        <p:nvSpPr>
          <p:cNvPr id="24" name="Text 19"/>
          <p:cNvSpPr/>
          <p:nvPr/>
        </p:nvSpPr>
        <p:spPr>
          <a:xfrm>
            <a:off x="3803904" y="2441448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A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ocorre</a:t>
            </a:r>
            <a:endParaRPr lang="en-US" sz="900" dirty="0"/>
          </a:p>
        </p:txBody>
      </p:sp>
      <p:sp>
        <p:nvSpPr>
          <p:cNvPr id="25" name="Text 20"/>
          <p:cNvSpPr/>
          <p:nvPr/>
        </p:nvSpPr>
        <p:spPr>
          <a:xfrm>
            <a:off x="3803904" y="2633472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Entradas, pesagens, saídas e mortes</a:t>
            </a:r>
            <a:endParaRPr lang="en-US" sz="900" dirty="0"/>
          </a:p>
        </p:txBody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2664" y="1691640"/>
            <a:ext cx="182880" cy="182880"/>
          </a:xfrm>
          <a:prstGeom prst="rect">
            <a:avLst/>
          </a:prstGeom>
        </p:spPr>
      </p:pic>
      <p:sp>
        <p:nvSpPr>
          <p:cNvPr id="27" name="Shape 21"/>
          <p:cNvSpPr/>
          <p:nvPr/>
        </p:nvSpPr>
        <p:spPr>
          <a:xfrm>
            <a:off x="6053328" y="1417320"/>
            <a:ext cx="713232" cy="713232"/>
          </a:xfrm>
          <a:prstGeom prst="ellipse">
            <a:avLst/>
          </a:prstGeom>
          <a:solidFill>
            <a:srgbClr val="1B3A8C"/>
          </a:solidFill>
          <a:ln/>
        </p:spPr>
        <p:txBody>
          <a:bodyPr/>
          <a:p/>
        </p:txBody>
      </p:sp>
      <p:sp>
        <p:nvSpPr>
          <p:cNvPr id="28" name="Text 22"/>
          <p:cNvSpPr/>
          <p:nvPr/>
        </p:nvSpPr>
        <p:spPr>
          <a:xfrm>
            <a:off x="6053328" y="1417320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/>
          </a:p>
        </p:txBody>
      </p:sp>
      <p:sp>
        <p:nvSpPr>
          <p:cNvPr id="29" name="Text 23"/>
          <p:cNvSpPr/>
          <p:nvPr/>
        </p:nvSpPr>
        <p:spPr>
          <a:xfrm>
            <a:off x="5632704" y="2212848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Analisar</a:t>
            </a:r>
            <a:endParaRPr lang="en-US" sz="1300" dirty="0"/>
          </a:p>
        </p:txBody>
      </p:sp>
      <p:sp>
        <p:nvSpPr>
          <p:cNvPr id="30" name="Text 24"/>
          <p:cNvSpPr/>
          <p:nvPr/>
        </p:nvSpPr>
        <p:spPr>
          <a:xfrm>
            <a:off x="5632704" y="2441448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A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semana</a:t>
            </a:r>
            <a:endParaRPr lang="en-US" sz="900" dirty="0"/>
          </a:p>
        </p:txBody>
      </p:sp>
      <p:sp>
        <p:nvSpPr>
          <p:cNvPr id="31" name="Text 25"/>
          <p:cNvSpPr/>
          <p:nvPr/>
        </p:nvSpPr>
        <p:spPr>
          <a:xfrm>
            <a:off x="5632704" y="2633472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e relatório prontos. O analista compara com o benchmark</a:t>
            </a:r>
            <a:endParaRPr lang="en-US" sz="900" dirty="0"/>
          </a:p>
        </p:txBody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1736" y="1691640"/>
            <a:ext cx="182880" cy="182880"/>
          </a:xfrm>
          <a:prstGeom prst="rect">
            <a:avLst/>
          </a:prstGeom>
        </p:spPr>
      </p:pic>
      <p:sp>
        <p:nvSpPr>
          <p:cNvPr id="33" name="Shape 26"/>
          <p:cNvSpPr/>
          <p:nvPr/>
        </p:nvSpPr>
        <p:spPr>
          <a:xfrm>
            <a:off x="7772400" y="1417320"/>
            <a:ext cx="713232" cy="713232"/>
          </a:xfrm>
          <a:prstGeom prst="ellipse">
            <a:avLst/>
          </a:prstGeom>
          <a:solidFill>
            <a:srgbClr val="C8106E"/>
          </a:solidFill>
          <a:ln/>
        </p:spPr>
        <p:txBody>
          <a:bodyPr/>
          <a:p/>
        </p:txBody>
      </p:sp>
      <p:sp>
        <p:nvSpPr>
          <p:cNvPr id="34" name="Text 27"/>
          <p:cNvSpPr/>
          <p:nvPr/>
        </p:nvSpPr>
        <p:spPr>
          <a:xfrm>
            <a:off x="7772400" y="1417320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400" dirty="0"/>
          </a:p>
        </p:txBody>
      </p:sp>
      <p:sp>
        <p:nvSpPr>
          <p:cNvPr id="35" name="Text 28"/>
          <p:cNvSpPr/>
          <p:nvPr/>
        </p:nvSpPr>
        <p:spPr>
          <a:xfrm>
            <a:off x="7351776" y="2212848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81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Ajustar</a:t>
            </a:r>
            <a:endParaRPr lang="en-US" sz="1300" dirty="0"/>
          </a:p>
        </p:txBody>
      </p:sp>
      <p:sp>
        <p:nvSpPr>
          <p:cNvPr id="36" name="Text 29"/>
          <p:cNvSpPr/>
          <p:nvPr/>
        </p:nvSpPr>
        <p:spPr>
          <a:xfrm>
            <a:off x="7351776" y="2441448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A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o técnico TN</a:t>
            </a:r>
            <a:endParaRPr lang="en-US" sz="900" dirty="0"/>
          </a:p>
        </p:txBody>
      </p:sp>
      <p:sp>
        <p:nvSpPr>
          <p:cNvPr id="37" name="Text 30"/>
          <p:cNvSpPr/>
          <p:nvPr/>
        </p:nvSpPr>
        <p:spPr>
          <a:xfrm>
            <a:off x="7351776" y="2633472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Recomendação de dieta, trato e manejo; revisão no mês</a:t>
            </a:r>
            <a:endParaRPr lang="en-US" sz="900" dirty="0"/>
          </a:p>
        </p:txBody>
      </p:sp>
      <p:sp>
        <p:nvSpPr>
          <p:cNvPr id="38" name="Shape 31"/>
          <p:cNvSpPr/>
          <p:nvPr/>
        </p:nvSpPr>
        <p:spPr>
          <a:xfrm>
            <a:off x="2651760" y="3401568"/>
            <a:ext cx="5669280" cy="914"/>
          </a:xfrm>
          <a:prstGeom prst="line">
            <a:avLst/>
          </a:prstGeom>
          <a:noFill/>
          <a:ln w="15875">
            <a:solidFill>
              <a:srgbClr val="C8106E"/>
            </a:solidFill>
            <a:prstDash val="dash"/>
          </a:ln>
        </p:spPr>
        <p:txBody>
          <a:bodyPr/>
          <a:p/>
        </p:txBody>
      </p:sp>
      <p:sp>
        <p:nvSpPr>
          <p:cNvPr id="39" name="Shape 32"/>
          <p:cNvSpPr/>
          <p:nvPr/>
        </p:nvSpPr>
        <p:spPr>
          <a:xfrm>
            <a:off x="2651760" y="3218688"/>
            <a:ext cx="914" cy="182880"/>
          </a:xfrm>
          <a:prstGeom prst="line">
            <a:avLst/>
          </a:prstGeom>
          <a:noFill/>
          <a:ln w="15875">
            <a:solidFill>
              <a:srgbClr val="C8106E"/>
            </a:solidFill>
            <a:prstDash val="dash"/>
          </a:ln>
        </p:spPr>
        <p:txBody>
          <a:bodyPr/>
          <a:p/>
        </p:txBody>
      </p:sp>
      <p:sp>
        <p:nvSpPr>
          <p:cNvPr id="40" name="Shape 33"/>
          <p:cNvSpPr/>
          <p:nvPr/>
        </p:nvSpPr>
        <p:spPr>
          <a:xfrm>
            <a:off x="8321040" y="3218688"/>
            <a:ext cx="914" cy="182880"/>
          </a:xfrm>
          <a:prstGeom prst="line">
            <a:avLst/>
          </a:prstGeom>
          <a:noFill/>
          <a:ln w="15875">
            <a:solidFill>
              <a:srgbClr val="C8106E"/>
            </a:solidFill>
            <a:prstDash val="dash"/>
          </a:ln>
        </p:spPr>
        <p:txBody>
          <a:bodyPr/>
          <a:p/>
        </p:txBody>
      </p:sp>
      <p:sp>
        <p:nvSpPr>
          <p:cNvPr id="41" name="Text 34"/>
          <p:cNvSpPr/>
          <p:nvPr/>
        </p:nvSpPr>
        <p:spPr>
          <a:xfrm>
            <a:off x="3749040" y="3310128"/>
            <a:ext cx="3474720" cy="18288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C81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semanal: o ajuste volta para o trato do dia seguinte</a:t>
            </a:r>
            <a:endParaRPr lang="en-US" sz="900" dirty="0"/>
          </a:p>
        </p:txBody>
      </p:sp>
      <p:sp>
        <p:nvSpPr>
          <p:cNvPr id="42" name="Text 35"/>
          <p:cNvSpPr/>
          <p:nvPr/>
        </p:nvSpPr>
        <p:spPr>
          <a:xfrm>
            <a:off x="457200" y="36118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faz os passos 4 e 5</a:t>
            </a:r>
            <a:endParaRPr lang="en-US" sz="1100" dirty="0"/>
          </a:p>
        </p:txBody>
      </p:sp>
      <p:sp>
        <p:nvSpPr>
          <p:cNvPr id="43" name="Shape 36"/>
          <p:cNvSpPr/>
          <p:nvPr/>
        </p:nvSpPr>
        <p:spPr>
          <a:xfrm>
            <a:off x="457200" y="3877056"/>
            <a:ext cx="2377440" cy="512064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44" name="Shape 37"/>
          <p:cNvSpPr/>
          <p:nvPr/>
        </p:nvSpPr>
        <p:spPr>
          <a:xfrm>
            <a:off x="457200" y="3877056"/>
            <a:ext cx="54864" cy="512064"/>
          </a:xfrm>
          <a:prstGeom prst="rect">
            <a:avLst/>
          </a:prstGeom>
          <a:solidFill>
            <a:srgbClr val="26668F"/>
          </a:solidFill>
          <a:ln/>
        </p:spPr>
        <p:txBody>
          <a:bodyPr/>
          <a:p/>
        </p:txBody>
      </p:sp>
      <p:sp>
        <p:nvSpPr>
          <p:cNvPr id="45" name="Text 38"/>
          <p:cNvSpPr/>
          <p:nvPr/>
        </p:nvSpPr>
        <p:spPr>
          <a:xfrm>
            <a:off x="594360" y="390448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266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Meses 1 e 2</a:t>
            </a:r>
            <a:endParaRPr lang="en-US" sz="950" dirty="0"/>
          </a:p>
        </p:txBody>
      </p:sp>
      <p:sp>
        <p:nvSpPr>
          <p:cNvPr id="46" name="Text 39"/>
          <p:cNvSpPr/>
          <p:nvPr/>
        </p:nvSpPr>
        <p:spPr>
          <a:xfrm>
            <a:off x="594360" y="408736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Piloto: Rodrigo e técnico de campo em 3 a 5 fazendas</a:t>
            </a:r>
            <a:endParaRPr lang="en-US" sz="850" dirty="0"/>
          </a:p>
        </p:txBody>
      </p:sp>
      <p:sp>
        <p:nvSpPr>
          <p:cNvPr id="47" name="Shape 40"/>
          <p:cNvSpPr/>
          <p:nvPr/>
        </p:nvSpPr>
        <p:spPr>
          <a:xfrm>
            <a:off x="2971800" y="3877056"/>
            <a:ext cx="2377440" cy="512064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48" name="Shape 41"/>
          <p:cNvSpPr/>
          <p:nvPr/>
        </p:nvSpPr>
        <p:spPr>
          <a:xfrm>
            <a:off x="2971800" y="3877056"/>
            <a:ext cx="54864" cy="512064"/>
          </a:xfrm>
          <a:prstGeom prst="rect">
            <a:avLst/>
          </a:prstGeom>
          <a:solidFill>
            <a:srgbClr val="1B3A8C"/>
          </a:solidFill>
          <a:ln/>
        </p:spPr>
        <p:txBody>
          <a:bodyPr/>
          <a:p/>
        </p:txBody>
      </p:sp>
      <p:sp>
        <p:nvSpPr>
          <p:cNvPr id="49" name="Text 42"/>
          <p:cNvSpPr/>
          <p:nvPr/>
        </p:nvSpPr>
        <p:spPr>
          <a:xfrm>
            <a:off x="3108960" y="390448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Meses 3 a 6</a:t>
            </a:r>
            <a:endParaRPr lang="en-US" sz="950" dirty="0"/>
          </a:p>
        </p:txBody>
      </p:sp>
      <p:sp>
        <p:nvSpPr>
          <p:cNvPr id="50" name="Text 43"/>
          <p:cNvSpPr/>
          <p:nvPr/>
        </p:nvSpPr>
        <p:spPr>
          <a:xfrm>
            <a:off x="3108960" y="408736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Rodrigo analisa até 20 fazendas, com auditoria mensal</a:t>
            </a:r>
            <a:endParaRPr lang="en-US" sz="850" dirty="0"/>
          </a:p>
        </p:txBody>
      </p:sp>
      <p:sp>
        <p:nvSpPr>
          <p:cNvPr id="51" name="Shape 44"/>
          <p:cNvSpPr/>
          <p:nvPr/>
        </p:nvSpPr>
        <p:spPr>
          <a:xfrm>
            <a:off x="5486400" y="3877056"/>
            <a:ext cx="2377440" cy="512064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52" name="Shape 45"/>
          <p:cNvSpPr/>
          <p:nvPr/>
        </p:nvSpPr>
        <p:spPr>
          <a:xfrm>
            <a:off x="5486400" y="3877056"/>
            <a:ext cx="54864" cy="512064"/>
          </a:xfrm>
          <a:prstGeom prst="rect">
            <a:avLst/>
          </a:prstGeom>
          <a:solidFill>
            <a:srgbClr val="C8106E"/>
          </a:solidFill>
          <a:ln/>
        </p:spPr>
        <p:txBody>
          <a:bodyPr/>
          <a:p/>
        </p:txBody>
      </p:sp>
      <p:sp>
        <p:nvSpPr>
          <p:cNvPr id="53" name="Text 46"/>
          <p:cNvSpPr/>
          <p:nvPr/>
        </p:nvSpPr>
        <p:spPr>
          <a:xfrm>
            <a:off x="5623560" y="390448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C81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partir do mês 7</a:t>
            </a:r>
            <a:endParaRPr lang="en-US" sz="950" dirty="0"/>
          </a:p>
        </p:txBody>
      </p:sp>
      <p:sp>
        <p:nvSpPr>
          <p:cNvPr id="54" name="Text 47"/>
          <p:cNvSpPr/>
          <p:nvPr/>
        </p:nvSpPr>
        <p:spPr>
          <a:xfrm>
            <a:off x="5623560" y="408736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Analistas dedicados: 1 para cada 20 fazendas</a:t>
            </a:r>
            <a:endParaRPr lang="en-US" sz="8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prática: o dia a dia e a arquitetura do sistema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o dado sai do curral, chega à TN e volta como recomendação.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4398264"/>
            <a:ext cx="4572000" cy="7429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503920" y="482803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57200" y="1097280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dia na fazenda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75488" y="1435608"/>
            <a:ext cx="146304" cy="146304"/>
          </a:xfrm>
          <a:prstGeom prst="ellipse">
            <a:avLst/>
          </a:prstGeom>
          <a:solidFill>
            <a:srgbClr val="1B3A8C"/>
          </a:solidFill>
          <a:ln/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548640" y="1581912"/>
            <a:ext cx="914" cy="402336"/>
          </a:xfrm>
          <a:prstGeom prst="line">
            <a:avLst/>
          </a:prstGeom>
          <a:noFill/>
          <a:ln w="12700">
            <a:solidFill>
              <a:srgbClr val="D9DEE3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731520" y="138988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Início da manhã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31520" y="1572768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Leitura de cocho antes do 1º trato: o tratador dá a nota de cada baia (escala adotada pela TN)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75488" y="1984248"/>
            <a:ext cx="146304" cy="146304"/>
          </a:xfrm>
          <a:prstGeom prst="ellipse">
            <a:avLst/>
          </a:prstGeom>
          <a:solidFill>
            <a:srgbClr val="1B3A8C"/>
          </a:solidFill>
          <a:ln/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>
            <a:off x="548640" y="2130552"/>
            <a:ext cx="914" cy="402336"/>
          </a:xfrm>
          <a:prstGeom prst="line">
            <a:avLst/>
          </a:prstGeom>
          <a:noFill/>
          <a:ln w="12700">
            <a:solidFill>
              <a:srgbClr val="D9DEE3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731520" y="193852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Durante o dia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731520" y="2121408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Trato fornecido por baia, anotado na hora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475488" y="2532888"/>
            <a:ext cx="146304" cy="146304"/>
          </a:xfrm>
          <a:prstGeom prst="ellipse">
            <a:avLst/>
          </a:prstGeom>
          <a:solidFill>
            <a:srgbClr val="1B3A8C"/>
          </a:solidFill>
          <a:ln/>
        </p:spPr>
        <p:txBody>
          <a:bodyPr/>
          <a:p/>
        </p:txBody>
      </p:sp>
      <p:sp>
        <p:nvSpPr>
          <p:cNvPr id="16" name="Shape 13"/>
          <p:cNvSpPr/>
          <p:nvPr/>
        </p:nvSpPr>
        <p:spPr>
          <a:xfrm>
            <a:off x="548640" y="2679192"/>
            <a:ext cx="914" cy="402336"/>
          </a:xfrm>
          <a:prstGeom prst="line">
            <a:avLst/>
          </a:prstGeom>
          <a:noFill/>
          <a:ln w="12700">
            <a:solidFill>
              <a:srgbClr val="D9DEE3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731520" y="248716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ocorre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731520" y="2670048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Entradas, pesagens, saídas, mortes e troca de baia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475488" y="3081528"/>
            <a:ext cx="146304" cy="146304"/>
          </a:xfrm>
          <a:prstGeom prst="ellipse">
            <a:avLst/>
          </a:prstGeom>
          <a:solidFill>
            <a:srgbClr val="1B3A8C"/>
          </a:solidFill>
          <a:ln/>
        </p:spPr>
        <p:txBody>
          <a:bodyPr/>
          <a:p/>
        </p:txBody>
      </p:sp>
      <p:sp>
        <p:nvSpPr>
          <p:cNvPr id="20" name="Shape 17"/>
          <p:cNvSpPr/>
          <p:nvPr/>
        </p:nvSpPr>
        <p:spPr>
          <a:xfrm>
            <a:off x="548640" y="3227832"/>
            <a:ext cx="914" cy="402336"/>
          </a:xfrm>
          <a:prstGeom prst="line">
            <a:avLst/>
          </a:prstGeom>
          <a:noFill/>
          <a:ln w="12700">
            <a:solidFill>
              <a:srgbClr val="D9DEE3"/>
            </a:solidFill>
            <a:prstDash val="solid"/>
          </a:ln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731520" y="303580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Fim do dia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731520" y="3218688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Escritório confere e envia. Meta: até 10 minutos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475488" y="3630168"/>
            <a:ext cx="146304" cy="146304"/>
          </a:xfrm>
          <a:prstGeom prst="ellipse">
            <a:avLst/>
          </a:prstGeom>
          <a:solidFill>
            <a:srgbClr val="C8106E"/>
          </a:solidFill>
          <a:ln/>
        </p:spPr>
        <p:txBody>
          <a:bodyPr/>
          <a:p/>
        </p:txBody>
      </p:sp>
      <p:sp>
        <p:nvSpPr>
          <p:cNvPr id="24" name="Text 21"/>
          <p:cNvSpPr/>
          <p:nvPr/>
        </p:nvSpPr>
        <p:spPr>
          <a:xfrm>
            <a:off x="731520" y="358444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81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semana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731520" y="3767328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 automático e análise do analista TN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4023360" y="109728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proposta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4023360" y="1417320"/>
            <a:ext cx="1691640" cy="603504"/>
          </a:xfrm>
          <a:prstGeom prst="rect">
            <a:avLst/>
          </a:prstGeom>
          <a:solidFill>
            <a:srgbClr val="26668F"/>
          </a:solidFill>
          <a:ln/>
        </p:spPr>
        <p:txBody>
          <a:bodyPr/>
          <a:p/>
        </p:txBody>
      </p:sp>
      <p:pic>
        <p:nvPicPr>
          <p:cNvPr id="28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1527048"/>
            <a:ext cx="274320" cy="274320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4462272" y="1472184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Celular no curral</a:t>
            </a:r>
            <a:endParaRPr lang="en-US" sz="950" dirty="0"/>
          </a:p>
        </p:txBody>
      </p:sp>
      <p:sp>
        <p:nvSpPr>
          <p:cNvPr id="30" name="Text 26"/>
          <p:cNvSpPr/>
          <p:nvPr/>
        </p:nvSpPr>
        <p:spPr>
          <a:xfrm>
            <a:off x="4462272" y="166420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Navegador; sem sinal, guarda e envia depois</a:t>
            </a:r>
            <a:endParaRPr lang="en-US" sz="800" dirty="0"/>
          </a:p>
        </p:txBody>
      </p:sp>
      <p:sp>
        <p:nvSpPr>
          <p:cNvPr id="31" name="Shape 27"/>
          <p:cNvSpPr/>
          <p:nvPr/>
        </p:nvSpPr>
        <p:spPr>
          <a:xfrm>
            <a:off x="4023360" y="2121408"/>
            <a:ext cx="1691640" cy="603504"/>
          </a:xfrm>
          <a:prstGeom prst="rect">
            <a:avLst/>
          </a:prstGeom>
          <a:solidFill>
            <a:srgbClr val="26668F"/>
          </a:solidFill>
          <a:ln/>
        </p:spPr>
        <p:txBody>
          <a:bodyPr/>
          <a:p/>
        </p:txBody>
      </p:sp>
      <p:pic>
        <p:nvPicPr>
          <p:cNvPr id="32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0" y="2231136"/>
            <a:ext cx="274320" cy="274320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4462272" y="217627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 de papel</a:t>
            </a:r>
            <a:endParaRPr lang="en-US" sz="950" dirty="0"/>
          </a:p>
        </p:txBody>
      </p:sp>
      <p:sp>
        <p:nvSpPr>
          <p:cNvPr id="34" name="Text 29"/>
          <p:cNvSpPr/>
          <p:nvPr/>
        </p:nvSpPr>
        <p:spPr>
          <a:xfrm>
            <a:off x="4462272" y="2368296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Digitada no computador da sede</a:t>
            </a:r>
            <a:endParaRPr lang="en-US" sz="800" dirty="0"/>
          </a:p>
        </p:txBody>
      </p:sp>
      <p:sp>
        <p:nvSpPr>
          <p:cNvPr id="35" name="Shape 30"/>
          <p:cNvSpPr/>
          <p:nvPr/>
        </p:nvSpPr>
        <p:spPr>
          <a:xfrm>
            <a:off x="5989320" y="1417320"/>
            <a:ext cx="1188720" cy="1307592"/>
          </a:xfrm>
          <a:prstGeom prst="rect">
            <a:avLst/>
          </a:prstGeom>
          <a:solidFill>
            <a:srgbClr val="1B3A8C"/>
          </a:solidFill>
          <a:ln/>
        </p:spPr>
        <p:txBody>
          <a:bodyPr/>
          <a:p/>
        </p:txBody>
      </p:sp>
      <p:pic>
        <p:nvPicPr>
          <p:cNvPr id="36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80760" y="1527048"/>
            <a:ext cx="274320" cy="274320"/>
          </a:xfrm>
          <a:prstGeom prst="rect">
            <a:avLst/>
          </a:prstGeom>
        </p:spPr>
      </p:pic>
      <p:sp>
        <p:nvSpPr>
          <p:cNvPr id="37" name="Text 31"/>
          <p:cNvSpPr/>
          <p:nvPr/>
        </p:nvSpPr>
        <p:spPr>
          <a:xfrm>
            <a:off x="6428232" y="1472184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Nuvem</a:t>
            </a:r>
            <a:endParaRPr lang="en-US" sz="950" dirty="0"/>
          </a:p>
        </p:txBody>
      </p:sp>
      <p:sp>
        <p:nvSpPr>
          <p:cNvPr id="38" name="Text 32"/>
          <p:cNvSpPr/>
          <p:nvPr/>
        </p:nvSpPr>
        <p:spPr>
          <a:xfrm>
            <a:off x="6428232" y="1664208"/>
            <a:ext cx="68580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de dados e cálculos: consumo, GMD, dias de cocho</a:t>
            </a:r>
            <a:endParaRPr lang="en-US" sz="800" dirty="0"/>
          </a:p>
        </p:txBody>
      </p:sp>
      <p:sp>
        <p:nvSpPr>
          <p:cNvPr id="39" name="Shape 33"/>
          <p:cNvSpPr/>
          <p:nvPr/>
        </p:nvSpPr>
        <p:spPr>
          <a:xfrm>
            <a:off x="7452360" y="1417320"/>
            <a:ext cx="1280160" cy="603504"/>
          </a:xfrm>
          <a:prstGeom prst="rect">
            <a:avLst/>
          </a:prstGeom>
          <a:solidFill>
            <a:srgbClr val="1B3A8C"/>
          </a:solidFill>
          <a:ln/>
        </p:spPr>
        <p:txBody>
          <a:bodyPr/>
          <a:p/>
        </p:txBody>
      </p:sp>
      <p:pic>
        <p:nvPicPr>
          <p:cNvPr id="40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43800" y="1527048"/>
            <a:ext cx="274320" cy="274320"/>
          </a:xfrm>
          <a:prstGeom prst="rect">
            <a:avLst/>
          </a:prstGeom>
        </p:spPr>
      </p:pic>
      <p:sp>
        <p:nvSpPr>
          <p:cNvPr id="41" name="Text 34"/>
          <p:cNvSpPr/>
          <p:nvPr/>
        </p:nvSpPr>
        <p:spPr>
          <a:xfrm>
            <a:off x="7891272" y="1472184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</a:t>
            </a:r>
            <a:endParaRPr lang="en-US" sz="950" dirty="0"/>
          </a:p>
        </p:txBody>
      </p:sp>
      <p:sp>
        <p:nvSpPr>
          <p:cNvPr id="42" name="Text 35"/>
          <p:cNvSpPr/>
          <p:nvPr/>
        </p:nvSpPr>
        <p:spPr>
          <a:xfrm>
            <a:off x="7891272" y="1664208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 semanal automático</a:t>
            </a:r>
            <a:endParaRPr lang="en-US" sz="800" dirty="0"/>
          </a:p>
        </p:txBody>
      </p:sp>
      <p:sp>
        <p:nvSpPr>
          <p:cNvPr id="43" name="Shape 36"/>
          <p:cNvSpPr/>
          <p:nvPr/>
        </p:nvSpPr>
        <p:spPr>
          <a:xfrm>
            <a:off x="7452360" y="2121408"/>
            <a:ext cx="1280160" cy="603504"/>
          </a:xfrm>
          <a:prstGeom prst="rect">
            <a:avLst/>
          </a:prstGeom>
          <a:solidFill>
            <a:srgbClr val="C8106E"/>
          </a:solidFill>
          <a:ln/>
        </p:spPr>
        <p:txBody>
          <a:bodyPr/>
          <a:p/>
        </p:txBody>
      </p:sp>
      <p:pic>
        <p:nvPicPr>
          <p:cNvPr id="44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43800" y="2231136"/>
            <a:ext cx="274320" cy="274320"/>
          </a:xfrm>
          <a:prstGeom prst="rect">
            <a:avLst/>
          </a:prstGeom>
        </p:spPr>
      </p:pic>
      <p:sp>
        <p:nvSpPr>
          <p:cNvPr id="45" name="Text 37"/>
          <p:cNvSpPr/>
          <p:nvPr/>
        </p:nvSpPr>
        <p:spPr>
          <a:xfrm>
            <a:off x="7891272" y="2176272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Analista TN</a:t>
            </a:r>
            <a:endParaRPr lang="en-US" sz="950" dirty="0"/>
          </a:p>
        </p:txBody>
      </p:sp>
      <p:sp>
        <p:nvSpPr>
          <p:cNvPr id="46" name="Text 38"/>
          <p:cNvSpPr/>
          <p:nvPr/>
        </p:nvSpPr>
        <p:spPr>
          <a:xfrm>
            <a:off x="7891272" y="2368296"/>
            <a:ext cx="777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Lê, compara e recomenda</a:t>
            </a:r>
            <a:endParaRPr lang="en-US" sz="800" dirty="0"/>
          </a:p>
        </p:txBody>
      </p:sp>
      <p:pic>
        <p:nvPicPr>
          <p:cNvPr id="47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60720" y="1627632"/>
            <a:ext cx="182880" cy="182880"/>
          </a:xfrm>
          <a:prstGeom prst="rect">
            <a:avLst/>
          </a:prstGeom>
        </p:spPr>
      </p:pic>
      <p:pic>
        <p:nvPicPr>
          <p:cNvPr id="4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60720" y="2331720"/>
            <a:ext cx="182880" cy="182880"/>
          </a:xfrm>
          <a:prstGeom prst="rect">
            <a:avLst/>
          </a:prstGeom>
        </p:spPr>
      </p:pic>
      <p:pic>
        <p:nvPicPr>
          <p:cNvPr id="49" name="Image 8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23760" y="1627632"/>
            <a:ext cx="182880" cy="182880"/>
          </a:xfrm>
          <a:prstGeom prst="rect">
            <a:avLst/>
          </a:prstGeom>
        </p:spPr>
      </p:pic>
      <p:sp>
        <p:nvSpPr>
          <p:cNvPr id="50" name="Shape 39"/>
          <p:cNvSpPr/>
          <p:nvPr/>
        </p:nvSpPr>
        <p:spPr>
          <a:xfrm>
            <a:off x="8092440" y="2020824"/>
            <a:ext cx="914" cy="100584"/>
          </a:xfrm>
          <a:prstGeom prst="line">
            <a:avLst/>
          </a:prstGeom>
          <a:noFill/>
          <a:ln w="15875">
            <a:solidFill>
              <a:srgbClr val="7A858F"/>
            </a:solidFill>
            <a:prstDash val="solid"/>
          </a:ln>
        </p:spPr>
        <p:txBody>
          <a:bodyPr/>
          <a:p/>
        </p:txBody>
      </p:sp>
      <p:sp>
        <p:nvSpPr>
          <p:cNvPr id="51" name="Shape 40"/>
          <p:cNvSpPr/>
          <p:nvPr/>
        </p:nvSpPr>
        <p:spPr>
          <a:xfrm>
            <a:off x="8092440" y="2724912"/>
            <a:ext cx="914" cy="164592"/>
          </a:xfrm>
          <a:prstGeom prst="line">
            <a:avLst/>
          </a:prstGeom>
          <a:noFill/>
          <a:ln w="15875">
            <a:solidFill>
              <a:srgbClr val="C8106E"/>
            </a:solidFill>
            <a:prstDash val="solid"/>
          </a:ln>
        </p:spPr>
        <p:txBody>
          <a:bodyPr/>
          <a:p/>
        </p:txBody>
      </p:sp>
      <p:sp>
        <p:nvSpPr>
          <p:cNvPr id="52" name="Shape 41"/>
          <p:cNvSpPr/>
          <p:nvPr/>
        </p:nvSpPr>
        <p:spPr>
          <a:xfrm>
            <a:off x="4846320" y="2889504"/>
            <a:ext cx="3246120" cy="914"/>
          </a:xfrm>
          <a:prstGeom prst="line">
            <a:avLst/>
          </a:prstGeom>
          <a:noFill/>
          <a:ln w="15875">
            <a:solidFill>
              <a:srgbClr val="C8106E"/>
            </a:solidFill>
            <a:prstDash val="solid"/>
          </a:ln>
        </p:spPr>
        <p:txBody>
          <a:bodyPr/>
          <a:p/>
        </p:txBody>
      </p:sp>
      <p:sp>
        <p:nvSpPr>
          <p:cNvPr id="53" name="Shape 42"/>
          <p:cNvSpPr/>
          <p:nvPr/>
        </p:nvSpPr>
        <p:spPr>
          <a:xfrm>
            <a:off x="4846320" y="2724912"/>
            <a:ext cx="914" cy="164592"/>
          </a:xfrm>
          <a:prstGeom prst="line">
            <a:avLst/>
          </a:prstGeom>
          <a:noFill/>
          <a:ln w="15875">
            <a:solidFill>
              <a:srgbClr val="C8106E"/>
            </a:solidFill>
            <a:prstDash val="solid"/>
          </a:ln>
        </p:spPr>
        <p:txBody>
          <a:bodyPr/>
          <a:p/>
        </p:txBody>
      </p:sp>
      <p:sp>
        <p:nvSpPr>
          <p:cNvPr id="54" name="Text 43"/>
          <p:cNvSpPr/>
          <p:nvPr/>
        </p:nvSpPr>
        <p:spPr>
          <a:xfrm>
            <a:off x="4937760" y="2916936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C81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Recomendação volta ao gestor: WhatsApp, ligação ou visita</a:t>
            </a:r>
            <a:endParaRPr lang="en-US" sz="850" dirty="0"/>
          </a:p>
        </p:txBody>
      </p:sp>
      <p:sp>
        <p:nvSpPr>
          <p:cNvPr id="55" name="Shape 44"/>
          <p:cNvSpPr/>
          <p:nvPr/>
        </p:nvSpPr>
        <p:spPr>
          <a:xfrm>
            <a:off x="4023360" y="3218688"/>
            <a:ext cx="4709160" cy="109728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p/>
        </p:txBody>
      </p:sp>
      <p:pic>
        <p:nvPicPr>
          <p:cNvPr id="56" name="Image 9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33088" y="3310128"/>
            <a:ext cx="274320" cy="274320"/>
          </a:xfrm>
          <a:prstGeom prst="rect">
            <a:avLst/>
          </a:prstGeom>
        </p:spPr>
      </p:pic>
      <p:sp>
        <p:nvSpPr>
          <p:cNvPr id="57" name="Text 45"/>
          <p:cNvSpPr/>
          <p:nvPr/>
        </p:nvSpPr>
        <p:spPr>
          <a:xfrm>
            <a:off x="4498848" y="3291840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Precisa de internet?</a:t>
            </a:r>
            <a:endParaRPr lang="en-US" sz="1100" dirty="0"/>
          </a:p>
        </p:txBody>
      </p:sp>
      <p:sp>
        <p:nvSpPr>
          <p:cNvPr id="58" name="Text 46"/>
          <p:cNvSpPr/>
          <p:nvPr/>
        </p:nvSpPr>
        <p:spPr>
          <a:xfrm>
            <a:off x="4160520" y="356616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curral, não: ficha de papel ou celular que guarda o lançamento e envia ao ter sinal</a:t>
            </a:r>
            <a:endParaRPr lang="en-US" sz="85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sede, sim: uma conexão por dia basta para enviar dados e ver o painel</a:t>
            </a:r>
            <a:endParaRPr lang="en-US" sz="85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8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Celular sem sinal e app nativo offline: validar com a Dreamer na imersão técnica (16 a 27/11)</a:t>
            </a:r>
            <a:endParaRPr lang="en-US" sz="8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competitiva: Cargill, DSM e Tecnobeef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concorrentes vendem ferramenta junto da nutrição. Nosso espaço é a análise para o confinamento médio.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4398264"/>
            <a:ext cx="4572000" cy="7429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503920" y="482803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57200" y="4791456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Fontes: Cargill e Nutron (CattleView); estudo UFV com 6 confinamentos; DSM-firmenich (aquisição da Prodap); site e LinkedIn da Tecnobeef; avaliação interna TN (2023).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1645920" y="1097280"/>
            <a:ext cx="2020824" cy="292608"/>
          </a:xfrm>
          <a:prstGeom prst="rect">
            <a:avLst/>
          </a:prstGeom>
          <a:solidFill>
            <a:srgbClr val="1B3A8C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1737360" y="1097280"/>
            <a:ext cx="18379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Oferta digital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703320" y="1097280"/>
            <a:ext cx="2432304" cy="292608"/>
          </a:xfrm>
          <a:prstGeom prst="rect">
            <a:avLst/>
          </a:prstGeom>
          <a:solidFill>
            <a:srgbClr val="1B3A8C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3794760" y="1097280"/>
            <a:ext cx="22494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bom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172200" y="1097280"/>
            <a:ext cx="2478024" cy="292608"/>
          </a:xfrm>
          <a:prstGeom prst="rect">
            <a:avLst/>
          </a:prstGeom>
          <a:solidFill>
            <a:srgbClr val="1B3A8C"/>
          </a:solidFill>
          <a:ln/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6263640" y="1097280"/>
            <a:ext cx="2295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ruim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57200" y="1426464"/>
            <a:ext cx="8229600" cy="621792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548640" y="1426464"/>
            <a:ext cx="1051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Cargill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1700784" y="1472184"/>
            <a:ext cx="1911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CattleView: câmeras, drones e IA para contar animais, ler cocho e acompanhar bem-estar; atendimento da Nutron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3758184" y="1472184"/>
            <a:ext cx="23225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Tecnologia de ponta e marketing forte da ferramenta; presença física nos grandes confinamentos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6227064" y="1472184"/>
            <a:ext cx="23682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Pensado para o grande confinamento com estrutura e sinal; leitura de sobra ainda em ajuste (estudo UFV); consultoria não é o ponto forte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457200" y="2093976"/>
            <a:ext cx="8229600" cy="621792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548640" y="2093976"/>
            <a:ext cx="1051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DSM (Prodap)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1700784" y="2139696"/>
            <a:ext cx="1911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Prodap Views: gestão do confinamento e da fazenda, com consultoria remota ou presencial (mais de 5 mil fazendas)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3758184" y="2139696"/>
            <a:ext cx="23225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Já une tecnologia, consultoria e nutrição sob medida; maior equipe de campo no Brasil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6227064" y="2139696"/>
            <a:ext cx="23682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Reestruturação após a aquisição; poucos consultores de alto nível; presença nas grandes contas abaixo da Cargill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57200" y="2761488"/>
            <a:ext cx="8229600" cy="621792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24" name="Text 21"/>
          <p:cNvSpPr/>
          <p:nvPr/>
        </p:nvSpPr>
        <p:spPr>
          <a:xfrm>
            <a:off x="548640" y="2761488"/>
            <a:ext cx="1051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Tecnobeef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1700784" y="2807208"/>
            <a:ext cx="1911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Nutrição e suplementação sob medida; ferramenta digital própria não identificada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3758184" y="2807208"/>
            <a:ext cx="23225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Nasceu dentro de um grupo confinador (Campanelli, cerca de 110 mil cabeças): credibilidade prática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6227064" y="2807208"/>
            <a:ext cx="23682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Atuação mais regional; sem oferta digital pública. Confirmar no benchmark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457200" y="3429000"/>
            <a:ext cx="8229600" cy="621792"/>
          </a:xfrm>
          <a:prstGeom prst="rect">
            <a:avLst/>
          </a:prstGeom>
          <a:solidFill>
            <a:srgbClr val="FBE7F1"/>
          </a:solidFill>
          <a:ln/>
        </p:spPr>
        <p:txBody>
          <a:bodyPr/>
          <a:p/>
        </p:txBody>
      </p:sp>
      <p:sp>
        <p:nvSpPr>
          <p:cNvPr id="29" name="Text 26"/>
          <p:cNvSpPr/>
          <p:nvPr/>
        </p:nvSpPr>
        <p:spPr>
          <a:xfrm>
            <a:off x="548640" y="3429000"/>
            <a:ext cx="1051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1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Trouw Nutrition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1700784" y="3474720"/>
            <a:ext cx="1911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Hoje: 20 licenças pagas de terceiros (TGC/Ponta e PecCode). Amanhã: TN Manager Web</a:t>
            </a:r>
            <a:endParaRPr lang="en-US" sz="850" dirty="0"/>
          </a:p>
        </p:txBody>
      </p:sp>
      <p:sp>
        <p:nvSpPr>
          <p:cNvPr id="31" name="Text 28"/>
          <p:cNvSpPr/>
          <p:nvPr/>
        </p:nvSpPr>
        <p:spPr>
          <a:xfrm>
            <a:off x="3758184" y="3474720"/>
            <a:ext cx="23225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Equipe de campo reconhecida e produtos premium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6227064" y="3474720"/>
            <a:ext cx="23682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Dependemos de fornecedor; o pós-venda da Ponta decepcionou clientes; pouca presença digital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457200" y="4114800"/>
            <a:ext cx="4023360" cy="310896"/>
          </a:xfrm>
          <a:prstGeom prst="rect">
            <a:avLst/>
          </a:prstGeom>
          <a:solidFill>
            <a:srgbClr val="1B3A8C"/>
          </a:solidFill>
          <a:ln/>
        </p:spPr>
        <p:txBody>
          <a:bodyPr/>
          <a:p/>
        </p:txBody>
      </p:sp>
      <p:sp>
        <p:nvSpPr>
          <p:cNvPr id="34" name="Text 31"/>
          <p:cNvSpPr/>
          <p:nvPr/>
        </p:nvSpPr>
        <p:spPr>
          <a:xfrm>
            <a:off x="548640" y="4114800"/>
            <a:ext cx="3886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5D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Leitura: </a:t>
            </a:r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 todos têm; análise semanal para 200 a 2.000 cabeças, ninguém faz de perto.</a:t>
            </a:r>
            <a:endParaRPr lang="en-US" sz="8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Custo-benefício e cobrança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 pagamos licença de terceiros para 20 fazendas. O TN Manager Web troca custo de licença por serviço.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4398264"/>
            <a:ext cx="4572000" cy="7429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503920" y="482803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57200" y="107899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pagamos hoje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57200" y="1353312"/>
            <a:ext cx="1115568" cy="274320"/>
          </a:xfrm>
          <a:prstGeom prst="rect">
            <a:avLst/>
          </a:prstGeom>
          <a:solidFill>
            <a:srgbClr val="1B3A8C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548640" y="1353312"/>
            <a:ext cx="93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Fornecedor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1600200" y="1353312"/>
            <a:ext cx="704088" cy="274320"/>
          </a:xfrm>
          <a:prstGeom prst="rect">
            <a:avLst/>
          </a:prstGeom>
          <a:solidFill>
            <a:srgbClr val="1B3A8C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1691640" y="1353312"/>
            <a:ext cx="521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Licenças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2331720" y="1353312"/>
            <a:ext cx="1207008" cy="274320"/>
          </a:xfrm>
          <a:prstGeom prst="rect">
            <a:avLst/>
          </a:prstGeom>
          <a:solidFill>
            <a:srgbClr val="1B3A8C"/>
          </a:solidFill>
          <a:ln/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2423160" y="1353312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licença/ano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3566160" y="1353312"/>
            <a:ext cx="1069848" cy="274320"/>
          </a:xfrm>
          <a:prstGeom prst="rect">
            <a:avLst/>
          </a:prstGeom>
          <a:solidFill>
            <a:srgbClr val="1B3A8C"/>
          </a:solidFill>
          <a:ln/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3657600" y="1353312"/>
            <a:ext cx="886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Total/ano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457200" y="1645920"/>
            <a:ext cx="4178808" cy="27432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530352" y="1645920"/>
            <a:ext cx="1033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TGC (Ponta)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1673352" y="1645920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2404872" y="1645920"/>
            <a:ext cx="1124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R$ 10 a 40 mil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3639312" y="1645920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R$ 60 a 240 mil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457200" y="1956816"/>
            <a:ext cx="4178808" cy="27432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530352" y="1956816"/>
            <a:ext cx="1033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PecCode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1673352" y="1956816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2404872" y="1956816"/>
            <a:ext cx="1124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R$ 8 a 12,8 mil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3639312" y="1956816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R$ 112 a 179 mil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457200" y="2267712"/>
            <a:ext cx="4178808" cy="274320"/>
          </a:xfrm>
          <a:prstGeom prst="rect">
            <a:avLst/>
          </a:prstGeom>
          <a:solidFill>
            <a:srgbClr val="FBE7F1"/>
          </a:solidFill>
          <a:ln/>
        </p:spPr>
        <p:txBody>
          <a:bodyPr/>
          <a:p/>
        </p:txBody>
      </p:sp>
      <p:sp>
        <p:nvSpPr>
          <p:cNvPr id="26" name="Text 23"/>
          <p:cNvSpPr/>
          <p:nvPr/>
        </p:nvSpPr>
        <p:spPr>
          <a:xfrm>
            <a:off x="530352" y="2267712"/>
            <a:ext cx="1033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81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1673352" y="2267712"/>
            <a:ext cx="621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81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2404872" y="2267712"/>
            <a:ext cx="1124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3639312" y="2267712"/>
            <a:ext cx="987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81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R$ 172 a 419 mil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457200" y="2670048"/>
            <a:ext cx="987552" cy="713232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31" name="Shape 28"/>
          <p:cNvSpPr/>
          <p:nvPr/>
        </p:nvSpPr>
        <p:spPr>
          <a:xfrm>
            <a:off x="457200" y="2670048"/>
            <a:ext cx="987552" cy="45720"/>
          </a:xfrm>
          <a:prstGeom prst="rect">
            <a:avLst/>
          </a:prstGeom>
          <a:solidFill>
            <a:srgbClr val="1B3A8C"/>
          </a:solidFill>
          <a:ln/>
        </p:spPr>
        <p:txBody>
          <a:bodyPr/>
          <a:p/>
        </p:txBody>
      </p:sp>
      <p:sp>
        <p:nvSpPr>
          <p:cNvPr id="32" name="Text 29"/>
          <p:cNvSpPr/>
          <p:nvPr/>
        </p:nvSpPr>
        <p:spPr>
          <a:xfrm>
            <a:off x="512064" y="276148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R$ 364 mil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512064" y="3054096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orçados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1513332" y="2670048"/>
            <a:ext cx="987552" cy="713232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35" name="Shape 32"/>
          <p:cNvSpPr/>
          <p:nvPr/>
        </p:nvSpPr>
        <p:spPr>
          <a:xfrm>
            <a:off x="1513332" y="2670048"/>
            <a:ext cx="987552" cy="45720"/>
          </a:xfrm>
          <a:prstGeom prst="rect">
            <a:avLst/>
          </a:prstGeom>
          <a:solidFill>
            <a:srgbClr val="26668F"/>
          </a:solidFill>
          <a:ln/>
        </p:spPr>
        <p:txBody>
          <a:bodyPr/>
          <a:p/>
        </p:txBody>
      </p:sp>
      <p:sp>
        <p:nvSpPr>
          <p:cNvPr id="36" name="Text 33"/>
          <p:cNvSpPr/>
          <p:nvPr/>
        </p:nvSpPr>
        <p:spPr>
          <a:xfrm>
            <a:off x="1568196" y="276148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66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R$ 64 mil</a:t>
            </a:r>
            <a:endParaRPr lang="en-US" sz="1300" dirty="0"/>
          </a:p>
        </p:txBody>
      </p:sp>
      <p:sp>
        <p:nvSpPr>
          <p:cNvPr id="37" name="Text 34"/>
          <p:cNvSpPr/>
          <p:nvPr/>
        </p:nvSpPr>
        <p:spPr>
          <a:xfrm>
            <a:off x="1568196" y="3054096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pagos até agora</a:t>
            </a:r>
            <a:endParaRPr lang="en-US" sz="850" dirty="0"/>
          </a:p>
        </p:txBody>
      </p:sp>
      <p:sp>
        <p:nvSpPr>
          <p:cNvPr id="38" name="Shape 35"/>
          <p:cNvSpPr/>
          <p:nvPr/>
        </p:nvSpPr>
        <p:spPr>
          <a:xfrm>
            <a:off x="2569464" y="2670048"/>
            <a:ext cx="987552" cy="713232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39" name="Shape 36"/>
          <p:cNvSpPr/>
          <p:nvPr/>
        </p:nvSpPr>
        <p:spPr>
          <a:xfrm>
            <a:off x="2569464" y="2670048"/>
            <a:ext cx="987552" cy="45720"/>
          </a:xfrm>
          <a:prstGeom prst="rect">
            <a:avLst/>
          </a:prstGeom>
          <a:solidFill>
            <a:srgbClr val="C8106E"/>
          </a:solidFill>
          <a:ln/>
        </p:spPr>
        <p:txBody>
          <a:bodyPr/>
          <a:p/>
        </p:txBody>
      </p:sp>
      <p:sp>
        <p:nvSpPr>
          <p:cNvPr id="40" name="Text 37"/>
          <p:cNvSpPr/>
          <p:nvPr/>
        </p:nvSpPr>
        <p:spPr>
          <a:xfrm>
            <a:off x="2624328" y="276148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81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R$ 300 mil</a:t>
            </a:r>
            <a:endParaRPr lang="en-US" sz="1300" dirty="0"/>
          </a:p>
        </p:txBody>
      </p:sp>
      <p:sp>
        <p:nvSpPr>
          <p:cNvPr id="41" name="Text 38"/>
          <p:cNvSpPr/>
          <p:nvPr/>
        </p:nvSpPr>
        <p:spPr>
          <a:xfrm>
            <a:off x="2624328" y="3054096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ainda a pagar</a:t>
            </a:r>
            <a:endParaRPr lang="en-US" sz="850" dirty="0"/>
          </a:p>
        </p:txBody>
      </p:sp>
      <p:sp>
        <p:nvSpPr>
          <p:cNvPr id="42" name="Shape 39"/>
          <p:cNvSpPr/>
          <p:nvPr/>
        </p:nvSpPr>
        <p:spPr>
          <a:xfrm>
            <a:off x="3625596" y="2670048"/>
            <a:ext cx="987552" cy="713232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43" name="Shape 40"/>
          <p:cNvSpPr/>
          <p:nvPr/>
        </p:nvSpPr>
        <p:spPr>
          <a:xfrm>
            <a:off x="3625596" y="2670048"/>
            <a:ext cx="987552" cy="45720"/>
          </a:xfrm>
          <a:prstGeom prst="rect">
            <a:avLst/>
          </a:prstGeom>
          <a:solidFill>
            <a:srgbClr val="1B3A8C"/>
          </a:solidFill>
          <a:ln/>
        </p:spPr>
        <p:txBody>
          <a:bodyPr/>
          <a:p/>
        </p:txBody>
      </p:sp>
      <p:sp>
        <p:nvSpPr>
          <p:cNvPr id="44" name="Text 41"/>
          <p:cNvSpPr/>
          <p:nvPr/>
        </p:nvSpPr>
        <p:spPr>
          <a:xfrm>
            <a:off x="3680460" y="276148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R$ 18,2 mil</a:t>
            </a:r>
            <a:endParaRPr lang="en-US" sz="1300" dirty="0"/>
          </a:p>
        </p:txBody>
      </p:sp>
      <p:sp>
        <p:nvSpPr>
          <p:cNvPr id="45" name="Text 42"/>
          <p:cNvSpPr/>
          <p:nvPr/>
        </p:nvSpPr>
        <p:spPr>
          <a:xfrm>
            <a:off x="3680460" y="3054096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média por fazenda/ano</a:t>
            </a:r>
            <a:endParaRPr lang="en-US" sz="850" dirty="0"/>
          </a:p>
        </p:txBody>
      </p:sp>
      <p:sp>
        <p:nvSpPr>
          <p:cNvPr id="46" name="Text 43"/>
          <p:cNvSpPr/>
          <p:nvPr/>
        </p:nvSpPr>
        <p:spPr>
          <a:xfrm>
            <a:off x="457200" y="3493008"/>
            <a:ext cx="41788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licença média por fazenda supera o resultado que muitos confinamentos pequenos geram para a TN. Por isso a licença de terceiros não escala para esse público.</a:t>
            </a:r>
            <a:endParaRPr lang="en-US" sz="900" dirty="0"/>
          </a:p>
        </p:txBody>
      </p:sp>
      <p:sp>
        <p:nvSpPr>
          <p:cNvPr id="47" name="Shape 44"/>
          <p:cNvSpPr/>
          <p:nvPr/>
        </p:nvSpPr>
        <p:spPr>
          <a:xfrm>
            <a:off x="4937760" y="1078992"/>
            <a:ext cx="3749040" cy="310896"/>
          </a:xfrm>
          <a:prstGeom prst="rect">
            <a:avLst/>
          </a:prstGeom>
          <a:solidFill>
            <a:srgbClr val="1B3A8C"/>
          </a:solidFill>
          <a:ln/>
        </p:spPr>
        <p:txBody>
          <a:bodyPr/>
          <a:p/>
        </p:txBody>
      </p:sp>
      <p:sp>
        <p:nvSpPr>
          <p:cNvPr id="48" name="Text 45"/>
          <p:cNvSpPr/>
          <p:nvPr/>
        </p:nvSpPr>
        <p:spPr>
          <a:xfrm>
            <a:off x="5029200" y="1078992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muda com o TN Manager Web</a:t>
            </a:r>
            <a:endParaRPr lang="en-US" sz="1050" dirty="0"/>
          </a:p>
        </p:txBody>
      </p:sp>
      <p:sp>
        <p:nvSpPr>
          <p:cNvPr id="49" name="Shape 46"/>
          <p:cNvSpPr/>
          <p:nvPr/>
        </p:nvSpPr>
        <p:spPr>
          <a:xfrm>
            <a:off x="4937760" y="1389888"/>
            <a:ext cx="3749040" cy="141732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50" name="Text 47"/>
          <p:cNvSpPr/>
          <p:nvPr/>
        </p:nvSpPr>
        <p:spPr>
          <a:xfrm>
            <a:off x="5029200" y="1463040"/>
            <a:ext cx="358444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Migrar as 14 fazendas PecCode: economia de R$ 112 a 179 mil por ano</a:t>
            </a:r>
            <a:endParaRPr lang="en-US" sz="90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Migrar as 20 fazendas: até R$ 364 mil por ano (orçamento atual)</a:t>
            </a:r>
            <a:endParaRPr lang="en-US" sz="90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 de equilíbrio: o projeto se paga quando o custo anual do TN Manager Web (desenvolvimento, nuvem e suporte) ficar abaixo da licença que substitui</a:t>
            </a:r>
            <a:endParaRPr lang="en-US" sz="90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de desenvolvimento: orçamento da Dreamer após a imersão técnica (nov/2026)</a:t>
            </a:r>
            <a:endParaRPr lang="en-US" sz="900" dirty="0"/>
          </a:p>
        </p:txBody>
      </p:sp>
      <p:sp>
        <p:nvSpPr>
          <p:cNvPr id="51" name="Shape 48"/>
          <p:cNvSpPr/>
          <p:nvPr/>
        </p:nvSpPr>
        <p:spPr>
          <a:xfrm>
            <a:off x="4937760" y="2880360"/>
            <a:ext cx="3749040" cy="310896"/>
          </a:xfrm>
          <a:prstGeom prst="rect">
            <a:avLst/>
          </a:prstGeom>
          <a:solidFill>
            <a:srgbClr val="C8106E"/>
          </a:solidFill>
          <a:ln/>
        </p:spPr>
        <p:txBody>
          <a:bodyPr/>
          <a:p/>
        </p:txBody>
      </p:sp>
      <p:sp>
        <p:nvSpPr>
          <p:cNvPr id="52" name="Text 49"/>
          <p:cNvSpPr/>
          <p:nvPr/>
        </p:nvSpPr>
        <p:spPr>
          <a:xfrm>
            <a:off x="5029200" y="2880360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Cobrança do cliente (proposta)</a:t>
            </a:r>
            <a:endParaRPr lang="en-US" sz="1050" dirty="0"/>
          </a:p>
        </p:txBody>
      </p:sp>
      <p:sp>
        <p:nvSpPr>
          <p:cNvPr id="53" name="Shape 50"/>
          <p:cNvSpPr/>
          <p:nvPr/>
        </p:nvSpPr>
        <p:spPr>
          <a:xfrm>
            <a:off x="4937760" y="3191256"/>
            <a:ext cx="3749040" cy="1115568"/>
          </a:xfrm>
          <a:prstGeom prst="rect">
            <a:avLst/>
          </a:prstGeom>
          <a:solidFill>
            <a:srgbClr val="FBE7F1"/>
          </a:solidFill>
          <a:ln/>
        </p:spPr>
        <p:txBody>
          <a:bodyPr/>
          <a:p/>
        </p:txBody>
      </p:sp>
      <p:sp>
        <p:nvSpPr>
          <p:cNvPr id="54" name="Text 51"/>
          <p:cNvSpPr/>
          <p:nvPr/>
        </p:nvSpPr>
        <p:spPr>
          <a:xfrm>
            <a:off x="5029200" y="3255264"/>
            <a:ext cx="358444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licença para o cliente</a:t>
            </a:r>
            <a:endParaRPr lang="en-US" sz="90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embutido no pacote de nutrição e serviço técnico, como previsto na v1.0</a:t>
            </a:r>
            <a:endParaRPr lang="en-US" sz="90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não compra nutrição TN: mensalidade de serviço técnico</a:t>
            </a:r>
            <a:endParaRPr lang="en-US" sz="900" dirty="0"/>
          </a:p>
          <a:p>
            <a:pPr marL="114300" indent="-1143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final na etapa de monetização (jan/2027)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SWOT: TN Manager Web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Atualizada da v1.0 (2023) para a v2.0. Itens marcados em magenta são novos na v2.0.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4398264"/>
            <a:ext cx="4572000" cy="7429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503920" y="482803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457200" y="1097280"/>
            <a:ext cx="4069080" cy="155448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457200" y="1097280"/>
            <a:ext cx="54864" cy="1554480"/>
          </a:xfrm>
          <a:prstGeom prst="rect">
            <a:avLst/>
          </a:prstGeom>
          <a:solidFill>
            <a:srgbClr val="1B3A8C"/>
          </a:solidFill>
          <a:ln/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594360" y="1188720"/>
            <a:ext cx="329184" cy="329184"/>
          </a:xfrm>
          <a:prstGeom prst="ellipse">
            <a:avLst/>
          </a:prstGeom>
          <a:solidFill>
            <a:srgbClr val="1B3A8C"/>
          </a:solidFill>
          <a:ln/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594360" y="11887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005840" y="120700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Forças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621792" y="1572768"/>
            <a:ext cx="379476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C81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Ganho de tempo: relatório pronto toda semana, sem planilha</a:t>
            </a:r>
            <a:endParaRPr lang="en-US" sz="900" dirty="0"/>
          </a:p>
          <a:p>
            <a:pPr marL="114300" indent="-1143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C81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Benchmarking entre fazendas da carteira TN</a:t>
            </a:r>
            <a:endParaRPr lang="en-US" sz="900" dirty="0"/>
          </a:p>
          <a:p>
            <a:pPr marL="114300" indent="-1143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C81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próprios, sem depender de fornecedor</a:t>
            </a:r>
            <a:endParaRPr lang="en-US" sz="900" dirty="0"/>
          </a:p>
          <a:p>
            <a:pPr marL="114300" indent="-1143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C81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custo de licença para o cliente</a:t>
            </a:r>
            <a:endParaRPr lang="en-US" sz="900" dirty="0"/>
          </a:p>
          <a:p>
            <a:pPr marL="114300" indent="-1143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 forte, produtos premium e equipe técnica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617720" y="1097280"/>
            <a:ext cx="4069080" cy="155448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>
            <a:off x="4617720" y="1097280"/>
            <a:ext cx="54864" cy="1554480"/>
          </a:xfrm>
          <a:prstGeom prst="rect">
            <a:avLst/>
          </a:prstGeom>
          <a:solidFill>
            <a:srgbClr val="7A858F"/>
          </a:solidFill>
          <a:ln/>
        </p:spPr>
        <p:txBody>
          <a:bodyPr/>
          <a:p/>
        </p:txBody>
      </p:sp>
      <p:sp>
        <p:nvSpPr>
          <p:cNvPr id="14" name="Shape 11"/>
          <p:cNvSpPr/>
          <p:nvPr/>
        </p:nvSpPr>
        <p:spPr>
          <a:xfrm>
            <a:off x="4754880" y="1188720"/>
            <a:ext cx="329184" cy="329184"/>
          </a:xfrm>
          <a:prstGeom prst="ellipse">
            <a:avLst/>
          </a:prstGeom>
          <a:solidFill>
            <a:srgbClr val="7A858F"/>
          </a:solidFill>
          <a:ln/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4754880" y="11887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166360" y="120700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A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Fraquezas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4782312" y="1572768"/>
            <a:ext cx="379476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C81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 da disciplina de lançamento manual</a:t>
            </a:r>
            <a:endParaRPr lang="en-US" sz="900" dirty="0"/>
          </a:p>
          <a:p>
            <a:pPr marL="114300" indent="-1143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C81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de análise pequeno no início (só Rodrigo)</a:t>
            </a:r>
            <a:endParaRPr lang="en-US" sz="900" dirty="0"/>
          </a:p>
          <a:p>
            <a:pPr marL="114300" indent="-1143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Ainda sem casos de sucesso próprios</a:t>
            </a:r>
            <a:endParaRPr lang="en-US" sz="900" dirty="0"/>
          </a:p>
          <a:p>
            <a:pPr marL="114300" indent="-1143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cobrança ainda a definir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457200" y="2743200"/>
            <a:ext cx="4069080" cy="155448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19" name="Shape 16"/>
          <p:cNvSpPr/>
          <p:nvPr/>
        </p:nvSpPr>
        <p:spPr>
          <a:xfrm>
            <a:off x="457200" y="2743200"/>
            <a:ext cx="54864" cy="1554480"/>
          </a:xfrm>
          <a:prstGeom prst="rect">
            <a:avLst/>
          </a:prstGeom>
          <a:solidFill>
            <a:srgbClr val="26668F"/>
          </a:solidFill>
          <a:ln/>
        </p:spPr>
        <p:txBody>
          <a:bodyPr/>
          <a:p/>
        </p:txBody>
      </p:sp>
      <p:sp>
        <p:nvSpPr>
          <p:cNvPr id="20" name="Shape 17"/>
          <p:cNvSpPr/>
          <p:nvPr/>
        </p:nvSpPr>
        <p:spPr>
          <a:xfrm>
            <a:off x="594360" y="2834640"/>
            <a:ext cx="329184" cy="329184"/>
          </a:xfrm>
          <a:prstGeom prst="ellipse">
            <a:avLst/>
          </a:prstGeom>
          <a:solidFill>
            <a:srgbClr val="26668F"/>
          </a:solidFill>
          <a:ln/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594360" y="28346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1005840" y="285292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66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Oportunidades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621792" y="3218688"/>
            <a:ext cx="379476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C81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1.131 confinamentos com menos de 1.000 cabeças, pouco atendidos</a:t>
            </a:r>
            <a:endParaRPr lang="en-US" sz="900" dirty="0"/>
          </a:p>
          <a:p>
            <a:pPr marL="114300" indent="-1143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C81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Cortar até R$ 364 mil por ano em licenças</a:t>
            </a:r>
            <a:endParaRPr lang="en-US" sz="900" dirty="0"/>
          </a:p>
          <a:p>
            <a:pPr marL="114300" indent="-1143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Recuperar ex-clientes e abrir não clientes</a:t>
            </a:r>
            <a:endParaRPr lang="en-US" sz="900" dirty="0"/>
          </a:p>
          <a:p>
            <a:pPr marL="114300" indent="-1143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Recomendação nutricional baseada em dados</a:t>
            </a:r>
            <a:endParaRPr lang="en-US" sz="900" dirty="0"/>
          </a:p>
          <a:p>
            <a:pPr marL="114300" indent="-1143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Clube de membros e programa de sustentabilidade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4617720" y="2743200"/>
            <a:ext cx="4069080" cy="155448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25" name="Shape 22"/>
          <p:cNvSpPr/>
          <p:nvPr/>
        </p:nvSpPr>
        <p:spPr>
          <a:xfrm>
            <a:off x="4617720" y="2743200"/>
            <a:ext cx="54864" cy="1554480"/>
          </a:xfrm>
          <a:prstGeom prst="rect">
            <a:avLst/>
          </a:prstGeom>
          <a:solidFill>
            <a:srgbClr val="C8106E"/>
          </a:solidFill>
          <a:ln/>
        </p:spPr>
        <p:txBody>
          <a:bodyPr/>
          <a:p/>
        </p:txBody>
      </p:sp>
      <p:sp>
        <p:nvSpPr>
          <p:cNvPr id="26" name="Shape 23"/>
          <p:cNvSpPr/>
          <p:nvPr/>
        </p:nvSpPr>
        <p:spPr>
          <a:xfrm>
            <a:off x="4754880" y="2834640"/>
            <a:ext cx="329184" cy="329184"/>
          </a:xfrm>
          <a:prstGeom prst="ellipse">
            <a:avLst/>
          </a:prstGeom>
          <a:solidFill>
            <a:srgbClr val="C8106E"/>
          </a:solidFill>
          <a:ln/>
        </p:spPr>
        <p:txBody>
          <a:bodyPr/>
          <a:p/>
        </p:txBody>
      </p:sp>
      <p:sp>
        <p:nvSpPr>
          <p:cNvPr id="27" name="Text 24"/>
          <p:cNvSpPr/>
          <p:nvPr/>
        </p:nvSpPr>
        <p:spPr>
          <a:xfrm>
            <a:off x="4754880" y="28346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5166360" y="285292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81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Ameaças</a:t>
            </a:r>
            <a:endParaRPr lang="en-US" sz="1250" dirty="0"/>
          </a:p>
        </p:txBody>
      </p:sp>
      <p:sp>
        <p:nvSpPr>
          <p:cNvPr id="29" name="Text 26"/>
          <p:cNvSpPr/>
          <p:nvPr/>
        </p:nvSpPr>
        <p:spPr>
          <a:xfrm>
            <a:off x="4782312" y="3218688"/>
            <a:ext cx="379476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14300" indent="-1143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C81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Cargill e DSM já vendem ferramenta junto da nutrição</a:t>
            </a:r>
            <a:endParaRPr lang="en-US" sz="900" dirty="0"/>
          </a:p>
          <a:p>
            <a:pPr marL="114300" indent="-1143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C81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Baixa adesão ao lançamento manual</a:t>
            </a:r>
            <a:endParaRPr lang="en-US" sz="900" dirty="0"/>
          </a:p>
          <a:p>
            <a:pPr marL="114300" indent="-1143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Dependência da software house</a:t>
            </a:r>
            <a:endParaRPr lang="en-US" sz="900" dirty="0"/>
          </a:p>
          <a:p>
            <a:pPr marL="114300" indent="-1143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conseguir embutir o custo no preço do produto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Go-to-market: começar com 20 fazendas e escalar com analistas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Rodrigo valida o modelo de atendimento antes de contratar. O gatilho para crescer é resultado, não data.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4398264"/>
            <a:ext cx="4572000" cy="7429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503920" y="482803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457200" y="1115568"/>
            <a:ext cx="2606040" cy="146304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457200" y="1115568"/>
            <a:ext cx="2606040" cy="54864"/>
          </a:xfrm>
          <a:prstGeom prst="rect">
            <a:avLst/>
          </a:prstGeom>
          <a:solidFill>
            <a:srgbClr val="26668F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585216" y="1243584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266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MESES 1 E 2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585216" y="1426464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Piloto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85216" y="1737360"/>
            <a:ext cx="1600200" cy="219456"/>
          </a:xfrm>
          <a:prstGeom prst="roundRect">
            <a:avLst>
              <a:gd name="adj" fmla="val 50000"/>
            </a:avLst>
          </a:prstGeom>
          <a:solidFill>
            <a:srgbClr val="26668F"/>
          </a:solidFill>
          <a:ln/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585216" y="1737360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 5 fazendas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585216" y="2029968"/>
            <a:ext cx="23682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Rodrigo e técnico de campo acompanham de perto; ajustes rápidos no produto com a Dreamer</a:t>
            </a:r>
            <a:endParaRPr lang="en-US" sz="9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0672" y="1755648"/>
            <a:ext cx="164592" cy="164592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3273552" y="1115568"/>
            <a:ext cx="2606040" cy="146304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3273552" y="1115568"/>
            <a:ext cx="2606040" cy="54864"/>
          </a:xfrm>
          <a:prstGeom prst="rect">
            <a:avLst/>
          </a:prstGeom>
          <a:solidFill>
            <a:srgbClr val="1B3A8C"/>
          </a:solidFill>
          <a:ln/>
        </p:spPr>
        <p:txBody>
          <a:bodyPr/>
          <a:p/>
        </p:txBody>
      </p:sp>
      <p:sp>
        <p:nvSpPr>
          <p:cNvPr id="16" name="Text 12"/>
          <p:cNvSpPr/>
          <p:nvPr/>
        </p:nvSpPr>
        <p:spPr>
          <a:xfrm>
            <a:off x="3401568" y="1243584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MESES 3 A 6</a:t>
            </a:r>
            <a:endParaRPr lang="en-US" sz="850" dirty="0"/>
          </a:p>
        </p:txBody>
      </p:sp>
      <p:sp>
        <p:nvSpPr>
          <p:cNvPr id="17" name="Text 13"/>
          <p:cNvSpPr/>
          <p:nvPr/>
        </p:nvSpPr>
        <p:spPr>
          <a:xfrm>
            <a:off x="3401568" y="1426464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Rodrigo analisa</a:t>
            </a:r>
            <a:endParaRPr lang="en-US" sz="1400" dirty="0"/>
          </a:p>
        </p:txBody>
      </p:sp>
      <p:sp>
        <p:nvSpPr>
          <p:cNvPr id="18" name="Shape 14"/>
          <p:cNvSpPr/>
          <p:nvPr/>
        </p:nvSpPr>
        <p:spPr>
          <a:xfrm>
            <a:off x="3401568" y="1737360"/>
            <a:ext cx="1600200" cy="219456"/>
          </a:xfrm>
          <a:prstGeom prst="roundRect">
            <a:avLst>
              <a:gd name="adj" fmla="val 50000"/>
            </a:avLst>
          </a:prstGeom>
          <a:solidFill>
            <a:srgbClr val="1B3A8C"/>
          </a:solidFill>
          <a:ln/>
        </p:spPr>
        <p:txBody>
          <a:bodyPr/>
          <a:p/>
        </p:txBody>
      </p:sp>
      <p:sp>
        <p:nvSpPr>
          <p:cNvPr id="19" name="Text 15"/>
          <p:cNvSpPr/>
          <p:nvPr/>
        </p:nvSpPr>
        <p:spPr>
          <a:xfrm>
            <a:off x="3401568" y="1737360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até 20 fazendas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3401568" y="2029968"/>
            <a:ext cx="23682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semanal remota, relatório comentado e auditoria mensal de dados e rotina</a:t>
            </a:r>
            <a:endParaRPr lang="en-US" sz="900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7024" y="1755648"/>
            <a:ext cx="164592" cy="164592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6089904" y="1115568"/>
            <a:ext cx="2606040" cy="146304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23" name="Shape 18"/>
          <p:cNvSpPr/>
          <p:nvPr/>
        </p:nvSpPr>
        <p:spPr>
          <a:xfrm>
            <a:off x="6089904" y="1115568"/>
            <a:ext cx="2606040" cy="54864"/>
          </a:xfrm>
          <a:prstGeom prst="rect">
            <a:avLst/>
          </a:prstGeom>
          <a:solidFill>
            <a:srgbClr val="C8106E"/>
          </a:solidFill>
          <a:ln/>
        </p:spPr>
        <p:txBody>
          <a:bodyPr/>
          <a:p/>
        </p:txBody>
      </p:sp>
      <p:sp>
        <p:nvSpPr>
          <p:cNvPr id="24" name="Text 19"/>
          <p:cNvSpPr/>
          <p:nvPr/>
        </p:nvSpPr>
        <p:spPr>
          <a:xfrm>
            <a:off x="6217920" y="1243584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C81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PARTIR DO MÊS 7</a:t>
            </a:r>
            <a:endParaRPr lang="en-US" sz="850" dirty="0"/>
          </a:p>
        </p:txBody>
      </p:sp>
      <p:sp>
        <p:nvSpPr>
          <p:cNvPr id="25" name="Text 20"/>
          <p:cNvSpPr/>
          <p:nvPr/>
        </p:nvSpPr>
        <p:spPr>
          <a:xfrm>
            <a:off x="6217920" y="1426464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Analistas dedicados</a:t>
            </a:r>
            <a:endParaRPr lang="en-US" sz="1400" dirty="0"/>
          </a:p>
        </p:txBody>
      </p:sp>
      <p:sp>
        <p:nvSpPr>
          <p:cNvPr id="26" name="Shape 21"/>
          <p:cNvSpPr/>
          <p:nvPr/>
        </p:nvSpPr>
        <p:spPr>
          <a:xfrm>
            <a:off x="6217920" y="1737360"/>
            <a:ext cx="1600200" cy="219456"/>
          </a:xfrm>
          <a:prstGeom prst="roundRect">
            <a:avLst>
              <a:gd name="adj" fmla="val 50000"/>
            </a:avLst>
          </a:prstGeom>
          <a:solidFill>
            <a:srgbClr val="C8106E"/>
          </a:solidFill>
          <a:ln/>
        </p:spPr>
        <p:txBody>
          <a:bodyPr/>
          <a:p/>
        </p:txBody>
      </p:sp>
      <p:sp>
        <p:nvSpPr>
          <p:cNvPr id="27" name="Text 22"/>
          <p:cNvSpPr/>
          <p:nvPr/>
        </p:nvSpPr>
        <p:spPr>
          <a:xfrm>
            <a:off x="6217920" y="1737360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para cada 20 fazendas</a:t>
            </a:r>
            <a:endParaRPr lang="en-US" sz="900" dirty="0"/>
          </a:p>
        </p:txBody>
      </p:sp>
      <p:sp>
        <p:nvSpPr>
          <p:cNvPr id="28" name="Text 23"/>
          <p:cNvSpPr/>
          <p:nvPr/>
        </p:nvSpPr>
        <p:spPr>
          <a:xfrm>
            <a:off x="6217920" y="2029968"/>
            <a:ext cx="23682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Rodrigo coordena, padroniza a análise e cuida do benchmark</a:t>
            </a:r>
            <a:endParaRPr lang="en-US" sz="900" dirty="0"/>
          </a:p>
        </p:txBody>
      </p:sp>
      <p:sp>
        <p:nvSpPr>
          <p:cNvPr id="29" name="Shape 24"/>
          <p:cNvSpPr/>
          <p:nvPr/>
        </p:nvSpPr>
        <p:spPr>
          <a:xfrm>
            <a:off x="457200" y="2724912"/>
            <a:ext cx="8229600" cy="283464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30" name="Text 25"/>
          <p:cNvSpPr/>
          <p:nvPr/>
        </p:nvSpPr>
        <p:spPr>
          <a:xfrm>
            <a:off x="548640" y="2724912"/>
            <a:ext cx="1737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Primeiras fazendas</a:t>
            </a:r>
            <a:endParaRPr lang="en-US" sz="950" dirty="0"/>
          </a:p>
        </p:txBody>
      </p:sp>
      <p:sp>
        <p:nvSpPr>
          <p:cNvPr id="31" name="Text 26"/>
          <p:cNvSpPr/>
          <p:nvPr/>
        </p:nvSpPr>
        <p:spPr>
          <a:xfrm>
            <a:off x="2286000" y="2724912"/>
            <a:ext cx="6309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Carteira com licença paga que cabe na faixa de 200 a 2.000 cabeças, depois indicação dos técnicos e RTVs</a:t>
            </a:r>
            <a:endParaRPr lang="en-US" sz="900" dirty="0"/>
          </a:p>
        </p:txBody>
      </p:sp>
      <p:sp>
        <p:nvSpPr>
          <p:cNvPr id="32" name="Shape 27"/>
          <p:cNvSpPr/>
          <p:nvPr/>
        </p:nvSpPr>
        <p:spPr>
          <a:xfrm>
            <a:off x="457200" y="3044952"/>
            <a:ext cx="8229600" cy="28346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3" name="Text 28"/>
          <p:cNvSpPr/>
          <p:nvPr/>
        </p:nvSpPr>
        <p:spPr>
          <a:xfrm>
            <a:off x="548640" y="3044952"/>
            <a:ext cx="1737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o cliente recebe</a:t>
            </a:r>
            <a:endParaRPr lang="en-US" sz="950" dirty="0"/>
          </a:p>
        </p:txBody>
      </p:sp>
      <p:sp>
        <p:nvSpPr>
          <p:cNvPr id="34" name="Text 29"/>
          <p:cNvSpPr/>
          <p:nvPr/>
        </p:nvSpPr>
        <p:spPr>
          <a:xfrm>
            <a:off x="2286000" y="3044952"/>
            <a:ext cx="6309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Ferramenta, relatório semanal comentado, visita do técnico e auditoria mensal da rotina</a:t>
            </a:r>
            <a:endParaRPr lang="en-US" sz="900" dirty="0"/>
          </a:p>
        </p:txBody>
      </p:sp>
      <p:sp>
        <p:nvSpPr>
          <p:cNvPr id="35" name="Shape 30"/>
          <p:cNvSpPr/>
          <p:nvPr/>
        </p:nvSpPr>
        <p:spPr>
          <a:xfrm>
            <a:off x="457200" y="3364992"/>
            <a:ext cx="8229600" cy="283464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36" name="Text 31"/>
          <p:cNvSpPr/>
          <p:nvPr/>
        </p:nvSpPr>
        <p:spPr>
          <a:xfrm>
            <a:off x="548640" y="3364992"/>
            <a:ext cx="1737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Auditoria mensal</a:t>
            </a:r>
            <a:endParaRPr lang="en-US" sz="950" dirty="0"/>
          </a:p>
        </p:txBody>
      </p:sp>
      <p:sp>
        <p:nvSpPr>
          <p:cNvPr id="37" name="Text 32"/>
          <p:cNvSpPr/>
          <p:nvPr/>
        </p:nvSpPr>
        <p:spPr>
          <a:xfrm>
            <a:off x="2286000" y="3364992"/>
            <a:ext cx="6309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Confere se o lançado bate com a realidade: estoque de ração, contagem de animais e leitura de cocho</a:t>
            </a:r>
            <a:endParaRPr lang="en-US" sz="900" dirty="0"/>
          </a:p>
        </p:txBody>
      </p:sp>
      <p:sp>
        <p:nvSpPr>
          <p:cNvPr id="38" name="Shape 33"/>
          <p:cNvSpPr/>
          <p:nvPr/>
        </p:nvSpPr>
        <p:spPr>
          <a:xfrm>
            <a:off x="457200" y="3685032"/>
            <a:ext cx="8229600" cy="28346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9" name="Text 34"/>
          <p:cNvSpPr/>
          <p:nvPr/>
        </p:nvSpPr>
        <p:spPr>
          <a:xfrm>
            <a:off x="548640" y="3685032"/>
            <a:ext cx="1737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Gatilho para analistas</a:t>
            </a:r>
            <a:endParaRPr lang="en-US" sz="950" dirty="0"/>
          </a:p>
        </p:txBody>
      </p:sp>
      <p:sp>
        <p:nvSpPr>
          <p:cNvPr id="40" name="Text 35"/>
          <p:cNvSpPr/>
          <p:nvPr/>
        </p:nvSpPr>
        <p:spPr>
          <a:xfrm>
            <a:off x="2286000" y="3685032"/>
            <a:ext cx="6309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fazendas ativas e G2 aprovado (adesão, uso e nota de recomendação)</a:t>
            </a:r>
            <a:endParaRPr lang="en-US" sz="900" dirty="0"/>
          </a:p>
        </p:txBody>
      </p:sp>
      <p:sp>
        <p:nvSpPr>
          <p:cNvPr id="41" name="Shape 36"/>
          <p:cNvSpPr/>
          <p:nvPr/>
        </p:nvSpPr>
        <p:spPr>
          <a:xfrm>
            <a:off x="457200" y="4005072"/>
            <a:ext cx="8229600" cy="283464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42" name="Text 37"/>
          <p:cNvSpPr/>
          <p:nvPr/>
        </p:nvSpPr>
        <p:spPr>
          <a:xfrm>
            <a:off x="548640" y="4005072"/>
            <a:ext cx="1737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Preço</a:t>
            </a:r>
            <a:endParaRPr lang="en-US" sz="950" dirty="0"/>
          </a:p>
        </p:txBody>
      </p:sp>
      <p:sp>
        <p:nvSpPr>
          <p:cNvPr id="43" name="Text 38"/>
          <p:cNvSpPr/>
          <p:nvPr/>
        </p:nvSpPr>
        <p:spPr>
          <a:xfrm>
            <a:off x="2286000" y="4005072"/>
            <a:ext cx="6309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licença; custo no pacote de nutrição e serviço (modelo final em jan/2027)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Roadmap: do papel para a fazenda em 15 meses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 do cronograma aprovado até fev/2027; depois, datas indicativas que dependem de cada gate.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4398264"/>
            <a:ext cx="4572000" cy="7429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503920" y="482803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3017520" y="109728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4114800" y="1097280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3017520" y="1271016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3383280" y="1271016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3383280" y="1444752"/>
            <a:ext cx="914" cy="2578608"/>
          </a:xfrm>
          <a:prstGeom prst="line">
            <a:avLst/>
          </a:prstGeom>
          <a:noFill/>
          <a:ln w="6350">
            <a:solidFill>
              <a:srgbClr val="ECEFF2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3749040" y="1271016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dez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3749040" y="1444752"/>
            <a:ext cx="914" cy="2578608"/>
          </a:xfrm>
          <a:prstGeom prst="line">
            <a:avLst/>
          </a:prstGeom>
          <a:noFill/>
          <a:ln w="6350">
            <a:solidFill>
              <a:srgbClr val="ECEFF2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4114800" y="1271016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4114800" y="1444752"/>
            <a:ext cx="914" cy="2578608"/>
          </a:xfrm>
          <a:prstGeom prst="line">
            <a:avLst/>
          </a:prstGeom>
          <a:noFill/>
          <a:ln w="6350">
            <a:solidFill>
              <a:srgbClr val="ECEFF2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4480560" y="1271016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fev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4480560" y="1444752"/>
            <a:ext cx="914" cy="2578608"/>
          </a:xfrm>
          <a:prstGeom prst="line">
            <a:avLst/>
          </a:prstGeom>
          <a:noFill/>
          <a:ln w="6350">
            <a:solidFill>
              <a:srgbClr val="ECEFF2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4846320" y="1271016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4846320" y="1444752"/>
            <a:ext cx="914" cy="2578608"/>
          </a:xfrm>
          <a:prstGeom prst="line">
            <a:avLst/>
          </a:prstGeom>
          <a:noFill/>
          <a:ln w="6350">
            <a:solidFill>
              <a:srgbClr val="ECEFF2"/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5212080" y="1271016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5212080" y="1444752"/>
            <a:ext cx="914" cy="2578608"/>
          </a:xfrm>
          <a:prstGeom prst="line">
            <a:avLst/>
          </a:prstGeom>
          <a:noFill/>
          <a:ln w="6350">
            <a:solidFill>
              <a:srgbClr val="ECEFF2"/>
            </a:solidFill>
            <a:prstDash val="solid"/>
          </a:ln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5577840" y="1271016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5577840" y="1444752"/>
            <a:ext cx="914" cy="2578608"/>
          </a:xfrm>
          <a:prstGeom prst="line">
            <a:avLst/>
          </a:prstGeom>
          <a:noFill/>
          <a:ln w="6350">
            <a:solidFill>
              <a:srgbClr val="ECEFF2"/>
            </a:solidFill>
            <a:prstDash val="solid"/>
          </a:ln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5943600" y="1271016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5943600" y="1444752"/>
            <a:ext cx="914" cy="2578608"/>
          </a:xfrm>
          <a:prstGeom prst="line">
            <a:avLst/>
          </a:prstGeom>
          <a:noFill/>
          <a:ln w="6350">
            <a:solidFill>
              <a:srgbClr val="ECEFF2"/>
            </a:solidFill>
            <a:prstDash val="solid"/>
          </a:ln>
        </p:spPr>
        <p:txBody>
          <a:bodyPr/>
          <a:p/>
        </p:txBody>
      </p:sp>
      <p:sp>
        <p:nvSpPr>
          <p:cNvPr id="25" name="Text 22"/>
          <p:cNvSpPr/>
          <p:nvPr/>
        </p:nvSpPr>
        <p:spPr>
          <a:xfrm>
            <a:off x="6309360" y="1271016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</a:t>
            </a:r>
            <a:endParaRPr lang="en-US" sz="800" dirty="0"/>
          </a:p>
        </p:txBody>
      </p:sp>
      <p:sp>
        <p:nvSpPr>
          <p:cNvPr id="26" name="Shape 23"/>
          <p:cNvSpPr/>
          <p:nvPr/>
        </p:nvSpPr>
        <p:spPr>
          <a:xfrm>
            <a:off x="6309360" y="1444752"/>
            <a:ext cx="914" cy="2578608"/>
          </a:xfrm>
          <a:prstGeom prst="line">
            <a:avLst/>
          </a:prstGeom>
          <a:noFill/>
          <a:ln w="6350">
            <a:solidFill>
              <a:srgbClr val="ECEFF2"/>
            </a:solidFill>
            <a:prstDash val="solid"/>
          </a:ln>
        </p:spPr>
        <p:txBody>
          <a:bodyPr/>
          <a:p/>
        </p:txBody>
      </p:sp>
      <p:sp>
        <p:nvSpPr>
          <p:cNvPr id="27" name="Text 24"/>
          <p:cNvSpPr/>
          <p:nvPr/>
        </p:nvSpPr>
        <p:spPr>
          <a:xfrm>
            <a:off x="6675120" y="1271016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</a:t>
            </a:r>
            <a:endParaRPr lang="en-US" sz="800" dirty="0"/>
          </a:p>
        </p:txBody>
      </p:sp>
      <p:sp>
        <p:nvSpPr>
          <p:cNvPr id="28" name="Shape 25"/>
          <p:cNvSpPr/>
          <p:nvPr/>
        </p:nvSpPr>
        <p:spPr>
          <a:xfrm>
            <a:off x="6675120" y="1444752"/>
            <a:ext cx="914" cy="2578608"/>
          </a:xfrm>
          <a:prstGeom prst="line">
            <a:avLst/>
          </a:prstGeom>
          <a:noFill/>
          <a:ln w="6350">
            <a:solidFill>
              <a:srgbClr val="ECEFF2"/>
            </a:solidFill>
            <a:prstDash val="solid"/>
          </a:ln>
        </p:spPr>
        <p:txBody>
          <a:bodyPr/>
          <a:p/>
        </p:txBody>
      </p:sp>
      <p:sp>
        <p:nvSpPr>
          <p:cNvPr id="29" name="Text 26"/>
          <p:cNvSpPr/>
          <p:nvPr/>
        </p:nvSpPr>
        <p:spPr>
          <a:xfrm>
            <a:off x="7040880" y="1271016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7040880" y="1444752"/>
            <a:ext cx="914" cy="2578608"/>
          </a:xfrm>
          <a:prstGeom prst="line">
            <a:avLst/>
          </a:prstGeom>
          <a:noFill/>
          <a:ln w="6350">
            <a:solidFill>
              <a:srgbClr val="ECEFF2"/>
            </a:solidFill>
            <a:prstDash val="solid"/>
          </a:ln>
        </p:spPr>
        <p:txBody>
          <a:bodyPr/>
          <a:p/>
        </p:txBody>
      </p:sp>
      <p:sp>
        <p:nvSpPr>
          <p:cNvPr id="31" name="Text 28"/>
          <p:cNvSpPr/>
          <p:nvPr/>
        </p:nvSpPr>
        <p:spPr>
          <a:xfrm>
            <a:off x="7406640" y="1271016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</a:t>
            </a:r>
            <a:endParaRPr lang="en-US" sz="800" dirty="0"/>
          </a:p>
        </p:txBody>
      </p:sp>
      <p:sp>
        <p:nvSpPr>
          <p:cNvPr id="32" name="Shape 29"/>
          <p:cNvSpPr/>
          <p:nvPr/>
        </p:nvSpPr>
        <p:spPr>
          <a:xfrm>
            <a:off x="7406640" y="1444752"/>
            <a:ext cx="914" cy="2578608"/>
          </a:xfrm>
          <a:prstGeom prst="line">
            <a:avLst/>
          </a:prstGeom>
          <a:noFill/>
          <a:ln w="6350">
            <a:solidFill>
              <a:srgbClr val="ECEFF2"/>
            </a:solidFill>
            <a:prstDash val="solid"/>
          </a:ln>
        </p:spPr>
        <p:txBody>
          <a:bodyPr/>
          <a:p/>
        </p:txBody>
      </p:sp>
      <p:sp>
        <p:nvSpPr>
          <p:cNvPr id="33" name="Text 30"/>
          <p:cNvSpPr/>
          <p:nvPr/>
        </p:nvSpPr>
        <p:spPr>
          <a:xfrm>
            <a:off x="7772400" y="1271016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</a:t>
            </a:r>
            <a:endParaRPr lang="en-US" sz="800" dirty="0"/>
          </a:p>
        </p:txBody>
      </p:sp>
      <p:sp>
        <p:nvSpPr>
          <p:cNvPr id="34" name="Shape 31"/>
          <p:cNvSpPr/>
          <p:nvPr/>
        </p:nvSpPr>
        <p:spPr>
          <a:xfrm>
            <a:off x="7772400" y="1444752"/>
            <a:ext cx="914" cy="2578608"/>
          </a:xfrm>
          <a:prstGeom prst="line">
            <a:avLst/>
          </a:prstGeom>
          <a:noFill/>
          <a:ln w="6350">
            <a:solidFill>
              <a:srgbClr val="ECEFF2"/>
            </a:solidFill>
            <a:prstDash val="solid"/>
          </a:ln>
        </p:spPr>
        <p:txBody>
          <a:bodyPr/>
          <a:p/>
        </p:txBody>
      </p:sp>
      <p:sp>
        <p:nvSpPr>
          <p:cNvPr id="35" name="Text 32"/>
          <p:cNvSpPr/>
          <p:nvPr/>
        </p:nvSpPr>
        <p:spPr>
          <a:xfrm>
            <a:off x="8138160" y="1271016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dez</a:t>
            </a:r>
            <a:endParaRPr lang="en-US" sz="800" dirty="0"/>
          </a:p>
        </p:txBody>
      </p:sp>
      <p:sp>
        <p:nvSpPr>
          <p:cNvPr id="36" name="Shape 33"/>
          <p:cNvSpPr/>
          <p:nvPr/>
        </p:nvSpPr>
        <p:spPr>
          <a:xfrm>
            <a:off x="8138160" y="1444752"/>
            <a:ext cx="914" cy="2578608"/>
          </a:xfrm>
          <a:prstGeom prst="line">
            <a:avLst/>
          </a:prstGeom>
          <a:noFill/>
          <a:ln w="6350">
            <a:solidFill>
              <a:srgbClr val="ECEFF2"/>
            </a:solidFill>
            <a:prstDash val="solid"/>
          </a:ln>
        </p:spPr>
        <p:txBody>
          <a:bodyPr/>
          <a:p/>
        </p:txBody>
      </p:sp>
      <p:sp>
        <p:nvSpPr>
          <p:cNvPr id="37" name="Shape 34"/>
          <p:cNvSpPr/>
          <p:nvPr/>
        </p:nvSpPr>
        <p:spPr>
          <a:xfrm>
            <a:off x="4114800" y="1115568"/>
            <a:ext cx="914" cy="2907792"/>
          </a:xfrm>
          <a:prstGeom prst="line">
            <a:avLst/>
          </a:prstGeom>
          <a:noFill/>
          <a:ln w="9525">
            <a:solidFill>
              <a:srgbClr val="D9DEE3"/>
            </a:solidFill>
            <a:prstDash val="solid"/>
          </a:ln>
        </p:spPr>
        <p:txBody>
          <a:bodyPr/>
          <a:p/>
        </p:txBody>
      </p:sp>
      <p:sp>
        <p:nvSpPr>
          <p:cNvPr id="38" name="Text 35"/>
          <p:cNvSpPr/>
          <p:nvPr/>
        </p:nvSpPr>
        <p:spPr>
          <a:xfrm>
            <a:off x="457200" y="149961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case e benchmark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2286000" y="1499616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Rodrigo</a:t>
            </a:r>
            <a:endParaRPr lang="en-US" sz="750" dirty="0"/>
          </a:p>
        </p:txBody>
      </p:sp>
      <p:sp>
        <p:nvSpPr>
          <p:cNvPr id="40" name="Shape 37"/>
          <p:cNvSpPr/>
          <p:nvPr/>
        </p:nvSpPr>
        <p:spPr>
          <a:xfrm>
            <a:off x="3017520" y="1527048"/>
            <a:ext cx="365760" cy="182880"/>
          </a:xfrm>
          <a:prstGeom prst="roundRect">
            <a:avLst>
              <a:gd name="adj" fmla="val 25000"/>
            </a:avLst>
          </a:prstGeom>
          <a:solidFill>
            <a:srgbClr val="26668F"/>
          </a:solidFill>
          <a:ln/>
        </p:spPr>
        <p:txBody>
          <a:bodyPr/>
          <a:p/>
        </p:txBody>
      </p:sp>
      <p:sp>
        <p:nvSpPr>
          <p:cNvPr id="41" name="Text 38"/>
          <p:cNvSpPr/>
          <p:nvPr/>
        </p:nvSpPr>
        <p:spPr>
          <a:xfrm>
            <a:off x="3419856" y="152704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266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até 23/10</a:t>
            </a:r>
            <a:endParaRPr lang="en-US" sz="750" dirty="0"/>
          </a:p>
        </p:txBody>
      </p:sp>
      <p:sp>
        <p:nvSpPr>
          <p:cNvPr id="42" name="Text 39"/>
          <p:cNvSpPr/>
          <p:nvPr/>
        </p:nvSpPr>
        <p:spPr>
          <a:xfrm>
            <a:off x="457200" y="177393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Pesquisa com 30 fazendas</a:t>
            </a:r>
            <a:endParaRPr lang="en-US" sz="900" dirty="0"/>
          </a:p>
        </p:txBody>
      </p:sp>
      <p:sp>
        <p:nvSpPr>
          <p:cNvPr id="43" name="Text 40"/>
          <p:cNvSpPr/>
          <p:nvPr/>
        </p:nvSpPr>
        <p:spPr>
          <a:xfrm>
            <a:off x="2286000" y="1773936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Rodrigo e Kátia Sato</a:t>
            </a:r>
            <a:endParaRPr lang="en-US" sz="750" dirty="0"/>
          </a:p>
        </p:txBody>
      </p:sp>
      <p:sp>
        <p:nvSpPr>
          <p:cNvPr id="44" name="Shape 41"/>
          <p:cNvSpPr/>
          <p:nvPr/>
        </p:nvSpPr>
        <p:spPr>
          <a:xfrm>
            <a:off x="3236976" y="1801368"/>
            <a:ext cx="804672" cy="182880"/>
          </a:xfrm>
          <a:prstGeom prst="roundRect">
            <a:avLst>
              <a:gd name="adj" fmla="val 25000"/>
            </a:avLst>
          </a:prstGeom>
          <a:solidFill>
            <a:srgbClr val="26668F"/>
          </a:solidFill>
          <a:ln/>
        </p:spPr>
        <p:txBody>
          <a:bodyPr/>
          <a:p/>
        </p:txBody>
      </p:sp>
      <p:sp>
        <p:nvSpPr>
          <p:cNvPr id="45" name="Text 42"/>
          <p:cNvSpPr/>
          <p:nvPr/>
        </p:nvSpPr>
        <p:spPr>
          <a:xfrm>
            <a:off x="3236976" y="1801368"/>
            <a:ext cx="804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19/10 a 04/12</a:t>
            </a:r>
            <a:endParaRPr lang="en-US" sz="750" dirty="0"/>
          </a:p>
        </p:txBody>
      </p:sp>
      <p:sp>
        <p:nvSpPr>
          <p:cNvPr id="46" name="Text 43"/>
          <p:cNvSpPr/>
          <p:nvPr/>
        </p:nvSpPr>
        <p:spPr>
          <a:xfrm>
            <a:off x="457200" y="204825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Imersão técnica Dreamer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2286000" y="2048256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Rodrigo e Dreamer</a:t>
            </a:r>
            <a:endParaRPr lang="en-US" sz="750" dirty="0"/>
          </a:p>
        </p:txBody>
      </p:sp>
      <p:sp>
        <p:nvSpPr>
          <p:cNvPr id="48" name="Shape 45"/>
          <p:cNvSpPr/>
          <p:nvPr/>
        </p:nvSpPr>
        <p:spPr>
          <a:xfrm>
            <a:off x="3566160" y="2075688"/>
            <a:ext cx="182880" cy="182880"/>
          </a:xfrm>
          <a:prstGeom prst="roundRect">
            <a:avLst>
              <a:gd name="adj" fmla="val 25000"/>
            </a:avLst>
          </a:prstGeom>
          <a:solidFill>
            <a:srgbClr val="26668F"/>
          </a:solidFill>
          <a:ln/>
        </p:spPr>
        <p:txBody>
          <a:bodyPr/>
          <a:p/>
        </p:txBody>
      </p:sp>
      <p:sp>
        <p:nvSpPr>
          <p:cNvPr id="49" name="Text 46"/>
          <p:cNvSpPr/>
          <p:nvPr/>
        </p:nvSpPr>
        <p:spPr>
          <a:xfrm>
            <a:off x="3785616" y="207568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266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a 27/11</a:t>
            </a:r>
            <a:endParaRPr lang="en-US" sz="750" dirty="0"/>
          </a:p>
        </p:txBody>
      </p:sp>
      <p:sp>
        <p:nvSpPr>
          <p:cNvPr id="50" name="Text 47"/>
          <p:cNvSpPr/>
          <p:nvPr/>
        </p:nvSpPr>
        <p:spPr>
          <a:xfrm>
            <a:off x="457200" y="232257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e PRDs</a:t>
            </a:r>
            <a:endParaRPr lang="en-US" sz="900" dirty="0"/>
          </a:p>
        </p:txBody>
      </p:sp>
      <p:sp>
        <p:nvSpPr>
          <p:cNvPr id="51" name="Text 48"/>
          <p:cNvSpPr/>
          <p:nvPr/>
        </p:nvSpPr>
        <p:spPr>
          <a:xfrm>
            <a:off x="2286000" y="2322576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Rodrigo</a:t>
            </a:r>
            <a:endParaRPr lang="en-US" sz="750" dirty="0"/>
          </a:p>
        </p:txBody>
      </p:sp>
      <p:sp>
        <p:nvSpPr>
          <p:cNvPr id="52" name="Shape 49"/>
          <p:cNvSpPr/>
          <p:nvPr/>
        </p:nvSpPr>
        <p:spPr>
          <a:xfrm>
            <a:off x="3822192" y="2350008"/>
            <a:ext cx="219456" cy="182880"/>
          </a:xfrm>
          <a:prstGeom prst="roundRect">
            <a:avLst>
              <a:gd name="adj" fmla="val 25000"/>
            </a:avLst>
          </a:prstGeom>
          <a:solidFill>
            <a:srgbClr val="1B3A8C"/>
          </a:solidFill>
          <a:ln/>
        </p:spPr>
        <p:txBody>
          <a:bodyPr/>
          <a:p/>
        </p:txBody>
      </p:sp>
      <p:sp>
        <p:nvSpPr>
          <p:cNvPr id="53" name="Text 50"/>
          <p:cNvSpPr/>
          <p:nvPr/>
        </p:nvSpPr>
        <p:spPr>
          <a:xfrm>
            <a:off x="4078224" y="235000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a 18/12</a:t>
            </a:r>
            <a:endParaRPr lang="en-US" sz="750" dirty="0"/>
          </a:p>
        </p:txBody>
      </p:sp>
      <p:sp>
        <p:nvSpPr>
          <p:cNvPr id="54" name="Text 51"/>
          <p:cNvSpPr/>
          <p:nvPr/>
        </p:nvSpPr>
        <p:spPr>
          <a:xfrm>
            <a:off x="457200" y="259689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Roadmap, GTM e monetização</a:t>
            </a:r>
            <a:endParaRPr lang="en-US" sz="900" dirty="0"/>
          </a:p>
        </p:txBody>
      </p:sp>
      <p:sp>
        <p:nvSpPr>
          <p:cNvPr id="55" name="Text 52"/>
          <p:cNvSpPr/>
          <p:nvPr/>
        </p:nvSpPr>
        <p:spPr>
          <a:xfrm>
            <a:off x="2286000" y="2596896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Rodrigo e diretoria</a:t>
            </a:r>
            <a:endParaRPr lang="en-US" sz="750" dirty="0"/>
          </a:p>
        </p:txBody>
      </p:sp>
      <p:sp>
        <p:nvSpPr>
          <p:cNvPr id="56" name="Shape 53"/>
          <p:cNvSpPr/>
          <p:nvPr/>
        </p:nvSpPr>
        <p:spPr>
          <a:xfrm>
            <a:off x="4151376" y="2624328"/>
            <a:ext cx="365760" cy="182880"/>
          </a:xfrm>
          <a:prstGeom prst="roundRect">
            <a:avLst>
              <a:gd name="adj" fmla="val 25000"/>
            </a:avLst>
          </a:prstGeom>
          <a:solidFill>
            <a:srgbClr val="1B3A8C"/>
          </a:solidFill>
          <a:ln/>
        </p:spPr>
        <p:txBody>
          <a:bodyPr/>
          <a:p/>
        </p:txBody>
      </p:sp>
      <p:sp>
        <p:nvSpPr>
          <p:cNvPr id="57" name="Text 54"/>
          <p:cNvSpPr/>
          <p:nvPr/>
        </p:nvSpPr>
        <p:spPr>
          <a:xfrm>
            <a:off x="4553712" y="262432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</a:t>
            </a:r>
            <a:endParaRPr lang="en-US" sz="750" dirty="0"/>
          </a:p>
        </p:txBody>
      </p:sp>
      <p:sp>
        <p:nvSpPr>
          <p:cNvPr id="58" name="Text 55"/>
          <p:cNvSpPr/>
          <p:nvPr/>
        </p:nvSpPr>
        <p:spPr>
          <a:xfrm>
            <a:off x="457200" y="287121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Desenvolver o produto mínimo</a:t>
            </a:r>
            <a:endParaRPr lang="en-US" sz="900" dirty="0"/>
          </a:p>
        </p:txBody>
      </p:sp>
      <p:sp>
        <p:nvSpPr>
          <p:cNvPr id="59" name="Text 56"/>
          <p:cNvSpPr/>
          <p:nvPr/>
        </p:nvSpPr>
        <p:spPr>
          <a:xfrm>
            <a:off x="2286000" y="2871216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Dreamer</a:t>
            </a:r>
            <a:endParaRPr lang="en-US" sz="750" dirty="0"/>
          </a:p>
        </p:txBody>
      </p:sp>
      <p:sp>
        <p:nvSpPr>
          <p:cNvPr id="60" name="Shape 57"/>
          <p:cNvSpPr/>
          <p:nvPr/>
        </p:nvSpPr>
        <p:spPr>
          <a:xfrm>
            <a:off x="4553712" y="2898648"/>
            <a:ext cx="1097280" cy="182880"/>
          </a:xfrm>
          <a:prstGeom prst="roundRect">
            <a:avLst>
              <a:gd name="adj" fmla="val 25000"/>
            </a:avLst>
          </a:prstGeom>
          <a:solidFill>
            <a:srgbClr val="1B3A8C"/>
          </a:solidFill>
          <a:ln/>
        </p:spPr>
        <p:txBody>
          <a:bodyPr/>
          <a:p/>
        </p:txBody>
      </p:sp>
      <p:sp>
        <p:nvSpPr>
          <p:cNvPr id="61" name="Text 58"/>
          <p:cNvSpPr/>
          <p:nvPr/>
        </p:nvSpPr>
        <p:spPr>
          <a:xfrm>
            <a:off x="4553712" y="289864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fev a abr</a:t>
            </a:r>
            <a:endParaRPr lang="en-US" sz="750" dirty="0"/>
          </a:p>
        </p:txBody>
      </p:sp>
      <p:sp>
        <p:nvSpPr>
          <p:cNvPr id="62" name="Text 59"/>
          <p:cNvSpPr/>
          <p:nvPr/>
        </p:nvSpPr>
        <p:spPr>
          <a:xfrm>
            <a:off x="457200" y="314553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Piloto em 3 a 5 fazendas</a:t>
            </a:r>
            <a:endParaRPr lang="en-US" sz="900" dirty="0"/>
          </a:p>
        </p:txBody>
      </p:sp>
      <p:sp>
        <p:nvSpPr>
          <p:cNvPr id="63" name="Text 60"/>
          <p:cNvSpPr/>
          <p:nvPr/>
        </p:nvSpPr>
        <p:spPr>
          <a:xfrm>
            <a:off x="2286000" y="3145536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Rodrigo e técnicos</a:t>
            </a:r>
            <a:endParaRPr lang="en-US" sz="750" dirty="0"/>
          </a:p>
        </p:txBody>
      </p:sp>
      <p:sp>
        <p:nvSpPr>
          <p:cNvPr id="64" name="Shape 61"/>
          <p:cNvSpPr/>
          <p:nvPr/>
        </p:nvSpPr>
        <p:spPr>
          <a:xfrm>
            <a:off x="5577840" y="3172968"/>
            <a:ext cx="731520" cy="182880"/>
          </a:xfrm>
          <a:prstGeom prst="roundRect">
            <a:avLst>
              <a:gd name="adj" fmla="val 25000"/>
            </a:avLst>
          </a:prstGeom>
          <a:solidFill>
            <a:srgbClr val="C8106E"/>
          </a:solidFill>
          <a:ln/>
        </p:spPr>
        <p:txBody>
          <a:bodyPr/>
          <a:p/>
        </p:txBody>
      </p:sp>
      <p:sp>
        <p:nvSpPr>
          <p:cNvPr id="65" name="Text 62"/>
          <p:cNvSpPr/>
          <p:nvPr/>
        </p:nvSpPr>
        <p:spPr>
          <a:xfrm>
            <a:off x="5577840" y="317296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 a jun</a:t>
            </a:r>
            <a:endParaRPr lang="en-US" sz="750" dirty="0"/>
          </a:p>
        </p:txBody>
      </p:sp>
      <p:sp>
        <p:nvSpPr>
          <p:cNvPr id="66" name="Text 63"/>
          <p:cNvSpPr/>
          <p:nvPr/>
        </p:nvSpPr>
        <p:spPr>
          <a:xfrm>
            <a:off x="457200" y="341985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Rodrigo atende até 20 fazendas</a:t>
            </a:r>
            <a:endParaRPr lang="en-US" sz="900" dirty="0"/>
          </a:p>
        </p:txBody>
      </p:sp>
      <p:sp>
        <p:nvSpPr>
          <p:cNvPr id="67" name="Text 64"/>
          <p:cNvSpPr/>
          <p:nvPr/>
        </p:nvSpPr>
        <p:spPr>
          <a:xfrm>
            <a:off x="2286000" y="3419856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Rodrigo</a:t>
            </a:r>
            <a:endParaRPr lang="en-US" sz="750" dirty="0"/>
          </a:p>
        </p:txBody>
      </p:sp>
      <p:sp>
        <p:nvSpPr>
          <p:cNvPr id="68" name="Shape 65"/>
          <p:cNvSpPr/>
          <p:nvPr/>
        </p:nvSpPr>
        <p:spPr>
          <a:xfrm>
            <a:off x="6309360" y="3447288"/>
            <a:ext cx="1463040" cy="182880"/>
          </a:xfrm>
          <a:prstGeom prst="roundRect">
            <a:avLst>
              <a:gd name="adj" fmla="val 25000"/>
            </a:avLst>
          </a:prstGeom>
          <a:solidFill>
            <a:srgbClr val="C8106E"/>
          </a:solidFill>
          <a:ln/>
        </p:spPr>
        <p:txBody>
          <a:bodyPr/>
          <a:p/>
        </p:txBody>
      </p:sp>
      <p:sp>
        <p:nvSpPr>
          <p:cNvPr id="69" name="Text 66"/>
          <p:cNvSpPr/>
          <p:nvPr/>
        </p:nvSpPr>
        <p:spPr>
          <a:xfrm>
            <a:off x="6309360" y="3447288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a out</a:t>
            </a:r>
            <a:endParaRPr lang="en-US" sz="750" dirty="0"/>
          </a:p>
        </p:txBody>
      </p:sp>
      <p:sp>
        <p:nvSpPr>
          <p:cNvPr id="70" name="Text 67"/>
          <p:cNvSpPr/>
          <p:nvPr/>
        </p:nvSpPr>
        <p:spPr>
          <a:xfrm>
            <a:off x="457200" y="369417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Analistas dedicados</a:t>
            </a:r>
            <a:endParaRPr lang="en-US" sz="900" dirty="0"/>
          </a:p>
        </p:txBody>
      </p:sp>
      <p:sp>
        <p:nvSpPr>
          <p:cNvPr id="71" name="Text 68"/>
          <p:cNvSpPr/>
          <p:nvPr/>
        </p:nvSpPr>
        <p:spPr>
          <a:xfrm>
            <a:off x="2286000" y="3694176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Diretoria aprova</a:t>
            </a:r>
            <a:endParaRPr lang="en-US" sz="750" dirty="0"/>
          </a:p>
        </p:txBody>
      </p:sp>
      <p:sp>
        <p:nvSpPr>
          <p:cNvPr id="72" name="Shape 69"/>
          <p:cNvSpPr/>
          <p:nvPr/>
        </p:nvSpPr>
        <p:spPr>
          <a:xfrm>
            <a:off x="7772400" y="3721608"/>
            <a:ext cx="731520" cy="182880"/>
          </a:xfrm>
          <a:prstGeom prst="roundRect">
            <a:avLst>
              <a:gd name="adj" fmla="val 25000"/>
            </a:avLst>
          </a:prstGeom>
          <a:solidFill>
            <a:srgbClr val="C8106E"/>
          </a:solidFill>
          <a:ln/>
        </p:spPr>
        <p:txBody>
          <a:bodyPr/>
          <a:p/>
        </p:txBody>
      </p:sp>
      <p:sp>
        <p:nvSpPr>
          <p:cNvPr id="73" name="Text 70"/>
          <p:cNvSpPr/>
          <p:nvPr/>
        </p:nvSpPr>
        <p:spPr>
          <a:xfrm>
            <a:off x="7772400" y="372160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 em diante</a:t>
            </a:r>
            <a:endParaRPr lang="en-US" sz="750" dirty="0"/>
          </a:p>
        </p:txBody>
      </p:sp>
      <p:sp>
        <p:nvSpPr>
          <p:cNvPr id="74" name="Text 71"/>
          <p:cNvSpPr/>
          <p:nvPr/>
        </p:nvSpPr>
        <p:spPr>
          <a:xfrm>
            <a:off x="457200" y="398678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81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Decisões</a:t>
            </a:r>
            <a:endParaRPr lang="en-US" sz="900" dirty="0"/>
          </a:p>
        </p:txBody>
      </p:sp>
      <p:sp>
        <p:nvSpPr>
          <p:cNvPr id="75" name="Shape 72"/>
          <p:cNvSpPr/>
          <p:nvPr/>
        </p:nvSpPr>
        <p:spPr>
          <a:xfrm>
            <a:off x="3950208" y="4023360"/>
            <a:ext cx="182880" cy="182880"/>
          </a:xfrm>
          <a:prstGeom prst="diamond">
            <a:avLst/>
          </a:prstGeom>
          <a:solidFill>
            <a:srgbClr val="C5D300"/>
          </a:solidFill>
          <a:ln/>
        </p:spPr>
        <p:txBody>
          <a:bodyPr/>
          <a:p/>
        </p:txBody>
      </p:sp>
      <p:sp>
        <p:nvSpPr>
          <p:cNvPr id="76" name="Text 73"/>
          <p:cNvSpPr/>
          <p:nvPr/>
        </p:nvSpPr>
        <p:spPr>
          <a:xfrm>
            <a:off x="3035808" y="4215384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G0: escopo</a:t>
            </a:r>
            <a:endParaRPr lang="en-US" sz="750" dirty="0"/>
          </a:p>
        </p:txBody>
      </p:sp>
      <p:sp>
        <p:nvSpPr>
          <p:cNvPr id="77" name="Shape 74"/>
          <p:cNvSpPr/>
          <p:nvPr/>
        </p:nvSpPr>
        <p:spPr>
          <a:xfrm>
            <a:off x="4425696" y="4023360"/>
            <a:ext cx="182880" cy="182880"/>
          </a:xfrm>
          <a:prstGeom prst="diamond">
            <a:avLst/>
          </a:prstGeom>
          <a:solidFill>
            <a:srgbClr val="C5D300"/>
          </a:solidFill>
          <a:ln/>
        </p:spPr>
        <p:txBody>
          <a:bodyPr/>
          <a:p/>
        </p:txBody>
      </p:sp>
      <p:sp>
        <p:nvSpPr>
          <p:cNvPr id="78" name="Text 75"/>
          <p:cNvSpPr/>
          <p:nvPr/>
        </p:nvSpPr>
        <p:spPr>
          <a:xfrm>
            <a:off x="4425696" y="4215384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Aprovação: investimento</a:t>
            </a:r>
            <a:endParaRPr lang="en-US" sz="750" dirty="0"/>
          </a:p>
        </p:txBody>
      </p:sp>
      <p:sp>
        <p:nvSpPr>
          <p:cNvPr id="79" name="Shape 76"/>
          <p:cNvSpPr/>
          <p:nvPr/>
        </p:nvSpPr>
        <p:spPr>
          <a:xfrm>
            <a:off x="6217920" y="4023360"/>
            <a:ext cx="182880" cy="182880"/>
          </a:xfrm>
          <a:prstGeom prst="diamond">
            <a:avLst/>
          </a:prstGeom>
          <a:solidFill>
            <a:srgbClr val="C5D300"/>
          </a:solidFill>
          <a:ln/>
        </p:spPr>
        <p:txBody>
          <a:bodyPr/>
          <a:p/>
        </p:txBody>
      </p:sp>
      <p:sp>
        <p:nvSpPr>
          <p:cNvPr id="80" name="Text 77"/>
          <p:cNvSpPr/>
          <p:nvPr/>
        </p:nvSpPr>
        <p:spPr>
          <a:xfrm>
            <a:off x="5760720" y="4215384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G1: piloto</a:t>
            </a:r>
            <a:endParaRPr lang="en-US" sz="750" dirty="0"/>
          </a:p>
        </p:txBody>
      </p:sp>
      <p:sp>
        <p:nvSpPr>
          <p:cNvPr id="81" name="Shape 78"/>
          <p:cNvSpPr/>
          <p:nvPr/>
        </p:nvSpPr>
        <p:spPr>
          <a:xfrm>
            <a:off x="7680960" y="4023360"/>
            <a:ext cx="182880" cy="182880"/>
          </a:xfrm>
          <a:prstGeom prst="diamond">
            <a:avLst/>
          </a:prstGeom>
          <a:solidFill>
            <a:srgbClr val="C5D300"/>
          </a:solidFill>
          <a:ln/>
        </p:spPr>
        <p:txBody>
          <a:bodyPr/>
          <a:p/>
        </p:txBody>
      </p:sp>
      <p:sp>
        <p:nvSpPr>
          <p:cNvPr id="82" name="Text 79"/>
          <p:cNvSpPr/>
          <p:nvPr/>
        </p:nvSpPr>
        <p:spPr>
          <a:xfrm>
            <a:off x="7223760" y="4215384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G2: escala</a:t>
            </a:r>
            <a:endParaRPr lang="en-US" sz="7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Cronograma de 4 anos: 2027 a 2030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piloto ao programa de dados da TN. Metas propostas para discussão, revistas a cada gate.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4398264"/>
            <a:ext cx="4572000" cy="7429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503920" y="482803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1874520" y="1097280"/>
            <a:ext cx="1645920" cy="457200"/>
          </a:xfrm>
          <a:prstGeom prst="rect">
            <a:avLst/>
          </a:prstGeom>
          <a:solidFill>
            <a:srgbClr val="26668F"/>
          </a:solidFill>
          <a:ln/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1874520" y="1097280"/>
            <a:ext cx="1645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874520" y="132588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Piloto e 20 fazendas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3575304" y="1097280"/>
            <a:ext cx="1645920" cy="457200"/>
          </a:xfrm>
          <a:prstGeom prst="rect">
            <a:avLst/>
          </a:prstGeom>
          <a:solidFill>
            <a:srgbClr val="1B3A8C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3575304" y="1097280"/>
            <a:ext cx="1645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2028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3575304" y="132588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 com analistas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5276088" y="1097280"/>
            <a:ext cx="1645920" cy="457200"/>
          </a:xfrm>
          <a:prstGeom prst="rect">
            <a:avLst/>
          </a:prstGeom>
          <a:solidFill>
            <a:srgbClr val="C8106E"/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5276088" y="1097280"/>
            <a:ext cx="1645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2029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276088" y="132588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e fidelidade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6976872" y="1097280"/>
            <a:ext cx="1645920" cy="457200"/>
          </a:xfrm>
          <a:prstGeom prst="rect">
            <a:avLst/>
          </a:prstGeom>
          <a:solidFill>
            <a:srgbClr val="C5D300"/>
          </a:solidFill>
          <a:ln/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6976872" y="1097280"/>
            <a:ext cx="1645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2030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976872" y="132588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 de dados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457200" y="1645920"/>
            <a:ext cx="1371600" cy="512064"/>
          </a:xfrm>
          <a:prstGeom prst="rect">
            <a:avLst/>
          </a:prstGeom>
          <a:solidFill>
            <a:srgbClr val="1B3A8C"/>
          </a:solidFill>
          <a:ln/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530352" y="1645920"/>
            <a:ext cx="12618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1874520" y="1645920"/>
            <a:ext cx="1645920" cy="512064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1929384" y="1645920"/>
            <a:ext cx="15361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 mínimo e piloto; versão estável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3575304" y="1645920"/>
            <a:ext cx="1645920" cy="512064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3630168" y="1645920"/>
            <a:ext cx="15361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 com balança, vagão e NOA; uso sem sinal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5276088" y="1645920"/>
            <a:ext cx="1645920" cy="512064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25" name="Text 22"/>
          <p:cNvSpPr/>
          <p:nvPr/>
        </p:nvSpPr>
        <p:spPr>
          <a:xfrm>
            <a:off x="5330952" y="1645920"/>
            <a:ext cx="15361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de benchmark entre fazendas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6976872" y="1645920"/>
            <a:ext cx="1645920" cy="512064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27" name="Text 24"/>
          <p:cNvSpPr/>
          <p:nvPr/>
        </p:nvSpPr>
        <p:spPr>
          <a:xfrm>
            <a:off x="7031736" y="1645920"/>
            <a:ext cx="15361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Pegada de carbono e recomendação de produto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457200" y="2212848"/>
            <a:ext cx="1371600" cy="512064"/>
          </a:xfrm>
          <a:prstGeom prst="rect">
            <a:avLst/>
          </a:prstGeom>
          <a:solidFill>
            <a:srgbClr val="1B3A8C"/>
          </a:solidFill>
          <a:ln/>
        </p:spPr>
        <p:txBody>
          <a:bodyPr/>
          <a:p/>
        </p:txBody>
      </p:sp>
      <p:sp>
        <p:nvSpPr>
          <p:cNvPr id="29" name="Text 26"/>
          <p:cNvSpPr/>
          <p:nvPr/>
        </p:nvSpPr>
        <p:spPr>
          <a:xfrm>
            <a:off x="530352" y="2212848"/>
            <a:ext cx="12618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Atendimento técnico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1874520" y="2212848"/>
            <a:ext cx="1645920" cy="512064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31" name="Text 28"/>
          <p:cNvSpPr/>
          <p:nvPr/>
        </p:nvSpPr>
        <p:spPr>
          <a:xfrm>
            <a:off x="1929384" y="2212848"/>
            <a:ext cx="15361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Rodrigo analisa; técnicos de campo apoiam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3575304" y="2212848"/>
            <a:ext cx="1645920" cy="512064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33" name="Text 30"/>
          <p:cNvSpPr/>
          <p:nvPr/>
        </p:nvSpPr>
        <p:spPr>
          <a:xfrm>
            <a:off x="3630168" y="2212848"/>
            <a:ext cx="15361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Analistas dedicados (1 para 20 fazendas)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5276088" y="2212848"/>
            <a:ext cx="1645920" cy="512064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35" name="Text 32"/>
          <p:cNvSpPr/>
          <p:nvPr/>
        </p:nvSpPr>
        <p:spPr>
          <a:xfrm>
            <a:off x="5330952" y="2212848"/>
            <a:ext cx="15361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Núcleo de análise com método padrão</a:t>
            </a:r>
            <a:endParaRPr lang="en-US" sz="850" dirty="0"/>
          </a:p>
        </p:txBody>
      </p:sp>
      <p:sp>
        <p:nvSpPr>
          <p:cNvPr id="36" name="Shape 33"/>
          <p:cNvSpPr/>
          <p:nvPr/>
        </p:nvSpPr>
        <p:spPr>
          <a:xfrm>
            <a:off x="6976872" y="2212848"/>
            <a:ext cx="1645920" cy="512064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37" name="Text 34"/>
          <p:cNvSpPr/>
          <p:nvPr/>
        </p:nvSpPr>
        <p:spPr>
          <a:xfrm>
            <a:off x="7031736" y="2212848"/>
            <a:ext cx="15361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integrada à oferta comercial</a:t>
            </a:r>
            <a:endParaRPr lang="en-US" sz="850" dirty="0"/>
          </a:p>
        </p:txBody>
      </p:sp>
      <p:sp>
        <p:nvSpPr>
          <p:cNvPr id="38" name="Shape 35"/>
          <p:cNvSpPr/>
          <p:nvPr/>
        </p:nvSpPr>
        <p:spPr>
          <a:xfrm>
            <a:off x="457200" y="2779776"/>
            <a:ext cx="1371600" cy="384048"/>
          </a:xfrm>
          <a:prstGeom prst="rect">
            <a:avLst/>
          </a:prstGeom>
          <a:solidFill>
            <a:srgbClr val="1B3A8C"/>
          </a:solidFill>
          <a:ln/>
        </p:spPr>
        <p:txBody>
          <a:bodyPr/>
          <a:p/>
        </p:txBody>
      </p:sp>
      <p:sp>
        <p:nvSpPr>
          <p:cNvPr id="39" name="Text 36"/>
          <p:cNvSpPr/>
          <p:nvPr/>
        </p:nvSpPr>
        <p:spPr>
          <a:xfrm>
            <a:off x="530352" y="2779776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Fazendas atendidas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1874520" y="2779776"/>
            <a:ext cx="1645920" cy="384048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41" name="Text 38"/>
          <p:cNvSpPr/>
          <p:nvPr/>
        </p:nvSpPr>
        <p:spPr>
          <a:xfrm>
            <a:off x="1929384" y="2779776"/>
            <a:ext cx="1536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300" dirty="0"/>
          </a:p>
        </p:txBody>
      </p:sp>
      <p:sp>
        <p:nvSpPr>
          <p:cNvPr id="42" name="Shape 39"/>
          <p:cNvSpPr/>
          <p:nvPr/>
        </p:nvSpPr>
        <p:spPr>
          <a:xfrm>
            <a:off x="3575304" y="2779776"/>
            <a:ext cx="1645920" cy="384048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43" name="Text 40"/>
          <p:cNvSpPr/>
          <p:nvPr/>
        </p:nvSpPr>
        <p:spPr>
          <a:xfrm>
            <a:off x="3630168" y="2779776"/>
            <a:ext cx="1536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1300" dirty="0"/>
          </a:p>
        </p:txBody>
      </p:sp>
      <p:sp>
        <p:nvSpPr>
          <p:cNvPr id="44" name="Shape 41"/>
          <p:cNvSpPr/>
          <p:nvPr/>
        </p:nvSpPr>
        <p:spPr>
          <a:xfrm>
            <a:off x="5276088" y="2779776"/>
            <a:ext cx="1645920" cy="384048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45" name="Text 42"/>
          <p:cNvSpPr/>
          <p:nvPr/>
        </p:nvSpPr>
        <p:spPr>
          <a:xfrm>
            <a:off x="5330952" y="2779776"/>
            <a:ext cx="1536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</a:t>
            </a:r>
            <a:endParaRPr lang="en-US" sz="1300" dirty="0"/>
          </a:p>
        </p:txBody>
      </p:sp>
      <p:sp>
        <p:nvSpPr>
          <p:cNvPr id="46" name="Shape 43"/>
          <p:cNvSpPr/>
          <p:nvPr/>
        </p:nvSpPr>
        <p:spPr>
          <a:xfrm>
            <a:off x="6976872" y="2779776"/>
            <a:ext cx="1645920" cy="384048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47" name="Text 44"/>
          <p:cNvSpPr/>
          <p:nvPr/>
        </p:nvSpPr>
        <p:spPr>
          <a:xfrm>
            <a:off x="7031736" y="2779776"/>
            <a:ext cx="1536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1300" dirty="0"/>
          </a:p>
        </p:txBody>
      </p:sp>
      <p:sp>
        <p:nvSpPr>
          <p:cNvPr id="48" name="Shape 45"/>
          <p:cNvSpPr/>
          <p:nvPr/>
        </p:nvSpPr>
        <p:spPr>
          <a:xfrm>
            <a:off x="457200" y="3218688"/>
            <a:ext cx="1371600" cy="384048"/>
          </a:xfrm>
          <a:prstGeom prst="rect">
            <a:avLst/>
          </a:prstGeom>
          <a:solidFill>
            <a:srgbClr val="1B3A8C"/>
          </a:solidFill>
          <a:ln/>
        </p:spPr>
        <p:txBody>
          <a:bodyPr/>
          <a:p/>
        </p:txBody>
      </p:sp>
      <p:sp>
        <p:nvSpPr>
          <p:cNvPr id="49" name="Text 46"/>
          <p:cNvSpPr/>
          <p:nvPr/>
        </p:nvSpPr>
        <p:spPr>
          <a:xfrm>
            <a:off x="530352" y="3218688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Analistas dedicados</a:t>
            </a:r>
            <a:endParaRPr lang="en-US" sz="950" dirty="0"/>
          </a:p>
        </p:txBody>
      </p:sp>
      <p:sp>
        <p:nvSpPr>
          <p:cNvPr id="50" name="Shape 47"/>
          <p:cNvSpPr/>
          <p:nvPr/>
        </p:nvSpPr>
        <p:spPr>
          <a:xfrm>
            <a:off x="1874520" y="3218688"/>
            <a:ext cx="1645920" cy="384048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51" name="Text 48"/>
          <p:cNvSpPr/>
          <p:nvPr/>
        </p:nvSpPr>
        <p:spPr>
          <a:xfrm>
            <a:off x="1929384" y="3218688"/>
            <a:ext cx="1536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(Rodrigo)</a:t>
            </a:r>
            <a:endParaRPr lang="en-US" sz="1300" dirty="0"/>
          </a:p>
        </p:txBody>
      </p:sp>
      <p:sp>
        <p:nvSpPr>
          <p:cNvPr id="52" name="Shape 49"/>
          <p:cNvSpPr/>
          <p:nvPr/>
        </p:nvSpPr>
        <p:spPr>
          <a:xfrm>
            <a:off x="3575304" y="3218688"/>
            <a:ext cx="1645920" cy="384048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53" name="Text 50"/>
          <p:cNvSpPr/>
          <p:nvPr/>
        </p:nvSpPr>
        <p:spPr>
          <a:xfrm>
            <a:off x="3630168" y="3218688"/>
            <a:ext cx="1536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54" name="Shape 51"/>
          <p:cNvSpPr/>
          <p:nvPr/>
        </p:nvSpPr>
        <p:spPr>
          <a:xfrm>
            <a:off x="5276088" y="3218688"/>
            <a:ext cx="1645920" cy="384048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55" name="Text 52"/>
          <p:cNvSpPr/>
          <p:nvPr/>
        </p:nvSpPr>
        <p:spPr>
          <a:xfrm>
            <a:off x="5330952" y="3218688"/>
            <a:ext cx="1536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56" name="Shape 53"/>
          <p:cNvSpPr/>
          <p:nvPr/>
        </p:nvSpPr>
        <p:spPr>
          <a:xfrm>
            <a:off x="6976872" y="3218688"/>
            <a:ext cx="1645920" cy="384048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57" name="Text 54"/>
          <p:cNvSpPr/>
          <p:nvPr/>
        </p:nvSpPr>
        <p:spPr>
          <a:xfrm>
            <a:off x="7031736" y="3218688"/>
            <a:ext cx="1536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58" name="Shape 55"/>
          <p:cNvSpPr/>
          <p:nvPr/>
        </p:nvSpPr>
        <p:spPr>
          <a:xfrm>
            <a:off x="457200" y="3657600"/>
            <a:ext cx="1371600" cy="512064"/>
          </a:xfrm>
          <a:prstGeom prst="rect">
            <a:avLst/>
          </a:prstGeom>
          <a:solidFill>
            <a:srgbClr val="1B3A8C"/>
          </a:solidFill>
          <a:ln/>
        </p:spPr>
        <p:txBody>
          <a:bodyPr/>
          <a:p/>
        </p:txBody>
      </p:sp>
      <p:sp>
        <p:nvSpPr>
          <p:cNvPr id="59" name="Text 56"/>
          <p:cNvSpPr/>
          <p:nvPr/>
        </p:nvSpPr>
        <p:spPr>
          <a:xfrm>
            <a:off x="530352" y="3657600"/>
            <a:ext cx="12618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Licenças de terceiros</a:t>
            </a:r>
            <a:endParaRPr lang="en-US" sz="950" dirty="0"/>
          </a:p>
        </p:txBody>
      </p:sp>
      <p:sp>
        <p:nvSpPr>
          <p:cNvPr id="60" name="Shape 57"/>
          <p:cNvSpPr/>
          <p:nvPr/>
        </p:nvSpPr>
        <p:spPr>
          <a:xfrm>
            <a:off x="1874520" y="3657600"/>
            <a:ext cx="1645920" cy="512064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61" name="Text 58"/>
          <p:cNvSpPr/>
          <p:nvPr/>
        </p:nvSpPr>
        <p:spPr>
          <a:xfrm>
            <a:off x="1929384" y="3657600"/>
            <a:ext cx="15361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Migrar fazendas na faixa do produto</a:t>
            </a:r>
            <a:endParaRPr lang="en-US" sz="850" dirty="0"/>
          </a:p>
        </p:txBody>
      </p:sp>
      <p:sp>
        <p:nvSpPr>
          <p:cNvPr id="62" name="Shape 59"/>
          <p:cNvSpPr/>
          <p:nvPr/>
        </p:nvSpPr>
        <p:spPr>
          <a:xfrm>
            <a:off x="3575304" y="3657600"/>
            <a:ext cx="1645920" cy="512064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63" name="Text 60"/>
          <p:cNvSpPr/>
          <p:nvPr/>
        </p:nvSpPr>
        <p:spPr>
          <a:xfrm>
            <a:off x="3630168" y="3657600"/>
            <a:ext cx="15361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Encerrar PecCode</a:t>
            </a:r>
            <a:endParaRPr lang="en-US" sz="850" dirty="0"/>
          </a:p>
        </p:txBody>
      </p:sp>
      <p:sp>
        <p:nvSpPr>
          <p:cNvPr id="64" name="Shape 61"/>
          <p:cNvSpPr/>
          <p:nvPr/>
        </p:nvSpPr>
        <p:spPr>
          <a:xfrm>
            <a:off x="5276088" y="3657600"/>
            <a:ext cx="1645920" cy="512064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65" name="Text 62"/>
          <p:cNvSpPr/>
          <p:nvPr/>
        </p:nvSpPr>
        <p:spPr>
          <a:xfrm>
            <a:off x="5330952" y="3657600"/>
            <a:ext cx="15361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TGC só onde houver integração</a:t>
            </a:r>
            <a:endParaRPr lang="en-US" sz="850" dirty="0"/>
          </a:p>
        </p:txBody>
      </p:sp>
      <p:sp>
        <p:nvSpPr>
          <p:cNvPr id="66" name="Shape 63"/>
          <p:cNvSpPr/>
          <p:nvPr/>
        </p:nvSpPr>
        <p:spPr>
          <a:xfrm>
            <a:off x="6976872" y="3657600"/>
            <a:ext cx="1645920" cy="512064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67" name="Text 64"/>
          <p:cNvSpPr/>
          <p:nvPr/>
        </p:nvSpPr>
        <p:spPr>
          <a:xfrm>
            <a:off x="7031736" y="3657600"/>
            <a:ext cx="15361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licença de terceiros</a:t>
            </a:r>
            <a:endParaRPr lang="en-US" sz="850" dirty="0"/>
          </a:p>
        </p:txBody>
      </p:sp>
      <p:sp>
        <p:nvSpPr>
          <p:cNvPr id="68" name="Text 65"/>
          <p:cNvSpPr/>
          <p:nvPr/>
        </p:nvSpPr>
        <p:spPr>
          <a:xfrm>
            <a:off x="457200" y="422452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i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Antes, em 2026: business case, pesquisa com 30 fazendas, imersão técnica e PRDs (out a dez).</a:t>
            </a:r>
            <a:endParaRPr lang="en-US" sz="8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8C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5D300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Decisões e próximos passos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D6DC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precisamos aprovar hoje para seguir com a pesquisa e a imersão técnica.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5D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DECISÕES PARA HOJE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481328"/>
            <a:ext cx="310896" cy="310896"/>
          </a:xfrm>
          <a:prstGeom prst="ellipse">
            <a:avLst/>
          </a:prstGeom>
          <a:solidFill>
            <a:srgbClr val="C8106E"/>
          </a:solidFill>
          <a:ln/>
        </p:spPr>
        <p:txBody>
          <a:bodyPr/>
          <a:p/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1554480"/>
            <a:ext cx="164592" cy="16459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1481328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Aprovar o foco em confinamentos de 200 a 2.000 cabeças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57200" y="1956816"/>
            <a:ext cx="310896" cy="310896"/>
          </a:xfrm>
          <a:prstGeom prst="ellipse">
            <a:avLst/>
          </a:prstGeom>
          <a:solidFill>
            <a:srgbClr val="C8106E"/>
          </a:solidFill>
          <a:ln/>
        </p:spPr>
        <p:txBody>
          <a:bodyPr/>
          <a:p/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2029968"/>
            <a:ext cx="164592" cy="16459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96112" y="1956816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Aprovar o roadmap de 15 meses com os gates G0 a G2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457200" y="2432304"/>
            <a:ext cx="310896" cy="310896"/>
          </a:xfrm>
          <a:prstGeom prst="ellipse">
            <a:avLst/>
          </a:prstGeom>
          <a:solidFill>
            <a:srgbClr val="C8106E"/>
          </a:solidFill>
          <a:ln/>
        </p:spPr>
        <p:txBody>
          <a:bodyPr/>
          <a:p/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2505456"/>
            <a:ext cx="164592" cy="16459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96112" y="2432304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Aprovar o modelo: Rodrigo atende 20 fazendas; analistas após o G2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457200" y="2907792"/>
            <a:ext cx="310896" cy="310896"/>
          </a:xfrm>
          <a:prstGeom prst="ellipse">
            <a:avLst/>
          </a:prstGeom>
          <a:solidFill>
            <a:srgbClr val="C8106E"/>
          </a:solidFill>
          <a:ln/>
        </p:spPr>
        <p:txBody>
          <a:bodyPr/>
          <a:p/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2980944"/>
            <a:ext cx="164592" cy="16459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96112" y="2907792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Autorizar a imersão técnica e o orçamento com a Dreamer</a:t>
            </a:r>
            <a:endParaRPr lang="en-US" sz="1100" dirty="0"/>
          </a:p>
        </p:txBody>
      </p:sp>
      <p:sp>
        <p:nvSpPr>
          <p:cNvPr id="18" name="Shape 12"/>
          <p:cNvSpPr/>
          <p:nvPr/>
        </p:nvSpPr>
        <p:spPr>
          <a:xfrm>
            <a:off x="457200" y="3383280"/>
            <a:ext cx="310896" cy="310896"/>
          </a:xfrm>
          <a:prstGeom prst="ellipse">
            <a:avLst/>
          </a:prstGeom>
          <a:solidFill>
            <a:srgbClr val="C8106E"/>
          </a:solidFill>
          <a:ln/>
        </p:spPr>
        <p:txBody>
          <a:bodyPr/>
          <a:p/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3456432"/>
            <a:ext cx="164592" cy="164592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96112" y="3383280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Indicar um patrocinador na diretoria</a:t>
            </a:r>
            <a:endParaRPr lang="en-US" sz="1100" dirty="0"/>
          </a:p>
        </p:txBody>
      </p:sp>
      <p:sp>
        <p:nvSpPr>
          <p:cNvPr id="21" name="Shape 14"/>
          <p:cNvSpPr/>
          <p:nvPr/>
        </p:nvSpPr>
        <p:spPr>
          <a:xfrm>
            <a:off x="4846320" y="1143000"/>
            <a:ext cx="3886200" cy="3200400"/>
          </a:xfrm>
          <a:prstGeom prst="rect">
            <a:avLst/>
          </a:prstGeom>
          <a:solidFill>
            <a:srgbClr val="12295F"/>
          </a:solidFill>
          <a:ln/>
        </p:spPr>
        <p:txBody>
          <a:bodyPr/>
          <a:p/>
        </p:txBody>
      </p:sp>
      <p:sp>
        <p:nvSpPr>
          <p:cNvPr id="22" name="Text 15"/>
          <p:cNvSpPr/>
          <p:nvPr/>
        </p:nvSpPr>
        <p:spPr>
          <a:xfrm>
            <a:off x="5029200" y="123444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5D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PRÓXIMAS SEMANAS</a:t>
            </a:r>
            <a:endParaRPr lang="en-US" sz="900" dirty="0"/>
          </a:p>
        </p:txBody>
      </p:sp>
      <p:sp>
        <p:nvSpPr>
          <p:cNvPr id="23" name="Text 16"/>
          <p:cNvSpPr/>
          <p:nvPr/>
        </p:nvSpPr>
        <p:spPr>
          <a:xfrm>
            <a:off x="5029200" y="150876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5D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até 23/10</a:t>
            </a:r>
            <a:endParaRPr lang="en-US" sz="950" dirty="0"/>
          </a:p>
        </p:txBody>
      </p:sp>
      <p:sp>
        <p:nvSpPr>
          <p:cNvPr id="24" name="Text 17"/>
          <p:cNvSpPr/>
          <p:nvPr/>
        </p:nvSpPr>
        <p:spPr>
          <a:xfrm>
            <a:off x="6126480" y="1508760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Entrevistas internas e benchmark (inclui Tecnobeef)</a:t>
            </a:r>
            <a:endParaRPr lang="en-US" sz="950" dirty="0"/>
          </a:p>
        </p:txBody>
      </p:sp>
      <p:sp>
        <p:nvSpPr>
          <p:cNvPr id="25" name="Text 18"/>
          <p:cNvSpPr/>
          <p:nvPr/>
        </p:nvSpPr>
        <p:spPr>
          <a:xfrm>
            <a:off x="5029200" y="1892808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5D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a 23/10</a:t>
            </a:r>
            <a:endParaRPr lang="en-US" sz="950" dirty="0"/>
          </a:p>
        </p:txBody>
      </p:sp>
      <p:sp>
        <p:nvSpPr>
          <p:cNvPr id="26" name="Text 19"/>
          <p:cNvSpPr/>
          <p:nvPr/>
        </p:nvSpPr>
        <p:spPr>
          <a:xfrm>
            <a:off x="6126480" y="1892808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Rascunho do formulário</a:t>
            </a:r>
            <a:endParaRPr lang="en-US" sz="950" dirty="0"/>
          </a:p>
        </p:txBody>
      </p:sp>
      <p:sp>
        <p:nvSpPr>
          <p:cNvPr id="27" name="Text 20"/>
          <p:cNvSpPr/>
          <p:nvPr/>
        </p:nvSpPr>
        <p:spPr>
          <a:xfrm>
            <a:off x="5029200" y="2276856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5D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26/10 a 06/11</a:t>
            </a:r>
            <a:endParaRPr lang="en-US" sz="950" dirty="0"/>
          </a:p>
        </p:txBody>
      </p:sp>
      <p:sp>
        <p:nvSpPr>
          <p:cNvPr id="28" name="Text 21"/>
          <p:cNvSpPr/>
          <p:nvPr/>
        </p:nvSpPr>
        <p:spPr>
          <a:xfrm>
            <a:off x="6126480" y="2276856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Revisão com Kátia Sato e teste</a:t>
            </a:r>
            <a:endParaRPr lang="en-US" sz="950" dirty="0"/>
          </a:p>
        </p:txBody>
      </p:sp>
      <p:sp>
        <p:nvSpPr>
          <p:cNvPr id="29" name="Text 22"/>
          <p:cNvSpPr/>
          <p:nvPr/>
        </p:nvSpPr>
        <p:spPr>
          <a:xfrm>
            <a:off x="5029200" y="2660904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5D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a 27/11</a:t>
            </a:r>
            <a:endParaRPr lang="en-US" sz="950" dirty="0"/>
          </a:p>
        </p:txBody>
      </p:sp>
      <p:sp>
        <p:nvSpPr>
          <p:cNvPr id="30" name="Text 23"/>
          <p:cNvSpPr/>
          <p:nvPr/>
        </p:nvSpPr>
        <p:spPr>
          <a:xfrm>
            <a:off x="6126480" y="2660904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Respostas das fazendas (meta: 30)</a:t>
            </a:r>
            <a:endParaRPr lang="en-US" sz="950" dirty="0"/>
          </a:p>
        </p:txBody>
      </p:sp>
      <p:sp>
        <p:nvSpPr>
          <p:cNvPr id="31" name="Text 24"/>
          <p:cNvSpPr/>
          <p:nvPr/>
        </p:nvSpPr>
        <p:spPr>
          <a:xfrm>
            <a:off x="5029200" y="3044952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5D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a 27/11</a:t>
            </a:r>
            <a:endParaRPr lang="en-US" sz="950" dirty="0"/>
          </a:p>
        </p:txBody>
      </p:sp>
      <p:sp>
        <p:nvSpPr>
          <p:cNvPr id="32" name="Text 25"/>
          <p:cNvSpPr/>
          <p:nvPr/>
        </p:nvSpPr>
        <p:spPr>
          <a:xfrm>
            <a:off x="6126480" y="3044952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Imersão técnica com a Dreamer</a:t>
            </a:r>
            <a:endParaRPr lang="en-US" sz="950" dirty="0"/>
          </a:p>
        </p:txBody>
      </p:sp>
      <p:sp>
        <p:nvSpPr>
          <p:cNvPr id="33" name="Text 26"/>
          <p:cNvSpPr/>
          <p:nvPr/>
        </p:nvSpPr>
        <p:spPr>
          <a:xfrm>
            <a:off x="5029200" y="342900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5D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a 18/12</a:t>
            </a:r>
            <a:endParaRPr lang="en-US" sz="950" dirty="0"/>
          </a:p>
        </p:txBody>
      </p:sp>
      <p:sp>
        <p:nvSpPr>
          <p:cNvPr id="34" name="Text 27"/>
          <p:cNvSpPr/>
          <p:nvPr/>
        </p:nvSpPr>
        <p:spPr>
          <a:xfrm>
            <a:off x="6126480" y="3429000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e PRDs (G0)</a:t>
            </a:r>
            <a:endParaRPr lang="en-US" sz="950" dirty="0"/>
          </a:p>
        </p:txBody>
      </p:sp>
      <p:sp>
        <p:nvSpPr>
          <p:cNvPr id="35" name="Text 28"/>
          <p:cNvSpPr/>
          <p:nvPr/>
        </p:nvSpPr>
        <p:spPr>
          <a:xfrm>
            <a:off x="5029200" y="3813048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5D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a 05/02</a:t>
            </a:r>
            <a:endParaRPr lang="en-US" sz="950" dirty="0"/>
          </a:p>
        </p:txBody>
      </p:sp>
      <p:sp>
        <p:nvSpPr>
          <p:cNvPr id="36" name="Text 29"/>
          <p:cNvSpPr/>
          <p:nvPr/>
        </p:nvSpPr>
        <p:spPr>
          <a:xfrm>
            <a:off x="6126480" y="3813048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Apresentação final e investimento</a:t>
            </a:r>
            <a:endParaRPr lang="en-US" sz="9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Raio-X do confinamento no Brasil (2025)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mercado cresce rápido e se concentra nos grandes, mas a maioria das fazendas ainda é pequena.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4398264"/>
            <a:ext cx="4572000" cy="7429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503920" y="482803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57200" y="4791456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Fontes: dsm-firmenich, Censo de Confinamento 2025 (fev/2026) e 2024; Embrapa Pecuária Sudeste (2023; 2024); Embrapa, Censos Agropecuários 2006 e 2017.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457200" y="1188720"/>
            <a:ext cx="2011680" cy="91440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457200" y="1188720"/>
            <a:ext cx="54864" cy="914400"/>
          </a:xfrm>
          <a:prstGeom prst="rect">
            <a:avLst/>
          </a:prstGeom>
          <a:solidFill>
            <a:srgbClr val="1B3A8C"/>
          </a:solidFill>
          <a:ln/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621792" y="1261872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9,25 mi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621792" y="1645920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cabeças confinadas em 2025, alta de 16% sobre 2024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57200" y="2212848"/>
            <a:ext cx="2011680" cy="91440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>
            <a:off x="457200" y="2212848"/>
            <a:ext cx="54864" cy="914400"/>
          </a:xfrm>
          <a:prstGeom prst="rect">
            <a:avLst/>
          </a:prstGeom>
          <a:solidFill>
            <a:srgbClr val="26668F"/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621792" y="228600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266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2.445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621792" y="2670048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propriedades mapeadas em 1.095 municípios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457200" y="3236976"/>
            <a:ext cx="2011680" cy="914400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16" name="Shape 13"/>
          <p:cNvSpPr/>
          <p:nvPr/>
        </p:nvSpPr>
        <p:spPr>
          <a:xfrm>
            <a:off x="457200" y="3236976"/>
            <a:ext cx="54864" cy="914400"/>
          </a:xfrm>
          <a:prstGeom prst="rect">
            <a:avLst/>
          </a:prstGeom>
          <a:solidFill>
            <a:srgbClr val="C8106E"/>
          </a:solidFill>
          <a:ln/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621792" y="3310128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C810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45%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621792" y="3694176"/>
            <a:ext cx="1783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cabeças estão nos 100 maiores confinamentos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2697480" y="111556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Propriedades por porte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3566160" y="1389888"/>
            <a:ext cx="1371600" cy="731520"/>
          </a:xfrm>
          <a:prstGeom prst="rect">
            <a:avLst/>
          </a:prstGeom>
          <a:solidFill>
            <a:srgbClr val="1B3A8C"/>
          </a:solidFill>
          <a:ln/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3566160" y="14813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maiores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3566160" y="177393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45% das cabeças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3108960" y="2176272"/>
            <a:ext cx="2286000" cy="731520"/>
          </a:xfrm>
          <a:prstGeom prst="rect">
            <a:avLst/>
          </a:prstGeom>
          <a:solidFill>
            <a:srgbClr val="26668F"/>
          </a:solidFill>
          <a:ln/>
        </p:spPr>
        <p:txBody>
          <a:bodyPr/>
          <a:p/>
        </p:txBody>
      </p:sp>
      <p:sp>
        <p:nvSpPr>
          <p:cNvPr id="24" name="Text 21"/>
          <p:cNvSpPr/>
          <p:nvPr/>
        </p:nvSpPr>
        <p:spPr>
          <a:xfrm>
            <a:off x="3108960" y="22677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cerca de 1.200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3108960" y="256032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1.000 cabeças ou mais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2697480" y="2962656"/>
            <a:ext cx="3108960" cy="731520"/>
          </a:xfrm>
          <a:prstGeom prst="rect">
            <a:avLst/>
          </a:prstGeom>
          <a:solidFill>
            <a:srgbClr val="C8106E"/>
          </a:solidFill>
          <a:ln/>
        </p:spPr>
        <p:txBody>
          <a:bodyPr/>
          <a:p/>
        </p:txBody>
      </p:sp>
      <p:sp>
        <p:nvSpPr>
          <p:cNvPr id="27" name="Text 24"/>
          <p:cNvSpPr/>
          <p:nvPr/>
        </p:nvSpPr>
        <p:spPr>
          <a:xfrm>
            <a:off x="2697480" y="305409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1.131 propriedades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2697480" y="334670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de 1.000 cabeças (46%)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2697480" y="3822192"/>
            <a:ext cx="3108960" cy="274320"/>
          </a:xfrm>
          <a:prstGeom prst="roundRect">
            <a:avLst>
              <a:gd name="adj" fmla="val 50000"/>
            </a:avLst>
          </a:prstGeom>
          <a:solidFill>
            <a:srgbClr val="C5D300"/>
          </a:solidFill>
          <a:ln/>
        </p:spPr>
        <p:txBody>
          <a:bodyPr/>
          <a:p/>
        </p:txBody>
      </p:sp>
      <p:sp>
        <p:nvSpPr>
          <p:cNvPr id="30" name="Text 27"/>
          <p:cNvSpPr/>
          <p:nvPr/>
        </p:nvSpPr>
        <p:spPr>
          <a:xfrm>
            <a:off x="2697480" y="382219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Faixa do TN Manager Web: 200 a 2.000 cabeças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6035040" y="111556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Cabeças confinadas por estado (milhões)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6035040" y="14173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6583680" y="1444752"/>
            <a:ext cx="1470074" cy="219456"/>
          </a:xfrm>
          <a:prstGeom prst="rect">
            <a:avLst/>
          </a:prstGeom>
          <a:solidFill>
            <a:srgbClr val="C8106E"/>
          </a:solidFill>
          <a:ln/>
        </p:spPr>
        <p:txBody>
          <a:bodyPr/>
          <a:p/>
        </p:txBody>
      </p:sp>
      <p:sp>
        <p:nvSpPr>
          <p:cNvPr id="34" name="Text 31"/>
          <p:cNvSpPr/>
          <p:nvPr/>
        </p:nvSpPr>
        <p:spPr>
          <a:xfrm>
            <a:off x="8099474" y="1417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2,2</a:t>
            </a:r>
            <a:endParaRPr lang="en-US" sz="950" dirty="0"/>
          </a:p>
        </p:txBody>
      </p:sp>
      <p:sp>
        <p:nvSpPr>
          <p:cNvPr id="35" name="Text 32"/>
          <p:cNvSpPr/>
          <p:nvPr/>
        </p:nvSpPr>
        <p:spPr>
          <a:xfrm>
            <a:off x="6035040" y="1783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6583680" y="1810512"/>
            <a:ext cx="935502" cy="219456"/>
          </a:xfrm>
          <a:prstGeom prst="rect">
            <a:avLst/>
          </a:prstGeom>
          <a:solidFill>
            <a:srgbClr val="1B3A8C"/>
          </a:solidFill>
          <a:ln/>
        </p:spPr>
        <p:txBody>
          <a:bodyPr/>
          <a:p/>
        </p:txBody>
      </p:sp>
      <p:sp>
        <p:nvSpPr>
          <p:cNvPr id="37" name="Text 34"/>
          <p:cNvSpPr/>
          <p:nvPr/>
        </p:nvSpPr>
        <p:spPr>
          <a:xfrm>
            <a:off x="7564902" y="1783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</a:t>
            </a:r>
            <a:endParaRPr lang="en-US" sz="950" dirty="0"/>
          </a:p>
        </p:txBody>
      </p:sp>
      <p:sp>
        <p:nvSpPr>
          <p:cNvPr id="38" name="Text 35"/>
          <p:cNvSpPr/>
          <p:nvPr/>
        </p:nvSpPr>
        <p:spPr>
          <a:xfrm>
            <a:off x="6035040" y="21488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</a:t>
            </a:r>
            <a:endParaRPr lang="en-US" sz="1000" dirty="0"/>
          </a:p>
        </p:txBody>
      </p:sp>
      <p:sp>
        <p:nvSpPr>
          <p:cNvPr id="39" name="Shape 36"/>
          <p:cNvSpPr/>
          <p:nvPr/>
        </p:nvSpPr>
        <p:spPr>
          <a:xfrm>
            <a:off x="6583680" y="2176272"/>
            <a:ext cx="935502" cy="219456"/>
          </a:xfrm>
          <a:prstGeom prst="rect">
            <a:avLst/>
          </a:prstGeom>
          <a:solidFill>
            <a:srgbClr val="1B3A8C"/>
          </a:solidFill>
          <a:ln/>
        </p:spPr>
        <p:txBody>
          <a:bodyPr/>
          <a:p/>
        </p:txBody>
      </p:sp>
      <p:sp>
        <p:nvSpPr>
          <p:cNvPr id="40" name="Text 37"/>
          <p:cNvSpPr/>
          <p:nvPr/>
        </p:nvSpPr>
        <p:spPr>
          <a:xfrm>
            <a:off x="7564902" y="21488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</a:t>
            </a:r>
            <a:endParaRPr lang="en-US" sz="950" dirty="0"/>
          </a:p>
        </p:txBody>
      </p:sp>
      <p:sp>
        <p:nvSpPr>
          <p:cNvPr id="41" name="Text 38"/>
          <p:cNvSpPr/>
          <p:nvPr/>
        </p:nvSpPr>
        <p:spPr>
          <a:xfrm>
            <a:off x="6035040" y="2514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</a:t>
            </a:r>
            <a:endParaRPr lang="en-US" sz="1000" dirty="0"/>
          </a:p>
        </p:txBody>
      </p:sp>
      <p:sp>
        <p:nvSpPr>
          <p:cNvPr id="42" name="Shape 39"/>
          <p:cNvSpPr/>
          <p:nvPr/>
        </p:nvSpPr>
        <p:spPr>
          <a:xfrm>
            <a:off x="6583680" y="2542032"/>
            <a:ext cx="601394" cy="219456"/>
          </a:xfrm>
          <a:prstGeom prst="rect">
            <a:avLst/>
          </a:prstGeom>
          <a:solidFill>
            <a:srgbClr val="1B3A8C"/>
          </a:solidFill>
          <a:ln/>
        </p:spPr>
        <p:txBody>
          <a:bodyPr/>
          <a:p/>
        </p:txBody>
      </p:sp>
      <p:sp>
        <p:nvSpPr>
          <p:cNvPr id="43" name="Text 40"/>
          <p:cNvSpPr/>
          <p:nvPr/>
        </p:nvSpPr>
        <p:spPr>
          <a:xfrm>
            <a:off x="7230794" y="25146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0,9</a:t>
            </a:r>
            <a:endParaRPr lang="en-US" sz="950" dirty="0"/>
          </a:p>
        </p:txBody>
      </p:sp>
      <p:sp>
        <p:nvSpPr>
          <p:cNvPr id="44" name="Text 41"/>
          <p:cNvSpPr/>
          <p:nvPr/>
        </p:nvSpPr>
        <p:spPr>
          <a:xfrm>
            <a:off x="6035040" y="2880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</a:t>
            </a:r>
            <a:endParaRPr lang="en-US" sz="1000" dirty="0"/>
          </a:p>
        </p:txBody>
      </p:sp>
      <p:sp>
        <p:nvSpPr>
          <p:cNvPr id="45" name="Shape 42"/>
          <p:cNvSpPr/>
          <p:nvPr/>
        </p:nvSpPr>
        <p:spPr>
          <a:xfrm>
            <a:off x="6583680" y="2907792"/>
            <a:ext cx="534572" cy="219456"/>
          </a:xfrm>
          <a:prstGeom prst="rect">
            <a:avLst/>
          </a:prstGeom>
          <a:solidFill>
            <a:srgbClr val="1B3A8C"/>
          </a:solidFill>
          <a:ln/>
        </p:spPr>
        <p:txBody>
          <a:bodyPr/>
          <a:p/>
        </p:txBody>
      </p:sp>
      <p:sp>
        <p:nvSpPr>
          <p:cNvPr id="46" name="Text 43"/>
          <p:cNvSpPr/>
          <p:nvPr/>
        </p:nvSpPr>
        <p:spPr>
          <a:xfrm>
            <a:off x="7163972" y="28803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0,8</a:t>
            </a:r>
            <a:endParaRPr lang="en-US" sz="950" dirty="0"/>
          </a:p>
        </p:txBody>
      </p:sp>
      <p:sp>
        <p:nvSpPr>
          <p:cNvPr id="47" name="Text 44"/>
          <p:cNvSpPr/>
          <p:nvPr/>
        </p:nvSpPr>
        <p:spPr>
          <a:xfrm>
            <a:off x="6035040" y="32461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Outros</a:t>
            </a:r>
            <a:endParaRPr lang="en-US" sz="1000" dirty="0"/>
          </a:p>
        </p:txBody>
      </p:sp>
      <p:sp>
        <p:nvSpPr>
          <p:cNvPr id="48" name="Shape 45"/>
          <p:cNvSpPr/>
          <p:nvPr/>
        </p:nvSpPr>
        <p:spPr>
          <a:xfrm>
            <a:off x="6583680" y="3273552"/>
            <a:ext cx="1703949" cy="219456"/>
          </a:xfrm>
          <a:prstGeom prst="rect">
            <a:avLst/>
          </a:prstGeom>
          <a:solidFill>
            <a:srgbClr val="0096B4"/>
          </a:solidFill>
          <a:ln/>
        </p:spPr>
        <p:txBody>
          <a:bodyPr/>
          <a:p/>
        </p:txBody>
      </p:sp>
      <p:sp>
        <p:nvSpPr>
          <p:cNvPr id="49" name="Text 46"/>
          <p:cNvSpPr/>
          <p:nvPr/>
        </p:nvSpPr>
        <p:spPr>
          <a:xfrm>
            <a:off x="8333349" y="32461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2,55</a:t>
            </a:r>
            <a:endParaRPr lang="en-US" sz="950" dirty="0"/>
          </a:p>
        </p:txBody>
      </p:sp>
      <p:sp>
        <p:nvSpPr>
          <p:cNvPr id="50" name="Text 47"/>
          <p:cNvSpPr/>
          <p:nvPr/>
        </p:nvSpPr>
        <p:spPr>
          <a:xfrm>
            <a:off x="6035040" y="367588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estados somam 72%. Centro-Oeste e o bioma Cerrado concentram a maior parte.</a:t>
            </a:r>
            <a:endParaRPr lang="en-US" sz="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Estamos no caminho certo?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Sim, com uma ressalva: o público é o maior em número de fazendas, mas pequeno em volume de cabeças.</a:t>
            </a:r>
            <a:endParaRPr lang="en-US" sz="13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4398264"/>
            <a:ext cx="4572000" cy="7429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503920" y="482803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57200" y="4791456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5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Fontes: dsm-firmenich, Censo de Confinamento 2025 (fev/2026) e 2024; Embrapa Pecuária Sudeste (2023; 2024); Embrapa, Censos Agropecuários 2006 e 2017.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457200" y="1143000"/>
            <a:ext cx="2606040" cy="384048"/>
          </a:xfrm>
          <a:prstGeom prst="rect">
            <a:avLst/>
          </a:prstGeom>
          <a:solidFill>
            <a:srgbClr val="1B3A8C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566928" y="1143000"/>
            <a:ext cx="2386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os dados confirmam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57200" y="1527048"/>
            <a:ext cx="2606040" cy="2130552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530352" y="1618488"/>
            <a:ext cx="2441448" cy="1993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Confinamentos com menos de 1.000 cabeças são o maior grupo: 1.131 propriedades, cerca de 46% do total</a:t>
            </a:r>
            <a:endParaRPr lang="en-US" sz="95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grandes já estão concentrados e disputados: os 100 maiores têm 45% das cabeças</a:t>
            </a:r>
            <a:endParaRPr lang="en-US" sz="95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adoção digital cresce com escala e consultoria (Embrapa): o pequeno fica sem ferramenta, e o técnico TN é o elo</a:t>
            </a:r>
            <a:endParaRPr lang="en-US" sz="95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Embrapa indica que o vagão forrageiro se justifica a partir de cerca de 200 cabeças: coerente com o nosso piso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246120" y="1143000"/>
            <a:ext cx="2606040" cy="384048"/>
          </a:xfrm>
          <a:prstGeom prst="rect">
            <a:avLst/>
          </a:prstGeom>
          <a:solidFill>
            <a:srgbClr val="C8106E"/>
          </a:solidFill>
          <a:ln/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3355848" y="1143000"/>
            <a:ext cx="2386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pede cuidado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3246120" y="1527048"/>
            <a:ext cx="2606040" cy="2130552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3319272" y="1618488"/>
            <a:ext cx="2441448" cy="1993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volume, o pequeno pesa pouco: estimamos menos de 10% das cabeças confinadas</a:t>
            </a:r>
            <a:endParaRPr lang="en-US" sz="95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Abaixo de 10 mil cabeças o volume ficou estável em 2024 (3,3 mi), enquanto os grandes cresceram</a:t>
            </a:r>
            <a:endParaRPr lang="en-US" sz="95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valor vem do número de fazendas e da fidelização, não do Sales Profit por cliente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6035040" y="1143000"/>
            <a:ext cx="2606040" cy="384048"/>
          </a:xfrm>
          <a:prstGeom prst="rect">
            <a:avLst/>
          </a:prstGeom>
          <a:solidFill>
            <a:srgbClr val="26668F"/>
          </a:solidFill>
          <a:ln/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6144768" y="1143000"/>
            <a:ext cx="2386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ainda não sabemos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035040" y="1527048"/>
            <a:ext cx="2606040" cy="2130552"/>
          </a:xfrm>
          <a:prstGeom prst="rect">
            <a:avLst/>
          </a:prstGeom>
          <a:solidFill>
            <a:srgbClr val="F4F6F8"/>
          </a:solidFill>
          <a:ln/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6108192" y="1618488"/>
            <a:ext cx="2441448" cy="1993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Percentual nacional de confinamentos com automação: não há dado público</a:t>
            </a:r>
            <a:endParaRPr lang="en-US" sz="95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 total de confinamentos do país: o censo mapeia 2.445; o IBGE (Censo Agro 2017) é a única contagem universal</a:t>
            </a:r>
            <a:endParaRPr lang="en-US" sz="95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Recorte de 1.000 a 2.000 cabeças e distribuição por bioma</a:t>
            </a:r>
            <a:endParaRPr lang="en-US" sz="95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4A5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pesquisa com 30 fazendas preenche essas lacunas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457200" y="3749040"/>
            <a:ext cx="8229600" cy="530352"/>
          </a:xfrm>
          <a:prstGeom prst="rect">
            <a:avLst/>
          </a:prstGeom>
          <a:solidFill>
            <a:srgbClr val="1B3A8C"/>
          </a:solidFill>
          <a:ln/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621792" y="3749040"/>
            <a:ext cx="7955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5D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Conclusão: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público de 200 a 2.000 cabeças é o maior em número de fazendas e o menos atendido. O caso se sustenta com custo baixo por cliente e escala de fazendas.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6290</TotalTime>
  <Words>3616</Words>
  <Application>Microsoft Office PowerPoint</Application>
  <PresentationFormat>Apresentação na tela (16:9)</PresentationFormat>
  <Paragraphs>561</Paragraphs>
  <Slides>31</Slides>
  <Notes>19</Notes>
  <HiddenSlides>5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31</vt:i4>
      </vt:variant>
    </vt:vector>
  </HeadingPairs>
  <TitlesOfParts>
    <vt:vector size="35" baseType="lpstr">
      <vt:lpstr>Arial</vt:lpstr>
      <vt:lpstr>Calibri</vt:lpstr>
      <vt:lpstr>Calibri Light</vt:lpstr>
      <vt:lpstr>Office Theme</vt:lpstr>
      <vt:lpstr> 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Business Case v2.0 TN Manager e TN Manager Web</dc:title>
  <dc:subject>PptxGenJS Presentation</dc:subject>
  <dc:creator>Rodrigo Gennari</dc:creator>
  <cp:lastModifiedBy>Rodrigo Da Silva Gennari</cp:lastModifiedBy>
  <cp:revision>11</cp:revision>
  <dcterms:created xsi:type="dcterms:W3CDTF">2026-10-07T20:43:28Z</dcterms:created>
  <dcterms:modified xsi:type="dcterms:W3CDTF">2026-10-20T18:28:38Z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36de8be1-d189-4942-ac4d-e73ca8d25762_Enabled">
    <vt:lpwstr>true</vt:lpwstr>
  </property>
  <property fmtid="{D5CDD505-2E9C-101B-9397-08002B2CF9AE}" pid="3" name="MSIP_Label_36de8be1-d189-4942-ac4d-e73ca8d25762_SetDate">
    <vt:lpwstr>2026-10-16T09:33:55Z</vt:lpwstr>
  </property>
  <property fmtid="{D5CDD505-2E9C-101B-9397-08002B2CF9AE}" pid="4" name="MSIP_Label_36de8be1-d189-4942-ac4d-e73ca8d25762_Method">
    <vt:lpwstr>Privileged</vt:lpwstr>
  </property>
  <property fmtid="{D5CDD505-2E9C-101B-9397-08002B2CF9AE}" pid="5" name="MSIP_Label_36de8be1-d189-4942-ac4d-e73ca8d25762_Name">
    <vt:lpwstr>Public</vt:lpwstr>
  </property>
  <property fmtid="{D5CDD505-2E9C-101B-9397-08002B2CF9AE}" pid="6" name="MSIP_Label_36de8be1-d189-4942-ac4d-e73ca8d25762_SiteId">
    <vt:lpwstr>aaace049-6505-453e-94a3-c70dcacf2984</vt:lpwstr>
  </property>
  <property fmtid="{D5CDD505-2E9C-101B-9397-08002B2CF9AE}" pid="7" name="MSIP_Label_36de8be1-d189-4942-ac4d-e73ca8d25762_ActionId">
    <vt:lpwstr>49bb33d2-cc89-4221-8ff2-c54442898523</vt:lpwstr>
  </property>
  <property fmtid="{D5CDD505-2E9C-101B-9397-08002B2CF9AE}" pid="8" name="MSIP_Label_36de8be1-d189-4942-ac4d-e73ca8d25762_ContentBits">
    <vt:lpwstr>0</vt:lpwstr>
  </property>
  <property fmtid="{D5CDD505-2E9C-101B-9397-08002B2CF9AE}" pid="9" name="MSIP_Label_36de8be1-d189-4942-ac4d-e73ca8d25762_Tag">
    <vt:lpwstr>10, 0, 1, 1</vt:lpwstr>
  </property>
</Properties>
</file>