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media/image2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0"/>
  </p:notesMasterIdLst>
  <p:sldIdLst>
    <p:sldId id="256" r:id="rId34"/>
    <p:sldId id="275" r:id="rId2"/>
    <p:sldId id="2147472007" r:id="rId20"/>
    <p:sldId id="2142533174" r:id="rId4"/>
    <p:sldId id="2147472008" r:id="rId19"/>
    <p:sldId id="257" r:id="rId5"/>
    <p:sldId id="2147472005" r:id="rId22"/>
    <p:sldId id="258" r:id="rId6"/>
    <p:sldId id="2147472009" r:id="rId18"/>
    <p:sldId id="2147472010" r:id="rId15"/>
    <p:sldId id="2147472011" r:id="rId3"/>
    <p:sldId id="2147472012" r:id="rId55"/>
    <p:sldId id="2147472013" r:id="rId56"/>
    <p:sldId id="2147472014" r:id="rId57"/>
    <p:sldId id="2147472015" r:id="rId58"/>
    <p:sldId id="2147472016" r:id="rId59"/>
    <p:sldId id="2147472017" r:id="rId60"/>
    <p:sldId id="2147472018" r:id="rId61"/>
    <p:sldId id="2147472019" r:id="rId62"/>
    <p:sldId id="2147472020" r:id="rId63"/>
    <p:sldId id="2147472021" r:id="rId64"/>
    <p:sldId id="2147472022" r:id="rId65"/>
    <p:sldId id="2147472023" r:id="rId66"/>
    <p:sldId id="2147472024" r:id="rId67"/>
    <p:sldId id="2147472025" r:id="rId68"/>
    <p:sldId id="2147472026" r:id="rId69"/>
    <p:sldId id="2142533161" r:id="rId23"/>
    <p:sldId id="2147471994" r:id="rId24"/>
    <p:sldId id="2147471990" r:id="rId8"/>
    <p:sldId id="259" r:id="rId25"/>
    <p:sldId id="2147471956" r:id="rId26"/>
    <p:sldId id="264" r:id="rId27"/>
    <p:sldId id="265" r:id="rId28"/>
    <p:sldId id="267" r:id="rId29"/>
    <p:sldId id="268" r:id="rId30"/>
    <p:sldId id="271" r:id="rId31"/>
    <p:sldId id="272" r:id="rId32"/>
    <p:sldId id="269" r:id="rId33"/>
    <p:sldId id="261" r:id="rId35"/>
    <p:sldId id="263" r:id="rId36"/>
    <p:sldId id="2147471958" r:id="rId37"/>
    <p:sldId id="2147471978" r:id="rId38"/>
    <p:sldId id="2147471967" r:id="rId3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3" d="100"/>
          <a:sy n="143" d="100"/>
        </p:scale>
        <p:origin x="68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2.xml"/><Relationship Id="rId3" Type="http://schemas.openxmlformats.org/officeDocument/2006/relationships/slide" Target="slides/slide48.xml"/><Relationship Id="rId4" Type="http://schemas.openxmlformats.org/officeDocument/2006/relationships/slide" Target="slides/slide6.xml"/><Relationship Id="rId5" Type="http://schemas.openxmlformats.org/officeDocument/2006/relationships/slide" Target="slides/slide8.xml"/><Relationship Id="rId6" Type="http://schemas.openxmlformats.org/officeDocument/2006/relationships/slide" Target="slides/slide7.xml"/><Relationship Id="rId8" Type="http://schemas.openxmlformats.org/officeDocument/2006/relationships/slide" Target="slides/slide10.xml"/><Relationship Id="rId15" Type="http://schemas.openxmlformats.org/officeDocument/2006/relationships/slide" Target="slides/slide47.xml"/><Relationship Id="rId18" Type="http://schemas.openxmlformats.org/officeDocument/2006/relationships/slide" Target="slides/slide46.xml"/><Relationship Id="rId19" Type="http://schemas.openxmlformats.org/officeDocument/2006/relationships/slide" Target="slides/slide45.xml"/><Relationship Id="rId20" Type="http://schemas.openxmlformats.org/officeDocument/2006/relationships/slide" Target="slides/slide44.xml"/><Relationship Id="rId22" Type="http://schemas.openxmlformats.org/officeDocument/2006/relationships/slide" Target="slides/slide5.xml"/><Relationship Id="rId23" Type="http://schemas.openxmlformats.org/officeDocument/2006/relationships/slide" Target="slides/slide28.xml"/><Relationship Id="rId24" Type="http://schemas.openxmlformats.org/officeDocument/2006/relationships/slide" Target="slides/slide29.xml"/><Relationship Id="rId25" Type="http://schemas.openxmlformats.org/officeDocument/2006/relationships/slide" Target="slides/slide30.xml"/><Relationship Id="rId26" Type="http://schemas.openxmlformats.org/officeDocument/2006/relationships/slide" Target="slides/slide31.xml"/><Relationship Id="rId27" Type="http://schemas.openxmlformats.org/officeDocument/2006/relationships/slide" Target="slides/slide32.xml"/><Relationship Id="rId28" Type="http://schemas.openxmlformats.org/officeDocument/2006/relationships/slide" Target="slides/slide33.xml"/><Relationship Id="rId29" Type="http://schemas.openxmlformats.org/officeDocument/2006/relationships/slide" Target="slides/slide34.xml"/><Relationship Id="rId30" Type="http://schemas.openxmlformats.org/officeDocument/2006/relationships/slide" Target="slides/slide35.xml"/><Relationship Id="rId31" Type="http://schemas.openxmlformats.org/officeDocument/2006/relationships/slide" Target="slides/slide36.xml"/><Relationship Id="rId32" Type="http://schemas.openxmlformats.org/officeDocument/2006/relationships/slide" Target="slides/slide37.xml"/><Relationship Id="rId33" Type="http://schemas.openxmlformats.org/officeDocument/2006/relationships/slide" Target="slides/slide38.xml"/><Relationship Id="rId34" Type="http://schemas.openxmlformats.org/officeDocument/2006/relationships/slide" Target="slides/slide1.xml"/><Relationship Id="rId35" Type="http://schemas.openxmlformats.org/officeDocument/2006/relationships/slide" Target="slides/slide39.xml"/><Relationship Id="rId36" Type="http://schemas.openxmlformats.org/officeDocument/2006/relationships/slide" Target="slides/slide40.xml"/><Relationship Id="rId37" Type="http://schemas.openxmlformats.org/officeDocument/2006/relationships/slide" Target="slides/slide41.xml"/><Relationship Id="rId38" Type="http://schemas.openxmlformats.org/officeDocument/2006/relationships/slide" Target="slides/slide42.xml"/><Relationship Id="rId39" Type="http://schemas.openxmlformats.org/officeDocument/2006/relationships/slide" Target="slides/slide43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</c:v>
                </c:pt>
              </c:strCache>
            </c:strRef>
          </c:tx>
          <c:spPr>
            <a:solidFill>
              <a:srgbClr val="C8106E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4A5560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Top 100 confinamentos</c:v>
                </c:pt>
                <c:pt idx="1">
                  <c:v>Pareto 80% (265 contas)</c:v>
                </c:pt>
                <c:pt idx="2">
                  <c:v>Confinamento</c:v>
                </c:pt>
                <c:pt idx="3">
                  <c:v>Total Beef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6.5</c:v>
                </c:pt>
                <c:pt idx="1">
                  <c:v>10.5</c:v>
                </c:pt>
                <c:pt idx="2">
                  <c:v>13</c:v>
                </c:pt>
                <c:pt idx="3">
                  <c:v>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658-4AB3-ACA0-7D9616C6425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560"/>
                </a:solidFill>
                <a:latin typeface="Calibri"/>
              </a:defRPr>
            </a:pPr>
            <a:endParaRPr lang="pt-B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0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Amostra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B3A8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6B1-45BF-8B8D-F51A52919082}"/>
              </c:ext>
            </c:extLst>
          </c:dPt>
          <c:dPt>
            <c:idx val="1"/>
            <c:bubble3D val="0"/>
            <c:spPr>
              <a:solidFill>
                <a:srgbClr val="0096B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6B1-45BF-8B8D-F51A52919082}"/>
              </c:ext>
            </c:extLst>
          </c:dPt>
          <c:dPt>
            <c:idx val="2"/>
            <c:bubble3D val="0"/>
            <c:spPr>
              <a:solidFill>
                <a:srgbClr val="C8106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6B1-45BF-8B8D-F51A52919082}"/>
              </c:ext>
            </c:extLst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6B1-45BF-8B8D-F51A52919082}"/>
                </c:ext>
              </c:extLst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D6B1-45BF-8B8D-F51A52919082}"/>
                </c:ext>
              </c:extLst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D6B1-45BF-8B8D-F51A52919082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Clientes ativos</c:v>
                </c:pt>
                <c:pt idx="1">
                  <c:v>Não clientes</c:v>
                </c:pt>
                <c:pt idx="2">
                  <c:v>Ex-clientes e detratores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</c:v>
                </c:pt>
                <c:pt idx="1">
                  <c:v>10</c:v>
                </c:pt>
                <c:pt idx="2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D6B1-45BF-8B8D-F51A5291908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2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26435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 de clientes cadastrados no sistema da Trouw Nutrition, de janeiro a outubro de 2026: 2.796 confinadores. A soma dos estados dá 2.797: conferir. A sigla MD da planilha foi lida como MS. AP, CE e PB não têm cadastro. RO, SP e MT somam 1.824 (65%). Cruzamento com o censo dsm-firmenich 2025: MT 2,2 milhões de cabeças, SP 1,4, GO 1,4, MS 0,9, MG 0,8; RO não aparece entre os cinco, o que indica operações menores. Fala: 'Esta é a nossa base hoje. Rondônia concentra mais de um terço dos clientes, com confinamentos menores, o perfil da versão Web. E Goiás, um dos maiores estados em cabeças, ainda tem poucos clientes nossos.' Ponte: 'E quem está decidindo nessas fazendas?'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Ponte: 'E quantos confinamentos como esse existem no Brasil?'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Ponte: 'A pergunta mudou: deixou de ser como defender a base e passou a ser para quem geramos valor. Quem é esse cliente?'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Ponte: 'E onde estão esses confinadores?'</a:t>
            </a:r>
          </a:p>
          <a:p/>
          <a:p>
            <a:r>
              <a:t>Fonte principal: Censo de Confinamento 2025 da dsm-firmenich, divulgado em fevereiro de 2026 (9,25 milhões de cabeças, 2.445 propriedades, 1.095 municípios, 100 maiores com 45% das cabeças; MT 2,2 mi, SP 1,4, GO 1,4, MS 0,9, MG 0,8). 'Outros' = 9,25 menos a soma dos 5 estados. O número de 1.131 propriedades abaixo de 1.000 cabeças vem de reportagem sobre o mesmo censo (CompreRural): confirmar no relatório completo. A faixa do meio (cerca de 1.200; exatamente 1.214) é calculada: 2.445 menos 1.131 menos 100. O censo mapeia propriedades monitoradas, não é a contagem de todos os confinamentos do país. Bioma: não há tabela pública por bioma; o Cerrado é inferência pela concentração no Centro-Oeste, MG e SP. Embrapa (Censos 2006 e 2017): o número de estabelecimentos com confinamento cresceu cerca de 145% e aumentou em todos os biomas.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Bússola Farm, dados 2024/2025: 14.038 confinamentos mapeados e 14.985.249 cabeças de capacidade estática. Faixa 1 (até 1.500 cabeças, unidades até 2,4 ha): 11.194 e 3,5 milhões. Faixa 2 (até 6.900, até 9 ha): 1.664 e 5,5 milhões. Faixa 3 (mais de 7.000, média de 16.000, acima de 10 ha): 356 e 6 milhões. As três faixas somam 13.214 confinamentos; os demais não vêm com faixa. Fala: 'São mais de 11 mil confinamentos pequenos: 85% do total, com só 23% da capacidade. O caso se sustenta com muitas fazendas e custo baixo por cliente.' Ponte: 'E onde estão os nossos clientes hoje?'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sugerida: 'A primeira versão foi desenhada do fim para o começo: automação, integração com balança e vagão, foco nos grandes. Entrei para inverter essa lógica: começar pela rotina do curral, com inputs manuais e um sistema objetivo e flexível para o confinamento pequeno e médio. Menos é mais. Sistema virou commodity: o que manda é o resultado que ajudamos o pecuarista a alcançar.' Ponte: 'E para quem é isso?'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sugerida: 'Vou mostrar por que mudamos a lógica do TN Manager, para quem é a versão Web, o que nos diferencia e o que precisamos decidir hoje.' O bloco 3 é o coração da conversa: o sistema é o meio; suporte, dashboards e equipe técnica são o diferencial. O anexo tem o material de apoio.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sugerida: 'Para não haver dúvida: o TN Manager Web é para novos clientes, de porte pequeno e médio, e sem automação no momento. Os clientes maiores, que querem automação, continuam com a PecCode: a parceria está consolidada e rodando bem, e vamos mantê-la. O TN Manager com automação será retomado no futuro, trabalhando em paralelo com a versão Web.' Ponte: 'Em resumo, é isso que propomos.'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BB8961-162D-413B-A79F-06D8B6E59E12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550567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Fontes verificadas. (1) Embrapa Pecuária Sudeste, 'Transformação digital da pecuária de corte intensiva no Brasil: tecnologias e perfil de adoção' (2023), com dados de 2021 de 184 confinamentos: a adoção mais intensa está ligada a produtores mais jovens, com ensino superior, com mais confiança na gestão e com acesso a consultoria especializada. Um segundo estudo da Embrapa com 185 fazendas confirma: escala, escolaridade, menor idade e consultoria aumentam a chance de usar tecnologia digital. (2) Embrapa, Sebrae e Inpe, pesquisa 'Agricultura digital no Brasil' (2020): 84,1% dos produtores usam pelo menos uma tecnologia digital, só 22,2% usam aplicativos de gestão da propriedade, e 61,4% apontam a conectividade como principal barreira. O número de 90% da versão anterior foi retirado: vinha de uma pesquisa com 119 jovens de vários setores, sem foco em pecuária. Fala: 'Quem assume a fazenda quer número e decisão. A Embrapa mostra que é justamente o produtor mais jovem, com formação e com consultoria, que adota tecnologia no confinamento. E só um em cada cinco produtores usa aplicativo de gestão: o espaço está aberto.' Ponte: 'Então, estamos no caminho certo?'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Fala: 'Sim, estamos no caminho certo. Os pequenos são a grande maioria dos confinamentos. Os grandes já estão concentrados e disputados. E a nossa própria base mostra o mesmo perfil. A ressalva: em volume, o pequeno pesa menos, então o caso depende de escala de fazendas e fidelização. A pesquisa com 30 fazendas, de 9 a 27 de novembro, vai confirmar isso com números, inclusive a satisfação com o suporte dos fornecedores atuais.' Dado dos 100 maiores: censo dsm-firmenich 2025 (9,25 milhões de cabeças, 2.445 propriedades monitoradas). Ponte: 'E o que entregamos para esse cliente?'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Fala: 'Todos ganham. O gestor decide com o dado da semana, a equipe do curral lança em minutos, o técnico acompanha várias fazendas à distância e a Trouw fideliza e abre novos clientes. Mas repare: o ganho não está na tela, está no que fazemos com o dado.' Ponte: 'É isso que nos diferencia.'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Fala: 'O sistema é o meio. Qualquer concorrente entrega um sistema. O nosso diferencial são três entregas em cima dele: suporte excelente, com analista online e técnico no campo; indicadores e dashboards que mostram toda semana o que importa; e uma equipe técnica que ajusta dieta e manejo com base nos dados. O resultado é o que o pecuarista quer: rentabilidade.' Ponte: 'Como isso funciona na rotina da fazenda?'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Fala: 'Os passos 1 a 3 são registro, e qualquer sistema faz. Os passos 4 e 5 são o serviço da TN: o analista olha os dashboards, compara com o benchmark e o técnico ajusta dieta, trato e manejo. No piloto, eu e o técnico de campo acompanhamos de perto; depois eu atendo até 20 fazendas; a partir do mês 7 entram os analistas online.' Ponte: 'E no dia a dia: papel ou celular? Precisa de internet?'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Fala: 'No dia a dia: leitura de cocho de manhã, trato registrado por baia, eventos quando acontecem e conferência no fim do dia, em 10 minutos. Lança no celular ou na ficha de papel. No curral não precisa de internet; na sede, uma conexão por dia basta.' A Embrapa, o Sebrae e o Inpe (2020) mostram que 61% dos produtores apontam a conexão como principal barreira: por isso o produto funciona sem sinal no curral. O uso sem sinal no celular será validado com a Dreamer na imersão técnica. Ponte: 'E a concorrência?'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Fala: 'Todos vendem sistema, e alguns são muito bons, como o Feed Manager da Cargill e o FarmTell da DSM. Mas falham em dois pontos que o confinador sente no bolso e no dia a dia: o custo da implantação, que na Cargill chega a R$ 240 mil, e o suporte depois da venda. Atenção ao FarmTell Beef Smart, a versão simples da DSM para fazendas menores: é o concorrente mais parecido com a nossa versão Web.' Fontes e cuidados: o Feed Manager cobre manejo, nutrição, trato, fábrica de ração e SISBOV; o histórico de versões é publicado pela Integra Software. A DSM reuniu as soluções da Prodap na marca FarmTell (Beef, Views e Beef Smart). A Ponta afirma atender 12 dos 20 maiores confinamentos. A Tecnobeef atende cerca de 170 propriedades (AgFeed). O valor de até R$ 240 mil da Cargill é informação de mercado levantada pela TN; a licença TGC de R$ 10 mil a 40 mil por ano é o que a TN paga; as avaliações de suporte vêm da avaliação interna e de relatos de clientes. A pesquisa com 30 fazendas vai perguntar custo e satisfação com o suporte. A PecCode fica fora porque é parceira. Ponte: 'É aí que vamos vencer.'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Fala: 'Onde os concorrentes falham, nós vamos vencer: suporte excelente, implantação simples e dashboards com uma equipe técnica que ajusta a fazenda com base nos dados. No longo prazo, o Grupo de Desenvolvimento fecha o ciclo: analistas auditam, validam e interpretam os dados e entregam o relatório de safra e o benchmark. O sistema é o meio; o que fazemos com os dados é o diferencial.' Ponte: 'Com quem começamos?'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Fala: 'Para o piloto, de até 5 fazendas, escolhemos novos clientes pequenos e médios, com rotina mínima de registro e alguém para lançar todo dia. Quem tem automação continua na PecCode.' Ponte: 'Quanto custa e como cobramos?'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Dados: 20 licenças pagas a parceiros. TGC (Ponta): 6 licenças de R$ 10 mil a 40 mil. PecCode: 14 licenças de R$ 8 mil a 12,8 mil. Orçado R$ 364 mil, pago R$ 64 mil. Média: R$ 18,2 mil por fazenda. Premissa: valores anuais. A economia depende de quantas das 20 fazendas não usam automação: levantar a lista. O modelo de monetização é o item 6.3 do cronograma (18 a 29/01/2027). Fala: 'Hoje pagamos caro por licenças que não escalam para o pequeno. O Web atende os novos clientes sem automação e sem licença para o cliente; o custo vai no pacote de nutrição e serviço. Os maiores com automação seguem com a PecCode.' Ponte: 'Pondo tudo junto, onde somos fortes e onde estamos expostos?'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Fala: 'As forças novas são justamente o nosso diferencial: suporte, dashboards e comunidade. A fraqueza principal é depender do lançamento manual, e por isso o produto precisa ser muito simples. A ameaça que mais preocupa é a DSM, que já tem uma versão simples para pequenos.' Fonte dos 22%: Embrapa, Sebrae e Inpe (2020). Ponte: 'Como levamos isso ao mercado?'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Datas conferidas com o cronograma em Excel (Cronograma_TN_Manager_Web_v2.xlsx): estruturação do GTM (6.2) e monetização (6.3) de 18 a 29/01/2027; apresentação final de BP e GTM (7.0) de 01 a 05/02/2027; piloto (8.0) com sugestão de 5 fazendas, tamanho e data definidos no Roadmap (6.1, 05 a 15/01/2027), alinhados à ocupação dos confinamentos. Os meses do go-to-market contam a partir do início do piloto. Capacidade estimada do Rodrigo: cerca de 1 hora por fazenda por semana. Ponte: 'E o que mantém a fazenda com a gente depois do piloto?'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Fala: 'Em 2020 criei o Fazenda Nota 10, um grupo de fazendas que se desenvolviam juntas olhando os próprios números. A chave do longo prazo é repetir esse modelo com sistema: comunidade, indicadores, benchmarking, relatório de safra e um evento anual com premiação. Os analistas online cobram e auditam os lançamentos, validam, interpretam e tiram dúvidas. A fazenda fica pelo grupo, não pelo sistema.' Se houver números do Fazenda Nota 10, cite aqui. Ponte: 'Como isso entra no calendário?'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Linhas 2.1 a 7.0 seguem o cronograma em Excel (Cronograma_TN_Manager_Web_v2.xlsx, versão de 09/10/2026): 2.1 business case de 07/09 a 16/10 e 2.1.1 entrevistas e benchmark até 23/10; 2.2.1 e 2.2.2 formulário (rascunho até 23/10 e revisão com Kátia Sato de 26/10 a 06/11); 2.2.3 e 2.2.4 pesquisa com 30 fazendas de 09 a 27/11 e consolidação até 04/12; 3.1 imersão técnica com a Dreamer de 16 a 27/11; 4.1 diagnóstico de 07 a 11/12 e 5.1 PRDs de 14 a 18/12; 6.1 roadmap de 05 a 15/01, 6.2 GTM e 6.3 monetização de 18 a 29/01; 7.0 apresentação final de 01 a 05/02/2027. O piloto (8.0) tem data definida no Roadmap (6.1), com sugestão de 5 fazendas, alinhado à ocupação dos confinamentos; maio é indicativo (início da safra de confinamento). Ponto de atenção do cronograma: a entrega da Dreamer está prevista para o fim de novembro, antes do resultado da pesquisa; até lá, focar em correções. A linha tracejada magenta marca onde as datas passam a ser indicativas. Ponte: 'E a visão até 2030?'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Metas propostas: 20 fazendas em 2027 (capacidade do Rodrigo), 60 em 2028, 120 em 2029 e 200 em 2030. Analistas online na proporção de 1 para cada 20 fazendas. Comunidade: Grupo de Desenvolvimento inspirado no Fazenda Nota 10, com fechamento de safra anual e evento com premiação a partir de 2028. Automação: os clientes maiores seguem com a PecCode; o TN Manager Automação é retomado em 2029, em paralelo com a versão Web. Ponte: 'Para começar, precisamos de algumas decisões hoje.'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Fechamento sugerido: 'Começamos pelo começo: rotina, dado, análise e resultado. O sistema é o meio; suporte, dashboards e equipe técnica são o diferencial. Com o Grupo de Desenvolvimento e o evento anual, a fazenda fica pela comunidade, e a TN ganha dados e fidelidade.'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hank you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339B28D0-9ED5-49CC-BDB0-A90FF861F2E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1083435"/>
            <a:ext cx="9144000" cy="405863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nl-NL"/>
          </a:p>
        </p:txBody>
      </p:sp>
      <p:sp>
        <p:nvSpPr>
          <p:cNvPr id="2" name="Footer Placeholder 1"/>
          <p:cNvSpPr>
            <a:spLocks noGrp="1"/>
          </p:cNvSpPr>
          <p:nvPr userDrawn="1"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22" name="Tijdelijke aanduiding voor dianummer 5">
            <a:extLst>
              <a:ext uri="{FF2B5EF4-FFF2-40B4-BE49-F238E27FC236}">
                <a16:creationId xmlns:a16="http://schemas.microsoft.com/office/drawing/2014/main" id="{7BD98785-612D-6449-9480-6E8F478993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9106" y="4484368"/>
            <a:ext cx="4572000" cy="659132"/>
          </a:xfrm>
          <a:prstGeom prst="rect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vert="horz" lIns="0" tIns="251999" rIns="396000" bIns="0" rtlCol="0" anchor="ctr" anchorCtr="0"/>
          <a:lstStyle>
            <a:lvl1pPr algn="r">
              <a:defRPr sz="12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endParaRPr lang="en-GB"/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97036F5A-4F41-9642-8812-E040E741FE0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94886" y="303610"/>
            <a:ext cx="1348788" cy="432048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40708F81-AA0F-4A51-BBF4-B1B1771869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9144900" cy="2343600"/>
          </a:xfrm>
          <a:blipFill>
            <a:blip r:embed="rId5"/>
            <a:stretch>
              <a:fillRect/>
            </a:stretch>
          </a:blipFill>
        </p:spPr>
        <p:txBody>
          <a:bodyPr lIns="871200" tIns="828000" rIns="3816000" bIns="1080000" anchor="ctr" anchorCtr="0"/>
          <a:lstStyle>
            <a:lvl1pPr>
              <a:defRPr/>
            </a:lvl1pPr>
          </a:lstStyle>
          <a:p>
            <a:r>
              <a:rPr lang="en-US"/>
              <a:t>Thank you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70397452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629842" y="465517"/>
            <a:ext cx="5670350" cy="756065"/>
          </a:xfrm>
        </p:spPr>
        <p:txBody>
          <a:bodyPr wrap="square"/>
          <a:lstStyle>
            <a:lvl1pPr algn="l">
              <a:defRPr/>
            </a:lvl1pPr>
          </a:lstStyle>
          <a:p>
            <a:r>
              <a:rPr lang="en-GB"/>
              <a:t>Title paragraph 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629841" y="1491853"/>
            <a:ext cx="7884319" cy="2876747"/>
          </a:xfrm>
        </p:spPr>
        <p:txBody>
          <a:bodyPr lIns="36000" tIns="36000" rIns="36000" bIns="36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Clr>
                <a:schemeClr val="tx1"/>
              </a:buClr>
              <a:buNone/>
              <a:defRPr sz="1350"/>
            </a:lvl1pPr>
            <a:lvl2pPr marL="286200" indent="-286200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Clr>
                <a:schemeClr val="tx1"/>
              </a:buClr>
              <a:buFont typeface="Calibri" panose="020F0502020204030204" pitchFamily="34" charset="0"/>
              <a:buChar char="●"/>
              <a:defRPr lang="en-GB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2400" indent="-286200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Clr>
                <a:schemeClr val="tx1"/>
              </a:buClr>
              <a:buFont typeface="Calibri" panose="020F0502020204030204" pitchFamily="34" charset="0"/>
              <a:buChar char="−"/>
              <a:defRPr lang="en-GB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28900" indent="-257175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Clr>
                <a:schemeClr val="tx1"/>
              </a:buClr>
              <a:buFont typeface="Calibri" panose="020F0502020204030204" pitchFamily="34" charset="0"/>
              <a:buChar char="−"/>
              <a:defRPr lang="en-GB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85400" indent="-257175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Clr>
                <a:schemeClr val="tx1"/>
              </a:buClr>
              <a:buFont typeface="Calibri" panose="020F0502020204030204" pitchFamily="34" charset="0"/>
              <a:buChar char="−"/>
              <a:defRPr lang="en-GB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buClr>
                <a:schemeClr val="tx1"/>
              </a:buClr>
              <a:defRPr/>
            </a:lvl6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97147C5-1F2E-AA4F-935F-91B1D284EFA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598116" y="4628529"/>
            <a:ext cx="3545883" cy="524495"/>
          </a:xfrm>
          <a:prstGeom prst="rect">
            <a:avLst/>
          </a:prstGeom>
        </p:spPr>
      </p:pic>
      <p:sp>
        <p:nvSpPr>
          <p:cNvPr id="11" name="Slide Number Placeholder 7">
            <a:extLst>
              <a:ext uri="{FF2B5EF4-FFF2-40B4-BE49-F238E27FC236}">
                <a16:creationId xmlns:a16="http://schemas.microsoft.com/office/drawing/2014/main" id="{84898B21-2385-7249-AE1D-5F0164D1508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8514160" y="4677984"/>
            <a:ext cx="629840" cy="465516"/>
          </a:xfrm>
        </p:spPr>
        <p:txBody>
          <a:bodyPr/>
          <a:lstStyle/>
          <a:p>
            <a:fld id="{82366C92-DFCE-40A6-8CC1-5A4741E3726D}" type="slidenum">
              <a:rPr lang="en-GB" smtClean="0"/>
              <a:pPr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60262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ixed heading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025EED34-690F-CB41-8188-BB2E7E64F79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598116" y="4628529"/>
            <a:ext cx="3545883" cy="524495"/>
          </a:xfrm>
          <a:prstGeom prst="rect">
            <a:avLst/>
          </a:prstGeom>
        </p:spPr>
      </p:pic>
      <p:sp>
        <p:nvSpPr>
          <p:cNvPr id="7" name="Footer Placeholder 6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2366C92-DFCE-40A6-8CC1-5A4741E3726D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6" name="Tijdelijke aanduiding voor titel 1">
            <a:extLst>
              <a:ext uri="{FF2B5EF4-FFF2-40B4-BE49-F238E27FC236}">
                <a16:creationId xmlns:a16="http://schemas.microsoft.com/office/drawing/2014/main" id="{9FD576D2-650F-5142-A42C-138C7D767D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9841" y="1491853"/>
            <a:ext cx="7884319" cy="280808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>
              <a:lnSpc>
                <a:spcPct val="100000"/>
              </a:lnSpc>
              <a:defRPr sz="4950"/>
            </a:lvl1pPr>
          </a:lstStyle>
          <a:p>
            <a:r>
              <a:rPr lang="en-GB"/>
              <a:t>Fixed heading</a:t>
            </a:r>
            <a:br>
              <a:rPr lang="en-GB"/>
            </a:br>
            <a:r>
              <a:rPr lang="en-GB"/>
              <a:t>(statement)</a:t>
            </a:r>
          </a:p>
        </p:txBody>
      </p:sp>
    </p:spTree>
    <p:extLst>
      <p:ext uri="{BB962C8B-B14F-4D97-AF65-F5344CB8AC3E}">
        <p14:creationId xmlns:p14="http://schemas.microsoft.com/office/powerpoint/2010/main" val="263803023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7.png"/><Relationship Id="rId4" Type="http://schemas.openxmlformats.org/officeDocument/2006/relationships/image" Target="../media/image28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.jpe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.png"/><Relationship Id="rId4" Type="http://schemas.openxmlformats.org/officeDocument/2006/relationships/chart" Target="../charts/char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7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7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7.png"/><Relationship Id="rId4" Type="http://schemas.openxmlformats.org/officeDocument/2006/relationships/chart" Target="../charts/char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7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7.png"/><Relationship Id="rId4" Type="http://schemas.openxmlformats.org/officeDocument/2006/relationships/image" Target="../media/image27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7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7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7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9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0.emf"/><Relationship Id="rId3" Type="http://schemas.openxmlformats.org/officeDocument/2006/relationships/image" Target="../media/image3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6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1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43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44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9.png"/><Relationship Id="rId4" Type="http://schemas.openxmlformats.org/officeDocument/2006/relationships/image" Target="../media/image11.png"/><Relationship Id="rId5" Type="http://schemas.openxmlformats.org/officeDocument/2006/relationships/image" Target="../media/image10.png"/><Relationship Id="rId6" Type="http://schemas.openxmlformats.org/officeDocument/2006/relationships/image" Target="../media/image12.png"/><Relationship Id="rId7" Type="http://schemas.openxmlformats.org/officeDocument/2006/relationships/notesSlide" Target="../notesSlides/notesSlide45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13.png"/><Relationship Id="rId4" Type="http://schemas.openxmlformats.org/officeDocument/2006/relationships/notesSlide" Target="../notesSlides/notesSlide46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13.png"/><Relationship Id="rId4" Type="http://schemas.openxmlformats.org/officeDocument/2006/relationships/notesSlide" Target="../notesSlides/notesSlide4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9.png"/><Relationship Id="rId8" Type="http://schemas.openxmlformats.org/officeDocument/2006/relationships/image" Target="../media/image13.png"/><Relationship Id="rId9" Type="http://schemas.openxmlformats.org/officeDocument/2006/relationships/image" Target="../media/image18.png"/><Relationship Id="rId10" Type="http://schemas.openxmlformats.org/officeDocument/2006/relationships/notesSlide" Target="../notesSlides/notesSlide48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49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13.png"/><Relationship Id="rId4" Type="http://schemas.openxmlformats.org/officeDocument/2006/relationships/notesSlide" Target="../notesSlides/notesSlide50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5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5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53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13.png"/><Relationship Id="rId4" Type="http://schemas.openxmlformats.org/officeDocument/2006/relationships/notesSlide" Target="../notesSlides/notesSlide54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13.png"/><Relationship Id="rId4" Type="http://schemas.openxmlformats.org/officeDocument/2006/relationships/notesSlide" Target="../notesSlides/notesSlide55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56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5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5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8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5D3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C5D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CASE v2.0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 Manager e TN Manager Web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rgbClr val="D6D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o produto gera valor e para quem: revisão do cliente-alvo, proposta de valor, produto mínimo e roadmap macro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6125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Nutreco – </a:t>
            </a: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Trouw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Nutrition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do projeto TN Manager: Base Estratégica  |  Outubro de 2026</a:t>
            </a:r>
            <a:endParaRPr lang="en-US" sz="13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4121331"/>
            <a:ext cx="5943600" cy="1028700"/>
          </a:xfrm>
          <a:prstGeom prst="rect">
            <a:avLst/>
          </a:prstGeom>
        </p:spPr>
      </p:pic>
      <p:pic>
        <p:nvPicPr>
          <p:cNvPr id="8" name="Imagem 7" descr="Confinamento de gado: veja como fazer de maneira eficaz — CompreRural">
            <a:extLst>
              <a:ext uri="{FF2B5EF4-FFF2-40B4-BE49-F238E27FC236}">
                <a16:creationId xmlns:a16="http://schemas.microsoft.com/office/drawing/2014/main" id="{C6E60F84-3DD4-EA92-19AE-D3EA16319D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0783" y="3058900"/>
            <a:ext cx="4441371" cy="197356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onfinamento de gado: veja como fazer de maneira eficaz — CompreRural">
            <a:extLst>
              <a:ext uri="{FF2B5EF4-FFF2-40B4-BE49-F238E27FC236}">
                <a16:creationId xmlns:a16="http://schemas.microsoft.com/office/drawing/2014/main" id="{948B6E11-E154-9C44-5943-13AA2675520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392" b="4112"/>
          <a:stretch/>
        </p:blipFill>
        <p:spPr bwMode="auto">
          <a:xfrm flipH="1">
            <a:off x="14" y="1581845"/>
            <a:ext cx="9143985" cy="3560226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3079" name="Slide Number Placeholder 2">
            <a:extLst>
              <a:ext uri="{FF2B5EF4-FFF2-40B4-BE49-F238E27FC236}">
                <a16:creationId xmlns:a16="http://schemas.microsoft.com/office/drawing/2014/main" id="{EB397809-47F3-012B-A513-6B52402C30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9106" y="4484368"/>
            <a:ext cx="4572000" cy="659132"/>
          </a:xfrm>
        </p:spPr>
        <p:txBody>
          <a:bodyPr/>
          <a:lstStyle/>
          <a:p>
            <a:endParaRPr lang="en-GB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49EA813-F4B8-2D42-B9BF-DD66E13A9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900" cy="2343600"/>
          </a:xfrm>
        </p:spPr>
        <p:txBody>
          <a:bodyPr anchor="ctr">
            <a:normAutofit/>
          </a:bodyPr>
          <a:lstStyle/>
          <a:p>
            <a:r>
              <a:rPr lang="pt-BR" sz="825"/>
              <a:t> </a:t>
            </a:r>
            <a:endParaRPr lang="en-NL" sz="825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A0D481DD-CA22-7E8E-A0F2-65705D288393}"/>
              </a:ext>
            </a:extLst>
          </p:cNvPr>
          <p:cNvSpPr txBox="1"/>
          <p:nvPr/>
        </p:nvSpPr>
        <p:spPr>
          <a:xfrm>
            <a:off x="521550" y="290764"/>
            <a:ext cx="3770480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 dirty="0"/>
              <a:t>TN Manager Web</a:t>
            </a:r>
          </a:p>
          <a:p>
            <a:r>
              <a:rPr lang="en-CA" sz="1350" i="1" dirty="0"/>
              <a:t>Desenvolvimento Interno Personalizado</a:t>
            </a:r>
          </a:p>
          <a:p>
            <a:endParaRPr lang="en-CA" sz="1350" dirty="0"/>
          </a:p>
          <a:p>
            <a:r>
              <a:rPr lang="en-CA" sz="1350" b="1" dirty="0"/>
              <a:t>Trouw Nutrition Brasil</a:t>
            </a:r>
          </a:p>
          <a:p>
            <a:r>
              <a:rPr lang="en-CA" sz="1350" dirty="0"/>
              <a:t>Outubro de 2026</a:t>
            </a:r>
          </a:p>
        </p:txBody>
      </p:sp>
    </p:spTree>
    <p:extLst>
      <p:ext uri="{BB962C8B-B14F-4D97-AF65-F5344CB8AC3E}">
        <p14:creationId xmlns:p14="http://schemas.microsoft.com/office/powerpoint/2010/main" val="1683093558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atende quem: três frentes, sem conflito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para novos clientes pequenos e médios. Quem precisa de automação segue com a PecCode.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4398264"/>
            <a:ext cx="4572000" cy="7429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1143000"/>
            <a:ext cx="2633472" cy="246888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457200" y="1143000"/>
            <a:ext cx="2633472" cy="566928"/>
          </a:xfrm>
          <a:prstGeom prst="rect">
            <a:avLst/>
          </a:prstGeom>
          <a:solidFill>
            <a:srgbClr val="1B3A8C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585216" y="1197864"/>
            <a:ext cx="2450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C5D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AGORA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85216" y="1389888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 Manager Web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85216" y="1819656"/>
            <a:ext cx="239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quem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585216" y="2002536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Novos clientes: confinamentos pequenos e médios, de 200 a 2.000 cabeças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585216" y="2404872"/>
            <a:ext cx="239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85216" y="2587752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Lançamento manual, sem automação no momento, com analista TN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85216" y="2990088"/>
            <a:ext cx="239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Papel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585216" y="3172968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mercado e fidelizar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3246120" y="1143000"/>
            <a:ext cx="2633472" cy="246888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3246120" y="1143000"/>
            <a:ext cx="2633472" cy="566928"/>
          </a:xfrm>
          <a:prstGeom prst="rect">
            <a:avLst/>
          </a:prstGeom>
          <a:solidFill>
            <a:srgbClr val="26668F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3374136" y="1197864"/>
            <a:ext cx="2450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CONTINUA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3374136" y="1389888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PecCode (parceria)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3374136" y="1819656"/>
            <a:ext cx="239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266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quem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3374136" y="2002536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maiores que querem automação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3374136" y="2404872"/>
            <a:ext cx="239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266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3374136" y="2587752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Balança, vagão e integrações. Parceria consolidada e rodando bem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3374136" y="2990088"/>
            <a:ext cx="239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266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Papel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3374136" y="3172968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Atender hoje quem precisa de automação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6035040" y="1143000"/>
            <a:ext cx="2633472" cy="246888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27" name="Shape 24"/>
          <p:cNvSpPr/>
          <p:nvPr/>
        </p:nvSpPr>
        <p:spPr>
          <a:xfrm>
            <a:off x="6035040" y="1143000"/>
            <a:ext cx="2633472" cy="566928"/>
          </a:xfrm>
          <a:prstGeom prst="rect">
            <a:avLst/>
          </a:prstGeom>
          <a:solidFill>
            <a:srgbClr val="C8106E"/>
          </a:solidFill>
          <a:ln/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6163056" y="1197864"/>
            <a:ext cx="2450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FUTURO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6163056" y="1389888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 Manager Automação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6163056" y="1819656"/>
            <a:ext cx="239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quem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6163056" y="2002536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maiores e fazendas Web que crescerem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6163056" y="2404872"/>
            <a:ext cx="239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6163056" y="2587752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Retomado no futuro, trabalhando em paralelo com a versão Web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6163056" y="2990088"/>
            <a:ext cx="239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Papel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6163056" y="3172968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Completar a oferta digital da TN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457200" y="3749040"/>
            <a:ext cx="8229600" cy="566928"/>
          </a:xfrm>
          <a:prstGeom prst="rect">
            <a:avLst/>
          </a:prstGeom>
          <a:solidFill>
            <a:srgbClr val="1B3A8C"/>
          </a:solidFill>
          <a:ln/>
        </p:spPr>
        <p:txBody>
          <a:bodyPr/>
          <a:p/>
        </p:txBody>
      </p:sp>
      <p:sp>
        <p:nvSpPr>
          <p:cNvPr id="37" name="Text 34"/>
          <p:cNvSpPr/>
          <p:nvPr/>
        </p:nvSpPr>
        <p:spPr>
          <a:xfrm>
            <a:off x="621792" y="3749040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5D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simples: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automação, TN Manager Web. Com automação, PecCode hoje e TN Manager Automação no futuro, lado a lado com a versão Web.</a:t>
            </a:r>
            <a:endParaRPr lang="en-US" sz="1150" dirty="0"/>
          </a:p>
        </p:txBody>
      </p:sp>
      <p:sp>
        <p:nvSpPr>
          <p:cNvPr id="38" name="TextBox 37"/>
          <p:cNvSpPr txBox="1"/>
          <p:nvPr/>
        </p:nvSpPr>
        <p:spPr>
          <a:xfrm>
            <a:off x="4846320" y="64008"/>
            <a:ext cx="41148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 b="1" spc="150">
                <a:solidFill>
                  <a:srgbClr val="C8106E"/>
                </a:solidFill>
                <a:latin typeface="Calibri"/>
              </a:rPr>
              <a:t>CAPÍTULO 1  ·  CONTEXTO E PROPOSTA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4">
            <a:extLst>
              <a:ext uri="{FF2B5EF4-FFF2-40B4-BE49-F238E27FC236}">
                <a16:creationId xmlns:a16="http://schemas.microsoft.com/office/drawing/2014/main" id="{B2DA0B8F-6275-5FF9-F0FA-D4F4A45023B6}"/>
              </a:ext>
            </a:extLst>
          </p:cNvPr>
          <p:cNvSpPr txBox="1">
            <a:spLocks/>
          </p:cNvSpPr>
          <p:nvPr/>
        </p:nvSpPr>
        <p:spPr>
          <a:xfrm>
            <a:off x="521550" y="143730"/>
            <a:ext cx="7074785" cy="837590"/>
          </a:xfrm>
          <a:prstGeom prst="rect">
            <a:avLst/>
          </a:prstGeom>
        </p:spPr>
        <p:txBody>
          <a:bodyPr vert="horz" wrap="square" lIns="27000" tIns="27000" rIns="27000" bIns="27000" rtlCol="0" anchor="t" anchorCtr="0">
            <a:no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4400" b="1" kern="1200" baseline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CA" sz="2400" dirty="0"/>
              <a:t>Resumo Executivo</a:t>
            </a:r>
            <a:br>
              <a:rPr lang="en-CA" sz="2400" dirty="0"/>
            </a:br>
            <a:r>
              <a:rPr lang="en-US" sz="1350" b="0" i="1" dirty="0"/>
              <a:t>Conheça o TN Manager Web, </a:t>
            </a:r>
            <a:r>
              <a:rPr lang="en-US" sz="1350" b="0" i="1" dirty="0" err="1"/>
              <a:t>uma</a:t>
            </a:r>
            <a:r>
              <a:rPr lang="en-US" sz="1350" b="0" i="1" dirty="0"/>
              <a:t> nova </a:t>
            </a:r>
            <a:r>
              <a:rPr lang="en-US" sz="1350" b="0" i="1" dirty="0" err="1"/>
              <a:t>versão</a:t>
            </a:r>
            <a:r>
              <a:rPr lang="en-US" sz="1350" b="0" i="1" dirty="0"/>
              <a:t> do TN Manager que </a:t>
            </a:r>
            <a:r>
              <a:rPr lang="en-US" sz="1350" b="0" i="1" dirty="0" err="1"/>
              <a:t>tem</a:t>
            </a:r>
            <a:r>
              <a:rPr lang="en-US" sz="1350" b="0" i="1" dirty="0"/>
              <a:t> iniciativa estratégica totalmente alinhada à nossa visão de longo prazo de crescimento orgânico e transformação digital.</a:t>
            </a:r>
          </a:p>
          <a:p>
            <a:pPr>
              <a:lnSpc>
                <a:spcPct val="100000"/>
              </a:lnSpc>
            </a:pPr>
            <a:endParaRPr lang="en-CA" sz="2400" b="0" i="1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8FEE3EA-3D4A-DD54-6A99-1DD5E326C43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1550" y="2654710"/>
            <a:ext cx="7884319" cy="1821679"/>
          </a:xfrm>
        </p:spPr>
        <p:txBody>
          <a:bodyPr/>
          <a:lstStyle/>
          <a:p>
            <a:r>
              <a:rPr lang="en-US" dirty="0"/>
              <a:t>O mercado e a concorrência estão acelerando no digital. O confinamento representa 19% da nossa Unidade de Negócios Beef.</a:t>
            </a:r>
          </a:p>
          <a:p>
            <a:r>
              <a:rPr lang="en-US" dirty="0"/>
              <a:t>Proposta: um TN Manager Web simples para novos clientes pequenos e médios, com suporte, dashboards e equipe técnica como diferencial, para fidelizar e abrir novos clientes.</a:t>
            </a:r>
          </a:p>
        </p:txBody>
      </p:sp>
      <p:sp>
        <p:nvSpPr>
          <p:cNvPr id="2" name="Rectangle 9">
            <a:extLst>
              <a:ext uri="{FF2B5EF4-FFF2-40B4-BE49-F238E27FC236}">
                <a16:creationId xmlns:a16="http://schemas.microsoft.com/office/drawing/2014/main" id="{A9C8DE9B-0182-9F12-A971-BD522072C4A3}"/>
              </a:ext>
            </a:extLst>
          </p:cNvPr>
          <p:cNvSpPr/>
          <p:nvPr/>
        </p:nvSpPr>
        <p:spPr>
          <a:xfrm>
            <a:off x="521550" y="1154220"/>
            <a:ext cx="7884319" cy="1125875"/>
          </a:xfrm>
          <a:prstGeom prst="rect">
            <a:avLst/>
          </a:prstGeom>
          <a:solidFill>
            <a:srgbClr val="0195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" name="TextBox 11">
            <a:extLst>
              <a:ext uri="{FF2B5EF4-FFF2-40B4-BE49-F238E27FC236}">
                <a16:creationId xmlns:a16="http://schemas.microsoft.com/office/drawing/2014/main" id="{AB97EAB9-B9D3-2C9B-E5C2-6D2E1CAC77D5}"/>
              </a:ext>
            </a:extLst>
          </p:cNvPr>
          <p:cNvSpPr txBox="1"/>
          <p:nvPr/>
        </p:nvSpPr>
        <p:spPr>
          <a:xfrm>
            <a:off x="1894825" y="1221600"/>
            <a:ext cx="6248567" cy="97210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chemeClr val="bg1"/>
                </a:solidFill>
              </a:rPr>
              <a:t>O TN Manager colocará a Trouw Nutrition Brasil na vanguarda da inovação no mercado de Corte, reforçando nossa tradição em oferecer produtos premium e serviços de excelência, ao mesmo tempo que impulsiona nossa agenda de </a:t>
            </a:r>
            <a:r>
              <a:rPr lang="en-US" sz="1200" dirty="0" err="1">
                <a:solidFill>
                  <a:schemeClr val="bg1"/>
                </a:solidFill>
              </a:rPr>
              <a:t>Transformação</a:t>
            </a:r>
            <a:r>
              <a:rPr lang="en-US" sz="1200" dirty="0">
                <a:solidFill>
                  <a:schemeClr val="bg1"/>
                </a:solidFill>
              </a:rPr>
              <a:t> Digital. </a:t>
            </a:r>
            <a:r>
              <a:rPr lang="en-US" sz="1200" dirty="0" err="1">
                <a:solidFill>
                  <a:schemeClr val="bg1"/>
                </a:solidFill>
              </a:rPr>
              <a:t>Além</a:t>
            </a:r>
            <a:r>
              <a:rPr lang="en-US" sz="1200" dirty="0">
                <a:solidFill>
                  <a:schemeClr val="bg1"/>
                </a:solidFill>
              </a:rPr>
              <a:t> de </a:t>
            </a:r>
            <a:r>
              <a:rPr lang="en-US" sz="1200" dirty="0" err="1">
                <a:solidFill>
                  <a:schemeClr val="bg1"/>
                </a:solidFill>
              </a:rPr>
              <a:t>fornecer</a:t>
            </a:r>
            <a:r>
              <a:rPr lang="en-US" sz="1200" dirty="0">
                <a:solidFill>
                  <a:schemeClr val="bg1"/>
                </a:solidFill>
              </a:rPr>
              <a:t> dados e </a:t>
            </a:r>
            <a:r>
              <a:rPr lang="en-US" sz="1200" dirty="0" err="1">
                <a:solidFill>
                  <a:schemeClr val="bg1"/>
                </a:solidFill>
              </a:rPr>
              <a:t>métricas</a:t>
            </a:r>
            <a:r>
              <a:rPr lang="en-US" sz="1200" dirty="0">
                <a:solidFill>
                  <a:schemeClr val="bg1"/>
                </a:solidFill>
              </a:rPr>
              <a:t> para </a:t>
            </a:r>
            <a:r>
              <a:rPr lang="en-US" sz="1200" dirty="0" err="1">
                <a:solidFill>
                  <a:schemeClr val="bg1"/>
                </a:solidFill>
              </a:rPr>
              <a:t>tomada</a:t>
            </a:r>
            <a:r>
              <a:rPr lang="en-US" sz="1200" dirty="0">
                <a:solidFill>
                  <a:schemeClr val="bg1"/>
                </a:solidFill>
              </a:rPr>
              <a:t> de </a:t>
            </a:r>
            <a:r>
              <a:rPr lang="en-US" sz="1200" dirty="0" err="1">
                <a:solidFill>
                  <a:schemeClr val="bg1"/>
                </a:solidFill>
              </a:rPr>
              <a:t>decisões</a:t>
            </a:r>
            <a:r>
              <a:rPr lang="en-US" sz="1200" dirty="0">
                <a:solidFill>
                  <a:schemeClr val="bg1"/>
                </a:solidFill>
              </a:rPr>
              <a:t> e </a:t>
            </a:r>
            <a:r>
              <a:rPr lang="en-US" sz="1200" dirty="0" err="1">
                <a:solidFill>
                  <a:schemeClr val="bg1"/>
                </a:solidFill>
              </a:rPr>
              <a:t>suporte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técnico</a:t>
            </a:r>
            <a:r>
              <a:rPr lang="en-US" sz="1200" dirty="0">
                <a:solidFill>
                  <a:schemeClr val="bg1"/>
                </a:solidFill>
              </a:rPr>
              <a:t> de </a:t>
            </a:r>
            <a:r>
              <a:rPr lang="en-US" sz="1200" dirty="0" err="1">
                <a:solidFill>
                  <a:schemeClr val="bg1"/>
                </a:solidFill>
              </a:rPr>
              <a:t>qualidade</a:t>
            </a:r>
            <a:r>
              <a:rPr lang="en-US" sz="12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5" name="Rectangle 22">
            <a:extLst>
              <a:ext uri="{FF2B5EF4-FFF2-40B4-BE49-F238E27FC236}">
                <a16:creationId xmlns:a16="http://schemas.microsoft.com/office/drawing/2014/main" id="{4BD2E2A4-A5A8-FB8A-00E5-7DB8A880E464}"/>
              </a:ext>
            </a:extLst>
          </p:cNvPr>
          <p:cNvSpPr/>
          <p:nvPr/>
        </p:nvSpPr>
        <p:spPr>
          <a:xfrm>
            <a:off x="521550" y="1154220"/>
            <a:ext cx="1103282" cy="1125875"/>
          </a:xfrm>
          <a:prstGeom prst="rect">
            <a:avLst/>
          </a:prstGeom>
          <a:solidFill>
            <a:srgbClr val="246C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grpSp>
        <p:nvGrpSpPr>
          <p:cNvPr id="6" name="Group 12">
            <a:extLst>
              <a:ext uri="{FF2B5EF4-FFF2-40B4-BE49-F238E27FC236}">
                <a16:creationId xmlns:a16="http://schemas.microsoft.com/office/drawing/2014/main" id="{9FEEAC2A-8F6F-33F1-31DC-45CF7E394C48}"/>
              </a:ext>
            </a:extLst>
          </p:cNvPr>
          <p:cNvGrpSpPr/>
          <p:nvPr/>
        </p:nvGrpSpPr>
        <p:grpSpPr>
          <a:xfrm>
            <a:off x="791580" y="1435871"/>
            <a:ext cx="562571" cy="562571"/>
            <a:chOff x="4119563" y="2171701"/>
            <a:chExt cx="346075" cy="346075"/>
          </a:xfrm>
        </p:grpSpPr>
        <p:sp>
          <p:nvSpPr>
            <p:cNvPr id="7" name="Freeform 307">
              <a:extLst>
                <a:ext uri="{FF2B5EF4-FFF2-40B4-BE49-F238E27FC236}">
                  <a16:creationId xmlns:a16="http://schemas.microsoft.com/office/drawing/2014/main" id="{522FD061-F040-8E76-4307-F7CF91D9DAD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0538" y="2352676"/>
              <a:ext cx="165100" cy="165100"/>
            </a:xfrm>
            <a:custGeom>
              <a:avLst/>
              <a:gdLst>
                <a:gd name="T0" fmla="*/ 33 w 104"/>
                <a:gd name="T1" fmla="*/ 95 h 104"/>
                <a:gd name="T2" fmla="*/ 0 w 104"/>
                <a:gd name="T3" fmla="*/ 104 h 104"/>
                <a:gd name="T4" fmla="*/ 9 w 104"/>
                <a:gd name="T5" fmla="*/ 71 h 104"/>
                <a:gd name="T6" fmla="*/ 80 w 104"/>
                <a:gd name="T7" fmla="*/ 0 h 104"/>
                <a:gd name="T8" fmla="*/ 104 w 104"/>
                <a:gd name="T9" fmla="*/ 23 h 104"/>
                <a:gd name="T10" fmla="*/ 33 w 104"/>
                <a:gd name="T11" fmla="*/ 95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4" h="104">
                  <a:moveTo>
                    <a:pt x="33" y="95"/>
                  </a:moveTo>
                  <a:lnTo>
                    <a:pt x="0" y="104"/>
                  </a:lnTo>
                  <a:lnTo>
                    <a:pt x="9" y="71"/>
                  </a:lnTo>
                  <a:lnTo>
                    <a:pt x="80" y="0"/>
                  </a:lnTo>
                  <a:lnTo>
                    <a:pt x="104" y="23"/>
                  </a:lnTo>
                  <a:lnTo>
                    <a:pt x="33" y="95"/>
                  </a:lnTo>
                  <a:close/>
                </a:path>
              </a:pathLst>
            </a:custGeom>
            <a:noFill/>
            <a:ln w="15875" cap="rnd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350"/>
            </a:p>
          </p:txBody>
        </p:sp>
        <p:sp>
          <p:nvSpPr>
            <p:cNvPr id="9" name="Line 308">
              <a:extLst>
                <a:ext uri="{FF2B5EF4-FFF2-40B4-BE49-F238E27FC236}">
                  <a16:creationId xmlns:a16="http://schemas.microsoft.com/office/drawing/2014/main" id="{069A3C55-6DD6-04FF-ECB3-363712CEDE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98963" y="2382838"/>
              <a:ext cx="36513" cy="36513"/>
            </a:xfrm>
            <a:prstGeom prst="line">
              <a:avLst/>
            </a:prstGeom>
            <a:noFill/>
            <a:ln w="15875" cap="flat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350"/>
            </a:p>
          </p:txBody>
        </p:sp>
        <p:sp>
          <p:nvSpPr>
            <p:cNvPr id="10" name="Line 309">
              <a:extLst>
                <a:ext uri="{FF2B5EF4-FFF2-40B4-BE49-F238E27FC236}">
                  <a16:creationId xmlns:a16="http://schemas.microsoft.com/office/drawing/2014/main" id="{ACEFF4E0-BE2A-72D5-3F62-2367F0A886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14825" y="2465388"/>
              <a:ext cx="38100" cy="38100"/>
            </a:xfrm>
            <a:prstGeom prst="line">
              <a:avLst/>
            </a:prstGeom>
            <a:noFill/>
            <a:ln w="15875" cap="rnd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350"/>
            </a:p>
          </p:txBody>
        </p:sp>
        <p:sp>
          <p:nvSpPr>
            <p:cNvPr id="11" name="Line 310">
              <a:extLst>
                <a:ext uri="{FF2B5EF4-FFF2-40B4-BE49-F238E27FC236}">
                  <a16:creationId xmlns:a16="http://schemas.microsoft.com/office/drawing/2014/main" id="{67C6C67A-3B0A-ED2C-C25D-F507AA69C2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48150" y="2322513"/>
              <a:ext cx="60325" cy="0"/>
            </a:xfrm>
            <a:prstGeom prst="line">
              <a:avLst/>
            </a:prstGeom>
            <a:noFill/>
            <a:ln w="15875" cap="rnd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350"/>
            </a:p>
          </p:txBody>
        </p:sp>
        <p:sp>
          <p:nvSpPr>
            <p:cNvPr id="12" name="Line 311">
              <a:extLst>
                <a:ext uri="{FF2B5EF4-FFF2-40B4-BE49-F238E27FC236}">
                  <a16:creationId xmlns:a16="http://schemas.microsoft.com/office/drawing/2014/main" id="{EC9255DD-75C5-87A2-45B4-8219D21A44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48150" y="2382838"/>
              <a:ext cx="60325" cy="0"/>
            </a:xfrm>
            <a:prstGeom prst="line">
              <a:avLst/>
            </a:prstGeom>
            <a:noFill/>
            <a:ln w="15875" cap="rnd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350"/>
            </a:p>
          </p:txBody>
        </p:sp>
        <p:sp>
          <p:nvSpPr>
            <p:cNvPr id="13" name="Freeform 312">
              <a:extLst>
                <a:ext uri="{FF2B5EF4-FFF2-40B4-BE49-F238E27FC236}">
                  <a16:creationId xmlns:a16="http://schemas.microsoft.com/office/drawing/2014/main" id="{438BC57C-66BF-790A-EBC2-A11496D2E24F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5600" y="2292351"/>
              <a:ext cx="60325" cy="36513"/>
            </a:xfrm>
            <a:custGeom>
              <a:avLst/>
              <a:gdLst>
                <a:gd name="T0" fmla="*/ 38 w 38"/>
                <a:gd name="T1" fmla="*/ 0 h 23"/>
                <a:gd name="T2" fmla="*/ 14 w 38"/>
                <a:gd name="T3" fmla="*/ 23 h 23"/>
                <a:gd name="T4" fmla="*/ 0 w 38"/>
                <a:gd name="T5" fmla="*/ 9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3">
                  <a:moveTo>
                    <a:pt x="38" y="0"/>
                  </a:moveTo>
                  <a:lnTo>
                    <a:pt x="14" y="23"/>
                  </a:lnTo>
                  <a:lnTo>
                    <a:pt x="0" y="9"/>
                  </a:lnTo>
                </a:path>
              </a:pathLst>
            </a:custGeom>
            <a:noFill/>
            <a:ln w="15875" cap="rnd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350"/>
            </a:p>
          </p:txBody>
        </p:sp>
        <p:sp>
          <p:nvSpPr>
            <p:cNvPr id="14" name="Freeform 313">
              <a:extLst>
                <a:ext uri="{FF2B5EF4-FFF2-40B4-BE49-F238E27FC236}">
                  <a16:creationId xmlns:a16="http://schemas.microsoft.com/office/drawing/2014/main" id="{40071169-1B90-2E5C-B3F8-9C673684073E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5600" y="2352676"/>
              <a:ext cx="60325" cy="36513"/>
            </a:xfrm>
            <a:custGeom>
              <a:avLst/>
              <a:gdLst>
                <a:gd name="T0" fmla="*/ 38 w 38"/>
                <a:gd name="T1" fmla="*/ 0 h 23"/>
                <a:gd name="T2" fmla="*/ 14 w 38"/>
                <a:gd name="T3" fmla="*/ 23 h 23"/>
                <a:gd name="T4" fmla="*/ 0 w 38"/>
                <a:gd name="T5" fmla="*/ 9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3">
                  <a:moveTo>
                    <a:pt x="38" y="0"/>
                  </a:moveTo>
                  <a:lnTo>
                    <a:pt x="14" y="23"/>
                  </a:lnTo>
                  <a:lnTo>
                    <a:pt x="0" y="9"/>
                  </a:lnTo>
                </a:path>
              </a:pathLst>
            </a:custGeom>
            <a:noFill/>
            <a:ln w="15875" cap="rnd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350"/>
            </a:p>
          </p:txBody>
        </p:sp>
        <p:sp>
          <p:nvSpPr>
            <p:cNvPr id="15" name="Freeform 314">
              <a:extLst>
                <a:ext uri="{FF2B5EF4-FFF2-40B4-BE49-F238E27FC236}">
                  <a16:creationId xmlns:a16="http://schemas.microsoft.com/office/drawing/2014/main" id="{7445F3E2-D41E-B5AF-99DD-1A524DF8293D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9563" y="2171701"/>
              <a:ext cx="241300" cy="315913"/>
            </a:xfrm>
            <a:custGeom>
              <a:avLst/>
              <a:gdLst>
                <a:gd name="T0" fmla="*/ 81 w 152"/>
                <a:gd name="T1" fmla="*/ 199 h 199"/>
                <a:gd name="T2" fmla="*/ 0 w 152"/>
                <a:gd name="T3" fmla="*/ 199 h 199"/>
                <a:gd name="T4" fmla="*/ 0 w 152"/>
                <a:gd name="T5" fmla="*/ 0 h 199"/>
                <a:gd name="T6" fmla="*/ 105 w 152"/>
                <a:gd name="T7" fmla="*/ 0 h 199"/>
                <a:gd name="T8" fmla="*/ 152 w 152"/>
                <a:gd name="T9" fmla="*/ 47 h 199"/>
                <a:gd name="T10" fmla="*/ 152 w 152"/>
                <a:gd name="T11" fmla="*/ 118 h 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2" h="199">
                  <a:moveTo>
                    <a:pt x="81" y="199"/>
                  </a:moveTo>
                  <a:lnTo>
                    <a:pt x="0" y="199"/>
                  </a:lnTo>
                  <a:lnTo>
                    <a:pt x="0" y="0"/>
                  </a:lnTo>
                  <a:lnTo>
                    <a:pt x="105" y="0"/>
                  </a:lnTo>
                  <a:lnTo>
                    <a:pt x="152" y="47"/>
                  </a:lnTo>
                  <a:lnTo>
                    <a:pt x="152" y="118"/>
                  </a:lnTo>
                </a:path>
              </a:pathLst>
            </a:custGeom>
            <a:noFill/>
            <a:ln w="15875" cap="flat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350"/>
            </a:p>
          </p:txBody>
        </p:sp>
        <p:sp>
          <p:nvSpPr>
            <p:cNvPr id="16" name="Freeform 315">
              <a:extLst>
                <a:ext uri="{FF2B5EF4-FFF2-40B4-BE49-F238E27FC236}">
                  <a16:creationId xmlns:a16="http://schemas.microsoft.com/office/drawing/2014/main" id="{3B6C4BF5-8B76-8B82-C592-0D03E6B71C36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6250" y="2171701"/>
              <a:ext cx="74613" cy="74613"/>
            </a:xfrm>
            <a:custGeom>
              <a:avLst/>
              <a:gdLst>
                <a:gd name="T0" fmla="*/ 0 w 47"/>
                <a:gd name="T1" fmla="*/ 0 h 47"/>
                <a:gd name="T2" fmla="*/ 0 w 47"/>
                <a:gd name="T3" fmla="*/ 47 h 47"/>
                <a:gd name="T4" fmla="*/ 47 w 47"/>
                <a:gd name="T5" fmla="*/ 47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7" h="47">
                  <a:moveTo>
                    <a:pt x="0" y="0"/>
                  </a:moveTo>
                  <a:lnTo>
                    <a:pt x="0" y="47"/>
                  </a:lnTo>
                  <a:lnTo>
                    <a:pt x="47" y="47"/>
                  </a:lnTo>
                </a:path>
              </a:pathLst>
            </a:custGeom>
            <a:noFill/>
            <a:ln w="15875" cap="rnd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350"/>
            </a:p>
          </p:txBody>
        </p:sp>
      </p:grpSp>
      <p:sp>
        <p:nvSpPr>
          <p:cNvPr id="17" name="TextBox 16"/>
          <p:cNvSpPr txBox="1"/>
          <p:nvPr/>
        </p:nvSpPr>
        <p:spPr>
          <a:xfrm>
            <a:off x="4846320" y="64008"/>
            <a:ext cx="41148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 b="1" spc="150">
                <a:solidFill>
                  <a:srgbClr val="C8106E"/>
                </a:solidFill>
                <a:latin typeface="Calibri"/>
              </a:rPr>
              <a:t>CAPÍTULO 1  ·  CONTEXTO E PROPOSTA</a:t>
            </a:r>
          </a:p>
        </p:txBody>
      </p:sp>
    </p:spTree>
    <p:extLst>
      <p:ext uri="{BB962C8B-B14F-4D97-AF65-F5344CB8AC3E}">
        <p14:creationId xmlns:p14="http://schemas.microsoft.com/office/powerpoint/2010/main" val="27953696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muda da v1.0 para a v2.0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pergunta deixa de ser como defender a base e passa a ser onde o produto gera valor e para quem.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4398264"/>
            <a:ext cx="4572000" cy="7429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9232090"/>
              </p:ext>
            </p:extLst>
          </p:nvPr>
        </p:nvGraphicFramePr>
        <p:xfrm>
          <a:off x="457200" y="1188720"/>
          <a:ext cx="8229600" cy="2962656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7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37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v1.0 (outubro de 2023)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66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v2.0 (outubro de 2026)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B3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Cliente-alvo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Confinamentos </a:t>
                      </a:r>
                      <a:r>
                        <a:rPr lang="en-US" sz="1100" dirty="0" err="1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grandes</a:t>
                      </a: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a </a:t>
                      </a:r>
                      <a:r>
                        <a:rPr lang="en-US" sz="1100" dirty="0" err="1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partir</a:t>
                      </a: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de 2.000) </a:t>
                      </a:r>
                      <a:r>
                        <a:rPr lang="en-US" sz="1100" dirty="0" err="1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cabeças</a:t>
                      </a: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</a:t>
                      </a:r>
                      <a:r>
                        <a:rPr lang="en-US" sz="1100" dirty="0" err="1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capacidade</a:t>
                      </a: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100" dirty="0" err="1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estática</a:t>
                      </a: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), com </a:t>
                      </a:r>
                      <a:r>
                        <a:rPr lang="en-US" sz="1100" dirty="0" err="1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automação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 err="1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Novos clientes pequenos e médios (200 a 2.000 cabeças), sem automação no momento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B3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Sistema </a:t>
                      </a:r>
                      <a:r>
                        <a:rPr lang="en-US" sz="1100" dirty="0" err="1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integração</a:t>
                      </a: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com hardware, terminal offline e </a:t>
                      </a:r>
                      <a:r>
                        <a:rPr lang="en-US" sz="1100" dirty="0" err="1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automação</a:t>
                      </a: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TN Manager Web: lançamento manual, poucos indicadores, evolução por versões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B3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da decisão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Premissas internas e base de </a:t>
                      </a:r>
                      <a:r>
                        <a:rPr lang="en-US" sz="1100" dirty="0" err="1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grandes</a:t>
                      </a: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fazendas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Entrevistas internas, benchmark externo e discovery com 30 ou mais fazendas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B3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Implantação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clientes no ano 1 e 200 no ano 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a 5 fazendas piloto, com critério de </a:t>
                      </a:r>
                      <a:r>
                        <a:rPr lang="en-US" sz="1100" dirty="0" err="1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avanço</a:t>
                      </a: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(5, 20 e 50 fazendas)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B3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Métrica de sucesso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 Profit e participação de mercado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Primeiro: fazendas usando toda semana e satisfeitas. Depois: Sales Profit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846320" y="64008"/>
            <a:ext cx="41148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 b="1" spc="150">
                <a:solidFill>
                  <a:srgbClr val="C8106E"/>
                </a:solidFill>
                <a:latin typeface="Calibri"/>
              </a:rPr>
              <a:t>CAPÍTULO 1  ·  CONTEXTO E PROPOSTA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</a:t>
            </a:r>
            <a:r>
              <a:rPr lang="en-US" sz="2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é </a:t>
            </a:r>
            <a:r>
              <a:rPr lang="en-US" sz="2400" b="1" dirty="0" err="1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nosso</a:t>
            </a:r>
            <a:r>
              <a:rPr lang="en-US" sz="2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Target Customer?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 Manager </a:t>
            </a:r>
            <a:r>
              <a:rPr lang="en-US" sz="1300" i="1" dirty="0" err="1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versão</a:t>
            </a:r>
            <a:r>
              <a:rPr lang="en-US" sz="1300" i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Web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4398264"/>
            <a:ext cx="4572000" cy="7429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85800" y="1691640"/>
            <a:ext cx="2834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primeiro o TN Manager Web: uma versão simples, de lançamento manual, testada com 3 a 5 fazendas piloto. Cada nova versão só avança quando a anterior provar uso e valor.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92026" y="1342231"/>
            <a:ext cx="457200" cy="457200"/>
          </a:xfrm>
          <a:prstGeom prst="ellipse">
            <a:avLst/>
          </a:prstGeom>
          <a:solidFill>
            <a:srgbClr val="C8106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892026" y="1342231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532106" y="1323943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DO CLIENTE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532106" y="1616551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 err="1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Novos clientes: confinamentos pequenos e médios, com capacidade estática de 200 a 2.000 cabeças, sem automação no momento e com gestão moderada, que fazem anotações em papel, planilhas ou sistema simples.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92026" y="2393791"/>
            <a:ext cx="457200" cy="457200"/>
          </a:xfrm>
          <a:prstGeom prst="ellipse">
            <a:avLst/>
          </a:prstGeom>
          <a:solidFill>
            <a:srgbClr val="C8106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892026" y="2393791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532106" y="2375503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 FERRAMENTA ENTREGA?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532106" y="2668111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 err="1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</a:t>
            </a:r>
            <a:r>
              <a:rPr lang="en-US" sz="11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100" dirty="0" err="1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trato</a:t>
            </a:r>
            <a:r>
              <a:rPr lang="en-US" sz="11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1100" dirty="0" err="1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consumo</a:t>
            </a:r>
            <a:r>
              <a:rPr lang="en-US" sz="11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00" dirty="0" err="1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</a:t>
            </a:r>
            <a:r>
              <a:rPr lang="en-US" sz="11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entradas e </a:t>
            </a:r>
            <a:r>
              <a:rPr lang="en-US" sz="1100" dirty="0" err="1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saídas</a:t>
            </a:r>
            <a:r>
              <a:rPr lang="en-US" sz="11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00" dirty="0" err="1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</a:t>
            </a:r>
            <a:r>
              <a:rPr lang="en-US" sz="11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100" dirty="0" err="1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desempenho</a:t>
            </a:r>
            <a:r>
              <a:rPr lang="en-US" sz="11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(GMD, </a:t>
            </a:r>
            <a:r>
              <a:rPr lang="en-US" sz="1100" dirty="0" err="1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lotação</a:t>
            </a:r>
            <a:r>
              <a:rPr lang="en-US" sz="11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00" dirty="0" err="1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consumo</a:t>
            </a:r>
            <a:r>
              <a:rPr lang="en-US" sz="11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IMS, </a:t>
            </a:r>
            <a:r>
              <a:rPr lang="en-US" sz="1100" dirty="0" err="1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</a:t>
            </a:r>
            <a:r>
              <a:rPr lang="en-US" sz="11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em </a:t>
            </a:r>
            <a:r>
              <a:rPr lang="en-US" sz="1100" dirty="0" err="1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cocho</a:t>
            </a:r>
            <a:r>
              <a:rPr lang="en-US" sz="11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), </a:t>
            </a:r>
            <a:r>
              <a:rPr lang="en-US" sz="1100" dirty="0" err="1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além</a:t>
            </a:r>
            <a:r>
              <a:rPr lang="en-US" sz="11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100" dirty="0" err="1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relatórios</a:t>
            </a:r>
            <a:r>
              <a:rPr lang="en-US" sz="11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semanais</a:t>
            </a:r>
            <a:r>
              <a:rPr lang="en-US" sz="11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</a:t>
            </a:r>
            <a:r>
              <a:rPr lang="en-US" sz="1100" dirty="0" err="1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tomada</a:t>
            </a:r>
            <a:r>
              <a:rPr lang="en-US" sz="11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100" dirty="0" err="1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</a:t>
            </a:r>
            <a:r>
              <a:rPr lang="en-US" sz="11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892026" y="3445351"/>
            <a:ext cx="457200" cy="457200"/>
          </a:xfrm>
          <a:prstGeom prst="ellipse">
            <a:avLst/>
          </a:prstGeom>
          <a:solidFill>
            <a:srgbClr val="C8106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6"/>
          <p:cNvSpPr/>
          <p:nvPr/>
        </p:nvSpPr>
        <p:spPr>
          <a:xfrm>
            <a:off x="892026" y="3445351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1532106" y="3427063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NOS DIFERENCIA DA CONCORRÊNCIA?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532106" y="3712997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a ferramenta: software de gestão virou item de prateleira. O diferencial é a entrega técnica: a TN acompanha toda a engorda, analisa os números toda semana, compara com o benchmark e transforma dados em decisão para o confinador. Sem custo de licença.</a:t>
            </a:r>
            <a:endParaRPr lang="en-US" sz="1100" dirty="0"/>
          </a:p>
        </p:txBody>
      </p:sp>
      <p:sp>
        <p:nvSpPr>
          <p:cNvPr id="22" name="TextBox 21"/>
          <p:cNvSpPr txBox="1"/>
          <p:nvPr/>
        </p:nvSpPr>
        <p:spPr>
          <a:xfrm>
            <a:off x="4846320" y="64008"/>
            <a:ext cx="41148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 b="1" spc="150">
                <a:solidFill>
                  <a:srgbClr val="C8106E"/>
                </a:solidFill>
                <a:latin typeface="Calibri"/>
              </a:rPr>
              <a:t>CAPÍTULO 1  ·  CONTEXTO E PROPOSTA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Raio-X do confinamento no Brasil (2025)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mercado cresce rápido e se concentra nos grandes, mas a maioria das fazendas ainda é pequena.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4398264"/>
            <a:ext cx="4572000" cy="7429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4791456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Fontes: dsm-firmenich, Censo de Confinamento 2025 (fev/2026) e 2024; Embrapa Pecuária Sudeste (2023; 2024); Embrapa, Censos Agropecuários 2006 e 2017.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1188720"/>
            <a:ext cx="2011680" cy="91440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5"/>
          <p:cNvSpPr/>
          <p:nvPr/>
        </p:nvSpPr>
        <p:spPr>
          <a:xfrm>
            <a:off x="457200" y="1188720"/>
            <a:ext cx="54864" cy="914400"/>
          </a:xfrm>
          <a:prstGeom prst="rect">
            <a:avLst/>
          </a:prstGeom>
          <a:solidFill>
            <a:srgbClr val="1B3A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621792" y="126187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9,25 mi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21792" y="1645920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cabeças confinadas em 2025, alta de 16% sobre 2024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57200" y="2212848"/>
            <a:ext cx="2011680" cy="91440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Shape 9"/>
          <p:cNvSpPr/>
          <p:nvPr/>
        </p:nvSpPr>
        <p:spPr>
          <a:xfrm>
            <a:off x="457200" y="2212848"/>
            <a:ext cx="54864" cy="914400"/>
          </a:xfrm>
          <a:prstGeom prst="rect">
            <a:avLst/>
          </a:prstGeom>
          <a:solidFill>
            <a:srgbClr val="26668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621792" y="228600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266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2.445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621792" y="2670048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propriedades mapeadas em 1.095 municípios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57200" y="3236976"/>
            <a:ext cx="2011680" cy="91440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Shape 13"/>
          <p:cNvSpPr/>
          <p:nvPr/>
        </p:nvSpPr>
        <p:spPr>
          <a:xfrm>
            <a:off x="457200" y="3236976"/>
            <a:ext cx="54864" cy="914400"/>
          </a:xfrm>
          <a:prstGeom prst="rect">
            <a:avLst/>
          </a:prstGeom>
          <a:solidFill>
            <a:srgbClr val="C810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4"/>
          <p:cNvSpPr/>
          <p:nvPr/>
        </p:nvSpPr>
        <p:spPr>
          <a:xfrm>
            <a:off x="621792" y="331012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621792" y="3694176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cabeças estão nos 100 maiores confinamentos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2697480" y="111556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Propriedades por porte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3566160" y="1389888"/>
            <a:ext cx="1371600" cy="731520"/>
          </a:xfrm>
          <a:prstGeom prst="rect">
            <a:avLst/>
          </a:prstGeom>
          <a:solidFill>
            <a:srgbClr val="1B3A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8"/>
          <p:cNvSpPr/>
          <p:nvPr/>
        </p:nvSpPr>
        <p:spPr>
          <a:xfrm>
            <a:off x="3566160" y="14813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maiores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3566160" y="177393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 das cabeças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3108960" y="2176272"/>
            <a:ext cx="2286000" cy="731520"/>
          </a:xfrm>
          <a:prstGeom prst="rect">
            <a:avLst/>
          </a:prstGeom>
          <a:solidFill>
            <a:srgbClr val="26668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1"/>
          <p:cNvSpPr/>
          <p:nvPr/>
        </p:nvSpPr>
        <p:spPr>
          <a:xfrm>
            <a:off x="3108960" y="22677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cerca de 1.200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3108960" y="25603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 cabeças ou mais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2697480" y="2962656"/>
            <a:ext cx="3108960" cy="731520"/>
          </a:xfrm>
          <a:prstGeom prst="rect">
            <a:avLst/>
          </a:prstGeom>
          <a:solidFill>
            <a:srgbClr val="C810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4"/>
          <p:cNvSpPr/>
          <p:nvPr/>
        </p:nvSpPr>
        <p:spPr>
          <a:xfrm>
            <a:off x="2697480" y="305409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1.131 propriedades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2697480" y="334670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de 1.000 cabeças (46%)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2697480" y="3822192"/>
            <a:ext cx="3108960" cy="274320"/>
          </a:xfrm>
          <a:prstGeom prst="roundRect">
            <a:avLst>
              <a:gd name="adj" fmla="val 50000"/>
            </a:avLst>
          </a:prstGeom>
          <a:solidFill>
            <a:srgbClr val="C5D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Text 27"/>
          <p:cNvSpPr/>
          <p:nvPr/>
        </p:nvSpPr>
        <p:spPr>
          <a:xfrm>
            <a:off x="2697480" y="38221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Faixa do TN Manager Web: 200 a 2.000 cabeças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6035040" y="11155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Cabeças confinadas por estado (milhões)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6035040" y="14173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6583680" y="1444752"/>
            <a:ext cx="1470074" cy="219456"/>
          </a:xfrm>
          <a:prstGeom prst="rect">
            <a:avLst/>
          </a:prstGeom>
          <a:solidFill>
            <a:srgbClr val="C810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" name="Text 31"/>
          <p:cNvSpPr/>
          <p:nvPr/>
        </p:nvSpPr>
        <p:spPr>
          <a:xfrm>
            <a:off x="8099474" y="1417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2,2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6035040" y="1783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6583680" y="1810512"/>
            <a:ext cx="935502" cy="219456"/>
          </a:xfrm>
          <a:prstGeom prst="rect">
            <a:avLst/>
          </a:prstGeom>
          <a:solidFill>
            <a:srgbClr val="1B3A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" name="Text 34"/>
          <p:cNvSpPr/>
          <p:nvPr/>
        </p:nvSpPr>
        <p:spPr>
          <a:xfrm>
            <a:off x="7564902" y="1783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6035040" y="21488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6583680" y="2176272"/>
            <a:ext cx="935502" cy="219456"/>
          </a:xfrm>
          <a:prstGeom prst="rect">
            <a:avLst/>
          </a:prstGeom>
          <a:solidFill>
            <a:srgbClr val="1B3A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" name="Text 37"/>
          <p:cNvSpPr/>
          <p:nvPr/>
        </p:nvSpPr>
        <p:spPr>
          <a:xfrm>
            <a:off x="7564902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6035040" y="2514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6583680" y="2542032"/>
            <a:ext cx="601394" cy="219456"/>
          </a:xfrm>
          <a:prstGeom prst="rect">
            <a:avLst/>
          </a:prstGeom>
          <a:solidFill>
            <a:srgbClr val="1B3A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3" name="Text 40"/>
          <p:cNvSpPr/>
          <p:nvPr/>
        </p:nvSpPr>
        <p:spPr>
          <a:xfrm>
            <a:off x="7230794" y="2514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0,9</a:t>
            </a:r>
            <a:endParaRPr lang="en-US" sz="950" dirty="0"/>
          </a:p>
        </p:txBody>
      </p:sp>
      <p:sp>
        <p:nvSpPr>
          <p:cNvPr id="44" name="Text 41"/>
          <p:cNvSpPr/>
          <p:nvPr/>
        </p:nvSpPr>
        <p:spPr>
          <a:xfrm>
            <a:off x="6035040" y="2880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6583680" y="2907792"/>
            <a:ext cx="534572" cy="219456"/>
          </a:xfrm>
          <a:prstGeom prst="rect">
            <a:avLst/>
          </a:prstGeom>
          <a:solidFill>
            <a:srgbClr val="1B3A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6" name="Text 43"/>
          <p:cNvSpPr/>
          <p:nvPr/>
        </p:nvSpPr>
        <p:spPr>
          <a:xfrm>
            <a:off x="7163972" y="28803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0,8</a:t>
            </a:r>
            <a:endParaRPr lang="en-US" sz="950" dirty="0"/>
          </a:p>
        </p:txBody>
      </p:sp>
      <p:sp>
        <p:nvSpPr>
          <p:cNvPr id="47" name="Text 44"/>
          <p:cNvSpPr/>
          <p:nvPr/>
        </p:nvSpPr>
        <p:spPr>
          <a:xfrm>
            <a:off x="6035040" y="32461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Outros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6583680" y="3273552"/>
            <a:ext cx="1703949" cy="219456"/>
          </a:xfrm>
          <a:prstGeom prst="rect">
            <a:avLst/>
          </a:prstGeom>
          <a:solidFill>
            <a:srgbClr val="0096B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9" name="Text 46"/>
          <p:cNvSpPr/>
          <p:nvPr/>
        </p:nvSpPr>
        <p:spPr>
          <a:xfrm>
            <a:off x="8333349" y="32461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2,55</a:t>
            </a:r>
            <a:endParaRPr lang="en-US" sz="950" dirty="0"/>
          </a:p>
        </p:txBody>
      </p:sp>
      <p:sp>
        <p:nvSpPr>
          <p:cNvPr id="50" name="Text 47"/>
          <p:cNvSpPr/>
          <p:nvPr/>
        </p:nvSpPr>
        <p:spPr>
          <a:xfrm>
            <a:off x="6035040" y="367588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estados somam 72%. Centro-Oeste e o bioma Cerrado concentram a maior parte.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629F80C5-4778-80CD-FEEC-246E45CEA5C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8514160" y="4677984"/>
            <a:ext cx="629840" cy="465516"/>
          </a:xfrm>
        </p:spPr>
        <p:txBody>
          <a:bodyPr/>
          <a:lstStyle/>
          <a:p>
            <a:pPr>
              <a:spcAft>
                <a:spcPts val="450"/>
              </a:spcAft>
            </a:pPr>
            <a:fld id="{82366C92-DFCE-40A6-8CC1-5A4741E3726D}" type="slidenum">
              <a:rPr lang="en-GB" smtClean="0"/>
              <a:pPr>
                <a:spcAft>
                  <a:spcPts val="450"/>
                </a:spcAft>
              </a:pPr>
              <a:t>22</a:t>
            </a:fld>
            <a:endParaRPr lang="en-GB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27E2689-CE38-45AB-9EF8-2B100F274755}"/>
              </a:ext>
            </a:extLst>
          </p:cNvPr>
          <p:cNvSpPr txBox="1"/>
          <p:nvPr/>
        </p:nvSpPr>
        <p:spPr>
          <a:xfrm>
            <a:off x="629841" y="465517"/>
            <a:ext cx="5670351" cy="753713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450"/>
              </a:spcAft>
            </a:pPr>
            <a:r>
              <a:rPr lang="en-US" sz="4950" b="1">
                <a:solidFill>
                  <a:schemeClr val="tx2"/>
                </a:solidFill>
              </a:rPr>
              <a:t>Obrigado</a:t>
            </a:r>
          </a:p>
        </p:txBody>
      </p:sp>
      <p:pic>
        <p:nvPicPr>
          <p:cNvPr id="3" name="Picture 2" descr="Confinamento de gado: veja como fazer de maneira eficaz — CompreRural">
            <a:extLst>
              <a:ext uri="{FF2B5EF4-FFF2-40B4-BE49-F238E27FC236}">
                <a16:creationId xmlns:a16="http://schemas.microsoft.com/office/drawing/2014/main" id="{6802C605-735F-7CBF-AF55-9AA80A2795E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753" r="-1" b="-1"/>
          <a:stretch/>
        </p:blipFill>
        <p:spPr bwMode="auto">
          <a:xfrm flipH="1">
            <a:off x="629841" y="1362104"/>
            <a:ext cx="5670351" cy="326440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6322871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8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5D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40080" y="1737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C5D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de apoio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274320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D6D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usar se a diretoria perguntar: Raio-X do confinamento, problema de negócio, mapa de valor, perfil do piloto, objetivos, produto mínimo, pesquisa com 30 fazendas, critérios de avanço, riscos e stakeholders.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 de negócio da v1.0 continua válido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números de 2023 justificam o projeto. A v2.0 revisa a forma de resolver o problema.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4398264"/>
            <a:ext cx="4572000" cy="7429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4791456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Business Case Feedlot App v1.0 (out/2023) e OGP Brazil 2023. Atualizar no diagnóstico.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57200" y="11430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Profit Beef 2022 (R$ milhões)</a:t>
            </a:r>
            <a:endParaRPr lang="en-US" sz="12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365760" y="1417320"/>
          <a:ext cx="4937760" cy="2788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Shape 5"/>
          <p:cNvSpPr/>
          <p:nvPr/>
        </p:nvSpPr>
        <p:spPr>
          <a:xfrm>
            <a:off x="5577840" y="1188720"/>
            <a:ext cx="1463040" cy="132588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6"/>
          <p:cNvSpPr/>
          <p:nvPr/>
        </p:nvSpPr>
        <p:spPr>
          <a:xfrm>
            <a:off x="5577840" y="1188720"/>
            <a:ext cx="54864" cy="1325880"/>
          </a:xfrm>
          <a:prstGeom prst="rect">
            <a:avLst/>
          </a:prstGeom>
          <a:solidFill>
            <a:srgbClr val="C8106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7"/>
          <p:cNvSpPr/>
          <p:nvPr/>
        </p:nvSpPr>
        <p:spPr>
          <a:xfrm>
            <a:off x="5733288" y="1298448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19%</a:t>
            </a:r>
            <a:endParaRPr lang="en-US" sz="2400" dirty="0"/>
          </a:p>
        </p:txBody>
      </p:sp>
      <p:sp>
        <p:nvSpPr>
          <p:cNvPr id="12" name="Text 8"/>
          <p:cNvSpPr/>
          <p:nvPr/>
        </p:nvSpPr>
        <p:spPr>
          <a:xfrm>
            <a:off x="5733288" y="1783080"/>
            <a:ext cx="1261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Sales Profit Beef vem de confinamento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7178040" y="1188720"/>
            <a:ext cx="1463040" cy="132588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10"/>
          <p:cNvSpPr/>
          <p:nvPr/>
        </p:nvSpPr>
        <p:spPr>
          <a:xfrm>
            <a:off x="7178040" y="1188720"/>
            <a:ext cx="54864" cy="1325880"/>
          </a:xfrm>
          <a:prstGeom prst="rect">
            <a:avLst/>
          </a:prstGeom>
          <a:solidFill>
            <a:srgbClr val="1B3A8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1"/>
          <p:cNvSpPr/>
          <p:nvPr/>
        </p:nvSpPr>
        <p:spPr>
          <a:xfrm>
            <a:off x="7333488" y="1298448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 mil</a:t>
            </a:r>
            <a:endParaRPr lang="en-US" sz="2400" dirty="0"/>
          </a:p>
        </p:txBody>
      </p:sp>
      <p:sp>
        <p:nvSpPr>
          <p:cNvPr id="16" name="Text 12"/>
          <p:cNvSpPr/>
          <p:nvPr/>
        </p:nvSpPr>
        <p:spPr>
          <a:xfrm>
            <a:off x="7333488" y="1783080"/>
            <a:ext cx="1261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cabeças perdidas em 7 clientes, a maior parte para a Cargill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5577840" y="2670048"/>
            <a:ext cx="1463040" cy="132588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Shape 14"/>
          <p:cNvSpPr/>
          <p:nvPr/>
        </p:nvSpPr>
        <p:spPr>
          <a:xfrm>
            <a:off x="5577840" y="2670048"/>
            <a:ext cx="54864" cy="1325880"/>
          </a:xfrm>
          <a:prstGeom prst="rect">
            <a:avLst/>
          </a:prstGeom>
          <a:solidFill>
            <a:srgbClr val="2666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5"/>
          <p:cNvSpPr/>
          <p:nvPr/>
        </p:nvSpPr>
        <p:spPr>
          <a:xfrm>
            <a:off x="5733288" y="2779776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266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12,5 mil</a:t>
            </a:r>
            <a:endParaRPr lang="en-US" sz="2400" dirty="0"/>
          </a:p>
        </p:txBody>
      </p:sp>
      <p:sp>
        <p:nvSpPr>
          <p:cNvPr id="20" name="Text 16"/>
          <p:cNvSpPr/>
          <p:nvPr/>
        </p:nvSpPr>
        <p:spPr>
          <a:xfrm>
            <a:off x="5733288" y="3264408"/>
            <a:ext cx="1261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cabeças em risco de perda em 2023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7178040" y="2670048"/>
            <a:ext cx="1463040" cy="132588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Shape 18"/>
          <p:cNvSpPr/>
          <p:nvPr/>
        </p:nvSpPr>
        <p:spPr>
          <a:xfrm>
            <a:off x="7178040" y="2670048"/>
            <a:ext cx="54864" cy="1325880"/>
          </a:xfrm>
          <a:prstGeom prst="rect">
            <a:avLst/>
          </a:prstGeom>
          <a:solidFill>
            <a:srgbClr val="0096B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19"/>
          <p:cNvSpPr/>
          <p:nvPr/>
        </p:nvSpPr>
        <p:spPr>
          <a:xfrm>
            <a:off x="7333488" y="2779776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09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9,6%</a:t>
            </a:r>
            <a:endParaRPr lang="en-US" sz="2400" dirty="0"/>
          </a:p>
        </p:txBody>
      </p:sp>
      <p:sp>
        <p:nvSpPr>
          <p:cNvPr id="24" name="Text 20"/>
          <p:cNvSpPr/>
          <p:nvPr/>
        </p:nvSpPr>
        <p:spPr>
          <a:xfrm>
            <a:off x="7333488" y="3264408"/>
            <a:ext cx="1261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market share em premix, mineral e concentrado para confinamento</a:t>
            </a:r>
            <a:endParaRPr lang="en-US" sz="9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4">
            <a:extLst>
              <a:ext uri="{FF2B5EF4-FFF2-40B4-BE49-F238E27FC236}">
                <a16:creationId xmlns:a16="http://schemas.microsoft.com/office/drawing/2014/main" id="{B2DA0B8F-6275-5FF9-F0FA-D4F4A45023B6}"/>
              </a:ext>
            </a:extLst>
          </p:cNvPr>
          <p:cNvSpPr txBox="1">
            <a:spLocks/>
          </p:cNvSpPr>
          <p:nvPr/>
        </p:nvSpPr>
        <p:spPr>
          <a:xfrm>
            <a:off x="89503" y="87475"/>
            <a:ext cx="7074785" cy="837590"/>
          </a:xfrm>
          <a:prstGeom prst="rect">
            <a:avLst/>
          </a:prstGeom>
        </p:spPr>
        <p:txBody>
          <a:bodyPr vert="horz" wrap="square" lIns="27000" tIns="27000" rIns="27000" bIns="27000" rtlCol="0" anchor="t" anchorCtr="0">
            <a:no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4400" b="1" kern="1200" baseline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400" dirty="0" err="1"/>
              <a:t>Objetivos</a:t>
            </a:r>
            <a:r>
              <a:rPr lang="en-US" sz="2400" dirty="0"/>
              <a:t> do </a:t>
            </a:r>
            <a:r>
              <a:rPr lang="en-US" sz="2400" dirty="0" err="1"/>
              <a:t>Projeto</a:t>
            </a:r>
            <a:br>
              <a:rPr lang="en-CA" sz="2400" dirty="0"/>
            </a:br>
            <a:r>
              <a:rPr lang="en-US" sz="1350" b="0" i="1" dirty="0"/>
              <a:t>Com o </a:t>
            </a:r>
            <a:r>
              <a:rPr lang="en-US" sz="1350" b="0" i="1" dirty="0" err="1"/>
              <a:t>desenvolvimento</a:t>
            </a:r>
            <a:r>
              <a:rPr lang="en-US" sz="1350" b="0" i="1" dirty="0"/>
              <a:t> do TN Manager, </a:t>
            </a:r>
            <a:r>
              <a:rPr lang="en-US" sz="1350" b="0" i="1" dirty="0" err="1"/>
              <a:t>vamos</a:t>
            </a:r>
            <a:r>
              <a:rPr lang="en-US" sz="1350" b="0" i="1" dirty="0"/>
              <a:t> </a:t>
            </a:r>
            <a:r>
              <a:rPr lang="en-US" sz="1350" b="0" i="1" dirty="0" err="1"/>
              <a:t>entregar</a:t>
            </a:r>
            <a:r>
              <a:rPr lang="en-US" sz="1350" b="0" i="1" dirty="0"/>
              <a:t> 4 </a:t>
            </a:r>
            <a:r>
              <a:rPr lang="en-US" sz="1350" b="0" i="1" dirty="0" err="1"/>
              <a:t>benefícios</a:t>
            </a:r>
            <a:r>
              <a:rPr lang="en-US" sz="1350" b="0" i="1" dirty="0"/>
              <a:t> </a:t>
            </a:r>
            <a:r>
              <a:rPr lang="en-US" sz="1350" b="0" i="1" dirty="0" err="1"/>
              <a:t>principais</a:t>
            </a:r>
            <a:r>
              <a:rPr lang="en-US" sz="1350" b="0" i="1" dirty="0"/>
              <a:t> </a:t>
            </a:r>
            <a:r>
              <a:rPr lang="en-US" sz="1350" b="0" i="1" dirty="0" err="1"/>
              <a:t>ao</a:t>
            </a:r>
            <a:r>
              <a:rPr lang="en-US" sz="1350" b="0" i="1" dirty="0"/>
              <a:t> </a:t>
            </a:r>
            <a:r>
              <a:rPr lang="en-US" sz="1350" b="0" i="1" dirty="0" err="1"/>
              <a:t>negócio</a:t>
            </a:r>
            <a:r>
              <a:rPr lang="en-US" sz="1350" b="0" i="1" dirty="0"/>
              <a:t> da TNB.</a:t>
            </a:r>
            <a:endParaRPr lang="en-CA" sz="2400" b="0" i="1" dirty="0"/>
          </a:p>
        </p:txBody>
      </p:sp>
      <p:sp>
        <p:nvSpPr>
          <p:cNvPr id="2" name="Line 10">
            <a:extLst>
              <a:ext uri="{FF2B5EF4-FFF2-40B4-BE49-F238E27FC236}">
                <a16:creationId xmlns:a16="http://schemas.microsoft.com/office/drawing/2014/main" id="{1F76DCD9-4EB6-3B83-BAFD-95D6CE4EB64A}"/>
              </a:ext>
            </a:extLst>
          </p:cNvPr>
          <p:cNvSpPr>
            <a:spLocks noChangeShapeType="1"/>
          </p:cNvSpPr>
          <p:nvPr/>
        </p:nvSpPr>
        <p:spPr bwMode="auto">
          <a:xfrm rot="18900000">
            <a:off x="4435830" y="2138883"/>
            <a:ext cx="0" cy="0"/>
          </a:xfrm>
          <a:prstGeom prst="line">
            <a:avLst/>
          </a:prstGeom>
          <a:noFill/>
          <a:ln w="15875" cap="flat">
            <a:solidFill>
              <a:srgbClr val="231F20"/>
            </a:solidFill>
            <a:prstDash val="solid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kern="0">
              <a:solidFill>
                <a:prstClr val="black"/>
              </a:solidFill>
            </a:endParaRPr>
          </a:p>
        </p:txBody>
      </p:sp>
      <p:grpSp>
        <p:nvGrpSpPr>
          <p:cNvPr id="3" name="Group 17">
            <a:extLst>
              <a:ext uri="{FF2B5EF4-FFF2-40B4-BE49-F238E27FC236}">
                <a16:creationId xmlns:a16="http://schemas.microsoft.com/office/drawing/2014/main" id="{1C154973-36B7-8247-5FCF-61ABE8ADD461}"/>
              </a:ext>
            </a:extLst>
          </p:cNvPr>
          <p:cNvGrpSpPr/>
          <p:nvPr/>
        </p:nvGrpSpPr>
        <p:grpSpPr>
          <a:xfrm>
            <a:off x="2713445" y="1165688"/>
            <a:ext cx="3444771" cy="3448386"/>
            <a:chOff x="3657600" y="1181940"/>
            <a:chExt cx="4876800" cy="4881918"/>
          </a:xfrm>
        </p:grpSpPr>
        <p:sp>
          <p:nvSpPr>
            <p:cNvPr id="5" name="Freeform 9">
              <a:extLst>
                <a:ext uri="{FF2B5EF4-FFF2-40B4-BE49-F238E27FC236}">
                  <a16:creationId xmlns:a16="http://schemas.microsoft.com/office/drawing/2014/main" id="{E4B2645B-87BD-3850-112A-9912D20BE8CE}"/>
                </a:ext>
              </a:extLst>
            </p:cNvPr>
            <p:cNvSpPr>
              <a:spLocks/>
            </p:cNvSpPr>
            <p:nvPr/>
          </p:nvSpPr>
          <p:spPr bwMode="auto">
            <a:xfrm rot="18900000">
              <a:off x="4112160" y="1181940"/>
              <a:ext cx="2466836" cy="3409445"/>
            </a:xfrm>
            <a:custGeom>
              <a:avLst/>
              <a:gdLst>
                <a:gd name="T0" fmla="*/ 233 w 467"/>
                <a:gd name="T1" fmla="*/ 0 h 646"/>
                <a:gd name="T2" fmla="*/ 0 w 467"/>
                <a:gd name="T3" fmla="*/ 232 h 646"/>
                <a:gd name="T4" fmla="*/ 10 w 467"/>
                <a:gd name="T5" fmla="*/ 299 h 646"/>
                <a:gd name="T6" fmla="*/ 73 w 467"/>
                <a:gd name="T7" fmla="*/ 400 h 646"/>
                <a:gd name="T8" fmla="*/ 73 w 467"/>
                <a:gd name="T9" fmla="*/ 401 h 646"/>
                <a:gd name="T10" fmla="*/ 119 w 467"/>
                <a:gd name="T11" fmla="*/ 522 h 646"/>
                <a:gd name="T12" fmla="*/ 79 w 467"/>
                <a:gd name="T13" fmla="*/ 636 h 646"/>
                <a:gd name="T14" fmla="*/ 84 w 467"/>
                <a:gd name="T15" fmla="*/ 646 h 646"/>
                <a:gd name="T16" fmla="*/ 169 w 467"/>
                <a:gd name="T17" fmla="*/ 586 h 646"/>
                <a:gd name="T18" fmla="*/ 178 w 467"/>
                <a:gd name="T19" fmla="*/ 522 h 646"/>
                <a:gd name="T20" fmla="*/ 169 w 467"/>
                <a:gd name="T21" fmla="*/ 456 h 646"/>
                <a:gd name="T22" fmla="*/ 98 w 467"/>
                <a:gd name="T23" fmla="*/ 342 h 646"/>
                <a:gd name="T24" fmla="*/ 59 w 467"/>
                <a:gd name="T25" fmla="*/ 232 h 646"/>
                <a:gd name="T26" fmla="*/ 233 w 467"/>
                <a:gd name="T27" fmla="*/ 59 h 646"/>
                <a:gd name="T28" fmla="*/ 408 w 467"/>
                <a:gd name="T29" fmla="*/ 232 h 646"/>
                <a:gd name="T30" fmla="*/ 361 w 467"/>
                <a:gd name="T31" fmla="*/ 351 h 646"/>
                <a:gd name="T32" fmla="*/ 457 w 467"/>
                <a:gd name="T33" fmla="*/ 299 h 646"/>
                <a:gd name="T34" fmla="*/ 467 w 467"/>
                <a:gd name="T35" fmla="*/ 232 h 646"/>
                <a:gd name="T36" fmla="*/ 233 w 467"/>
                <a:gd name="T37" fmla="*/ 0 h 6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67" h="646">
                  <a:moveTo>
                    <a:pt x="233" y="0"/>
                  </a:moveTo>
                  <a:cubicBezTo>
                    <a:pt x="105" y="0"/>
                    <a:pt x="0" y="104"/>
                    <a:pt x="0" y="232"/>
                  </a:cubicBezTo>
                  <a:cubicBezTo>
                    <a:pt x="0" y="255"/>
                    <a:pt x="3" y="278"/>
                    <a:pt x="10" y="299"/>
                  </a:cubicBezTo>
                  <a:cubicBezTo>
                    <a:pt x="21" y="338"/>
                    <a:pt x="43" y="373"/>
                    <a:pt x="73" y="400"/>
                  </a:cubicBezTo>
                  <a:cubicBezTo>
                    <a:pt x="73" y="401"/>
                    <a:pt x="73" y="401"/>
                    <a:pt x="73" y="401"/>
                  </a:cubicBezTo>
                  <a:cubicBezTo>
                    <a:pt x="102" y="432"/>
                    <a:pt x="119" y="476"/>
                    <a:pt x="119" y="522"/>
                  </a:cubicBezTo>
                  <a:cubicBezTo>
                    <a:pt x="119" y="565"/>
                    <a:pt x="105" y="605"/>
                    <a:pt x="79" y="636"/>
                  </a:cubicBezTo>
                  <a:cubicBezTo>
                    <a:pt x="84" y="646"/>
                    <a:pt x="84" y="646"/>
                    <a:pt x="84" y="646"/>
                  </a:cubicBezTo>
                  <a:cubicBezTo>
                    <a:pt x="110" y="624"/>
                    <a:pt x="136" y="596"/>
                    <a:pt x="169" y="586"/>
                  </a:cubicBezTo>
                  <a:cubicBezTo>
                    <a:pt x="175" y="566"/>
                    <a:pt x="178" y="544"/>
                    <a:pt x="178" y="522"/>
                  </a:cubicBezTo>
                  <a:cubicBezTo>
                    <a:pt x="178" y="499"/>
                    <a:pt x="175" y="477"/>
                    <a:pt x="169" y="456"/>
                  </a:cubicBezTo>
                  <a:cubicBezTo>
                    <a:pt x="156" y="413"/>
                    <a:pt x="131" y="370"/>
                    <a:pt x="98" y="342"/>
                  </a:cubicBezTo>
                  <a:cubicBezTo>
                    <a:pt x="74" y="312"/>
                    <a:pt x="59" y="274"/>
                    <a:pt x="59" y="232"/>
                  </a:cubicBezTo>
                  <a:cubicBezTo>
                    <a:pt x="59" y="136"/>
                    <a:pt x="137" y="59"/>
                    <a:pt x="233" y="59"/>
                  </a:cubicBezTo>
                  <a:cubicBezTo>
                    <a:pt x="330" y="59"/>
                    <a:pt x="408" y="136"/>
                    <a:pt x="408" y="232"/>
                  </a:cubicBezTo>
                  <a:cubicBezTo>
                    <a:pt x="408" y="278"/>
                    <a:pt x="390" y="320"/>
                    <a:pt x="361" y="351"/>
                  </a:cubicBezTo>
                  <a:cubicBezTo>
                    <a:pt x="361" y="351"/>
                    <a:pt x="422" y="309"/>
                    <a:pt x="457" y="299"/>
                  </a:cubicBezTo>
                  <a:cubicBezTo>
                    <a:pt x="463" y="278"/>
                    <a:pt x="467" y="255"/>
                    <a:pt x="467" y="232"/>
                  </a:cubicBezTo>
                  <a:cubicBezTo>
                    <a:pt x="467" y="104"/>
                    <a:pt x="362" y="0"/>
                    <a:pt x="233" y="0"/>
                  </a:cubicBezTo>
                  <a:close/>
                </a:path>
              </a:pathLst>
            </a:custGeom>
            <a:solidFill>
              <a:srgbClr val="246C97"/>
            </a:solidFill>
            <a:ln>
              <a:noFill/>
            </a:ln>
            <a:effectLst/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kern="0">
                <a:solidFill>
                  <a:prstClr val="black"/>
                </a:solidFill>
              </a:endParaRPr>
            </a:p>
          </p:txBody>
        </p:sp>
        <p:sp>
          <p:nvSpPr>
            <p:cNvPr id="6" name="Freeform 11">
              <a:extLst>
                <a:ext uri="{FF2B5EF4-FFF2-40B4-BE49-F238E27FC236}">
                  <a16:creationId xmlns:a16="http://schemas.microsoft.com/office/drawing/2014/main" id="{9DED8CB3-40C8-F77B-1ACC-64D9AC6241CE}"/>
                </a:ext>
              </a:extLst>
            </p:cNvPr>
            <p:cNvSpPr>
              <a:spLocks/>
            </p:cNvSpPr>
            <p:nvPr/>
          </p:nvSpPr>
          <p:spPr bwMode="auto">
            <a:xfrm rot="18900000">
              <a:off x="5603572" y="2692294"/>
              <a:ext cx="2466836" cy="3371564"/>
            </a:xfrm>
            <a:custGeom>
              <a:avLst/>
              <a:gdLst>
                <a:gd name="T0" fmla="*/ 458 w 467"/>
                <a:gd name="T1" fmla="*/ 343 h 639"/>
                <a:gd name="T2" fmla="*/ 448 w 467"/>
                <a:gd name="T3" fmla="*/ 340 h 639"/>
                <a:gd name="T4" fmla="*/ 458 w 467"/>
                <a:gd name="T5" fmla="*/ 343 h 639"/>
                <a:gd name="T6" fmla="*/ 399 w 467"/>
                <a:gd name="T7" fmla="*/ 243 h 639"/>
                <a:gd name="T8" fmla="*/ 399 w 467"/>
                <a:gd name="T9" fmla="*/ 243 h 639"/>
                <a:gd name="T10" fmla="*/ 348 w 467"/>
                <a:gd name="T11" fmla="*/ 119 h 639"/>
                <a:gd name="T12" fmla="*/ 394 w 467"/>
                <a:gd name="T13" fmla="*/ 2 h 639"/>
                <a:gd name="T14" fmla="*/ 391 w 467"/>
                <a:gd name="T15" fmla="*/ 0 h 639"/>
                <a:gd name="T16" fmla="*/ 299 w 467"/>
                <a:gd name="T17" fmla="*/ 52 h 639"/>
                <a:gd name="T18" fmla="*/ 289 w 467"/>
                <a:gd name="T19" fmla="*/ 119 h 639"/>
                <a:gd name="T20" fmla="*/ 298 w 467"/>
                <a:gd name="T21" fmla="*/ 183 h 639"/>
                <a:gd name="T22" fmla="*/ 346 w 467"/>
                <a:gd name="T23" fmla="*/ 271 h 639"/>
                <a:gd name="T24" fmla="*/ 346 w 467"/>
                <a:gd name="T25" fmla="*/ 271 h 639"/>
                <a:gd name="T26" fmla="*/ 346 w 467"/>
                <a:gd name="T27" fmla="*/ 272 h 639"/>
                <a:gd name="T28" fmla="*/ 368 w 467"/>
                <a:gd name="T29" fmla="*/ 294 h 639"/>
                <a:gd name="T30" fmla="*/ 408 w 467"/>
                <a:gd name="T31" fmla="*/ 407 h 639"/>
                <a:gd name="T32" fmla="*/ 233 w 467"/>
                <a:gd name="T33" fmla="*/ 580 h 639"/>
                <a:gd name="T34" fmla="*/ 59 w 467"/>
                <a:gd name="T35" fmla="*/ 407 h 639"/>
                <a:gd name="T36" fmla="*/ 110 w 467"/>
                <a:gd name="T37" fmla="*/ 284 h 639"/>
                <a:gd name="T38" fmla="*/ 109 w 467"/>
                <a:gd name="T39" fmla="*/ 282 h 639"/>
                <a:gd name="T40" fmla="*/ 9 w 467"/>
                <a:gd name="T41" fmla="*/ 342 h 639"/>
                <a:gd name="T42" fmla="*/ 0 w 467"/>
                <a:gd name="T43" fmla="*/ 407 h 639"/>
                <a:gd name="T44" fmla="*/ 233 w 467"/>
                <a:gd name="T45" fmla="*/ 639 h 639"/>
                <a:gd name="T46" fmla="*/ 467 w 467"/>
                <a:gd name="T47" fmla="*/ 407 h 639"/>
                <a:gd name="T48" fmla="*/ 458 w 467"/>
                <a:gd name="T49" fmla="*/ 343 h 6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467" h="639">
                  <a:moveTo>
                    <a:pt x="458" y="343"/>
                  </a:moveTo>
                  <a:cubicBezTo>
                    <a:pt x="455" y="342"/>
                    <a:pt x="452" y="341"/>
                    <a:pt x="448" y="340"/>
                  </a:cubicBezTo>
                  <a:cubicBezTo>
                    <a:pt x="452" y="341"/>
                    <a:pt x="455" y="342"/>
                    <a:pt x="458" y="343"/>
                  </a:cubicBezTo>
                  <a:cubicBezTo>
                    <a:pt x="447" y="305"/>
                    <a:pt x="426" y="271"/>
                    <a:pt x="399" y="243"/>
                  </a:cubicBezTo>
                  <a:cubicBezTo>
                    <a:pt x="399" y="243"/>
                    <a:pt x="399" y="243"/>
                    <a:pt x="399" y="243"/>
                  </a:cubicBezTo>
                  <a:cubicBezTo>
                    <a:pt x="367" y="212"/>
                    <a:pt x="348" y="168"/>
                    <a:pt x="348" y="119"/>
                  </a:cubicBezTo>
                  <a:cubicBezTo>
                    <a:pt x="348" y="74"/>
                    <a:pt x="365" y="33"/>
                    <a:pt x="394" y="2"/>
                  </a:cubicBezTo>
                  <a:cubicBezTo>
                    <a:pt x="391" y="0"/>
                    <a:pt x="391" y="0"/>
                    <a:pt x="391" y="0"/>
                  </a:cubicBezTo>
                  <a:cubicBezTo>
                    <a:pt x="365" y="24"/>
                    <a:pt x="333" y="42"/>
                    <a:pt x="299" y="52"/>
                  </a:cubicBezTo>
                  <a:cubicBezTo>
                    <a:pt x="292" y="74"/>
                    <a:pt x="289" y="96"/>
                    <a:pt x="289" y="119"/>
                  </a:cubicBezTo>
                  <a:cubicBezTo>
                    <a:pt x="289" y="141"/>
                    <a:pt x="292" y="163"/>
                    <a:pt x="298" y="183"/>
                  </a:cubicBezTo>
                  <a:cubicBezTo>
                    <a:pt x="307" y="216"/>
                    <a:pt x="324" y="246"/>
                    <a:pt x="346" y="271"/>
                  </a:cubicBezTo>
                  <a:cubicBezTo>
                    <a:pt x="346" y="271"/>
                    <a:pt x="346" y="271"/>
                    <a:pt x="346" y="271"/>
                  </a:cubicBezTo>
                  <a:cubicBezTo>
                    <a:pt x="346" y="271"/>
                    <a:pt x="346" y="271"/>
                    <a:pt x="346" y="272"/>
                  </a:cubicBezTo>
                  <a:cubicBezTo>
                    <a:pt x="353" y="279"/>
                    <a:pt x="360" y="287"/>
                    <a:pt x="368" y="294"/>
                  </a:cubicBezTo>
                  <a:cubicBezTo>
                    <a:pt x="393" y="324"/>
                    <a:pt x="408" y="364"/>
                    <a:pt x="408" y="407"/>
                  </a:cubicBezTo>
                  <a:cubicBezTo>
                    <a:pt x="408" y="503"/>
                    <a:pt x="330" y="580"/>
                    <a:pt x="233" y="580"/>
                  </a:cubicBezTo>
                  <a:cubicBezTo>
                    <a:pt x="137" y="580"/>
                    <a:pt x="59" y="503"/>
                    <a:pt x="59" y="407"/>
                  </a:cubicBezTo>
                  <a:cubicBezTo>
                    <a:pt x="59" y="359"/>
                    <a:pt x="78" y="315"/>
                    <a:pt x="110" y="284"/>
                  </a:cubicBezTo>
                  <a:cubicBezTo>
                    <a:pt x="109" y="282"/>
                    <a:pt x="109" y="282"/>
                    <a:pt x="109" y="282"/>
                  </a:cubicBezTo>
                  <a:cubicBezTo>
                    <a:pt x="82" y="310"/>
                    <a:pt x="47" y="331"/>
                    <a:pt x="9" y="342"/>
                  </a:cubicBezTo>
                  <a:cubicBezTo>
                    <a:pt x="3" y="363"/>
                    <a:pt x="0" y="384"/>
                    <a:pt x="0" y="407"/>
                  </a:cubicBezTo>
                  <a:cubicBezTo>
                    <a:pt x="0" y="535"/>
                    <a:pt x="105" y="639"/>
                    <a:pt x="233" y="639"/>
                  </a:cubicBezTo>
                  <a:cubicBezTo>
                    <a:pt x="362" y="639"/>
                    <a:pt x="467" y="535"/>
                    <a:pt x="467" y="407"/>
                  </a:cubicBezTo>
                  <a:cubicBezTo>
                    <a:pt x="467" y="385"/>
                    <a:pt x="464" y="363"/>
                    <a:pt x="458" y="343"/>
                  </a:cubicBezTo>
                  <a:close/>
                </a:path>
              </a:pathLst>
            </a:custGeom>
            <a:solidFill>
              <a:srgbClr val="26B2CE"/>
            </a:solidFill>
            <a:ln>
              <a:noFill/>
            </a:ln>
            <a:effectLst/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kern="0">
                <a:solidFill>
                  <a:prstClr val="black"/>
                </a:solidFill>
              </a:endParaRPr>
            </a:p>
          </p:txBody>
        </p:sp>
        <p:sp>
          <p:nvSpPr>
            <p:cNvPr id="7" name="Freeform 12">
              <a:extLst>
                <a:ext uri="{FF2B5EF4-FFF2-40B4-BE49-F238E27FC236}">
                  <a16:creationId xmlns:a16="http://schemas.microsoft.com/office/drawing/2014/main" id="{3608DDDE-1DAB-807F-54E3-9F12BB05DB14}"/>
                </a:ext>
              </a:extLst>
            </p:cNvPr>
            <p:cNvSpPr>
              <a:spLocks/>
            </p:cNvSpPr>
            <p:nvPr/>
          </p:nvSpPr>
          <p:spPr bwMode="auto">
            <a:xfrm rot="18900000">
              <a:off x="5169521" y="1642599"/>
              <a:ext cx="3364879" cy="2453465"/>
            </a:xfrm>
            <a:custGeom>
              <a:avLst/>
              <a:gdLst>
                <a:gd name="T0" fmla="*/ 403 w 637"/>
                <a:gd name="T1" fmla="*/ 0 h 465"/>
                <a:gd name="T2" fmla="*/ 338 w 637"/>
                <a:gd name="T3" fmla="*/ 9 h 465"/>
                <a:gd name="T4" fmla="*/ 242 w 637"/>
                <a:gd name="T5" fmla="*/ 61 h 465"/>
                <a:gd name="T6" fmla="*/ 114 w 637"/>
                <a:gd name="T7" fmla="*/ 116 h 465"/>
                <a:gd name="T8" fmla="*/ 0 w 637"/>
                <a:gd name="T9" fmla="*/ 74 h 465"/>
                <a:gd name="T10" fmla="*/ 50 w 637"/>
                <a:gd name="T11" fmla="*/ 166 h 465"/>
                <a:gd name="T12" fmla="*/ 114 w 637"/>
                <a:gd name="T13" fmla="*/ 175 h 465"/>
                <a:gd name="T14" fmla="*/ 180 w 637"/>
                <a:gd name="T15" fmla="*/ 165 h 465"/>
                <a:gd name="T16" fmla="*/ 274 w 637"/>
                <a:gd name="T17" fmla="*/ 116 h 465"/>
                <a:gd name="T18" fmla="*/ 285 w 637"/>
                <a:gd name="T19" fmla="*/ 105 h 465"/>
                <a:gd name="T20" fmla="*/ 403 w 637"/>
                <a:gd name="T21" fmla="*/ 59 h 465"/>
                <a:gd name="T22" fmla="*/ 578 w 637"/>
                <a:gd name="T23" fmla="*/ 232 h 465"/>
                <a:gd name="T24" fmla="*/ 403 w 637"/>
                <a:gd name="T25" fmla="*/ 406 h 465"/>
                <a:gd name="T26" fmla="*/ 281 w 637"/>
                <a:gd name="T27" fmla="*/ 356 h 465"/>
                <a:gd name="T28" fmla="*/ 280 w 637"/>
                <a:gd name="T29" fmla="*/ 356 h 465"/>
                <a:gd name="T30" fmla="*/ 280 w 637"/>
                <a:gd name="T31" fmla="*/ 356 h 465"/>
                <a:gd name="T32" fmla="*/ 339 w 637"/>
                <a:gd name="T33" fmla="*/ 456 h 465"/>
                <a:gd name="T34" fmla="*/ 403 w 637"/>
                <a:gd name="T35" fmla="*/ 465 h 465"/>
                <a:gd name="T36" fmla="*/ 637 w 637"/>
                <a:gd name="T37" fmla="*/ 232 h 465"/>
                <a:gd name="T38" fmla="*/ 403 w 637"/>
                <a:gd name="T39" fmla="*/ 0 h 4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37" h="465">
                  <a:moveTo>
                    <a:pt x="403" y="0"/>
                  </a:moveTo>
                  <a:cubicBezTo>
                    <a:pt x="381" y="0"/>
                    <a:pt x="359" y="3"/>
                    <a:pt x="338" y="9"/>
                  </a:cubicBezTo>
                  <a:cubicBezTo>
                    <a:pt x="303" y="19"/>
                    <a:pt x="242" y="61"/>
                    <a:pt x="242" y="61"/>
                  </a:cubicBezTo>
                  <a:cubicBezTo>
                    <a:pt x="210" y="95"/>
                    <a:pt x="165" y="116"/>
                    <a:pt x="114" y="116"/>
                  </a:cubicBezTo>
                  <a:cubicBezTo>
                    <a:pt x="71" y="116"/>
                    <a:pt x="31" y="100"/>
                    <a:pt x="0" y="74"/>
                  </a:cubicBezTo>
                  <a:cubicBezTo>
                    <a:pt x="23" y="100"/>
                    <a:pt x="40" y="133"/>
                    <a:pt x="50" y="166"/>
                  </a:cubicBezTo>
                  <a:cubicBezTo>
                    <a:pt x="70" y="171"/>
                    <a:pt x="92" y="175"/>
                    <a:pt x="114" y="175"/>
                  </a:cubicBezTo>
                  <a:cubicBezTo>
                    <a:pt x="137" y="175"/>
                    <a:pt x="159" y="171"/>
                    <a:pt x="180" y="165"/>
                  </a:cubicBezTo>
                  <a:cubicBezTo>
                    <a:pt x="214" y="155"/>
                    <a:pt x="248" y="139"/>
                    <a:pt x="274" y="116"/>
                  </a:cubicBezTo>
                  <a:cubicBezTo>
                    <a:pt x="278" y="112"/>
                    <a:pt x="282" y="108"/>
                    <a:pt x="285" y="105"/>
                  </a:cubicBezTo>
                  <a:cubicBezTo>
                    <a:pt x="316" y="76"/>
                    <a:pt x="358" y="59"/>
                    <a:pt x="403" y="59"/>
                  </a:cubicBezTo>
                  <a:cubicBezTo>
                    <a:pt x="500" y="59"/>
                    <a:pt x="578" y="136"/>
                    <a:pt x="578" y="232"/>
                  </a:cubicBezTo>
                  <a:cubicBezTo>
                    <a:pt x="578" y="328"/>
                    <a:pt x="500" y="406"/>
                    <a:pt x="403" y="406"/>
                  </a:cubicBezTo>
                  <a:cubicBezTo>
                    <a:pt x="355" y="406"/>
                    <a:pt x="312" y="387"/>
                    <a:pt x="281" y="356"/>
                  </a:cubicBezTo>
                  <a:cubicBezTo>
                    <a:pt x="280" y="356"/>
                    <a:pt x="280" y="356"/>
                    <a:pt x="280" y="356"/>
                  </a:cubicBezTo>
                  <a:cubicBezTo>
                    <a:pt x="280" y="356"/>
                    <a:pt x="280" y="356"/>
                    <a:pt x="280" y="356"/>
                  </a:cubicBezTo>
                  <a:cubicBezTo>
                    <a:pt x="307" y="384"/>
                    <a:pt x="328" y="418"/>
                    <a:pt x="339" y="456"/>
                  </a:cubicBezTo>
                  <a:cubicBezTo>
                    <a:pt x="359" y="462"/>
                    <a:pt x="381" y="465"/>
                    <a:pt x="403" y="465"/>
                  </a:cubicBezTo>
                  <a:cubicBezTo>
                    <a:pt x="532" y="465"/>
                    <a:pt x="637" y="360"/>
                    <a:pt x="637" y="232"/>
                  </a:cubicBezTo>
                  <a:cubicBezTo>
                    <a:pt x="637" y="104"/>
                    <a:pt x="532" y="0"/>
                    <a:pt x="403" y="0"/>
                  </a:cubicBezTo>
                  <a:close/>
                </a:path>
              </a:pathLst>
            </a:custGeom>
            <a:solidFill>
              <a:srgbClr val="71CBD0"/>
            </a:solidFill>
            <a:ln>
              <a:noFill/>
            </a:ln>
            <a:effectLst/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kern="0">
                <a:solidFill>
                  <a:prstClr val="black"/>
                </a:solidFill>
              </a:endParaRPr>
            </a:p>
          </p:txBody>
        </p:sp>
        <p:sp>
          <p:nvSpPr>
            <p:cNvPr id="9" name="Freeform 13">
              <a:extLst>
                <a:ext uri="{FF2B5EF4-FFF2-40B4-BE49-F238E27FC236}">
                  <a16:creationId xmlns:a16="http://schemas.microsoft.com/office/drawing/2014/main" id="{53A938DD-516C-3B07-0158-3BE54D666378}"/>
                </a:ext>
              </a:extLst>
            </p:cNvPr>
            <p:cNvSpPr>
              <a:spLocks noEditPoints="1"/>
            </p:cNvSpPr>
            <p:nvPr/>
          </p:nvSpPr>
          <p:spPr bwMode="auto">
            <a:xfrm rot="18900000">
              <a:off x="3657600" y="3161588"/>
              <a:ext cx="3338137" cy="2453465"/>
            </a:xfrm>
            <a:custGeom>
              <a:avLst/>
              <a:gdLst>
                <a:gd name="T0" fmla="*/ 586 w 632"/>
                <a:gd name="T1" fmla="*/ 304 h 465"/>
                <a:gd name="T2" fmla="*/ 584 w 632"/>
                <a:gd name="T3" fmla="*/ 297 h 465"/>
                <a:gd name="T4" fmla="*/ 519 w 632"/>
                <a:gd name="T5" fmla="*/ 288 h 465"/>
                <a:gd name="T6" fmla="*/ 453 w 632"/>
                <a:gd name="T7" fmla="*/ 298 h 465"/>
                <a:gd name="T8" fmla="*/ 340 w 632"/>
                <a:gd name="T9" fmla="*/ 373 h 465"/>
                <a:gd name="T10" fmla="*/ 234 w 632"/>
                <a:gd name="T11" fmla="*/ 406 h 465"/>
                <a:gd name="T12" fmla="*/ 59 w 632"/>
                <a:gd name="T13" fmla="*/ 233 h 465"/>
                <a:gd name="T14" fmla="*/ 234 w 632"/>
                <a:gd name="T15" fmla="*/ 59 h 465"/>
                <a:gd name="T16" fmla="*/ 357 w 632"/>
                <a:gd name="T17" fmla="*/ 110 h 465"/>
                <a:gd name="T18" fmla="*/ 357 w 632"/>
                <a:gd name="T19" fmla="*/ 110 h 465"/>
                <a:gd name="T20" fmla="*/ 357 w 632"/>
                <a:gd name="T21" fmla="*/ 110 h 465"/>
                <a:gd name="T22" fmla="*/ 296 w 632"/>
                <a:gd name="T23" fmla="*/ 10 h 465"/>
                <a:gd name="T24" fmla="*/ 295 w 632"/>
                <a:gd name="T25" fmla="*/ 9 h 465"/>
                <a:gd name="T26" fmla="*/ 234 w 632"/>
                <a:gd name="T27" fmla="*/ 0 h 465"/>
                <a:gd name="T28" fmla="*/ 0 w 632"/>
                <a:gd name="T29" fmla="*/ 233 h 465"/>
                <a:gd name="T30" fmla="*/ 234 w 632"/>
                <a:gd name="T31" fmla="*/ 465 h 465"/>
                <a:gd name="T32" fmla="*/ 299 w 632"/>
                <a:gd name="T33" fmla="*/ 456 h 465"/>
                <a:gd name="T34" fmla="*/ 300 w 632"/>
                <a:gd name="T35" fmla="*/ 455 h 465"/>
                <a:gd name="T36" fmla="*/ 396 w 632"/>
                <a:gd name="T37" fmla="*/ 396 h 465"/>
                <a:gd name="T38" fmla="*/ 395 w 632"/>
                <a:gd name="T39" fmla="*/ 396 h 465"/>
                <a:gd name="T40" fmla="*/ 396 w 632"/>
                <a:gd name="T41" fmla="*/ 398 h 465"/>
                <a:gd name="T42" fmla="*/ 519 w 632"/>
                <a:gd name="T43" fmla="*/ 347 h 465"/>
                <a:gd name="T44" fmla="*/ 632 w 632"/>
                <a:gd name="T45" fmla="*/ 385 h 465"/>
                <a:gd name="T46" fmla="*/ 632 w 632"/>
                <a:gd name="T47" fmla="*/ 385 h 465"/>
                <a:gd name="T48" fmla="*/ 586 w 632"/>
                <a:gd name="T49" fmla="*/ 304 h 465"/>
                <a:gd name="T50" fmla="*/ 406 w 632"/>
                <a:gd name="T51" fmla="*/ 385 h 465"/>
                <a:gd name="T52" fmla="*/ 399 w 632"/>
                <a:gd name="T53" fmla="*/ 392 h 465"/>
                <a:gd name="T54" fmla="*/ 406 w 632"/>
                <a:gd name="T55" fmla="*/ 385 h 465"/>
                <a:gd name="T56" fmla="*/ 449 w 632"/>
                <a:gd name="T57" fmla="*/ 312 h 465"/>
                <a:gd name="T58" fmla="*/ 447 w 632"/>
                <a:gd name="T59" fmla="*/ 316 h 465"/>
                <a:gd name="T60" fmla="*/ 449 w 632"/>
                <a:gd name="T61" fmla="*/ 312 h 465"/>
                <a:gd name="T62" fmla="*/ 444 w 632"/>
                <a:gd name="T63" fmla="*/ 325 h 465"/>
                <a:gd name="T64" fmla="*/ 441 w 632"/>
                <a:gd name="T65" fmla="*/ 330 h 465"/>
                <a:gd name="T66" fmla="*/ 444 w 632"/>
                <a:gd name="T67" fmla="*/ 325 h 465"/>
                <a:gd name="T68" fmla="*/ 437 w 632"/>
                <a:gd name="T69" fmla="*/ 338 h 465"/>
                <a:gd name="T70" fmla="*/ 435 w 632"/>
                <a:gd name="T71" fmla="*/ 343 h 465"/>
                <a:gd name="T72" fmla="*/ 437 w 632"/>
                <a:gd name="T73" fmla="*/ 338 h 465"/>
                <a:gd name="T74" fmla="*/ 431 w 632"/>
                <a:gd name="T75" fmla="*/ 351 h 465"/>
                <a:gd name="T76" fmla="*/ 427 w 632"/>
                <a:gd name="T77" fmla="*/ 356 h 465"/>
                <a:gd name="T78" fmla="*/ 431 w 632"/>
                <a:gd name="T79" fmla="*/ 351 h 465"/>
                <a:gd name="T80" fmla="*/ 423 w 632"/>
                <a:gd name="T81" fmla="*/ 363 h 465"/>
                <a:gd name="T82" fmla="*/ 419 w 632"/>
                <a:gd name="T83" fmla="*/ 369 h 465"/>
                <a:gd name="T84" fmla="*/ 423 w 632"/>
                <a:gd name="T85" fmla="*/ 363 h 465"/>
                <a:gd name="T86" fmla="*/ 415 w 632"/>
                <a:gd name="T87" fmla="*/ 374 h 465"/>
                <a:gd name="T88" fmla="*/ 409 w 632"/>
                <a:gd name="T89" fmla="*/ 381 h 465"/>
                <a:gd name="T90" fmla="*/ 415 w 632"/>
                <a:gd name="T91" fmla="*/ 374 h 4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632" h="465">
                  <a:moveTo>
                    <a:pt x="586" y="304"/>
                  </a:moveTo>
                  <a:cubicBezTo>
                    <a:pt x="585" y="302"/>
                    <a:pt x="584" y="299"/>
                    <a:pt x="584" y="297"/>
                  </a:cubicBezTo>
                  <a:cubicBezTo>
                    <a:pt x="563" y="291"/>
                    <a:pt x="542" y="288"/>
                    <a:pt x="519" y="288"/>
                  </a:cubicBezTo>
                  <a:cubicBezTo>
                    <a:pt x="496" y="288"/>
                    <a:pt x="474" y="292"/>
                    <a:pt x="453" y="298"/>
                  </a:cubicBezTo>
                  <a:cubicBezTo>
                    <a:pt x="408" y="311"/>
                    <a:pt x="369" y="337"/>
                    <a:pt x="340" y="373"/>
                  </a:cubicBezTo>
                  <a:cubicBezTo>
                    <a:pt x="310" y="394"/>
                    <a:pt x="273" y="406"/>
                    <a:pt x="234" y="406"/>
                  </a:cubicBezTo>
                  <a:cubicBezTo>
                    <a:pt x="137" y="406"/>
                    <a:pt x="59" y="329"/>
                    <a:pt x="59" y="233"/>
                  </a:cubicBezTo>
                  <a:cubicBezTo>
                    <a:pt x="59" y="137"/>
                    <a:pt x="137" y="59"/>
                    <a:pt x="234" y="59"/>
                  </a:cubicBezTo>
                  <a:cubicBezTo>
                    <a:pt x="282" y="59"/>
                    <a:pt x="325" y="79"/>
                    <a:pt x="357" y="110"/>
                  </a:cubicBezTo>
                  <a:cubicBezTo>
                    <a:pt x="357" y="110"/>
                    <a:pt x="357" y="110"/>
                    <a:pt x="357" y="110"/>
                  </a:cubicBezTo>
                  <a:cubicBezTo>
                    <a:pt x="357" y="110"/>
                    <a:pt x="357" y="110"/>
                    <a:pt x="357" y="110"/>
                  </a:cubicBezTo>
                  <a:cubicBezTo>
                    <a:pt x="329" y="83"/>
                    <a:pt x="307" y="48"/>
                    <a:pt x="296" y="10"/>
                  </a:cubicBezTo>
                  <a:cubicBezTo>
                    <a:pt x="295" y="9"/>
                    <a:pt x="295" y="9"/>
                    <a:pt x="295" y="9"/>
                  </a:cubicBezTo>
                  <a:cubicBezTo>
                    <a:pt x="276" y="3"/>
                    <a:pt x="255" y="0"/>
                    <a:pt x="234" y="0"/>
                  </a:cubicBezTo>
                  <a:cubicBezTo>
                    <a:pt x="105" y="0"/>
                    <a:pt x="0" y="105"/>
                    <a:pt x="0" y="233"/>
                  </a:cubicBezTo>
                  <a:cubicBezTo>
                    <a:pt x="0" y="361"/>
                    <a:pt x="105" y="465"/>
                    <a:pt x="234" y="465"/>
                  </a:cubicBezTo>
                  <a:cubicBezTo>
                    <a:pt x="256" y="465"/>
                    <a:pt x="279" y="462"/>
                    <a:pt x="299" y="456"/>
                  </a:cubicBezTo>
                  <a:cubicBezTo>
                    <a:pt x="300" y="455"/>
                    <a:pt x="300" y="455"/>
                    <a:pt x="300" y="455"/>
                  </a:cubicBezTo>
                  <a:cubicBezTo>
                    <a:pt x="337" y="443"/>
                    <a:pt x="370" y="423"/>
                    <a:pt x="396" y="396"/>
                  </a:cubicBezTo>
                  <a:cubicBezTo>
                    <a:pt x="396" y="396"/>
                    <a:pt x="396" y="396"/>
                    <a:pt x="395" y="396"/>
                  </a:cubicBezTo>
                  <a:cubicBezTo>
                    <a:pt x="396" y="398"/>
                    <a:pt x="396" y="398"/>
                    <a:pt x="396" y="398"/>
                  </a:cubicBezTo>
                  <a:cubicBezTo>
                    <a:pt x="428" y="367"/>
                    <a:pt x="471" y="347"/>
                    <a:pt x="519" y="347"/>
                  </a:cubicBezTo>
                  <a:cubicBezTo>
                    <a:pt x="561" y="347"/>
                    <a:pt x="601" y="360"/>
                    <a:pt x="632" y="385"/>
                  </a:cubicBezTo>
                  <a:cubicBezTo>
                    <a:pt x="632" y="385"/>
                    <a:pt x="632" y="385"/>
                    <a:pt x="632" y="385"/>
                  </a:cubicBezTo>
                  <a:cubicBezTo>
                    <a:pt x="611" y="361"/>
                    <a:pt x="596" y="334"/>
                    <a:pt x="586" y="304"/>
                  </a:cubicBezTo>
                  <a:close/>
                  <a:moveTo>
                    <a:pt x="406" y="385"/>
                  </a:moveTo>
                  <a:cubicBezTo>
                    <a:pt x="403" y="388"/>
                    <a:pt x="401" y="390"/>
                    <a:pt x="399" y="392"/>
                  </a:cubicBezTo>
                  <a:cubicBezTo>
                    <a:pt x="401" y="390"/>
                    <a:pt x="403" y="388"/>
                    <a:pt x="406" y="385"/>
                  </a:cubicBezTo>
                  <a:close/>
                  <a:moveTo>
                    <a:pt x="449" y="312"/>
                  </a:moveTo>
                  <a:cubicBezTo>
                    <a:pt x="448" y="313"/>
                    <a:pt x="448" y="314"/>
                    <a:pt x="447" y="316"/>
                  </a:cubicBezTo>
                  <a:cubicBezTo>
                    <a:pt x="448" y="314"/>
                    <a:pt x="448" y="313"/>
                    <a:pt x="449" y="312"/>
                  </a:cubicBezTo>
                  <a:close/>
                  <a:moveTo>
                    <a:pt x="444" y="325"/>
                  </a:moveTo>
                  <a:cubicBezTo>
                    <a:pt x="443" y="327"/>
                    <a:pt x="442" y="328"/>
                    <a:pt x="441" y="330"/>
                  </a:cubicBezTo>
                  <a:cubicBezTo>
                    <a:pt x="442" y="328"/>
                    <a:pt x="443" y="327"/>
                    <a:pt x="444" y="325"/>
                  </a:cubicBezTo>
                  <a:close/>
                  <a:moveTo>
                    <a:pt x="437" y="338"/>
                  </a:moveTo>
                  <a:cubicBezTo>
                    <a:pt x="437" y="340"/>
                    <a:pt x="436" y="342"/>
                    <a:pt x="435" y="343"/>
                  </a:cubicBezTo>
                  <a:cubicBezTo>
                    <a:pt x="436" y="342"/>
                    <a:pt x="437" y="340"/>
                    <a:pt x="437" y="338"/>
                  </a:cubicBezTo>
                  <a:close/>
                  <a:moveTo>
                    <a:pt x="431" y="351"/>
                  </a:moveTo>
                  <a:cubicBezTo>
                    <a:pt x="429" y="353"/>
                    <a:pt x="428" y="354"/>
                    <a:pt x="427" y="356"/>
                  </a:cubicBezTo>
                  <a:cubicBezTo>
                    <a:pt x="428" y="354"/>
                    <a:pt x="429" y="353"/>
                    <a:pt x="431" y="351"/>
                  </a:cubicBezTo>
                  <a:close/>
                  <a:moveTo>
                    <a:pt x="423" y="363"/>
                  </a:moveTo>
                  <a:cubicBezTo>
                    <a:pt x="422" y="365"/>
                    <a:pt x="420" y="367"/>
                    <a:pt x="419" y="369"/>
                  </a:cubicBezTo>
                  <a:cubicBezTo>
                    <a:pt x="420" y="367"/>
                    <a:pt x="422" y="365"/>
                    <a:pt x="423" y="363"/>
                  </a:cubicBezTo>
                  <a:close/>
                  <a:moveTo>
                    <a:pt x="415" y="374"/>
                  </a:moveTo>
                  <a:cubicBezTo>
                    <a:pt x="413" y="376"/>
                    <a:pt x="411" y="379"/>
                    <a:pt x="409" y="381"/>
                  </a:cubicBezTo>
                  <a:cubicBezTo>
                    <a:pt x="411" y="379"/>
                    <a:pt x="413" y="376"/>
                    <a:pt x="415" y="374"/>
                  </a:cubicBezTo>
                  <a:close/>
                </a:path>
              </a:pathLst>
            </a:custGeom>
            <a:solidFill>
              <a:srgbClr val="0195BC"/>
            </a:solidFill>
            <a:ln>
              <a:noFill/>
            </a:ln>
            <a:effectLst/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kern="0">
                <a:solidFill>
                  <a:srgbClr val="EF314C"/>
                </a:solidFill>
              </a:endParaRPr>
            </a:p>
          </p:txBody>
        </p:sp>
      </p:grpSp>
      <p:sp>
        <p:nvSpPr>
          <p:cNvPr id="13" name="TextBox 20">
            <a:extLst>
              <a:ext uri="{FF2B5EF4-FFF2-40B4-BE49-F238E27FC236}">
                <a16:creationId xmlns:a16="http://schemas.microsoft.com/office/drawing/2014/main" id="{0DE32EE3-1DE7-18F8-8B09-B288B95BF772}"/>
              </a:ext>
            </a:extLst>
          </p:cNvPr>
          <p:cNvSpPr txBox="1"/>
          <p:nvPr/>
        </p:nvSpPr>
        <p:spPr>
          <a:xfrm>
            <a:off x="6374424" y="1889497"/>
            <a:ext cx="2458845" cy="8716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262626"/>
                </a:solidFill>
              </a:rPr>
              <a:t>Implantar o aplicativo em quantos clientes quisermos (o limite será a equipe técnica, e não o custo de licenças)</a:t>
            </a:r>
          </a:p>
        </p:txBody>
      </p:sp>
      <p:sp>
        <p:nvSpPr>
          <p:cNvPr id="14" name="TextBox 21">
            <a:extLst>
              <a:ext uri="{FF2B5EF4-FFF2-40B4-BE49-F238E27FC236}">
                <a16:creationId xmlns:a16="http://schemas.microsoft.com/office/drawing/2014/main" id="{C3B57313-899D-7C53-C62A-2F48715CAE51}"/>
              </a:ext>
            </a:extLst>
          </p:cNvPr>
          <p:cNvSpPr txBox="1"/>
          <p:nvPr/>
        </p:nvSpPr>
        <p:spPr>
          <a:xfrm>
            <a:off x="6388712" y="1347861"/>
            <a:ext cx="2592288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71CBD0"/>
                </a:solidFill>
                <a:latin typeface="+mj-lt"/>
              </a:rPr>
              <a:t>Desenvolver uma solução de baixo custo e alta escalabilidade</a:t>
            </a:r>
          </a:p>
        </p:txBody>
      </p:sp>
      <p:sp>
        <p:nvSpPr>
          <p:cNvPr id="15" name="TextBox 25">
            <a:extLst>
              <a:ext uri="{FF2B5EF4-FFF2-40B4-BE49-F238E27FC236}">
                <a16:creationId xmlns:a16="http://schemas.microsoft.com/office/drawing/2014/main" id="{006762DB-7025-9349-7673-D65734645A85}"/>
              </a:ext>
            </a:extLst>
          </p:cNvPr>
          <p:cNvSpPr txBox="1"/>
          <p:nvPr/>
        </p:nvSpPr>
        <p:spPr>
          <a:xfrm>
            <a:off x="6408204" y="3867545"/>
            <a:ext cx="1978120" cy="6500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262626"/>
                </a:solidFill>
              </a:rPr>
              <a:t>Nossos clientes reclamam do suporte fraco prestado </a:t>
            </a:r>
            <a:r>
              <a:rPr lang="en-US" sz="1200" dirty="0" err="1">
                <a:solidFill>
                  <a:srgbClr val="262626"/>
                </a:solidFill>
              </a:rPr>
              <a:t>pelo</a:t>
            </a:r>
            <a:r>
              <a:rPr lang="en-US" sz="1200" dirty="0">
                <a:solidFill>
                  <a:srgbClr val="262626"/>
                </a:solidFill>
              </a:rPr>
              <a:t> TGC e </a:t>
            </a:r>
            <a:r>
              <a:rPr lang="en-US" sz="1200" dirty="0" err="1">
                <a:solidFill>
                  <a:srgbClr val="262626"/>
                </a:solidFill>
              </a:rPr>
              <a:t>concorrentes</a:t>
            </a:r>
            <a:r>
              <a:rPr lang="en-US" sz="1200" dirty="0">
                <a:solidFill>
                  <a:srgbClr val="262626"/>
                </a:solidFill>
              </a:rPr>
              <a:t>.</a:t>
            </a:r>
          </a:p>
        </p:txBody>
      </p:sp>
      <p:sp>
        <p:nvSpPr>
          <p:cNvPr id="16" name="TextBox 26">
            <a:extLst>
              <a:ext uri="{FF2B5EF4-FFF2-40B4-BE49-F238E27FC236}">
                <a16:creationId xmlns:a16="http://schemas.microsoft.com/office/drawing/2014/main" id="{0D20618E-2F69-5DBF-DC5A-BD6C1AF8CCD2}"/>
              </a:ext>
            </a:extLst>
          </p:cNvPr>
          <p:cNvSpPr txBox="1"/>
          <p:nvPr/>
        </p:nvSpPr>
        <p:spPr>
          <a:xfrm>
            <a:off x="6408205" y="3229445"/>
            <a:ext cx="2592288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500" b="1" dirty="0">
                <a:solidFill>
                  <a:srgbClr val="26B2CE"/>
                </a:solidFill>
                <a:latin typeface="+mj-lt"/>
              </a:rPr>
              <a:t>Eliminar dependência de fornecedor mediano</a:t>
            </a:r>
          </a:p>
        </p:txBody>
      </p:sp>
      <p:sp>
        <p:nvSpPr>
          <p:cNvPr id="17" name="TextBox 27">
            <a:extLst>
              <a:ext uri="{FF2B5EF4-FFF2-40B4-BE49-F238E27FC236}">
                <a16:creationId xmlns:a16="http://schemas.microsoft.com/office/drawing/2014/main" id="{65AB0A70-C072-8358-3AC8-1C95A7B8F884}"/>
              </a:ext>
            </a:extLst>
          </p:cNvPr>
          <p:cNvSpPr txBox="1"/>
          <p:nvPr/>
        </p:nvSpPr>
        <p:spPr>
          <a:xfrm>
            <a:off x="569978" y="2072733"/>
            <a:ext cx="1978120" cy="42845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ct val="120000"/>
              </a:lnSpc>
            </a:pPr>
            <a:r>
              <a:rPr lang="en-US" sz="1200">
                <a:solidFill>
                  <a:srgbClr val="262626"/>
                </a:solidFill>
              </a:rPr>
              <a:t>Aumentar a fidelização e evitar a perda de clientes atuais.</a:t>
            </a:r>
          </a:p>
        </p:txBody>
      </p:sp>
      <p:sp>
        <p:nvSpPr>
          <p:cNvPr id="18" name="TextBox 28">
            <a:extLst>
              <a:ext uri="{FF2B5EF4-FFF2-40B4-BE49-F238E27FC236}">
                <a16:creationId xmlns:a16="http://schemas.microsoft.com/office/drawing/2014/main" id="{7EA496D5-2865-7AB8-CF40-A0BCEAD74FB0}"/>
              </a:ext>
            </a:extLst>
          </p:cNvPr>
          <p:cNvSpPr txBox="1"/>
          <p:nvPr/>
        </p:nvSpPr>
        <p:spPr>
          <a:xfrm>
            <a:off x="305526" y="1599642"/>
            <a:ext cx="2236829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1500" b="1">
                <a:solidFill>
                  <a:srgbClr val="246C97"/>
                </a:solidFill>
                <a:latin typeface="+mj-lt"/>
              </a:rPr>
              <a:t>Defender nossa base atual de clientes</a:t>
            </a:r>
          </a:p>
        </p:txBody>
      </p:sp>
      <p:sp>
        <p:nvSpPr>
          <p:cNvPr id="19" name="TextBox 29">
            <a:extLst>
              <a:ext uri="{FF2B5EF4-FFF2-40B4-BE49-F238E27FC236}">
                <a16:creationId xmlns:a16="http://schemas.microsoft.com/office/drawing/2014/main" id="{87DFAB21-AA01-672C-1D5A-ABD8C49B1B00}"/>
              </a:ext>
            </a:extLst>
          </p:cNvPr>
          <p:cNvSpPr txBox="1"/>
          <p:nvPr/>
        </p:nvSpPr>
        <p:spPr>
          <a:xfrm>
            <a:off x="564235" y="3541781"/>
            <a:ext cx="1978120" cy="131484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262626"/>
                </a:solidFill>
              </a:rPr>
              <a:t>Já temos produtos premium e serviços técnicos. Com o Feedlot App, conseguiremos entrar nos clientes de confinamento mais importantes do mercado.</a:t>
            </a:r>
          </a:p>
        </p:txBody>
      </p:sp>
      <p:sp>
        <p:nvSpPr>
          <p:cNvPr id="20" name="TextBox 30">
            <a:extLst>
              <a:ext uri="{FF2B5EF4-FFF2-40B4-BE49-F238E27FC236}">
                <a16:creationId xmlns:a16="http://schemas.microsoft.com/office/drawing/2014/main" id="{2C52DD92-2745-AB80-0615-62A45B3FCD48}"/>
              </a:ext>
            </a:extLst>
          </p:cNvPr>
          <p:cNvSpPr txBox="1"/>
          <p:nvPr/>
        </p:nvSpPr>
        <p:spPr>
          <a:xfrm>
            <a:off x="616122" y="3229445"/>
            <a:ext cx="1926233" cy="2308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1500" b="1">
                <a:solidFill>
                  <a:srgbClr val="0195BC"/>
                </a:solidFill>
                <a:latin typeface="+mj-lt"/>
              </a:rPr>
              <a:t>Prospectar novos clientes</a:t>
            </a:r>
          </a:p>
        </p:txBody>
      </p:sp>
      <p:cxnSp>
        <p:nvCxnSpPr>
          <p:cNvPr id="22" name="Straight Connector 34">
            <a:extLst>
              <a:ext uri="{FF2B5EF4-FFF2-40B4-BE49-F238E27FC236}">
                <a16:creationId xmlns:a16="http://schemas.microsoft.com/office/drawing/2014/main" id="{94BF73D8-0424-58C7-23B6-3CC7C8F0CA34}"/>
              </a:ext>
            </a:extLst>
          </p:cNvPr>
          <p:cNvCxnSpPr>
            <a:cxnSpLocks/>
          </p:cNvCxnSpPr>
          <p:nvPr/>
        </p:nvCxnSpPr>
        <p:spPr>
          <a:xfrm>
            <a:off x="6408205" y="2875594"/>
            <a:ext cx="1878107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37">
            <a:extLst>
              <a:ext uri="{FF2B5EF4-FFF2-40B4-BE49-F238E27FC236}">
                <a16:creationId xmlns:a16="http://schemas.microsoft.com/office/drawing/2014/main" id="{D20B563F-0D01-910A-1D9F-97DCCC1161B8}"/>
              </a:ext>
            </a:extLst>
          </p:cNvPr>
          <p:cNvCxnSpPr>
            <a:cxnSpLocks/>
          </p:cNvCxnSpPr>
          <p:nvPr/>
        </p:nvCxnSpPr>
        <p:spPr>
          <a:xfrm>
            <a:off x="664248" y="2875594"/>
            <a:ext cx="1878107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Shield variant with white and black borders - Free shapes icons">
            <a:extLst>
              <a:ext uri="{FF2B5EF4-FFF2-40B4-BE49-F238E27FC236}">
                <a16:creationId xmlns:a16="http://schemas.microsoft.com/office/drawing/2014/main" id="{C1EA4ECB-8456-58D9-9368-181B11F08F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8874" y="1882845"/>
            <a:ext cx="499439" cy="4994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Attack - Free gaming icons">
            <a:extLst>
              <a:ext uri="{FF2B5EF4-FFF2-40B4-BE49-F238E27FC236}">
                <a16:creationId xmlns:a16="http://schemas.microsoft.com/office/drawing/2014/main" id="{49F54663-4F8E-A609-6967-4E8B8F2F37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2499" y="3402032"/>
            <a:ext cx="509938" cy="509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Scalability Icon - Free PNG &amp; SVG 1988846 - Noun Project">
            <a:extLst>
              <a:ext uri="{FF2B5EF4-FFF2-40B4-BE49-F238E27FC236}">
                <a16:creationId xmlns:a16="http://schemas.microsoft.com/office/drawing/2014/main" id="{249122A5-1823-7A1B-0802-DA6E241C64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2520" y="1882845"/>
            <a:ext cx="499439" cy="4994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Dependencies - Free networking icons">
            <a:extLst>
              <a:ext uri="{FF2B5EF4-FFF2-40B4-BE49-F238E27FC236}">
                <a16:creationId xmlns:a16="http://schemas.microsoft.com/office/drawing/2014/main" id="{8DAD9F1F-F22A-86FD-B87B-5E65344757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1099" y="3340064"/>
            <a:ext cx="629546" cy="6295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800604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versões, dois papéis na estratégia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TN Manager Web abre a porta e prepara o cliente para migrar à versão completa.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4398264"/>
            <a:ext cx="4572000" cy="7429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2148840" y="1143000"/>
            <a:ext cx="3200400" cy="365760"/>
          </a:xfrm>
          <a:prstGeom prst="rect">
            <a:avLst/>
          </a:prstGeom>
          <a:solidFill>
            <a:srgbClr val="26668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 Manager (escopo da v1.0)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0" y="1143000"/>
            <a:ext cx="3200400" cy="365760"/>
          </a:xfrm>
          <a:prstGeom prst="rect">
            <a:avLst/>
          </a:prstGeom>
          <a:solidFill>
            <a:srgbClr val="C8106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 Manager Web (proposta v2.0)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1600200"/>
            <a:ext cx="8229600" cy="420624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548640" y="1600200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quem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2240280" y="1600200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Grandes confinamentos com balança, vagão e equipe estruturada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577840" y="1600200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Confinamentos com registro manual (hipótese)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48640" y="2057400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de dados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2240280" y="2057400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com hardware e coleta automática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577840" y="2057400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 err="1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Lançamento</a:t>
            </a:r>
            <a:r>
              <a:rPr lang="en-US" sz="10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manual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57200" y="2514600"/>
            <a:ext cx="8229600" cy="420624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/>
          <p:nvPr/>
        </p:nvSpPr>
        <p:spPr>
          <a:xfrm>
            <a:off x="548640" y="2514600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2240280" y="2514600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Nuvem e terminal offline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577840" y="2514600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Navegador, no computador ou no celular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48640" y="2971800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Escopo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2240280" y="2971800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completa, integrações e módulos adicionais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577840" y="2971800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e </a:t>
            </a:r>
            <a:r>
              <a:rPr lang="en-US" sz="1000" b="1" dirty="0" err="1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</a:t>
            </a:r>
            <a:r>
              <a:rPr lang="en-US" sz="10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b="1" dirty="0" err="1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essenciais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57200" y="3429000"/>
            <a:ext cx="8229600" cy="420624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0"/>
          <p:cNvSpPr/>
          <p:nvPr/>
        </p:nvSpPr>
        <p:spPr>
          <a:xfrm>
            <a:off x="548640" y="3429000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Implantação e suporte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2240280" y="3429000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de implantação com equipe dedicada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5577840" y="3429000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Técnico TN que já atende a fazenda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548640" y="3886200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Papel na estratégia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2240280" y="3886200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Defender contas A+ e B+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5577840" y="3886200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Defender </a:t>
            </a:r>
            <a:r>
              <a:rPr lang="en-US" sz="1000" b="1" dirty="0" err="1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contas</a:t>
            </a:r>
            <a:r>
              <a:rPr lang="en-US" sz="10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000" b="1" dirty="0" err="1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qualquer</a:t>
            </a:r>
            <a:r>
              <a:rPr lang="en-US" sz="10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b="1" dirty="0" err="1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tamanho</a:t>
            </a:r>
            <a:r>
              <a:rPr lang="en-US" sz="10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ferramenta </a:t>
            </a:r>
            <a:r>
              <a:rPr lang="en-US" sz="1000" b="1" dirty="0" err="1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escalável</a:t>
            </a:r>
            <a:r>
              <a:rPr lang="en-US" sz="10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000" b="1" dirty="0" err="1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prospecção</a:t>
            </a:r>
            <a:r>
              <a:rPr lang="en-US" sz="10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(com </a:t>
            </a:r>
            <a:r>
              <a:rPr lang="en-US" sz="1000" b="1" dirty="0" err="1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baixo</a:t>
            </a:r>
            <a:r>
              <a:rPr lang="en-US" sz="10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b="1" dirty="0" err="1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</a:t>
            </a:r>
            <a:r>
              <a:rPr lang="en-US" sz="10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 mínimo: o que entra no TN Manager Web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Priorização MoSCoW. Só a primeira coluna é obrigatória para o piloto.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4398264"/>
            <a:ext cx="4572000" cy="7429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1188720"/>
            <a:ext cx="1965960" cy="566928"/>
          </a:xfrm>
          <a:prstGeom prst="rect">
            <a:avLst/>
          </a:prstGeom>
          <a:solidFill>
            <a:srgbClr val="C8106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566928" y="1225296"/>
            <a:ext cx="1746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Precisa ter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66928" y="1481328"/>
            <a:ext cx="1746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versão 0.1, piloto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57200" y="1755648"/>
            <a:ext cx="1965960" cy="2542032"/>
          </a:xfrm>
          <a:prstGeom prst="rect">
            <a:avLst/>
          </a:prstGeom>
          <a:solidFill>
            <a:srgbClr val="FBE7F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512064" y="1847088"/>
            <a:ext cx="183794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de fazenda, currais e lotes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Lançamento diário de trato por curral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de cocho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Entradas, pesagens, saídas, mortes e enfermaria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Painel: consumo de matéria seca, GMD, dias de cocho e mortalidade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semanal em PDF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532888" y="1188720"/>
            <a:ext cx="1965960" cy="566928"/>
          </a:xfrm>
          <a:prstGeom prst="rect">
            <a:avLst/>
          </a:prstGeom>
          <a:solidFill>
            <a:srgbClr val="1B3A8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2642616" y="1225296"/>
            <a:ext cx="1746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Deveria ter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2642616" y="1481328"/>
            <a:ext cx="1746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versão 0.2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2532888" y="1755648"/>
            <a:ext cx="1965960" cy="2542032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2587752" y="1847088"/>
            <a:ext cx="183794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de dietas com correção de matéria seca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por lote e por arroba produzida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simples de consumo fora do previsto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608576" y="1188720"/>
            <a:ext cx="1965960" cy="566928"/>
          </a:xfrm>
          <a:prstGeom prst="rect">
            <a:avLst/>
          </a:prstGeom>
          <a:solidFill>
            <a:srgbClr val="0096B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4718304" y="1225296"/>
            <a:ext cx="1746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Poderia ter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718304" y="1481328"/>
            <a:ext cx="1746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versão 0.3 em diante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608576" y="1755648"/>
            <a:ext cx="1965960" cy="2542032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7"/>
          <p:cNvSpPr/>
          <p:nvPr/>
        </p:nvSpPr>
        <p:spPr>
          <a:xfrm>
            <a:off x="4663440" y="1847088"/>
            <a:ext cx="183794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Importação de planilha existente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Comparativo entre lotes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anônimo entre fazendas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684264" y="1188720"/>
            <a:ext cx="1965960" cy="566928"/>
          </a:xfrm>
          <a:prstGeom prst="rect">
            <a:avLst/>
          </a:prstGeom>
          <a:solidFill>
            <a:srgbClr val="7A85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19"/>
          <p:cNvSpPr/>
          <p:nvPr/>
        </p:nvSpPr>
        <p:spPr>
          <a:xfrm>
            <a:off x="6793992" y="1225296"/>
            <a:ext cx="1746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terá agora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793992" y="1481328"/>
            <a:ext cx="1746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fica para a versão completa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6684264" y="1755648"/>
            <a:ext cx="1965960" cy="2542032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2"/>
          <p:cNvSpPr/>
          <p:nvPr/>
        </p:nvSpPr>
        <p:spPr>
          <a:xfrm>
            <a:off x="6739128" y="1847088"/>
            <a:ext cx="183794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com balança, vagão e hardware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Aplicativo nativo offline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Fidelidade e sustentabilidade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Recria, leite e outras espécies</a:t>
            </a:r>
            <a:endParaRPr lang="en-US" sz="9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pesquisa: três frentes antes de construir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Itens 2.1, 2.1.1 e 2.2 do cronograma, nas semanas 2 e 3.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4398264"/>
            <a:ext cx="4572000" cy="7429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1143000"/>
            <a:ext cx="2606040" cy="658368"/>
          </a:xfrm>
          <a:prstGeom prst="rect">
            <a:avLst/>
          </a:prstGeom>
          <a:solidFill>
            <a:srgbClr val="1B3A8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4"/>
          <p:cNvSpPr/>
          <p:nvPr/>
        </p:nvSpPr>
        <p:spPr>
          <a:xfrm>
            <a:off x="566928" y="1243584"/>
            <a:ext cx="457200" cy="457200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" y="1353312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15568" y="121615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Aderência interna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1115568" y="148132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 com stakeholders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457200" y="1801368"/>
            <a:ext cx="2606040" cy="2542032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8"/>
          <p:cNvSpPr/>
          <p:nvPr/>
        </p:nvSpPr>
        <p:spPr>
          <a:xfrm>
            <a:off x="585216" y="1874520"/>
            <a:ext cx="2350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585216" y="2057400"/>
            <a:ext cx="2350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entendimento e apoio entre quem pode acelerar ou travar o projeto na Trouw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585216" y="2487168"/>
            <a:ext cx="2350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585216" y="2670048"/>
            <a:ext cx="2350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Diretoria Beef, gerência comercial, técnicos, RTVs, TI e marketing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585216" y="3099816"/>
            <a:ext cx="2350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585216" y="3282696"/>
            <a:ext cx="2350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 semiestruturada de 30 a 45 minutos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585216" y="3712464"/>
            <a:ext cx="2350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585216" y="3895344"/>
            <a:ext cx="2350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aderência e lista de objeções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3246120" y="1143000"/>
            <a:ext cx="2606040" cy="658368"/>
          </a:xfrm>
          <a:prstGeom prst="rect">
            <a:avLst/>
          </a:prstGeom>
          <a:solidFill>
            <a:srgbClr val="2666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Shape 17"/>
          <p:cNvSpPr/>
          <p:nvPr/>
        </p:nvSpPr>
        <p:spPr>
          <a:xfrm>
            <a:off x="3355848" y="1243584"/>
            <a:ext cx="457200" cy="457200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65576" y="1353312"/>
            <a:ext cx="237744" cy="23774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3904488" y="121615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externo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3904488" y="148132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concorrentes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3246120" y="1801368"/>
            <a:ext cx="2606040" cy="2542032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1"/>
          <p:cNvSpPr/>
          <p:nvPr/>
        </p:nvSpPr>
        <p:spPr>
          <a:xfrm>
            <a:off x="3374136" y="1874520"/>
            <a:ext cx="2350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266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800" dirty="0"/>
          </a:p>
        </p:txBody>
      </p:sp>
      <p:sp>
        <p:nvSpPr>
          <p:cNvPr id="27" name="Text 22"/>
          <p:cNvSpPr/>
          <p:nvPr/>
        </p:nvSpPr>
        <p:spPr>
          <a:xfrm>
            <a:off x="3374136" y="2057400"/>
            <a:ext cx="2350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fortes e fracos dos sistemas do mercado</a:t>
            </a:r>
            <a:endParaRPr lang="en-US" sz="950" dirty="0"/>
          </a:p>
        </p:txBody>
      </p:sp>
      <p:sp>
        <p:nvSpPr>
          <p:cNvPr id="28" name="Text 23"/>
          <p:cNvSpPr/>
          <p:nvPr/>
        </p:nvSpPr>
        <p:spPr>
          <a:xfrm>
            <a:off x="3374136" y="2487168"/>
            <a:ext cx="2350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266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</a:t>
            </a:r>
            <a:endParaRPr lang="en-US" sz="800" dirty="0"/>
          </a:p>
        </p:txBody>
      </p:sp>
      <p:sp>
        <p:nvSpPr>
          <p:cNvPr id="29" name="Text 24"/>
          <p:cNvSpPr/>
          <p:nvPr/>
        </p:nvSpPr>
        <p:spPr>
          <a:xfrm>
            <a:off x="3374136" y="2670048"/>
            <a:ext cx="2350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Auditorias que usam vários sistemas e consultores com sistema próprio</a:t>
            </a:r>
            <a:endParaRPr lang="en-US" sz="950" dirty="0"/>
          </a:p>
        </p:txBody>
      </p:sp>
      <p:sp>
        <p:nvSpPr>
          <p:cNvPr id="30" name="Text 25"/>
          <p:cNvSpPr/>
          <p:nvPr/>
        </p:nvSpPr>
        <p:spPr>
          <a:xfrm>
            <a:off x="3374136" y="3099816"/>
            <a:ext cx="2350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266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</a:t>
            </a:r>
            <a:endParaRPr lang="en-US" sz="800" dirty="0"/>
          </a:p>
        </p:txBody>
      </p:sp>
      <p:sp>
        <p:nvSpPr>
          <p:cNvPr id="31" name="Text 26"/>
          <p:cNvSpPr/>
          <p:nvPr/>
        </p:nvSpPr>
        <p:spPr>
          <a:xfrm>
            <a:off x="3374136" y="3282696"/>
            <a:ext cx="2350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 com demonstração guiada</a:t>
            </a:r>
            <a:endParaRPr lang="en-US" sz="950" dirty="0"/>
          </a:p>
        </p:txBody>
      </p:sp>
      <p:sp>
        <p:nvSpPr>
          <p:cNvPr id="32" name="Text 27"/>
          <p:cNvSpPr/>
          <p:nvPr/>
        </p:nvSpPr>
        <p:spPr>
          <a:xfrm>
            <a:off x="3374136" y="3712464"/>
            <a:ext cx="2350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266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</a:t>
            </a:r>
            <a:endParaRPr lang="en-US" sz="800" dirty="0"/>
          </a:p>
        </p:txBody>
      </p:sp>
      <p:sp>
        <p:nvSpPr>
          <p:cNvPr id="33" name="Text 28"/>
          <p:cNvSpPr/>
          <p:nvPr/>
        </p:nvSpPr>
        <p:spPr>
          <a:xfrm>
            <a:off x="3374136" y="3895344"/>
            <a:ext cx="2350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funcionalidades, dores e soluções já testadas</a:t>
            </a:r>
            <a:endParaRPr lang="en-US" sz="950" dirty="0"/>
          </a:p>
        </p:txBody>
      </p:sp>
      <p:sp>
        <p:nvSpPr>
          <p:cNvPr id="34" name="Shape 29"/>
          <p:cNvSpPr/>
          <p:nvPr/>
        </p:nvSpPr>
        <p:spPr>
          <a:xfrm>
            <a:off x="6035040" y="1143000"/>
            <a:ext cx="2606040" cy="658368"/>
          </a:xfrm>
          <a:prstGeom prst="rect">
            <a:avLst/>
          </a:prstGeom>
          <a:solidFill>
            <a:srgbClr val="C8106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5" name="Shape 30"/>
          <p:cNvSpPr/>
          <p:nvPr/>
        </p:nvSpPr>
        <p:spPr>
          <a:xfrm>
            <a:off x="6144768" y="1243584"/>
            <a:ext cx="457200" cy="457200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4496" y="1353312"/>
            <a:ext cx="237744" cy="237744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6693408" y="121615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com clientes</a:t>
            </a:r>
            <a:endParaRPr lang="en-US" sz="1300" dirty="0"/>
          </a:p>
        </p:txBody>
      </p:sp>
      <p:sp>
        <p:nvSpPr>
          <p:cNvPr id="38" name="Text 32"/>
          <p:cNvSpPr/>
          <p:nvPr/>
        </p:nvSpPr>
        <p:spPr>
          <a:xfrm>
            <a:off x="6693408" y="148132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Incluindo detratores</a:t>
            </a:r>
            <a:endParaRPr lang="en-US" sz="950" dirty="0"/>
          </a:p>
        </p:txBody>
      </p:sp>
      <p:sp>
        <p:nvSpPr>
          <p:cNvPr id="39" name="Shape 33"/>
          <p:cNvSpPr/>
          <p:nvPr/>
        </p:nvSpPr>
        <p:spPr>
          <a:xfrm>
            <a:off x="6035040" y="1801368"/>
            <a:ext cx="2606040" cy="2542032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0" name="Text 34"/>
          <p:cNvSpPr/>
          <p:nvPr/>
        </p:nvSpPr>
        <p:spPr>
          <a:xfrm>
            <a:off x="6163056" y="1874520"/>
            <a:ext cx="2350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800" dirty="0"/>
          </a:p>
        </p:txBody>
      </p:sp>
      <p:sp>
        <p:nvSpPr>
          <p:cNvPr id="41" name="Text 35"/>
          <p:cNvSpPr/>
          <p:nvPr/>
        </p:nvSpPr>
        <p:spPr>
          <a:xfrm>
            <a:off x="6163056" y="2057400"/>
            <a:ext cx="2350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Percepção real de valor e dores antes de construir</a:t>
            </a:r>
            <a:endParaRPr lang="en-US" sz="950" dirty="0"/>
          </a:p>
        </p:txBody>
      </p:sp>
      <p:sp>
        <p:nvSpPr>
          <p:cNvPr id="42" name="Text 36"/>
          <p:cNvSpPr/>
          <p:nvPr/>
        </p:nvSpPr>
        <p:spPr>
          <a:xfrm>
            <a:off x="6163056" y="2487168"/>
            <a:ext cx="2350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</a:t>
            </a:r>
            <a:endParaRPr lang="en-US" sz="800" dirty="0"/>
          </a:p>
        </p:txBody>
      </p:sp>
      <p:sp>
        <p:nvSpPr>
          <p:cNvPr id="43" name="Text 37"/>
          <p:cNvSpPr/>
          <p:nvPr/>
        </p:nvSpPr>
        <p:spPr>
          <a:xfrm>
            <a:off x="6163056" y="2670048"/>
            <a:ext cx="2350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Clientes, ex-clientes e não clientes</a:t>
            </a:r>
            <a:endParaRPr lang="en-US" sz="950" dirty="0"/>
          </a:p>
        </p:txBody>
      </p:sp>
      <p:sp>
        <p:nvSpPr>
          <p:cNvPr id="44" name="Text 38"/>
          <p:cNvSpPr/>
          <p:nvPr/>
        </p:nvSpPr>
        <p:spPr>
          <a:xfrm>
            <a:off x="6163056" y="3099816"/>
            <a:ext cx="2350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</a:t>
            </a:r>
            <a:endParaRPr lang="en-US" sz="800" dirty="0"/>
          </a:p>
        </p:txBody>
      </p:sp>
      <p:sp>
        <p:nvSpPr>
          <p:cNvPr id="45" name="Text 39"/>
          <p:cNvSpPr/>
          <p:nvPr/>
        </p:nvSpPr>
        <p:spPr>
          <a:xfrm>
            <a:off x="6163056" y="3282696"/>
            <a:ext cx="2350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Formulário estruturado e entrevista curta</a:t>
            </a:r>
            <a:endParaRPr lang="en-US" sz="950" dirty="0"/>
          </a:p>
        </p:txBody>
      </p:sp>
      <p:sp>
        <p:nvSpPr>
          <p:cNvPr id="46" name="Text 40"/>
          <p:cNvSpPr/>
          <p:nvPr/>
        </p:nvSpPr>
        <p:spPr>
          <a:xfrm>
            <a:off x="6163056" y="3712464"/>
            <a:ext cx="2350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</a:t>
            </a:r>
            <a:endParaRPr lang="en-US" sz="800" dirty="0"/>
          </a:p>
        </p:txBody>
      </p:sp>
      <p:sp>
        <p:nvSpPr>
          <p:cNvPr id="47" name="Text 41"/>
          <p:cNvSpPr/>
          <p:nvPr/>
        </p:nvSpPr>
        <p:spPr>
          <a:xfrm>
            <a:off x="6163056" y="3895344"/>
            <a:ext cx="2350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de cliente validado e ranking de dores</a:t>
            </a:r>
            <a:endParaRPr lang="en-US" sz="9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Discovery: no mínimo 30 fazendas, com detratores na amostra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Composição proposta para evitar uma amostra feita só de clientes satisfeitos.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4398264"/>
            <a:ext cx="4572000" cy="7429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65760" y="1143000"/>
          <a:ext cx="310896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 3"/>
          <p:cNvSpPr/>
          <p:nvPr/>
        </p:nvSpPr>
        <p:spPr>
          <a:xfrm>
            <a:off x="1463040" y="21488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3000" dirty="0"/>
          </a:p>
        </p:txBody>
      </p:sp>
      <p:sp>
        <p:nvSpPr>
          <p:cNvPr id="8" name="Text 4"/>
          <p:cNvSpPr/>
          <p:nvPr/>
        </p:nvSpPr>
        <p:spPr>
          <a:xfrm>
            <a:off x="1463040" y="25786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fazendas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411480" y="4041648"/>
            <a:ext cx="118872" cy="118872"/>
          </a:xfrm>
          <a:prstGeom prst="rect">
            <a:avLst/>
          </a:prstGeom>
          <a:solidFill>
            <a:srgbClr val="1B3A8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6"/>
          <p:cNvSpPr/>
          <p:nvPr/>
        </p:nvSpPr>
        <p:spPr>
          <a:xfrm>
            <a:off x="576072" y="39959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ativos</a:t>
            </a:r>
            <a:endParaRPr lang="en-US" sz="850" dirty="0"/>
          </a:p>
        </p:txBody>
      </p:sp>
      <p:sp>
        <p:nvSpPr>
          <p:cNvPr id="11" name="Shape 7"/>
          <p:cNvSpPr/>
          <p:nvPr/>
        </p:nvSpPr>
        <p:spPr>
          <a:xfrm>
            <a:off x="1371600" y="4041648"/>
            <a:ext cx="118872" cy="118872"/>
          </a:xfrm>
          <a:prstGeom prst="rect">
            <a:avLst/>
          </a:prstGeom>
          <a:solidFill>
            <a:srgbClr val="0096B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8"/>
          <p:cNvSpPr/>
          <p:nvPr/>
        </p:nvSpPr>
        <p:spPr>
          <a:xfrm>
            <a:off x="1536192" y="399592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clientes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2286000" y="4041648"/>
            <a:ext cx="118872" cy="118872"/>
          </a:xfrm>
          <a:prstGeom prst="rect">
            <a:avLst/>
          </a:prstGeom>
          <a:solidFill>
            <a:srgbClr val="C8106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0"/>
          <p:cNvSpPr/>
          <p:nvPr/>
        </p:nvSpPr>
        <p:spPr>
          <a:xfrm>
            <a:off x="2450592" y="399592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Ex-clientes e detratores</a:t>
            </a: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3840480" y="11430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Blocos do formulário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3840480" y="1508760"/>
            <a:ext cx="2331720" cy="786384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3"/>
          <p:cNvSpPr/>
          <p:nvPr/>
        </p:nvSpPr>
        <p:spPr>
          <a:xfrm>
            <a:off x="3931920" y="16002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4279392" y="1600200"/>
            <a:ext cx="18105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da operação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4279392" y="1856232"/>
            <a:ext cx="1810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Porte, ciclo, equipe e quem lança os dados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6291072" y="1508760"/>
            <a:ext cx="2331720" cy="786384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7"/>
          <p:cNvSpPr/>
          <p:nvPr/>
        </p:nvSpPr>
        <p:spPr>
          <a:xfrm>
            <a:off x="6382512" y="16002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22" name="Text 18"/>
          <p:cNvSpPr/>
          <p:nvPr/>
        </p:nvSpPr>
        <p:spPr>
          <a:xfrm>
            <a:off x="6729984" y="1600200"/>
            <a:ext cx="18105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registra hoje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6729984" y="1856232"/>
            <a:ext cx="1810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Papel, planilha ou software, e quanto tempo gasta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3840480" y="2404872"/>
            <a:ext cx="2331720" cy="786384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1"/>
          <p:cNvSpPr/>
          <p:nvPr/>
        </p:nvSpPr>
        <p:spPr>
          <a:xfrm>
            <a:off x="3931920" y="2496312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6" name="Text 22"/>
          <p:cNvSpPr/>
          <p:nvPr/>
        </p:nvSpPr>
        <p:spPr>
          <a:xfrm>
            <a:off x="4279392" y="2496312"/>
            <a:ext cx="18105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Dores na rotina de dados</a:t>
            </a:r>
            <a:endParaRPr lang="en-US" sz="1050" dirty="0"/>
          </a:p>
        </p:txBody>
      </p:sp>
      <p:sp>
        <p:nvSpPr>
          <p:cNvPr id="27" name="Text 23"/>
          <p:cNvSpPr/>
          <p:nvPr/>
        </p:nvSpPr>
        <p:spPr>
          <a:xfrm>
            <a:off x="4279392" y="2752344"/>
            <a:ext cx="1810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das cinco maiores dificuldades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6291072" y="2404872"/>
            <a:ext cx="2331720" cy="786384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Text 25"/>
          <p:cNvSpPr/>
          <p:nvPr/>
        </p:nvSpPr>
        <p:spPr>
          <a:xfrm>
            <a:off x="6382512" y="2496312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30" name="Text 26"/>
          <p:cNvSpPr/>
          <p:nvPr/>
        </p:nvSpPr>
        <p:spPr>
          <a:xfrm>
            <a:off x="6729984" y="2496312"/>
            <a:ext cx="18105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já usados</a:t>
            </a:r>
            <a:endParaRPr lang="en-US" sz="1050" dirty="0"/>
          </a:p>
        </p:txBody>
      </p:sp>
      <p:sp>
        <p:nvSpPr>
          <p:cNvPr id="31" name="Text 27"/>
          <p:cNvSpPr/>
          <p:nvPr/>
        </p:nvSpPr>
        <p:spPr>
          <a:xfrm>
            <a:off x="6729984" y="2752344"/>
            <a:ext cx="1810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funcionou e por que parou de usar</a:t>
            </a:r>
            <a:endParaRPr lang="en-US" sz="900" dirty="0"/>
          </a:p>
        </p:txBody>
      </p:sp>
      <p:sp>
        <p:nvSpPr>
          <p:cNvPr id="32" name="Shape 28"/>
          <p:cNvSpPr/>
          <p:nvPr/>
        </p:nvSpPr>
        <p:spPr>
          <a:xfrm>
            <a:off x="3840480" y="3300984"/>
            <a:ext cx="2331720" cy="786384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Text 29"/>
          <p:cNvSpPr/>
          <p:nvPr/>
        </p:nvSpPr>
        <p:spPr>
          <a:xfrm>
            <a:off x="3931920" y="3392424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4" name="Text 30"/>
          <p:cNvSpPr/>
          <p:nvPr/>
        </p:nvSpPr>
        <p:spPr>
          <a:xfrm>
            <a:off x="4279392" y="3392424"/>
            <a:ext cx="18105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percebido</a:t>
            </a:r>
            <a:endParaRPr lang="en-US" sz="1050" dirty="0"/>
          </a:p>
        </p:txBody>
      </p:sp>
      <p:sp>
        <p:nvSpPr>
          <p:cNvPr id="35" name="Text 31"/>
          <p:cNvSpPr/>
          <p:nvPr/>
        </p:nvSpPr>
        <p:spPr>
          <a:xfrm>
            <a:off x="4279392" y="3648456"/>
            <a:ext cx="1810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Disposição a usar e a recomendar, de 0 a 10</a:t>
            </a:r>
            <a:endParaRPr lang="en-US" sz="900" dirty="0"/>
          </a:p>
        </p:txBody>
      </p:sp>
      <p:sp>
        <p:nvSpPr>
          <p:cNvPr id="36" name="Shape 32"/>
          <p:cNvSpPr/>
          <p:nvPr/>
        </p:nvSpPr>
        <p:spPr>
          <a:xfrm>
            <a:off x="6291072" y="3300984"/>
            <a:ext cx="2331720" cy="786384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7" name="Text 33"/>
          <p:cNvSpPr/>
          <p:nvPr/>
        </p:nvSpPr>
        <p:spPr>
          <a:xfrm>
            <a:off x="6382512" y="3392424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38" name="Text 34"/>
          <p:cNvSpPr/>
          <p:nvPr/>
        </p:nvSpPr>
        <p:spPr>
          <a:xfrm>
            <a:off x="6729984" y="3392424"/>
            <a:ext cx="18105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Relação com fornecedores</a:t>
            </a:r>
            <a:endParaRPr lang="en-US" sz="1050" dirty="0"/>
          </a:p>
        </p:txBody>
      </p:sp>
      <p:sp>
        <p:nvSpPr>
          <p:cNvPr id="39" name="Text 35"/>
          <p:cNvSpPr/>
          <p:nvPr/>
        </p:nvSpPr>
        <p:spPr>
          <a:xfrm>
            <a:off x="6729984" y="3648456"/>
            <a:ext cx="1810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 do suporte digital na escolha da nutrição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de avanço entre fases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 propostas para discussão. Nenhuma fase avança só pelo calendário.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4398264"/>
            <a:ext cx="4572000" cy="7429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2889504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0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Critério para avançar (proposta)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3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G0  Escopo do produto mínimo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Fim da fase 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ou mais fazendas respondidas; perfil de cliente e cinco dores principais confirmados; patrocinador interno definido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C810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G1  Piloto validado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Fim da fase 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Lançamento em pelo menos 70% dos dias, por 8 semanas; até 10 minutos por dia; gestor usa o relatório semanal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666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G2  Escala aprovada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Fim da fase 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 das fazendas ativas após 90 dias; nota de recomendação média de 8 ou mais; 20 fazendas atendidas pelo Rodrigo com auditoria mensal. Gatilho para contratar analistas (1 para cada 20 fazendas)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96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G3  Integração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Durante a fase 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Pelo menos 5 fazendas pedindo integração com balança ou vagão; custo por fazenda abaixo da licença paga hoje (média de R$ 18,2 mil por ano)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Riscos principais e como reduzir cada um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maiores riscos da v2.0 estão na adoção pelo campo.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4398264"/>
            <a:ext cx="4572000" cy="7429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1188720"/>
            <a:ext cx="4023360" cy="146304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4"/>
          <p:cNvSpPr/>
          <p:nvPr/>
        </p:nvSpPr>
        <p:spPr>
          <a:xfrm>
            <a:off x="457200" y="1188720"/>
            <a:ext cx="64008" cy="1463040"/>
          </a:xfrm>
          <a:prstGeom prst="rect">
            <a:avLst/>
          </a:prstGeom>
          <a:solidFill>
            <a:srgbClr val="C8106E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371600"/>
            <a:ext cx="292608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97280" y="135331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Baixa adesão ao lançamento manual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1097280" y="175564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MITIGAÇÃO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1097280" y="1956816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Poucos campos por tela, meta de 10 minutos por dia e o técnico TN como apoio nas primeiras semanas.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4663440" y="1188720"/>
            <a:ext cx="4023360" cy="146304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Shape 9"/>
          <p:cNvSpPr/>
          <p:nvPr/>
        </p:nvSpPr>
        <p:spPr>
          <a:xfrm>
            <a:off x="4663440" y="1188720"/>
            <a:ext cx="64008" cy="1463040"/>
          </a:xfrm>
          <a:prstGeom prst="rect">
            <a:avLst/>
          </a:prstGeom>
          <a:solidFill>
            <a:srgbClr val="C8106E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371600"/>
            <a:ext cx="292608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303520" y="135331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Amostra do discovery enviesada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5303520" y="175564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MITIGAÇÃO</a:t>
            </a:r>
            <a:endParaRPr lang="en-US" sz="800" dirty="0"/>
          </a:p>
        </p:txBody>
      </p:sp>
      <p:sp>
        <p:nvSpPr>
          <p:cNvPr id="17" name="Text 12"/>
          <p:cNvSpPr/>
          <p:nvPr/>
        </p:nvSpPr>
        <p:spPr>
          <a:xfrm>
            <a:off x="5303520" y="1956816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Cota mínima de ex-clientes e não clientes. Resultado só orienta decisão com 30 respostas válidas.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457200" y="2788920"/>
            <a:ext cx="4023360" cy="146304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Shape 14"/>
          <p:cNvSpPr/>
          <p:nvPr/>
        </p:nvSpPr>
        <p:spPr>
          <a:xfrm>
            <a:off x="457200" y="2788920"/>
            <a:ext cx="64008" cy="1463040"/>
          </a:xfrm>
          <a:prstGeom prst="rect">
            <a:avLst/>
          </a:prstGeom>
          <a:solidFill>
            <a:srgbClr val="C8106E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971800"/>
            <a:ext cx="292608" cy="2743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97280" y="295351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Percepção de versão inferior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1097280" y="335584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MITIGAÇÃO</a:t>
            </a:r>
            <a:endParaRPr lang="en-US" sz="800" dirty="0"/>
          </a:p>
        </p:txBody>
      </p:sp>
      <p:sp>
        <p:nvSpPr>
          <p:cNvPr id="23" name="Text 17"/>
          <p:cNvSpPr/>
          <p:nvPr/>
        </p:nvSpPr>
        <p:spPr>
          <a:xfrm>
            <a:off x="1097280" y="3557016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Posicionar o TN Manager Web como degrau, com caminho claro de migração para a versão completa.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663440" y="2788920"/>
            <a:ext cx="4023360" cy="146304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Shape 19"/>
          <p:cNvSpPr/>
          <p:nvPr/>
        </p:nvSpPr>
        <p:spPr>
          <a:xfrm>
            <a:off x="4663440" y="2788920"/>
            <a:ext cx="64008" cy="1463040"/>
          </a:xfrm>
          <a:prstGeom prst="rect">
            <a:avLst/>
          </a:prstGeom>
          <a:solidFill>
            <a:srgbClr val="C8106E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2971800"/>
            <a:ext cx="292608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303520" y="295351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 do time técnico TN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5303520" y="335584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MITIGAÇÃO</a:t>
            </a:r>
            <a:endParaRPr lang="en-US" sz="800" dirty="0"/>
          </a:p>
        </p:txBody>
      </p:sp>
      <p:sp>
        <p:nvSpPr>
          <p:cNvPr id="29" name="Text 22"/>
          <p:cNvSpPr/>
          <p:nvPr/>
        </p:nvSpPr>
        <p:spPr>
          <a:xfrm>
            <a:off x="5303520" y="3557016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Rodrigo atende até 20 fazendas nos 6 primeiros meses, com auditoria mensal; depois, 1 analista dedicado para cada 20 fazendas (G2).</a:t>
            </a:r>
            <a:endParaRPr lang="en-US" sz="11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Aderência interna: mapa inicial de stakeholders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Posições de partida (hipótese). As entrevistas confirmam ou movem cada grupo.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4398264"/>
            <a:ext cx="4572000" cy="7429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850392" y="1170432"/>
            <a:ext cx="2414016" cy="1499616"/>
          </a:xfrm>
          <a:prstGeom prst="rect">
            <a:avLst/>
          </a:prstGeom>
          <a:solidFill>
            <a:srgbClr val="EEF1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932688" y="12344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MANTER SATISFEITO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3319272" y="1170432"/>
            <a:ext cx="2414016" cy="1499616"/>
          </a:xfrm>
          <a:prstGeom prst="rect">
            <a:avLst/>
          </a:prstGeom>
          <a:solidFill>
            <a:srgbClr val="FBE7F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3401568" y="12344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GERENCIAR DE PERTO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850392" y="2724912"/>
            <a:ext cx="2414016" cy="1499616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932688" y="278892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MONITORAR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3319272" y="2724912"/>
            <a:ext cx="2414016" cy="1499616"/>
          </a:xfrm>
          <a:prstGeom prst="rect">
            <a:avLst/>
          </a:prstGeom>
          <a:solidFill>
            <a:srgbClr val="E8F4F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3401568" y="278892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MANTER INFORMADO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694176" y="1548994"/>
            <a:ext cx="182880" cy="182880"/>
          </a:xfrm>
          <a:prstGeom prst="ellipse">
            <a:avLst/>
          </a:prstGeom>
          <a:solidFill>
            <a:srgbClr val="1B3A8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3913632" y="153070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Diretoria Beef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385462" y="1922069"/>
            <a:ext cx="182880" cy="182880"/>
          </a:xfrm>
          <a:prstGeom prst="ellipse">
            <a:avLst/>
          </a:prstGeom>
          <a:solidFill>
            <a:srgbClr val="C8106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4604918" y="1903781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Gerência comercial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2015338" y="1673352"/>
            <a:ext cx="182880" cy="182880"/>
          </a:xfrm>
          <a:prstGeom prst="ellipse">
            <a:avLst/>
          </a:prstGeom>
          <a:solidFill>
            <a:srgbClr val="1B3A8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6"/>
          <p:cNvSpPr/>
          <p:nvPr/>
        </p:nvSpPr>
        <p:spPr>
          <a:xfrm>
            <a:off x="2234794" y="165506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Finanças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3447288" y="2232965"/>
            <a:ext cx="182880" cy="182880"/>
          </a:xfrm>
          <a:prstGeom prst="ellipse">
            <a:avLst/>
          </a:prstGeom>
          <a:solidFill>
            <a:srgbClr val="1B3A8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8"/>
          <p:cNvSpPr/>
          <p:nvPr/>
        </p:nvSpPr>
        <p:spPr>
          <a:xfrm>
            <a:off x="3666744" y="2214677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 e Digital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484218" y="2979115"/>
            <a:ext cx="182880" cy="182880"/>
          </a:xfrm>
          <a:prstGeom prst="ellipse">
            <a:avLst/>
          </a:prstGeom>
          <a:solidFill>
            <a:srgbClr val="C8106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0"/>
          <p:cNvSpPr/>
          <p:nvPr/>
        </p:nvSpPr>
        <p:spPr>
          <a:xfrm>
            <a:off x="4703674" y="2960827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Técnicos e RTVs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4187952" y="3227832"/>
            <a:ext cx="182880" cy="182880"/>
          </a:xfrm>
          <a:prstGeom prst="ellipse">
            <a:avLst/>
          </a:prstGeom>
          <a:solidFill>
            <a:srgbClr val="0096B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2"/>
          <p:cNvSpPr/>
          <p:nvPr/>
        </p:nvSpPr>
        <p:spPr>
          <a:xfrm>
            <a:off x="4407408" y="320954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house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2509114" y="3476549"/>
            <a:ext cx="182880" cy="182880"/>
          </a:xfrm>
          <a:prstGeom prst="ellipse">
            <a:avLst/>
          </a:prstGeom>
          <a:solidFill>
            <a:srgbClr val="0096B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4"/>
          <p:cNvSpPr/>
          <p:nvPr/>
        </p:nvSpPr>
        <p:spPr>
          <a:xfrm>
            <a:off x="2728570" y="3458261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182880" y="256032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Influência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822960" y="4306824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Interesse e envolvimento no projeto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6035040" y="1143000"/>
            <a:ext cx="2651760" cy="3108960"/>
          </a:xfrm>
          <a:prstGeom prst="rect">
            <a:avLst/>
          </a:prstGeom>
          <a:solidFill>
            <a:srgbClr val="1B3A8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Text 28"/>
          <p:cNvSpPr/>
          <p:nvPr/>
        </p:nvSpPr>
        <p:spPr>
          <a:xfrm>
            <a:off x="6199632" y="12618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C5D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perguntar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6172200" y="1600200"/>
            <a:ext cx="2423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você entende que é o TN Manager hoje?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problema de negócio ele precisa resolver?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faria você apoiar ou frear o projeto?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precisa estar convencido para ele avançar?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medir sucesso em 12 meses?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 do cliente-alvo: onde o TN Manager Web entra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v1.0 mirou o quadrante mais disputado. A v2.0 propõe começar onde há dor e pouca oferta simples.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4398264"/>
            <a:ext cx="4572000" cy="7429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1088136" y="1179576"/>
            <a:ext cx="2670048" cy="1481328"/>
          </a:xfrm>
          <a:prstGeom prst="rect">
            <a:avLst/>
          </a:prstGeom>
          <a:solidFill>
            <a:srgbClr val="FBE7F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4"/>
          <p:cNvSpPr/>
          <p:nvPr/>
        </p:nvSpPr>
        <p:spPr>
          <a:xfrm>
            <a:off x="1234440" y="1325880"/>
            <a:ext cx="1097280" cy="219456"/>
          </a:xfrm>
          <a:prstGeom prst="roundRect">
            <a:avLst>
              <a:gd name="adj" fmla="val 50000"/>
            </a:avLst>
          </a:prstGeom>
          <a:solidFill>
            <a:srgbClr val="C8106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1234440" y="132588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PRIORIDADE 2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234440" y="1645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 porte, registro manual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234440" y="1947672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dor e alto volume de produto. Segunda onda do TN Manager Web.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831336" y="1179576"/>
            <a:ext cx="2670048" cy="1481328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3977640" y="1325880"/>
            <a:ext cx="1097280" cy="219456"/>
          </a:xfrm>
          <a:prstGeom prst="roundRect">
            <a:avLst>
              <a:gd name="adj" fmla="val 50000"/>
            </a:avLst>
          </a:prstGeom>
          <a:solidFill>
            <a:srgbClr val="2666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3977640" y="132588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 MANAGER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977640" y="1645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 porte, automatizado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3977640" y="1947672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da v1.0. Disputado por Cargill e DSM/Prodap. Território do TN Manager completo.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1088136" y="2734056"/>
            <a:ext cx="2670048" cy="1481328"/>
          </a:xfrm>
          <a:prstGeom prst="rect">
            <a:avLst/>
          </a:prstGeom>
          <a:solidFill>
            <a:srgbClr val="C8106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Shape 14"/>
          <p:cNvSpPr/>
          <p:nvPr/>
        </p:nvSpPr>
        <p:spPr>
          <a:xfrm>
            <a:off x="1234440" y="2880360"/>
            <a:ext cx="1097280" cy="219456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/>
          <p:nvPr/>
        </p:nvSpPr>
        <p:spPr>
          <a:xfrm>
            <a:off x="1234440" y="288036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234440" y="32004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Médio porte, registro manual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234440" y="3502152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fazendas e menos software simples disponível. Ponto de entrada sugerido para o piloto.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3831336" y="2734056"/>
            <a:ext cx="2670048" cy="1481328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Shape 19"/>
          <p:cNvSpPr/>
          <p:nvPr/>
        </p:nvSpPr>
        <p:spPr>
          <a:xfrm>
            <a:off x="3977640" y="2880360"/>
            <a:ext cx="1097280" cy="219456"/>
          </a:xfrm>
          <a:prstGeom prst="roundRect">
            <a:avLst>
              <a:gd name="adj" fmla="val 50000"/>
            </a:avLst>
          </a:prstGeom>
          <a:solidFill>
            <a:srgbClr val="7A85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0"/>
          <p:cNvSpPr/>
          <p:nvPr/>
        </p:nvSpPr>
        <p:spPr>
          <a:xfrm>
            <a:off x="3977640" y="288036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AVALIAR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3977640" y="32004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Médio porte, automatizado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3977640" y="3502152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 usa alguma ferramenta. Avaliar troca ou integração em versão futura.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320040" y="11430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320040" y="192024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320040" y="347472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Médio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1051560" y="430682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manual ou planilha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3794760" y="430682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Balança, vagão e software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1051560" y="45262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Maturidade de gestão de dados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6812280" y="1143000"/>
            <a:ext cx="1920240" cy="3108960"/>
          </a:xfrm>
          <a:prstGeom prst="rect">
            <a:avLst/>
          </a:prstGeom>
          <a:solidFill>
            <a:srgbClr val="1B3A8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Text 30"/>
          <p:cNvSpPr/>
          <p:nvPr/>
        </p:nvSpPr>
        <p:spPr>
          <a:xfrm>
            <a:off x="6967728" y="1280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C5D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mudar o foco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6967728" y="1627632"/>
            <a:ext cx="16459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já tem balança e vagão compara o TN Manager com sistemas maduros e equipes de campo maiores.</a:t>
            </a:r>
            <a:endParaRPr lang="en-US" sz="1000" dirty="0"/>
          </a:p>
          <a:p>
            <a:pPr marL="0" indent="0">
              <a:buNone/>
            </a:pPr>
            <a:r>
              <a:rPr lang="en-US" sz="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registra no papel compara com o caderno. Um produto simples já entrega ganho visível.</a:t>
            </a:r>
            <a:endParaRPr lang="en-US" sz="1000" dirty="0"/>
          </a:p>
          <a:p>
            <a:pPr marL="0" indent="0">
              <a:buNone/>
            </a:pPr>
            <a:r>
              <a:rPr lang="en-US" sz="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discovery confirma porte mínimo e tamanho de cada quadrante.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de valor: canvas para o TN Manager Web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Lado esquerdo: o que entregamos. Lado direito: o que o confinamento precisa. Hipóteses para o discovery.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4398264"/>
            <a:ext cx="4572000" cy="7429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10972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VALOR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846320" y="10972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DO CLIENTE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" y="1371600"/>
            <a:ext cx="17830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B3A8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6"/>
          <p:cNvSpPr/>
          <p:nvPr/>
        </p:nvSpPr>
        <p:spPr>
          <a:xfrm>
            <a:off x="457200" y="1371600"/>
            <a:ext cx="1783080" cy="274320"/>
          </a:xfrm>
          <a:prstGeom prst="rect">
            <a:avLst/>
          </a:prstGeom>
          <a:solidFill>
            <a:srgbClr val="1B3A8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548640" y="13716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 e serviço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12064" y="1700784"/>
            <a:ext cx="167335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 web com lançamento manual</a:t>
            </a:r>
            <a:endParaRPr lang="en-US" sz="9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com poucos indicadores</a:t>
            </a:r>
            <a:endParaRPr lang="en-US" sz="9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semanal automático</a:t>
            </a:r>
            <a:endParaRPr lang="en-US" sz="9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Acompanhamento do técnico TN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331720" y="1371600"/>
            <a:ext cx="19659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2666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0"/>
          <p:cNvSpPr/>
          <p:nvPr/>
        </p:nvSpPr>
        <p:spPr>
          <a:xfrm>
            <a:off x="2331720" y="1371600"/>
            <a:ext cx="1965960" cy="274320"/>
          </a:xfrm>
          <a:prstGeom prst="rect">
            <a:avLst/>
          </a:prstGeom>
          <a:solidFill>
            <a:srgbClr val="2666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/>
          <p:nvPr/>
        </p:nvSpPr>
        <p:spPr>
          <a:xfrm>
            <a:off x="2423160" y="13716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Aliviadores de dor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2386584" y="1700784"/>
            <a:ext cx="18562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Formulários padronizados e curtos</a:t>
            </a:r>
            <a:endParaRPr lang="en-US" sz="9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custo de licença para o cliente</a:t>
            </a:r>
            <a:endParaRPr lang="en-US" sz="9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 de quem já visita a fazenda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2331720" y="2880360"/>
            <a:ext cx="19659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6B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4"/>
          <p:cNvSpPr/>
          <p:nvPr/>
        </p:nvSpPr>
        <p:spPr>
          <a:xfrm>
            <a:off x="2331720" y="2880360"/>
            <a:ext cx="1965960" cy="274320"/>
          </a:xfrm>
          <a:prstGeom prst="rect">
            <a:avLst/>
          </a:prstGeom>
          <a:solidFill>
            <a:srgbClr val="0096B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/>
          <p:nvPr/>
        </p:nvSpPr>
        <p:spPr>
          <a:xfrm>
            <a:off x="2423160" y="28803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Criadores de ganho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2386584" y="3209544"/>
            <a:ext cx="18562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pronto para o dono</a:t>
            </a:r>
            <a:endParaRPr lang="en-US" sz="9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Recomendação de ajuste de dieta</a:t>
            </a:r>
            <a:endParaRPr lang="en-US" sz="9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Comparativo entre lotes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4846320" y="1371600"/>
            <a:ext cx="19659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106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8"/>
          <p:cNvSpPr/>
          <p:nvPr/>
        </p:nvSpPr>
        <p:spPr>
          <a:xfrm>
            <a:off x="4846320" y="1371600"/>
            <a:ext cx="1965960" cy="274320"/>
          </a:xfrm>
          <a:prstGeom prst="rect">
            <a:avLst/>
          </a:prstGeom>
          <a:solidFill>
            <a:srgbClr val="C8106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19"/>
          <p:cNvSpPr/>
          <p:nvPr/>
        </p:nvSpPr>
        <p:spPr>
          <a:xfrm>
            <a:off x="4937760" y="13716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Dores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4901184" y="1700784"/>
            <a:ext cx="18562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espalhados em caderno e planilha</a:t>
            </a:r>
            <a:endParaRPr lang="en-US" sz="9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de digitação e retrabalho</a:t>
            </a:r>
            <a:endParaRPr lang="en-US" sz="9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caro, complexo ou sem suporte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4846320" y="2880360"/>
            <a:ext cx="19659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A30C5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2"/>
          <p:cNvSpPr/>
          <p:nvPr/>
        </p:nvSpPr>
        <p:spPr>
          <a:xfrm>
            <a:off x="4846320" y="2880360"/>
            <a:ext cx="1965960" cy="274320"/>
          </a:xfrm>
          <a:prstGeom prst="rect">
            <a:avLst/>
          </a:prstGeom>
          <a:solidFill>
            <a:srgbClr val="A30C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3"/>
          <p:cNvSpPr/>
          <p:nvPr/>
        </p:nvSpPr>
        <p:spPr>
          <a:xfrm>
            <a:off x="4937760" y="28803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Ganhos esperados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4901184" y="3209544"/>
            <a:ext cx="18562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o desempenho do lote na semana</a:t>
            </a:r>
            <a:endParaRPr lang="en-US" sz="9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com fazendas parecidas</a:t>
            </a:r>
            <a:endParaRPr lang="en-US" sz="9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técnico olhando os números junto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6903720" y="1371600"/>
            <a:ext cx="17830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229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Shape 26"/>
          <p:cNvSpPr/>
          <p:nvPr/>
        </p:nvSpPr>
        <p:spPr>
          <a:xfrm>
            <a:off x="6903720" y="1371600"/>
            <a:ext cx="1783080" cy="274320"/>
          </a:xfrm>
          <a:prstGeom prst="rect">
            <a:avLst/>
          </a:prstGeom>
          <a:solidFill>
            <a:srgbClr val="12295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Text 27"/>
          <p:cNvSpPr/>
          <p:nvPr/>
        </p:nvSpPr>
        <p:spPr>
          <a:xfrm>
            <a:off x="6995160" y="13716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Tarefas do cliente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6958584" y="1700784"/>
            <a:ext cx="167335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Ajustar o trato diário</a:t>
            </a:r>
            <a:endParaRPr lang="en-US" sz="9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Fechar custo por lote e por arroba</a:t>
            </a:r>
            <a:endParaRPr lang="en-US" sz="9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Controlar entradas, saídas e mortes</a:t>
            </a:r>
            <a:endParaRPr lang="en-US" sz="9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Prestar contas ao dono ou sócio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4325112" y="2578608"/>
            <a:ext cx="502920" cy="502920"/>
          </a:xfrm>
          <a:prstGeom prst="ellipse">
            <a:avLst/>
          </a:prstGeom>
          <a:solidFill>
            <a:srgbClr val="C5D3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Text 30"/>
          <p:cNvSpPr/>
          <p:nvPr/>
        </p:nvSpPr>
        <p:spPr>
          <a:xfrm>
            <a:off x="4325112" y="2578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4">
            <a:extLst>
              <a:ext uri="{FF2B5EF4-FFF2-40B4-BE49-F238E27FC236}">
                <a16:creationId xmlns:a16="http://schemas.microsoft.com/office/drawing/2014/main" id="{B2DA0B8F-6275-5FF9-F0FA-D4F4A45023B6}"/>
              </a:ext>
            </a:extLst>
          </p:cNvPr>
          <p:cNvSpPr txBox="1">
            <a:spLocks/>
          </p:cNvSpPr>
          <p:nvPr/>
        </p:nvSpPr>
        <p:spPr>
          <a:xfrm>
            <a:off x="89503" y="87475"/>
            <a:ext cx="7074785" cy="837590"/>
          </a:xfrm>
          <a:prstGeom prst="rect">
            <a:avLst/>
          </a:prstGeom>
        </p:spPr>
        <p:txBody>
          <a:bodyPr vert="horz" wrap="square" lIns="27000" tIns="27000" rIns="27000" bIns="27000" rtlCol="0" anchor="t" anchorCtr="0">
            <a:no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4400" b="1" kern="1200" baseline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400" dirty="0"/>
              <a:t>Escopo e Descrição do Projeto</a:t>
            </a:r>
            <a:br>
              <a:rPr lang="en-CA" sz="2400" dirty="0"/>
            </a:br>
            <a:r>
              <a:rPr lang="en-US" sz="1350" b="0" i="1" dirty="0"/>
              <a:t>O que está incluído neste projeto e, portanto, nos custos de investimento e no cálculo do ROI.</a:t>
            </a:r>
            <a:endParaRPr lang="en-CA" sz="2400" b="0" i="1" dirty="0"/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71C4FEAC-BFE9-9936-0DEB-32AB6A7DB426}"/>
              </a:ext>
            </a:extLst>
          </p:cNvPr>
          <p:cNvSpPr/>
          <p:nvPr/>
        </p:nvSpPr>
        <p:spPr>
          <a:xfrm>
            <a:off x="0" y="1744232"/>
            <a:ext cx="4425802" cy="2102362"/>
          </a:xfrm>
          <a:prstGeom prst="rect">
            <a:avLst/>
          </a:prstGeom>
          <a:solidFill>
            <a:srgbClr val="0195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16B0D241-57FA-8BF8-1F89-AF51AFA631B7}"/>
              </a:ext>
            </a:extLst>
          </p:cNvPr>
          <p:cNvSpPr/>
          <p:nvPr/>
        </p:nvSpPr>
        <p:spPr>
          <a:xfrm>
            <a:off x="4425802" y="1744232"/>
            <a:ext cx="4718198" cy="2097952"/>
          </a:xfrm>
          <a:prstGeom prst="rect">
            <a:avLst/>
          </a:prstGeom>
          <a:solidFill>
            <a:srgbClr val="246C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grpSp>
        <p:nvGrpSpPr>
          <p:cNvPr id="6" name="Group 16">
            <a:extLst>
              <a:ext uri="{FF2B5EF4-FFF2-40B4-BE49-F238E27FC236}">
                <a16:creationId xmlns:a16="http://schemas.microsoft.com/office/drawing/2014/main" id="{147D7F80-D61F-16B1-585B-8C9096DC2367}"/>
              </a:ext>
            </a:extLst>
          </p:cNvPr>
          <p:cNvGrpSpPr/>
          <p:nvPr/>
        </p:nvGrpSpPr>
        <p:grpSpPr>
          <a:xfrm>
            <a:off x="3005826" y="1545637"/>
            <a:ext cx="2901953" cy="2516981"/>
            <a:chOff x="4162425" y="1835149"/>
            <a:chExt cx="3869270" cy="3355975"/>
          </a:xfrm>
        </p:grpSpPr>
        <p:sp>
          <p:nvSpPr>
            <p:cNvPr id="7" name="Rectangle 14">
              <a:extLst>
                <a:ext uri="{FF2B5EF4-FFF2-40B4-BE49-F238E27FC236}">
                  <a16:creationId xmlns:a16="http://schemas.microsoft.com/office/drawing/2014/main" id="{B2977A67-8290-D44C-F14B-14E20264A50A}"/>
                </a:ext>
              </a:extLst>
            </p:cNvPr>
            <p:cNvSpPr/>
            <p:nvPr/>
          </p:nvSpPr>
          <p:spPr>
            <a:xfrm>
              <a:off x="4162425" y="1835149"/>
              <a:ext cx="1935695" cy="3355975"/>
            </a:xfrm>
            <a:prstGeom prst="rect">
              <a:avLst/>
            </a:prstGeom>
            <a:solidFill>
              <a:srgbClr val="262626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9" name="Rectangle 15">
              <a:extLst>
                <a:ext uri="{FF2B5EF4-FFF2-40B4-BE49-F238E27FC236}">
                  <a16:creationId xmlns:a16="http://schemas.microsoft.com/office/drawing/2014/main" id="{01BC83C4-AB27-3565-1219-F8F759FF64D7}"/>
                </a:ext>
              </a:extLst>
            </p:cNvPr>
            <p:cNvSpPr/>
            <p:nvPr/>
          </p:nvSpPr>
          <p:spPr>
            <a:xfrm>
              <a:off x="6096000" y="1835149"/>
              <a:ext cx="1935695" cy="3355975"/>
            </a:xfrm>
            <a:prstGeom prst="rect">
              <a:avLst/>
            </a:prstGeom>
            <a:solidFill>
              <a:srgbClr val="262626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  <p:sp>
        <p:nvSpPr>
          <p:cNvPr id="10" name="Title 4">
            <a:extLst>
              <a:ext uri="{FF2B5EF4-FFF2-40B4-BE49-F238E27FC236}">
                <a16:creationId xmlns:a16="http://schemas.microsoft.com/office/drawing/2014/main" id="{50BEDB88-DCFE-42E0-1AC0-84B2901D6CEB}"/>
              </a:ext>
            </a:extLst>
          </p:cNvPr>
          <p:cNvSpPr txBox="1">
            <a:spLocks/>
          </p:cNvSpPr>
          <p:nvPr/>
        </p:nvSpPr>
        <p:spPr>
          <a:xfrm>
            <a:off x="3120524" y="3144276"/>
            <a:ext cx="1222374" cy="24929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800">
                <a:solidFill>
                  <a:schemeClr val="bg1"/>
                </a:solidFill>
              </a:rPr>
              <a:t>No Escopo</a:t>
            </a:r>
          </a:p>
        </p:txBody>
      </p:sp>
      <p:sp>
        <p:nvSpPr>
          <p:cNvPr id="11" name="Oval 11">
            <a:extLst>
              <a:ext uri="{FF2B5EF4-FFF2-40B4-BE49-F238E27FC236}">
                <a16:creationId xmlns:a16="http://schemas.microsoft.com/office/drawing/2014/main" id="{62A7E422-C076-0351-1B6A-4327F95A8625}"/>
              </a:ext>
            </a:extLst>
          </p:cNvPr>
          <p:cNvSpPr/>
          <p:nvPr/>
        </p:nvSpPr>
        <p:spPr>
          <a:xfrm>
            <a:off x="3371746" y="2226413"/>
            <a:ext cx="719930" cy="719928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Title 4">
            <a:extLst>
              <a:ext uri="{FF2B5EF4-FFF2-40B4-BE49-F238E27FC236}">
                <a16:creationId xmlns:a16="http://schemas.microsoft.com/office/drawing/2014/main" id="{F425D2BD-C878-E7D8-DFEB-589DFA5139A8}"/>
              </a:ext>
            </a:extLst>
          </p:cNvPr>
          <p:cNvSpPr txBox="1">
            <a:spLocks/>
          </p:cNvSpPr>
          <p:nvPr/>
        </p:nvSpPr>
        <p:spPr>
          <a:xfrm>
            <a:off x="4570706" y="3146232"/>
            <a:ext cx="1222374" cy="4985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800">
                <a:solidFill>
                  <a:schemeClr val="bg1"/>
                </a:solidFill>
              </a:rPr>
              <a:t>Fora do Escopo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652899E-A96C-1253-CEE1-48D0C2683A61}"/>
              </a:ext>
            </a:extLst>
          </p:cNvPr>
          <p:cNvSpPr/>
          <p:nvPr/>
        </p:nvSpPr>
        <p:spPr>
          <a:xfrm>
            <a:off x="4821928" y="2228369"/>
            <a:ext cx="719930" cy="719928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4" name="TextBox 20">
            <a:extLst>
              <a:ext uri="{FF2B5EF4-FFF2-40B4-BE49-F238E27FC236}">
                <a16:creationId xmlns:a16="http://schemas.microsoft.com/office/drawing/2014/main" id="{41B97859-F92A-F433-4938-019E44FF3A35}"/>
              </a:ext>
            </a:extLst>
          </p:cNvPr>
          <p:cNvSpPr txBox="1"/>
          <p:nvPr/>
        </p:nvSpPr>
        <p:spPr>
          <a:xfrm>
            <a:off x="143509" y="1902377"/>
            <a:ext cx="2879888" cy="183620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214313" indent="-214313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bg1"/>
                </a:solidFill>
              </a:rPr>
              <a:t>Desenvolvimento completo do aplicativo para confinamento</a:t>
            </a:r>
          </a:p>
          <a:p>
            <a:pPr marL="214313" indent="-214313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bg1"/>
                </a:solidFill>
              </a:rPr>
              <a:t>Equipe adicional para implantação e suporte</a:t>
            </a:r>
          </a:p>
          <a:p>
            <a:pPr marL="214313" indent="-214313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bg1"/>
                </a:solidFill>
              </a:rPr>
              <a:t>Campanhas de Marketing / Comunicação</a:t>
            </a:r>
          </a:p>
          <a:p>
            <a:pPr marL="214313" indent="-214313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bg1"/>
                </a:solidFill>
              </a:rPr>
              <a:t>Todas as funcionalidades descritas neste documento</a:t>
            </a:r>
          </a:p>
        </p:txBody>
      </p:sp>
      <p:sp>
        <p:nvSpPr>
          <p:cNvPr id="28" name="TextBox 20">
            <a:extLst>
              <a:ext uri="{FF2B5EF4-FFF2-40B4-BE49-F238E27FC236}">
                <a16:creationId xmlns:a16="http://schemas.microsoft.com/office/drawing/2014/main" id="{09DBE4F7-BAD1-E359-1BAE-091AFDA3F252}"/>
              </a:ext>
            </a:extLst>
          </p:cNvPr>
          <p:cNvSpPr txBox="1"/>
          <p:nvPr/>
        </p:nvSpPr>
        <p:spPr>
          <a:xfrm>
            <a:off x="6143942" y="1877310"/>
            <a:ext cx="2879888" cy="183620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214313" indent="-214313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Desenvolvimento para CORTE extensivo, Leite ou outras espécies</a:t>
            </a:r>
          </a:p>
          <a:p>
            <a:pPr marL="214313" indent="-214313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bg1"/>
              </a:solidFill>
            </a:endParaRPr>
          </a:p>
        </p:txBody>
      </p:sp>
      <p:pic>
        <p:nvPicPr>
          <p:cNvPr id="1026" name="Picture 2" descr="yes - no - tick and cross icon on transparent background. 21013497 PNG">
            <a:extLst>
              <a:ext uri="{FF2B5EF4-FFF2-40B4-BE49-F238E27FC236}">
                <a16:creationId xmlns:a16="http://schemas.microsoft.com/office/drawing/2014/main" id="{D3703575-90C5-264C-9629-F61129EEFC2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7211"/>
          <a:stretch/>
        </p:blipFill>
        <p:spPr bwMode="auto">
          <a:xfrm>
            <a:off x="3524432" y="2209230"/>
            <a:ext cx="411394" cy="760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2" descr="yes - no - tick and cross icon on transparent background. 21013497 PNG">
            <a:extLst>
              <a:ext uri="{FF2B5EF4-FFF2-40B4-BE49-F238E27FC236}">
                <a16:creationId xmlns:a16="http://schemas.microsoft.com/office/drawing/2014/main" id="{DFE1A444-3452-30A8-F9B3-C984DADECEA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317"/>
          <a:stretch/>
        </p:blipFill>
        <p:spPr bwMode="auto">
          <a:xfrm>
            <a:off x="4949215" y="2209230"/>
            <a:ext cx="435152" cy="760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918663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7FA9E84-6933-866E-9740-F1E0400C375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2366C92-DFCE-40A6-8CC1-5A4741E3726D}" type="slidenum">
              <a:rPr lang="en-GB" smtClean="0"/>
              <a:pPr/>
              <a:t>37</a:t>
            </a:fld>
            <a:endParaRPr lang="en-GB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C4741695-FE94-C58F-C66F-FA9D5E4EA7E9}"/>
              </a:ext>
            </a:extLst>
          </p:cNvPr>
          <p:cNvSpPr txBox="1">
            <a:spLocks/>
          </p:cNvSpPr>
          <p:nvPr/>
        </p:nvSpPr>
        <p:spPr>
          <a:xfrm>
            <a:off x="89503" y="87475"/>
            <a:ext cx="7074785" cy="837590"/>
          </a:xfrm>
          <a:prstGeom prst="rect">
            <a:avLst/>
          </a:prstGeom>
        </p:spPr>
        <p:txBody>
          <a:bodyPr vert="horz" wrap="square" lIns="27000" tIns="27000" rIns="27000" bIns="27000" rtlCol="0" anchor="t" anchorCtr="0">
            <a:no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4400" b="1" kern="1200" baseline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400" dirty="0"/>
              <a:t>Prospecção de Novos Clientes</a:t>
            </a:r>
            <a:br>
              <a:rPr lang="en-CA" sz="2400" dirty="0"/>
            </a:br>
            <a:r>
              <a:rPr lang="en-US" sz="1350" b="0" i="1" dirty="0"/>
              <a:t>Abordamos 28 prospects com os quais ainda não conseguimos avançar de forma significativa…</a:t>
            </a:r>
            <a:endParaRPr lang="en-CA" sz="2400" b="0" i="1" dirty="0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C6A64F14-B6A5-E891-AFCA-0CDA7045E0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02" y="774900"/>
            <a:ext cx="5133975" cy="4133850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73B5D19C-A3CA-70AD-7881-9593AA2D11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1433" y="850184"/>
            <a:ext cx="3438442" cy="2066723"/>
          </a:xfrm>
          <a:prstGeom prst="rect">
            <a:avLst/>
          </a:prstGeom>
        </p:spPr>
      </p:pic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E5F7C463-C261-7E9F-24A4-0FB810FA7CFE}"/>
              </a:ext>
            </a:extLst>
          </p:cNvPr>
          <p:cNvGraphicFramePr>
            <a:graphicFrameLocks noGrp="1"/>
          </p:cNvGraphicFramePr>
          <p:nvPr/>
        </p:nvGraphicFramePr>
        <p:xfrm>
          <a:off x="5511433" y="3464642"/>
          <a:ext cx="3438441" cy="1141095"/>
        </p:xfrm>
        <a:graphic>
          <a:graphicData uri="http://schemas.openxmlformats.org/drawingml/2006/table">
            <a:tbl>
              <a:tblPr>
                <a:tableStyleId>{69012ECD-51FC-41F1-AA8D-1B2483CD663E}</a:tableStyleId>
              </a:tblPr>
              <a:tblGrid>
                <a:gridCol w="2480755">
                  <a:extLst>
                    <a:ext uri="{9D8B030D-6E8A-4147-A177-3AD203B41FA5}">
                      <a16:colId xmlns:a16="http://schemas.microsoft.com/office/drawing/2014/main" val="604473642"/>
                    </a:ext>
                  </a:extLst>
                </a:gridCol>
                <a:gridCol w="957686">
                  <a:extLst>
                    <a:ext uri="{9D8B030D-6E8A-4147-A177-3AD203B41FA5}">
                      <a16:colId xmlns:a16="http://schemas.microsoft.com/office/drawing/2014/main" val="1869619365"/>
                    </a:ext>
                  </a:extLst>
                </a:gridCol>
              </a:tblGrid>
              <a:tr h="165735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>
                          <a:effectLst/>
                        </a:rPr>
                        <a:t>Cabeças de Gado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5715" marT="571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u="none" strike="noStrike">
                          <a:effectLst/>
                        </a:rPr>
                        <a:t>400,000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5715" marT="5715" marB="0" anchor="b"/>
                </a:tc>
                <a:extLst>
                  <a:ext uri="{0D108BD9-81ED-4DB2-BD59-A6C34878D82A}">
                    <a16:rowId xmlns:a16="http://schemas.microsoft.com/office/drawing/2014/main" val="1353093704"/>
                  </a:ext>
                </a:extLst>
              </a:tr>
              <a:tr h="16573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Consumo Diário / Animal </a:t>
                      </a:r>
                      <a:r>
                        <a:rPr lang="en-US" sz="700" i="1" u="none" strike="noStrike" dirty="0">
                          <a:effectLst/>
                        </a:rPr>
                        <a:t>(</a:t>
                      </a:r>
                      <a:r>
                        <a:rPr lang="en-US" sz="700" i="1" u="none" strike="noStrike" dirty="0" err="1">
                          <a:effectLst/>
                        </a:rPr>
                        <a:t>Bellpeso</a:t>
                      </a:r>
                      <a:r>
                        <a:rPr lang="en-US" sz="700" i="1" u="none" strike="noStrike" dirty="0">
                          <a:effectLst/>
                        </a:rPr>
                        <a:t> Super 2000 </a:t>
                      </a:r>
                      <a:r>
                        <a:rPr lang="en-US" sz="700" i="1" u="none" strike="noStrike" dirty="0" err="1">
                          <a:effectLst/>
                        </a:rPr>
                        <a:t>Avance</a:t>
                      </a:r>
                      <a:r>
                        <a:rPr lang="en-US" sz="700" i="1" u="none" strike="noStrike" dirty="0">
                          <a:effectLst/>
                        </a:rPr>
                        <a:t>)</a:t>
                      </a:r>
                      <a:endParaRPr lang="en-US" sz="11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5715" marT="571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u="none" strike="noStrike" dirty="0">
                          <a:effectLst/>
                        </a:rPr>
                        <a:t>100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5715" marT="5715" marB="0" anchor="b"/>
                </a:tc>
                <a:extLst>
                  <a:ext uri="{0D108BD9-81ED-4DB2-BD59-A6C34878D82A}">
                    <a16:rowId xmlns:a16="http://schemas.microsoft.com/office/drawing/2014/main" val="2698322057"/>
                  </a:ext>
                </a:extLst>
              </a:tr>
              <a:tr h="165735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 dirty="0">
                          <a:effectLst/>
                        </a:rPr>
                        <a:t>Volume Total </a:t>
                      </a:r>
                      <a:r>
                        <a:rPr lang="pt-BR" sz="700" i="1" u="none" strike="noStrike" dirty="0">
                          <a:effectLst/>
                        </a:rPr>
                        <a:t>(</a:t>
                      </a:r>
                      <a:r>
                        <a:rPr lang="pt-BR" sz="700" i="1" u="none" strike="noStrike" dirty="0" err="1">
                          <a:effectLst/>
                        </a:rPr>
                        <a:t>Bellpeso</a:t>
                      </a:r>
                      <a:r>
                        <a:rPr lang="pt-BR" sz="700" i="1" u="none" strike="noStrike" dirty="0">
                          <a:effectLst/>
                        </a:rPr>
                        <a:t> Super 2000 Avance)</a:t>
                      </a:r>
                      <a:endParaRPr lang="pt-BR" sz="11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5715" marT="571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u="none" strike="noStrike">
                          <a:effectLst/>
                        </a:rPr>
                        <a:t>3,600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5715" marT="5715" marB="0" anchor="b"/>
                </a:tc>
                <a:extLst>
                  <a:ext uri="{0D108BD9-81ED-4DB2-BD59-A6C34878D82A}">
                    <a16:rowId xmlns:a16="http://schemas.microsoft.com/office/drawing/2014/main" val="2147563399"/>
                  </a:ext>
                </a:extLst>
              </a:tr>
              <a:tr h="165735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 dirty="0">
                          <a:effectLst/>
                        </a:rPr>
                        <a:t>SP/Ton </a:t>
                      </a:r>
                      <a:r>
                        <a:rPr lang="pt-BR" sz="600" i="1" u="none" strike="noStrike" dirty="0">
                          <a:effectLst/>
                        </a:rPr>
                        <a:t>(</a:t>
                      </a:r>
                      <a:r>
                        <a:rPr lang="pt-BR" sz="600" i="1" u="none" strike="noStrike" dirty="0" err="1">
                          <a:effectLst/>
                        </a:rPr>
                        <a:t>Bellpeso</a:t>
                      </a:r>
                      <a:r>
                        <a:rPr lang="pt-BR" sz="600" i="1" u="none" strike="noStrike" dirty="0">
                          <a:effectLst/>
                        </a:rPr>
                        <a:t> Super 2000 Avance)</a:t>
                      </a:r>
                      <a:endParaRPr lang="pt-BR" sz="11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5715" marT="571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u="none" strike="noStrike">
                          <a:effectLst/>
                        </a:rPr>
                        <a:t>1,300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5715" marT="5715" marB="0" anchor="b"/>
                </a:tc>
                <a:extLst>
                  <a:ext uri="{0D108BD9-81ED-4DB2-BD59-A6C34878D82A}">
                    <a16:rowId xmlns:a16="http://schemas.microsoft.com/office/drawing/2014/main" val="1722811295"/>
                  </a:ext>
                </a:extLst>
              </a:tr>
              <a:tr h="16573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Sales Profit Potencial (28 Clientes)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5715" marT="57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 dirty="0">
                          <a:effectLst/>
                        </a:rPr>
                        <a:t> R$  4,680,000.00 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5715" marT="5715" marB="0" anchor="b"/>
                </a:tc>
                <a:extLst>
                  <a:ext uri="{0D108BD9-81ED-4DB2-BD59-A6C34878D82A}">
                    <a16:rowId xmlns:a16="http://schemas.microsoft.com/office/drawing/2014/main" val="26021952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43824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4">
            <a:extLst>
              <a:ext uri="{FF2B5EF4-FFF2-40B4-BE49-F238E27FC236}">
                <a16:creationId xmlns:a16="http://schemas.microsoft.com/office/drawing/2014/main" id="{B2DA0B8F-6275-5FF9-F0FA-D4F4A45023B6}"/>
              </a:ext>
            </a:extLst>
          </p:cNvPr>
          <p:cNvSpPr txBox="1">
            <a:spLocks/>
          </p:cNvSpPr>
          <p:nvPr/>
        </p:nvSpPr>
        <p:spPr>
          <a:xfrm>
            <a:off x="89503" y="87475"/>
            <a:ext cx="7074785" cy="837590"/>
          </a:xfrm>
          <a:prstGeom prst="rect">
            <a:avLst/>
          </a:prstGeom>
        </p:spPr>
        <p:txBody>
          <a:bodyPr vert="horz" wrap="square" lIns="27000" tIns="27000" rIns="27000" bIns="27000" rtlCol="0" anchor="t" anchorCtr="0">
            <a:no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4400" b="1" kern="1200" baseline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400" dirty="0"/>
              <a:t>Conclusão</a:t>
            </a:r>
          </a:p>
          <a:p>
            <a:pPr>
              <a:lnSpc>
                <a:spcPct val="100000"/>
              </a:lnSpc>
            </a:pPr>
            <a:r>
              <a:rPr lang="en-US" sz="1350" b="0" i="1" dirty="0"/>
              <a:t>Cinco conclusões sustentam a aprovação deste projeto.</a:t>
            </a:r>
            <a:endParaRPr lang="en-CA" sz="2400" b="0" i="1" dirty="0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A2A25C0B-CDE2-46E4-6226-A99BBA96BC8F}"/>
              </a:ext>
            </a:extLst>
          </p:cNvPr>
          <p:cNvSpPr/>
          <p:nvPr/>
        </p:nvSpPr>
        <p:spPr>
          <a:xfrm>
            <a:off x="296736" y="2093785"/>
            <a:ext cx="1516270" cy="2008610"/>
          </a:xfrm>
          <a:prstGeom prst="rect">
            <a:avLst/>
          </a:prstGeom>
          <a:solidFill>
            <a:schemeClr val="accent1">
              <a:alpha val="5000"/>
            </a:schemeClr>
          </a:solidFill>
          <a:ln w="1270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1800"/>
              </a:spcAft>
            </a:pPr>
            <a:endParaRPr lang="en-US" sz="1125" dirty="0">
              <a:solidFill>
                <a:schemeClr val="bg2">
                  <a:lumMod val="10000"/>
                </a:schemeClr>
              </a:solidFill>
            </a:endParaRPr>
          </a:p>
          <a:p>
            <a:pPr>
              <a:spcAft>
                <a:spcPts val="1800"/>
              </a:spcAft>
            </a:pPr>
            <a:r>
              <a:rPr lang="en-US" sz="1125" dirty="0">
                <a:solidFill>
                  <a:schemeClr val="bg2">
                    <a:lumMod val="10000"/>
                  </a:schemeClr>
                </a:solidFill>
              </a:rPr>
              <a:t>O projeto está alinhado às nossas Prioridades Estratégicas de Crescimento Orgânico (Receita).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12DF898B-8045-D307-C5F6-7E7C24910433}"/>
              </a:ext>
            </a:extLst>
          </p:cNvPr>
          <p:cNvSpPr/>
          <p:nvPr/>
        </p:nvSpPr>
        <p:spPr>
          <a:xfrm>
            <a:off x="2083623" y="2093785"/>
            <a:ext cx="1516270" cy="2008610"/>
          </a:xfrm>
          <a:prstGeom prst="rect">
            <a:avLst/>
          </a:prstGeom>
          <a:solidFill>
            <a:schemeClr val="accent1">
              <a:alpha val="5000"/>
            </a:schemeClr>
          </a:solidFill>
          <a:ln w="1270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1800"/>
              </a:spcAft>
            </a:pPr>
            <a:endParaRPr lang="en-US" sz="1125" dirty="0">
              <a:solidFill>
                <a:schemeClr val="bg2">
                  <a:lumMod val="10000"/>
                </a:schemeClr>
              </a:solidFill>
            </a:endParaRPr>
          </a:p>
          <a:p>
            <a:pPr>
              <a:spcAft>
                <a:spcPts val="1800"/>
              </a:spcAft>
            </a:pPr>
            <a:r>
              <a:rPr lang="en-US" sz="1125" dirty="0">
                <a:solidFill>
                  <a:schemeClr val="bg2">
                    <a:lumMod val="10000"/>
                  </a:schemeClr>
                </a:solidFill>
              </a:rPr>
              <a:t>Aumentar o Market Share de 9,8% para X%, trazendo X </a:t>
            </a:r>
            <a:r>
              <a:rPr lang="en-US" sz="1125" dirty="0" err="1">
                <a:solidFill>
                  <a:schemeClr val="bg2">
                    <a:lumMod val="10000"/>
                  </a:schemeClr>
                </a:solidFill>
              </a:rPr>
              <a:t>milhões de</a:t>
            </a:r>
            <a:r>
              <a:rPr lang="en-US" sz="1125" dirty="0">
                <a:solidFill>
                  <a:schemeClr val="bg2">
                    <a:lumMod val="10000"/>
                  </a:schemeClr>
                </a:solidFill>
              </a:rPr>
              <a:t> R$ adicionais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69BAE7BC-4D8C-21E1-471B-7FC55C53B4E6}"/>
              </a:ext>
            </a:extLst>
          </p:cNvPr>
          <p:cNvSpPr/>
          <p:nvPr/>
        </p:nvSpPr>
        <p:spPr>
          <a:xfrm>
            <a:off x="3850749" y="2093785"/>
            <a:ext cx="1516270" cy="2008610"/>
          </a:xfrm>
          <a:prstGeom prst="rect">
            <a:avLst/>
          </a:prstGeom>
          <a:solidFill>
            <a:schemeClr val="accent1">
              <a:alpha val="5000"/>
            </a:schemeClr>
          </a:solidFill>
          <a:ln w="1270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1800"/>
              </a:spcAft>
            </a:pPr>
            <a:endParaRPr lang="en-US" sz="1125" dirty="0">
              <a:solidFill>
                <a:schemeClr val="bg2">
                  <a:lumMod val="10000"/>
                </a:schemeClr>
              </a:solidFill>
            </a:endParaRPr>
          </a:p>
          <a:p>
            <a:pPr>
              <a:spcAft>
                <a:spcPts val="1800"/>
              </a:spcAft>
            </a:pPr>
            <a:r>
              <a:rPr lang="en-US" sz="1125" dirty="0">
                <a:solidFill>
                  <a:schemeClr val="bg2">
                    <a:lumMod val="10000"/>
                  </a:schemeClr>
                </a:solidFill>
              </a:rPr>
              <a:t>É o movimento certo, considerando as tendências dos clientes e os movimentos dos concorrentes.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613F4F04-4365-B53B-D98F-8826FF3A88F5}"/>
              </a:ext>
            </a:extLst>
          </p:cNvPr>
          <p:cNvSpPr/>
          <p:nvPr/>
        </p:nvSpPr>
        <p:spPr>
          <a:xfrm>
            <a:off x="5594013" y="2106189"/>
            <a:ext cx="1516270" cy="2008610"/>
          </a:xfrm>
          <a:prstGeom prst="rect">
            <a:avLst/>
          </a:prstGeom>
          <a:solidFill>
            <a:schemeClr val="accent1">
              <a:alpha val="5000"/>
            </a:schemeClr>
          </a:solidFill>
          <a:ln w="1270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1800"/>
              </a:spcAft>
            </a:pPr>
            <a:endParaRPr lang="en-US" sz="1125" dirty="0">
              <a:solidFill>
                <a:schemeClr val="bg2">
                  <a:lumMod val="10000"/>
                </a:schemeClr>
              </a:solidFill>
            </a:endParaRPr>
          </a:p>
          <a:p>
            <a:pPr>
              <a:spcAft>
                <a:spcPts val="1800"/>
              </a:spcAft>
            </a:pPr>
            <a:endParaRPr lang="en-US" sz="1125" dirty="0">
              <a:solidFill>
                <a:schemeClr val="bg2">
                  <a:lumMod val="10000"/>
                </a:schemeClr>
              </a:solidFill>
            </a:endParaRPr>
          </a:p>
          <a:p>
            <a:pPr>
              <a:spcAft>
                <a:spcPts val="1800"/>
              </a:spcAft>
            </a:pPr>
            <a:r>
              <a:rPr lang="en-US" sz="1125" dirty="0">
                <a:solidFill>
                  <a:schemeClr val="bg2">
                    <a:lumMod val="10000"/>
                  </a:schemeClr>
                </a:solidFill>
              </a:rPr>
              <a:t>A análise SWOT indica que o desenvolvimento interno tem mais vantagens do que desvantagens.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CE875A9F-5557-5B56-ED7B-BD675CA5F89B}"/>
              </a:ext>
            </a:extLst>
          </p:cNvPr>
          <p:cNvSpPr/>
          <p:nvPr/>
        </p:nvSpPr>
        <p:spPr>
          <a:xfrm>
            <a:off x="7272300" y="2105382"/>
            <a:ext cx="1516270" cy="2008610"/>
          </a:xfrm>
          <a:prstGeom prst="rect">
            <a:avLst/>
          </a:prstGeom>
          <a:solidFill>
            <a:schemeClr val="accent1">
              <a:alpha val="5000"/>
            </a:schemeClr>
          </a:solidFill>
          <a:ln w="1270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1800"/>
              </a:spcAft>
            </a:pPr>
            <a:endParaRPr lang="en-US" sz="1125" dirty="0">
              <a:solidFill>
                <a:schemeClr val="bg2">
                  <a:lumMod val="10000"/>
                </a:schemeClr>
              </a:solidFill>
            </a:endParaRPr>
          </a:p>
          <a:p>
            <a:pPr>
              <a:spcAft>
                <a:spcPts val="1800"/>
              </a:spcAft>
            </a:pPr>
            <a:endParaRPr lang="en-US" sz="1125" dirty="0">
              <a:solidFill>
                <a:schemeClr val="bg2">
                  <a:lumMod val="10000"/>
                </a:schemeClr>
              </a:solidFill>
            </a:endParaRPr>
          </a:p>
          <a:p>
            <a:pPr>
              <a:spcAft>
                <a:spcPts val="1800"/>
              </a:spcAft>
            </a:pPr>
            <a:r>
              <a:rPr lang="en-US" sz="1125" dirty="0">
                <a:solidFill>
                  <a:schemeClr val="bg2">
                    <a:lumMod val="10000"/>
                  </a:schemeClr>
                </a:solidFill>
              </a:rPr>
              <a:t>Em 5 anos, vamos investir R$ 3 milhões para capturar R$ 15 milhões em Sales Profit adicional.</a:t>
            </a:r>
          </a:p>
        </p:txBody>
      </p:sp>
      <p:sp>
        <p:nvSpPr>
          <p:cNvPr id="9" name="Oval 6">
            <a:extLst>
              <a:ext uri="{FF2B5EF4-FFF2-40B4-BE49-F238E27FC236}">
                <a16:creationId xmlns:a16="http://schemas.microsoft.com/office/drawing/2014/main" id="{82246C32-42C8-BD0E-C682-86C1BC2C007A}"/>
              </a:ext>
            </a:extLst>
          </p:cNvPr>
          <p:cNvSpPr/>
          <p:nvPr/>
        </p:nvSpPr>
        <p:spPr>
          <a:xfrm rot="16200000">
            <a:off x="6787966" y="1424521"/>
            <a:ext cx="768345" cy="1242779"/>
          </a:xfrm>
          <a:custGeom>
            <a:avLst/>
            <a:gdLst/>
            <a:ahLst/>
            <a:cxnLst/>
            <a:rect l="l" t="t" r="r" b="b"/>
            <a:pathLst>
              <a:path w="890376" h="1440160">
                <a:moveTo>
                  <a:pt x="445188" y="0"/>
                </a:moveTo>
                <a:cubicBezTo>
                  <a:pt x="614149" y="0"/>
                  <a:pt x="769519" y="58193"/>
                  <a:pt x="890376" y="158114"/>
                </a:cubicBezTo>
                <a:cubicBezTo>
                  <a:pt x="722128" y="287532"/>
                  <a:pt x="615484" y="491352"/>
                  <a:pt x="615484" y="720080"/>
                </a:cubicBezTo>
                <a:cubicBezTo>
                  <a:pt x="615484" y="948808"/>
                  <a:pt x="722128" y="1152628"/>
                  <a:pt x="890376" y="1282046"/>
                </a:cubicBezTo>
                <a:cubicBezTo>
                  <a:pt x="769519" y="1381967"/>
                  <a:pt x="614149" y="1440160"/>
                  <a:pt x="445188" y="1440160"/>
                </a:cubicBezTo>
                <a:cubicBezTo>
                  <a:pt x="276227" y="1440160"/>
                  <a:pt x="120857" y="1381967"/>
                  <a:pt x="0" y="1282046"/>
                </a:cubicBezTo>
                <a:cubicBezTo>
                  <a:pt x="168248" y="1152628"/>
                  <a:pt x="274891" y="948808"/>
                  <a:pt x="274891" y="720080"/>
                </a:cubicBezTo>
                <a:cubicBezTo>
                  <a:pt x="274891" y="491352"/>
                  <a:pt x="168248" y="287532"/>
                  <a:pt x="0" y="158114"/>
                </a:cubicBezTo>
                <a:cubicBezTo>
                  <a:pt x="120857" y="58193"/>
                  <a:pt x="276227" y="0"/>
                  <a:pt x="44518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90500" sx="102000" sy="102000" algn="ctr" rotWithShape="0">
              <a:prstClr val="black">
                <a:alpha val="1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25"/>
          </a:p>
        </p:txBody>
      </p:sp>
      <p:sp>
        <p:nvSpPr>
          <p:cNvPr id="10" name="Oval 18">
            <a:extLst>
              <a:ext uri="{FF2B5EF4-FFF2-40B4-BE49-F238E27FC236}">
                <a16:creationId xmlns:a16="http://schemas.microsoft.com/office/drawing/2014/main" id="{DA5EE5D7-7915-2D80-262A-75EDA6928FB2}"/>
              </a:ext>
            </a:extLst>
          </p:cNvPr>
          <p:cNvSpPr/>
          <p:nvPr/>
        </p:nvSpPr>
        <p:spPr>
          <a:xfrm>
            <a:off x="7360839" y="1393451"/>
            <a:ext cx="1304918" cy="1304918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90500" sx="102000" sy="102000" algn="ctr" rotWithShape="0">
              <a:prstClr val="black">
                <a:alpha val="1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25"/>
          </a:p>
        </p:txBody>
      </p:sp>
      <p:sp>
        <p:nvSpPr>
          <p:cNvPr id="11" name="Oval 3">
            <a:extLst>
              <a:ext uri="{FF2B5EF4-FFF2-40B4-BE49-F238E27FC236}">
                <a16:creationId xmlns:a16="http://schemas.microsoft.com/office/drawing/2014/main" id="{DCF6A255-DEBF-46A4-E765-AC00AEECCBA8}"/>
              </a:ext>
            </a:extLst>
          </p:cNvPr>
          <p:cNvSpPr/>
          <p:nvPr/>
        </p:nvSpPr>
        <p:spPr>
          <a:xfrm>
            <a:off x="7422978" y="1455590"/>
            <a:ext cx="1180640" cy="1180640"/>
          </a:xfrm>
          <a:custGeom>
            <a:avLst/>
            <a:gdLst/>
            <a:ahLst/>
            <a:cxnLst/>
            <a:rect l="l" t="t" r="r" b="b"/>
            <a:pathLst>
              <a:path w="1368152" h="1368152">
                <a:moveTo>
                  <a:pt x="684076" y="0"/>
                </a:moveTo>
                <a:cubicBezTo>
                  <a:pt x="1061881" y="0"/>
                  <a:pt x="1368152" y="306271"/>
                  <a:pt x="1368152" y="684076"/>
                </a:cubicBezTo>
                <a:lnTo>
                  <a:pt x="1359710" y="767824"/>
                </a:lnTo>
                <a:cubicBezTo>
                  <a:pt x="1086175" y="819898"/>
                  <a:pt x="877562" y="1054565"/>
                  <a:pt x="866904" y="1340297"/>
                </a:cubicBezTo>
                <a:cubicBezTo>
                  <a:pt x="809279" y="1359469"/>
                  <a:pt x="747692" y="1368152"/>
                  <a:pt x="684076" y="1368152"/>
                </a:cubicBezTo>
                <a:cubicBezTo>
                  <a:pt x="306271" y="1368152"/>
                  <a:pt x="0" y="1061881"/>
                  <a:pt x="0" y="684076"/>
                </a:cubicBezTo>
                <a:cubicBezTo>
                  <a:pt x="0" y="306271"/>
                  <a:pt x="306271" y="0"/>
                  <a:pt x="68407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25400" sx="102000" sy="102000" algn="ct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25"/>
          </a:p>
        </p:txBody>
      </p:sp>
      <p:sp>
        <p:nvSpPr>
          <p:cNvPr id="12" name="TextBox 307">
            <a:extLst>
              <a:ext uri="{FF2B5EF4-FFF2-40B4-BE49-F238E27FC236}">
                <a16:creationId xmlns:a16="http://schemas.microsoft.com/office/drawing/2014/main" id="{95FD6FA0-D3E3-D0AA-0D53-8D6F52B36528}"/>
              </a:ext>
            </a:extLst>
          </p:cNvPr>
          <p:cNvSpPr txBox="1"/>
          <p:nvPr/>
        </p:nvSpPr>
        <p:spPr>
          <a:xfrm>
            <a:off x="8213124" y="2189168"/>
            <a:ext cx="37918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100" b="1">
                <a:solidFill>
                  <a:schemeClr val="accent3"/>
                </a:solidFill>
              </a:rPr>
              <a:t>5</a:t>
            </a:r>
            <a:endParaRPr lang="ko-KR" altLang="en-US" sz="2100" b="1">
              <a:solidFill>
                <a:schemeClr val="accent3"/>
              </a:solidFill>
            </a:endParaRPr>
          </a:p>
        </p:txBody>
      </p:sp>
      <p:sp>
        <p:nvSpPr>
          <p:cNvPr id="14" name="Oval 6">
            <a:extLst>
              <a:ext uri="{FF2B5EF4-FFF2-40B4-BE49-F238E27FC236}">
                <a16:creationId xmlns:a16="http://schemas.microsoft.com/office/drawing/2014/main" id="{D0426ABC-37BB-357D-8CC5-AD87FA09C2F7}"/>
              </a:ext>
            </a:extLst>
          </p:cNvPr>
          <p:cNvSpPr/>
          <p:nvPr/>
        </p:nvSpPr>
        <p:spPr>
          <a:xfrm rot="16200000">
            <a:off x="5113780" y="1424521"/>
            <a:ext cx="768345" cy="1242779"/>
          </a:xfrm>
          <a:custGeom>
            <a:avLst/>
            <a:gdLst/>
            <a:ahLst/>
            <a:cxnLst/>
            <a:rect l="l" t="t" r="r" b="b"/>
            <a:pathLst>
              <a:path w="890376" h="1440160">
                <a:moveTo>
                  <a:pt x="445188" y="0"/>
                </a:moveTo>
                <a:cubicBezTo>
                  <a:pt x="614149" y="0"/>
                  <a:pt x="769519" y="58193"/>
                  <a:pt x="890376" y="158114"/>
                </a:cubicBezTo>
                <a:cubicBezTo>
                  <a:pt x="722128" y="287532"/>
                  <a:pt x="615484" y="491352"/>
                  <a:pt x="615484" y="720080"/>
                </a:cubicBezTo>
                <a:cubicBezTo>
                  <a:pt x="615484" y="948808"/>
                  <a:pt x="722128" y="1152628"/>
                  <a:pt x="890376" y="1282046"/>
                </a:cubicBezTo>
                <a:cubicBezTo>
                  <a:pt x="769519" y="1381967"/>
                  <a:pt x="614149" y="1440160"/>
                  <a:pt x="445188" y="1440160"/>
                </a:cubicBezTo>
                <a:cubicBezTo>
                  <a:pt x="276227" y="1440160"/>
                  <a:pt x="120857" y="1381967"/>
                  <a:pt x="0" y="1282046"/>
                </a:cubicBezTo>
                <a:cubicBezTo>
                  <a:pt x="168248" y="1152628"/>
                  <a:pt x="274891" y="948808"/>
                  <a:pt x="274891" y="720080"/>
                </a:cubicBezTo>
                <a:cubicBezTo>
                  <a:pt x="274891" y="491352"/>
                  <a:pt x="168248" y="287532"/>
                  <a:pt x="0" y="158114"/>
                </a:cubicBezTo>
                <a:cubicBezTo>
                  <a:pt x="120857" y="58193"/>
                  <a:pt x="276227" y="0"/>
                  <a:pt x="44518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90500" sx="102000" sy="102000" algn="ctr" rotWithShape="0">
              <a:prstClr val="black">
                <a:alpha val="1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25"/>
          </a:p>
        </p:txBody>
      </p:sp>
      <p:sp>
        <p:nvSpPr>
          <p:cNvPr id="15" name="Oval 6">
            <a:extLst>
              <a:ext uri="{FF2B5EF4-FFF2-40B4-BE49-F238E27FC236}">
                <a16:creationId xmlns:a16="http://schemas.microsoft.com/office/drawing/2014/main" id="{B8030DFD-E081-A16A-3534-DE314258713C}"/>
              </a:ext>
            </a:extLst>
          </p:cNvPr>
          <p:cNvSpPr/>
          <p:nvPr/>
        </p:nvSpPr>
        <p:spPr>
          <a:xfrm rot="16200000">
            <a:off x="3331582" y="1424521"/>
            <a:ext cx="768345" cy="1242779"/>
          </a:xfrm>
          <a:custGeom>
            <a:avLst/>
            <a:gdLst/>
            <a:ahLst/>
            <a:cxnLst/>
            <a:rect l="l" t="t" r="r" b="b"/>
            <a:pathLst>
              <a:path w="890376" h="1440160">
                <a:moveTo>
                  <a:pt x="445188" y="0"/>
                </a:moveTo>
                <a:cubicBezTo>
                  <a:pt x="614149" y="0"/>
                  <a:pt x="769519" y="58193"/>
                  <a:pt x="890376" y="158114"/>
                </a:cubicBezTo>
                <a:cubicBezTo>
                  <a:pt x="722128" y="287532"/>
                  <a:pt x="615484" y="491352"/>
                  <a:pt x="615484" y="720080"/>
                </a:cubicBezTo>
                <a:cubicBezTo>
                  <a:pt x="615484" y="948808"/>
                  <a:pt x="722128" y="1152628"/>
                  <a:pt x="890376" y="1282046"/>
                </a:cubicBezTo>
                <a:cubicBezTo>
                  <a:pt x="769519" y="1381967"/>
                  <a:pt x="614149" y="1440160"/>
                  <a:pt x="445188" y="1440160"/>
                </a:cubicBezTo>
                <a:cubicBezTo>
                  <a:pt x="276227" y="1440160"/>
                  <a:pt x="120857" y="1381967"/>
                  <a:pt x="0" y="1282046"/>
                </a:cubicBezTo>
                <a:cubicBezTo>
                  <a:pt x="168248" y="1152628"/>
                  <a:pt x="274891" y="948808"/>
                  <a:pt x="274891" y="720080"/>
                </a:cubicBezTo>
                <a:cubicBezTo>
                  <a:pt x="274891" y="491352"/>
                  <a:pt x="168248" y="287532"/>
                  <a:pt x="0" y="158114"/>
                </a:cubicBezTo>
                <a:cubicBezTo>
                  <a:pt x="120857" y="58193"/>
                  <a:pt x="276227" y="0"/>
                  <a:pt x="44518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90500" sx="102000" sy="102000" algn="ctr" rotWithShape="0">
              <a:prstClr val="black">
                <a:alpha val="1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25"/>
          </a:p>
        </p:txBody>
      </p:sp>
      <p:sp>
        <p:nvSpPr>
          <p:cNvPr id="16" name="Oval 6">
            <a:extLst>
              <a:ext uri="{FF2B5EF4-FFF2-40B4-BE49-F238E27FC236}">
                <a16:creationId xmlns:a16="http://schemas.microsoft.com/office/drawing/2014/main" id="{77D3E33F-9390-C5D6-5A33-A31DCC037386}"/>
              </a:ext>
            </a:extLst>
          </p:cNvPr>
          <p:cNvSpPr/>
          <p:nvPr/>
        </p:nvSpPr>
        <p:spPr>
          <a:xfrm rot="16200000">
            <a:off x="1603390" y="1424521"/>
            <a:ext cx="768345" cy="1242779"/>
          </a:xfrm>
          <a:custGeom>
            <a:avLst/>
            <a:gdLst/>
            <a:ahLst/>
            <a:cxnLst/>
            <a:rect l="l" t="t" r="r" b="b"/>
            <a:pathLst>
              <a:path w="890376" h="1440160">
                <a:moveTo>
                  <a:pt x="445188" y="0"/>
                </a:moveTo>
                <a:cubicBezTo>
                  <a:pt x="614149" y="0"/>
                  <a:pt x="769519" y="58193"/>
                  <a:pt x="890376" y="158114"/>
                </a:cubicBezTo>
                <a:cubicBezTo>
                  <a:pt x="722128" y="287532"/>
                  <a:pt x="615484" y="491352"/>
                  <a:pt x="615484" y="720080"/>
                </a:cubicBezTo>
                <a:cubicBezTo>
                  <a:pt x="615484" y="948808"/>
                  <a:pt x="722128" y="1152628"/>
                  <a:pt x="890376" y="1282046"/>
                </a:cubicBezTo>
                <a:cubicBezTo>
                  <a:pt x="769519" y="1381967"/>
                  <a:pt x="614149" y="1440160"/>
                  <a:pt x="445188" y="1440160"/>
                </a:cubicBezTo>
                <a:cubicBezTo>
                  <a:pt x="276227" y="1440160"/>
                  <a:pt x="120857" y="1381967"/>
                  <a:pt x="0" y="1282046"/>
                </a:cubicBezTo>
                <a:cubicBezTo>
                  <a:pt x="168248" y="1152628"/>
                  <a:pt x="274891" y="948808"/>
                  <a:pt x="274891" y="720080"/>
                </a:cubicBezTo>
                <a:cubicBezTo>
                  <a:pt x="274891" y="491352"/>
                  <a:pt x="168248" y="287532"/>
                  <a:pt x="0" y="158114"/>
                </a:cubicBezTo>
                <a:cubicBezTo>
                  <a:pt x="120857" y="58193"/>
                  <a:pt x="276227" y="0"/>
                  <a:pt x="44518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90500" sx="102000" sy="102000" algn="ctr" rotWithShape="0">
              <a:prstClr val="black">
                <a:alpha val="1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25"/>
          </a:p>
        </p:txBody>
      </p:sp>
      <p:sp>
        <p:nvSpPr>
          <p:cNvPr id="17" name="Oval 9">
            <a:extLst>
              <a:ext uri="{FF2B5EF4-FFF2-40B4-BE49-F238E27FC236}">
                <a16:creationId xmlns:a16="http://schemas.microsoft.com/office/drawing/2014/main" id="{8CA2FD6A-42C6-F9E0-C448-2FF6A00FFB0B}"/>
              </a:ext>
            </a:extLst>
          </p:cNvPr>
          <p:cNvSpPr/>
          <p:nvPr/>
        </p:nvSpPr>
        <p:spPr>
          <a:xfrm>
            <a:off x="413538" y="1393451"/>
            <a:ext cx="1304918" cy="1304918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90500" sx="102000" sy="102000" algn="ctr" rotWithShape="0">
              <a:prstClr val="black">
                <a:alpha val="1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25"/>
          </a:p>
        </p:txBody>
      </p:sp>
      <p:sp>
        <p:nvSpPr>
          <p:cNvPr id="18" name="Oval 3">
            <a:extLst>
              <a:ext uri="{FF2B5EF4-FFF2-40B4-BE49-F238E27FC236}">
                <a16:creationId xmlns:a16="http://schemas.microsoft.com/office/drawing/2014/main" id="{1AC894EE-6512-91BA-0119-608367E522B9}"/>
              </a:ext>
            </a:extLst>
          </p:cNvPr>
          <p:cNvSpPr/>
          <p:nvPr/>
        </p:nvSpPr>
        <p:spPr>
          <a:xfrm>
            <a:off x="475677" y="1455590"/>
            <a:ext cx="1180640" cy="1180640"/>
          </a:xfrm>
          <a:custGeom>
            <a:avLst/>
            <a:gdLst/>
            <a:ahLst/>
            <a:cxnLst/>
            <a:rect l="l" t="t" r="r" b="b"/>
            <a:pathLst>
              <a:path w="1368152" h="1368152">
                <a:moveTo>
                  <a:pt x="684076" y="0"/>
                </a:moveTo>
                <a:cubicBezTo>
                  <a:pt x="1061881" y="0"/>
                  <a:pt x="1368152" y="306271"/>
                  <a:pt x="1368152" y="684076"/>
                </a:cubicBezTo>
                <a:lnTo>
                  <a:pt x="1359710" y="767824"/>
                </a:lnTo>
                <a:cubicBezTo>
                  <a:pt x="1086175" y="819898"/>
                  <a:pt x="877562" y="1054565"/>
                  <a:pt x="866904" y="1340297"/>
                </a:cubicBezTo>
                <a:cubicBezTo>
                  <a:pt x="809279" y="1359469"/>
                  <a:pt x="747692" y="1368152"/>
                  <a:pt x="684076" y="1368152"/>
                </a:cubicBezTo>
                <a:cubicBezTo>
                  <a:pt x="306271" y="1368152"/>
                  <a:pt x="0" y="1061881"/>
                  <a:pt x="0" y="684076"/>
                </a:cubicBezTo>
                <a:cubicBezTo>
                  <a:pt x="0" y="306271"/>
                  <a:pt x="306271" y="0"/>
                  <a:pt x="68407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25400" sx="102000" sy="102000" algn="ct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25"/>
          </a:p>
        </p:txBody>
      </p:sp>
      <p:sp>
        <p:nvSpPr>
          <p:cNvPr id="19" name="Oval 12">
            <a:extLst>
              <a:ext uri="{FF2B5EF4-FFF2-40B4-BE49-F238E27FC236}">
                <a16:creationId xmlns:a16="http://schemas.microsoft.com/office/drawing/2014/main" id="{7EE0F3AA-ED48-9AB9-CB02-A69C133FBDDE}"/>
              </a:ext>
            </a:extLst>
          </p:cNvPr>
          <p:cNvSpPr/>
          <p:nvPr/>
        </p:nvSpPr>
        <p:spPr>
          <a:xfrm>
            <a:off x="2176263" y="1393451"/>
            <a:ext cx="1304918" cy="1304918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90500" sx="102000" sy="102000" algn="ctr" rotWithShape="0">
              <a:prstClr val="black">
                <a:alpha val="1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25"/>
          </a:p>
        </p:txBody>
      </p:sp>
      <p:sp>
        <p:nvSpPr>
          <p:cNvPr id="20" name="Oval 3">
            <a:extLst>
              <a:ext uri="{FF2B5EF4-FFF2-40B4-BE49-F238E27FC236}">
                <a16:creationId xmlns:a16="http://schemas.microsoft.com/office/drawing/2014/main" id="{ACB96CD0-70C8-E643-F902-F6F4A6A9552B}"/>
              </a:ext>
            </a:extLst>
          </p:cNvPr>
          <p:cNvSpPr/>
          <p:nvPr/>
        </p:nvSpPr>
        <p:spPr>
          <a:xfrm>
            <a:off x="2238402" y="1455590"/>
            <a:ext cx="1180640" cy="1180640"/>
          </a:xfrm>
          <a:custGeom>
            <a:avLst/>
            <a:gdLst/>
            <a:ahLst/>
            <a:cxnLst/>
            <a:rect l="l" t="t" r="r" b="b"/>
            <a:pathLst>
              <a:path w="1368152" h="1368152">
                <a:moveTo>
                  <a:pt x="684076" y="0"/>
                </a:moveTo>
                <a:cubicBezTo>
                  <a:pt x="1061881" y="0"/>
                  <a:pt x="1368152" y="306271"/>
                  <a:pt x="1368152" y="684076"/>
                </a:cubicBezTo>
                <a:lnTo>
                  <a:pt x="1359710" y="767824"/>
                </a:lnTo>
                <a:cubicBezTo>
                  <a:pt x="1086175" y="819898"/>
                  <a:pt x="877562" y="1054565"/>
                  <a:pt x="866904" y="1340297"/>
                </a:cubicBezTo>
                <a:cubicBezTo>
                  <a:pt x="809279" y="1359469"/>
                  <a:pt x="747692" y="1368152"/>
                  <a:pt x="684076" y="1368152"/>
                </a:cubicBezTo>
                <a:cubicBezTo>
                  <a:pt x="306271" y="1368152"/>
                  <a:pt x="0" y="1061881"/>
                  <a:pt x="0" y="684076"/>
                </a:cubicBezTo>
                <a:cubicBezTo>
                  <a:pt x="0" y="306271"/>
                  <a:pt x="306271" y="0"/>
                  <a:pt x="68407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25400" sx="102000" sy="102000" algn="ct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25"/>
          </a:p>
        </p:txBody>
      </p:sp>
      <p:sp>
        <p:nvSpPr>
          <p:cNvPr id="21" name="Oval 15">
            <a:extLst>
              <a:ext uri="{FF2B5EF4-FFF2-40B4-BE49-F238E27FC236}">
                <a16:creationId xmlns:a16="http://schemas.microsoft.com/office/drawing/2014/main" id="{1041ED6B-1CD8-DCF6-AC71-96B184B7ECEA}"/>
              </a:ext>
            </a:extLst>
          </p:cNvPr>
          <p:cNvSpPr/>
          <p:nvPr/>
        </p:nvSpPr>
        <p:spPr>
          <a:xfrm>
            <a:off x="3958461" y="1393451"/>
            <a:ext cx="1304918" cy="1304918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90500" sx="102000" sy="102000" algn="ctr" rotWithShape="0">
              <a:prstClr val="black">
                <a:alpha val="1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25"/>
          </a:p>
        </p:txBody>
      </p:sp>
      <p:sp>
        <p:nvSpPr>
          <p:cNvPr id="22" name="Oval 3">
            <a:extLst>
              <a:ext uri="{FF2B5EF4-FFF2-40B4-BE49-F238E27FC236}">
                <a16:creationId xmlns:a16="http://schemas.microsoft.com/office/drawing/2014/main" id="{74B4D89E-7FFE-349E-512D-7BDE977E894A}"/>
              </a:ext>
            </a:extLst>
          </p:cNvPr>
          <p:cNvSpPr/>
          <p:nvPr/>
        </p:nvSpPr>
        <p:spPr>
          <a:xfrm>
            <a:off x="4020600" y="1455590"/>
            <a:ext cx="1180640" cy="1180640"/>
          </a:xfrm>
          <a:custGeom>
            <a:avLst/>
            <a:gdLst/>
            <a:ahLst/>
            <a:cxnLst/>
            <a:rect l="l" t="t" r="r" b="b"/>
            <a:pathLst>
              <a:path w="1368152" h="1368152">
                <a:moveTo>
                  <a:pt x="684076" y="0"/>
                </a:moveTo>
                <a:cubicBezTo>
                  <a:pt x="1061881" y="0"/>
                  <a:pt x="1368152" y="306271"/>
                  <a:pt x="1368152" y="684076"/>
                </a:cubicBezTo>
                <a:lnTo>
                  <a:pt x="1359710" y="767824"/>
                </a:lnTo>
                <a:cubicBezTo>
                  <a:pt x="1086175" y="819898"/>
                  <a:pt x="877562" y="1054565"/>
                  <a:pt x="866904" y="1340297"/>
                </a:cubicBezTo>
                <a:cubicBezTo>
                  <a:pt x="809279" y="1359469"/>
                  <a:pt x="747692" y="1368152"/>
                  <a:pt x="684076" y="1368152"/>
                </a:cubicBezTo>
                <a:cubicBezTo>
                  <a:pt x="306271" y="1368152"/>
                  <a:pt x="0" y="1061881"/>
                  <a:pt x="0" y="684076"/>
                </a:cubicBezTo>
                <a:cubicBezTo>
                  <a:pt x="0" y="306271"/>
                  <a:pt x="306271" y="0"/>
                  <a:pt x="68407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25400" sx="102000" sy="102000" algn="ct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25"/>
          </a:p>
        </p:txBody>
      </p:sp>
      <p:sp>
        <p:nvSpPr>
          <p:cNvPr id="23" name="Oval 18">
            <a:extLst>
              <a:ext uri="{FF2B5EF4-FFF2-40B4-BE49-F238E27FC236}">
                <a16:creationId xmlns:a16="http://schemas.microsoft.com/office/drawing/2014/main" id="{ADABE66C-BEF4-87BF-17FE-0BBEBF459A72}"/>
              </a:ext>
            </a:extLst>
          </p:cNvPr>
          <p:cNvSpPr/>
          <p:nvPr/>
        </p:nvSpPr>
        <p:spPr>
          <a:xfrm>
            <a:off x="5686653" y="1393451"/>
            <a:ext cx="1304918" cy="1304918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90500" sx="102000" sy="102000" algn="ctr" rotWithShape="0">
              <a:prstClr val="black">
                <a:alpha val="1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25"/>
          </a:p>
        </p:txBody>
      </p:sp>
      <p:sp>
        <p:nvSpPr>
          <p:cNvPr id="24" name="Oval 3">
            <a:extLst>
              <a:ext uri="{FF2B5EF4-FFF2-40B4-BE49-F238E27FC236}">
                <a16:creationId xmlns:a16="http://schemas.microsoft.com/office/drawing/2014/main" id="{496816FF-1DCE-C27F-E1BB-A34B20085C34}"/>
              </a:ext>
            </a:extLst>
          </p:cNvPr>
          <p:cNvSpPr/>
          <p:nvPr/>
        </p:nvSpPr>
        <p:spPr>
          <a:xfrm>
            <a:off x="5748792" y="1455590"/>
            <a:ext cx="1180640" cy="1180640"/>
          </a:xfrm>
          <a:custGeom>
            <a:avLst/>
            <a:gdLst/>
            <a:ahLst/>
            <a:cxnLst/>
            <a:rect l="l" t="t" r="r" b="b"/>
            <a:pathLst>
              <a:path w="1368152" h="1368152">
                <a:moveTo>
                  <a:pt x="684076" y="0"/>
                </a:moveTo>
                <a:cubicBezTo>
                  <a:pt x="1061881" y="0"/>
                  <a:pt x="1368152" y="306271"/>
                  <a:pt x="1368152" y="684076"/>
                </a:cubicBezTo>
                <a:lnTo>
                  <a:pt x="1359710" y="767824"/>
                </a:lnTo>
                <a:cubicBezTo>
                  <a:pt x="1086175" y="819898"/>
                  <a:pt x="877562" y="1054565"/>
                  <a:pt x="866904" y="1340297"/>
                </a:cubicBezTo>
                <a:cubicBezTo>
                  <a:pt x="809279" y="1359469"/>
                  <a:pt x="747692" y="1368152"/>
                  <a:pt x="684076" y="1368152"/>
                </a:cubicBezTo>
                <a:cubicBezTo>
                  <a:pt x="306271" y="1368152"/>
                  <a:pt x="0" y="1061881"/>
                  <a:pt x="0" y="684076"/>
                </a:cubicBezTo>
                <a:cubicBezTo>
                  <a:pt x="0" y="306271"/>
                  <a:pt x="306271" y="0"/>
                  <a:pt x="68407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25400" sx="102000" sy="102000" algn="ct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25"/>
          </a:p>
        </p:txBody>
      </p:sp>
      <p:sp>
        <p:nvSpPr>
          <p:cNvPr id="25" name="TextBox 304">
            <a:extLst>
              <a:ext uri="{FF2B5EF4-FFF2-40B4-BE49-F238E27FC236}">
                <a16:creationId xmlns:a16="http://schemas.microsoft.com/office/drawing/2014/main" id="{180A2A0C-B094-EEEF-30D1-6D2F9A74DCC3}"/>
              </a:ext>
            </a:extLst>
          </p:cNvPr>
          <p:cNvSpPr txBox="1"/>
          <p:nvPr/>
        </p:nvSpPr>
        <p:spPr>
          <a:xfrm>
            <a:off x="1246235" y="2189168"/>
            <a:ext cx="37918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100" b="1">
                <a:solidFill>
                  <a:schemeClr val="accent3"/>
                </a:solidFill>
              </a:rPr>
              <a:t>1</a:t>
            </a:r>
            <a:endParaRPr lang="ko-KR" altLang="en-US" sz="2100" b="1">
              <a:solidFill>
                <a:schemeClr val="accent3"/>
              </a:solidFill>
            </a:endParaRPr>
          </a:p>
        </p:txBody>
      </p:sp>
      <p:sp>
        <p:nvSpPr>
          <p:cNvPr id="26" name="TextBox 305">
            <a:extLst>
              <a:ext uri="{FF2B5EF4-FFF2-40B4-BE49-F238E27FC236}">
                <a16:creationId xmlns:a16="http://schemas.microsoft.com/office/drawing/2014/main" id="{5D5691D9-14B7-FB6E-59C8-FF2F60520D2F}"/>
              </a:ext>
            </a:extLst>
          </p:cNvPr>
          <p:cNvSpPr txBox="1"/>
          <p:nvPr/>
        </p:nvSpPr>
        <p:spPr>
          <a:xfrm>
            <a:off x="3015489" y="2189168"/>
            <a:ext cx="37918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100" b="1">
                <a:solidFill>
                  <a:schemeClr val="accent3"/>
                </a:solidFill>
              </a:rPr>
              <a:t>2</a:t>
            </a:r>
            <a:endParaRPr lang="ko-KR" altLang="en-US" sz="2100" b="1">
              <a:solidFill>
                <a:schemeClr val="accent3"/>
              </a:solidFill>
            </a:endParaRPr>
          </a:p>
        </p:txBody>
      </p:sp>
      <p:sp>
        <p:nvSpPr>
          <p:cNvPr id="27" name="TextBox 306">
            <a:extLst>
              <a:ext uri="{FF2B5EF4-FFF2-40B4-BE49-F238E27FC236}">
                <a16:creationId xmlns:a16="http://schemas.microsoft.com/office/drawing/2014/main" id="{1EEE707E-A837-EDFB-A2B7-0DA1C3E462C1}"/>
              </a:ext>
            </a:extLst>
          </p:cNvPr>
          <p:cNvSpPr txBox="1"/>
          <p:nvPr/>
        </p:nvSpPr>
        <p:spPr>
          <a:xfrm>
            <a:off x="4804216" y="2189168"/>
            <a:ext cx="37918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100" b="1" dirty="0">
                <a:solidFill>
                  <a:schemeClr val="accent3"/>
                </a:solidFill>
              </a:rPr>
              <a:t>3</a:t>
            </a:r>
            <a:endParaRPr lang="ko-KR" altLang="en-US" sz="2100" b="1" dirty="0">
              <a:solidFill>
                <a:schemeClr val="accent3"/>
              </a:solidFill>
            </a:endParaRPr>
          </a:p>
        </p:txBody>
      </p:sp>
      <p:sp>
        <p:nvSpPr>
          <p:cNvPr id="28" name="TextBox 307">
            <a:extLst>
              <a:ext uri="{FF2B5EF4-FFF2-40B4-BE49-F238E27FC236}">
                <a16:creationId xmlns:a16="http://schemas.microsoft.com/office/drawing/2014/main" id="{425134F9-9578-43B9-56C0-0745A73EB542}"/>
              </a:ext>
            </a:extLst>
          </p:cNvPr>
          <p:cNvSpPr txBox="1"/>
          <p:nvPr/>
        </p:nvSpPr>
        <p:spPr>
          <a:xfrm>
            <a:off x="6538938" y="2189168"/>
            <a:ext cx="37918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100" b="1">
                <a:solidFill>
                  <a:schemeClr val="accent3"/>
                </a:solidFill>
              </a:rPr>
              <a:t>4</a:t>
            </a:r>
            <a:endParaRPr lang="ko-KR" altLang="en-US" sz="2100" b="1">
              <a:solidFill>
                <a:schemeClr val="accent3"/>
              </a:solidFill>
            </a:endParaRPr>
          </a:p>
        </p:txBody>
      </p:sp>
      <p:sp>
        <p:nvSpPr>
          <p:cNvPr id="29" name="TextBox 308">
            <a:extLst>
              <a:ext uri="{FF2B5EF4-FFF2-40B4-BE49-F238E27FC236}">
                <a16:creationId xmlns:a16="http://schemas.microsoft.com/office/drawing/2014/main" id="{EEA57E96-F4A2-2171-260C-8F00DD91D3B7}"/>
              </a:ext>
            </a:extLst>
          </p:cNvPr>
          <p:cNvSpPr txBox="1"/>
          <p:nvPr/>
        </p:nvSpPr>
        <p:spPr>
          <a:xfrm>
            <a:off x="565353" y="1815074"/>
            <a:ext cx="870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cs typeface="Arial" pitchFamily="34" charset="0"/>
              </a:rPr>
              <a:t>Aderência Estratégica</a:t>
            </a:r>
            <a:endParaRPr lang="ko-KR" altLang="en-US" sz="12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33" name="TextBox 308">
            <a:extLst>
              <a:ext uri="{FF2B5EF4-FFF2-40B4-BE49-F238E27FC236}">
                <a16:creationId xmlns:a16="http://schemas.microsoft.com/office/drawing/2014/main" id="{FA280527-06BC-9F1F-1DDF-15072CD80472}"/>
              </a:ext>
            </a:extLst>
          </p:cNvPr>
          <p:cNvSpPr txBox="1"/>
          <p:nvPr/>
        </p:nvSpPr>
        <p:spPr>
          <a:xfrm>
            <a:off x="2329396" y="1816787"/>
            <a:ext cx="8704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cs typeface="Arial" pitchFamily="34" charset="0"/>
              </a:rPr>
              <a:t>Potencial de Mercado</a:t>
            </a:r>
            <a:endParaRPr lang="ko-KR" altLang="en-US" sz="12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34" name="TextBox 308">
            <a:extLst>
              <a:ext uri="{FF2B5EF4-FFF2-40B4-BE49-F238E27FC236}">
                <a16:creationId xmlns:a16="http://schemas.microsoft.com/office/drawing/2014/main" id="{BE54EA84-BC53-453D-20C7-F23543C6C9ED}"/>
              </a:ext>
            </a:extLst>
          </p:cNvPr>
          <p:cNvSpPr txBox="1"/>
          <p:nvPr/>
        </p:nvSpPr>
        <p:spPr>
          <a:xfrm>
            <a:off x="4108423" y="1826619"/>
            <a:ext cx="9563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cs typeface="Arial" pitchFamily="34" charset="0"/>
              </a:rPr>
              <a:t>Cenário Competitivo</a:t>
            </a:r>
            <a:endParaRPr lang="ko-KR" altLang="en-US" sz="12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35" name="TextBox 308">
            <a:extLst>
              <a:ext uri="{FF2B5EF4-FFF2-40B4-BE49-F238E27FC236}">
                <a16:creationId xmlns:a16="http://schemas.microsoft.com/office/drawing/2014/main" id="{0C1E30B5-47EE-12EB-6CC9-53F7AA290B54}"/>
              </a:ext>
            </a:extLst>
          </p:cNvPr>
          <p:cNvSpPr txBox="1"/>
          <p:nvPr/>
        </p:nvSpPr>
        <p:spPr>
          <a:xfrm>
            <a:off x="5858056" y="1799535"/>
            <a:ext cx="870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cs typeface="Arial" pitchFamily="34" charset="0"/>
              </a:rPr>
              <a:t>Abordagem Correta</a:t>
            </a:r>
            <a:endParaRPr lang="ko-KR" altLang="en-US" sz="12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36" name="TextBox 308">
            <a:extLst>
              <a:ext uri="{FF2B5EF4-FFF2-40B4-BE49-F238E27FC236}">
                <a16:creationId xmlns:a16="http://schemas.microsoft.com/office/drawing/2014/main" id="{E13F61C0-8521-A2B0-BA13-B107D335DA18}"/>
              </a:ext>
            </a:extLst>
          </p:cNvPr>
          <p:cNvSpPr txBox="1"/>
          <p:nvPr/>
        </p:nvSpPr>
        <p:spPr>
          <a:xfrm>
            <a:off x="7541690" y="1826618"/>
            <a:ext cx="870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cs typeface="Arial" pitchFamily="34" charset="0"/>
              </a:rPr>
              <a:t>ROI Atrativo</a:t>
            </a:r>
            <a:endParaRPr lang="ko-KR" altLang="en-US" sz="1200" b="1" dirty="0">
              <a:solidFill>
                <a:schemeClr val="bg1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6692116"/>
      </p:ext>
    </p:extLst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blocos, do contexto às decisões de hoje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4398264"/>
            <a:ext cx="4572000" cy="7429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170432"/>
            <a:ext cx="402336" cy="402336"/>
          </a:xfrm>
          <a:prstGeom prst="ellipse">
            <a:avLst/>
          </a:prstGeom>
          <a:solidFill>
            <a:srgbClr val="C8106E"/>
          </a:solidFill>
          <a:ln/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548640" y="11704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115568" y="1143000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e proposta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115568" y="1399032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Resumo, nossa história e o cliente-alvo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1115568" y="1636776"/>
            <a:ext cx="6473952" cy="914"/>
          </a:xfrm>
          <a:prstGeom prst="line">
            <a:avLst/>
          </a:prstGeom>
          <a:noFill/>
          <a:ln w="6350">
            <a:solidFill>
              <a:srgbClr val="E4E7EB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548640" y="1691640"/>
            <a:ext cx="402336" cy="402336"/>
          </a:xfrm>
          <a:prstGeom prst="ellipse">
            <a:avLst/>
          </a:prstGeom>
          <a:solidFill>
            <a:srgbClr val="C8106E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548640" y="1691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115568" y="1664208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115568" y="192024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Bússola Farm, nossa base de clientes e a nova geração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1115568" y="2157984"/>
            <a:ext cx="6473952" cy="914"/>
          </a:xfrm>
          <a:prstGeom prst="line">
            <a:avLst/>
          </a:prstGeom>
          <a:noFill/>
          <a:ln w="6350">
            <a:solidFill>
              <a:srgbClr val="E4E7EB"/>
            </a:solidFill>
            <a:prstDash val="solid"/>
          </a:ln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548640" y="2212848"/>
            <a:ext cx="402336" cy="402336"/>
          </a:xfrm>
          <a:prstGeom prst="ellipse">
            <a:avLst/>
          </a:prstGeom>
          <a:solidFill>
            <a:srgbClr val="1B3A8C"/>
          </a:solidFill>
          <a:ln/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548640" y="22128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115568" y="2185416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 e diferencial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115568" y="2441448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Suporte, dashboards e equipe técnica: como funciona na prática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1115568" y="2679192"/>
            <a:ext cx="6473952" cy="914"/>
          </a:xfrm>
          <a:prstGeom prst="line">
            <a:avLst/>
          </a:prstGeom>
          <a:noFill/>
          <a:ln w="6350">
            <a:solidFill>
              <a:srgbClr val="E4E7EB"/>
            </a:solidFill>
            <a:prstDash val="solid"/>
          </a:ln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548640" y="2734056"/>
            <a:ext cx="402336" cy="402336"/>
          </a:xfrm>
          <a:prstGeom prst="ellipse">
            <a:avLst/>
          </a:prstGeom>
          <a:solidFill>
            <a:srgbClr val="C8106E"/>
          </a:solidFill>
          <a:ln/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548640" y="27340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1115568" y="2706624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Concorrência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115568" y="2962656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Cargill, DSM, Ponta e Tecnobeef: onde vamos vencer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15568" y="3200400"/>
            <a:ext cx="6473952" cy="914"/>
          </a:xfrm>
          <a:prstGeom prst="line">
            <a:avLst/>
          </a:prstGeom>
          <a:noFill/>
          <a:ln w="6350">
            <a:solidFill>
              <a:srgbClr val="E4E7EB"/>
            </a:solidFill>
            <a:prstDash val="solid"/>
          </a:ln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548640" y="3255264"/>
            <a:ext cx="402336" cy="402336"/>
          </a:xfrm>
          <a:prstGeom prst="ellipse">
            <a:avLst/>
          </a:prstGeom>
          <a:solidFill>
            <a:srgbClr val="C8106E"/>
          </a:solidFill>
          <a:ln/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548640" y="32552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1115568" y="3227832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negócio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1115568" y="3483864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Custos, SWOT, go-to-market e Grupo de Desenvolvimento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1115568" y="3721608"/>
            <a:ext cx="6473952" cy="914"/>
          </a:xfrm>
          <a:prstGeom prst="line">
            <a:avLst/>
          </a:prstGeom>
          <a:noFill/>
          <a:ln w="6350">
            <a:solidFill>
              <a:srgbClr val="E4E7EB"/>
            </a:solidFill>
            <a:prstDash val="solid"/>
          </a:ln>
        </p:spPr>
        <p:txBody>
          <a:bodyPr/>
          <a:p/>
        </p:txBody>
      </p:sp>
      <p:sp>
        <p:nvSpPr>
          <p:cNvPr id="31" name="Shape 28"/>
          <p:cNvSpPr/>
          <p:nvPr/>
        </p:nvSpPr>
        <p:spPr>
          <a:xfrm>
            <a:off x="548640" y="3776472"/>
            <a:ext cx="402336" cy="402336"/>
          </a:xfrm>
          <a:prstGeom prst="ellipse">
            <a:avLst/>
          </a:prstGeom>
          <a:solidFill>
            <a:srgbClr val="C8106E"/>
          </a:solidFill>
          <a:ln/>
        </p:spPr>
        <p:txBody>
          <a:bodyPr/>
          <a:p/>
        </p:txBody>
      </p:sp>
      <p:sp>
        <p:nvSpPr>
          <p:cNvPr id="32" name="Text 29"/>
          <p:cNvSpPr/>
          <p:nvPr/>
        </p:nvSpPr>
        <p:spPr>
          <a:xfrm>
            <a:off x="548640" y="37764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3" name="Text 30"/>
          <p:cNvSpPr/>
          <p:nvPr/>
        </p:nvSpPr>
        <p:spPr>
          <a:xfrm>
            <a:off x="1115568" y="3749040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e decisões</a:t>
            </a:r>
            <a:endParaRPr lang="en-US" sz="1500" dirty="0"/>
          </a:p>
        </p:txBody>
      </p:sp>
      <p:sp>
        <p:nvSpPr>
          <p:cNvPr id="34" name="Text 31"/>
          <p:cNvSpPr/>
          <p:nvPr/>
        </p:nvSpPr>
        <p:spPr>
          <a:xfrm>
            <a:off x="1115568" y="4005072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Roadmap, cronograma de 4 anos e o que aprovar hoje</a:t>
            </a:r>
            <a:endParaRPr lang="en-US" sz="11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Nossa história: da automação para o resultado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v1.0 começou pelo fim. A versão Web começa pela rotina do curral e termina no resultado do pecuarista.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4398264"/>
            <a:ext cx="4572000" cy="7429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4791456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Fontes: Probeef (95% dos confinamentos analisados usam software de gestão); Embrapa (2018): 106 softwares para pecuária de corte, vistos como complexos e caros.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846320" y="6400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spc="150" kern="0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1  ·  CONTEXTO E PROPOSTA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115214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 Manager v1.0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1444752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2023: começou pelo fim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103120" y="1115568"/>
            <a:ext cx="1755648" cy="713232"/>
          </a:xfrm>
          <a:prstGeom prst="homePlate">
            <a:avLst/>
          </a:prstGeom>
          <a:solidFill>
            <a:srgbClr val="9AA3AC"/>
          </a:solidFill>
          <a:ln w="254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2194560" y="1115568"/>
            <a:ext cx="1261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Automação e hardware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749040" y="1115568"/>
            <a:ext cx="1755648" cy="713232"/>
          </a:xfrm>
          <a:prstGeom prst="chevron">
            <a:avLst/>
          </a:prstGeom>
          <a:solidFill>
            <a:srgbClr val="9AA3AC"/>
          </a:solidFill>
          <a:ln w="254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4059936" y="1115568"/>
            <a:ext cx="1261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Integrações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394960" y="1115568"/>
            <a:ext cx="1755648" cy="713232"/>
          </a:xfrm>
          <a:prstGeom prst="chevron">
            <a:avLst/>
          </a:prstGeom>
          <a:solidFill>
            <a:srgbClr val="9AA3AC"/>
          </a:solidFill>
          <a:ln w="254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5705856" y="1115568"/>
            <a:ext cx="1261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Grandes confinamentos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7040880" y="1115568"/>
            <a:ext cx="1755648" cy="713232"/>
          </a:xfrm>
          <a:prstGeom prst="chevron">
            <a:avLst/>
          </a:prstGeom>
          <a:solidFill>
            <a:srgbClr val="9AA3AC"/>
          </a:solidFill>
          <a:ln w="254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7351776" y="1115568"/>
            <a:ext cx="1261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Implantação longa e cara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57200" y="2002536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 Manager Web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57200" y="2295144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2026: começa pelo começo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2103120" y="1965960"/>
            <a:ext cx="1426464" cy="713232"/>
          </a:xfrm>
          <a:prstGeom prst="homePlate">
            <a:avLst/>
          </a:prstGeom>
          <a:solidFill>
            <a:srgbClr val="26668F"/>
          </a:solidFill>
          <a:ln w="254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2194560" y="1965960"/>
            <a:ext cx="9326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Rotina do curral e inputs manuais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3419856" y="1965960"/>
            <a:ext cx="1426464" cy="713232"/>
          </a:xfrm>
          <a:prstGeom prst="chevron">
            <a:avLst/>
          </a:prstGeom>
          <a:solidFill>
            <a:srgbClr val="1B3A8C"/>
          </a:solidFill>
          <a:ln w="254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3730752" y="1965960"/>
            <a:ext cx="9326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objetivo e flexível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736592" y="1965960"/>
            <a:ext cx="1426464" cy="713232"/>
          </a:xfrm>
          <a:prstGeom prst="chevron">
            <a:avLst/>
          </a:prstGeom>
          <a:solidFill>
            <a:srgbClr val="1B3A8C"/>
          </a:solidFill>
          <a:ln w="254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5047488" y="1965960"/>
            <a:ext cx="9326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técnica TN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6053328" y="1965960"/>
            <a:ext cx="1426464" cy="713232"/>
          </a:xfrm>
          <a:prstGeom prst="chevron">
            <a:avLst/>
          </a:prstGeom>
          <a:solidFill>
            <a:srgbClr val="C8106E"/>
          </a:solidFill>
          <a:ln w="254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6364224" y="1965960"/>
            <a:ext cx="9326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do pecuarista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7370064" y="1965960"/>
            <a:ext cx="1426464" cy="713232"/>
          </a:xfrm>
          <a:prstGeom prst="chevron">
            <a:avLst/>
          </a:prstGeom>
          <a:solidFill>
            <a:srgbClr val="E3E7EC"/>
          </a:solidFill>
          <a:ln w="254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7680960" y="1965960"/>
            <a:ext cx="9326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Automação: PecCode hoje, TN no futuro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57200" y="2880360"/>
            <a:ext cx="1554480" cy="141732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31" name="Shape 28"/>
          <p:cNvSpPr/>
          <p:nvPr/>
        </p:nvSpPr>
        <p:spPr>
          <a:xfrm>
            <a:off x="457200" y="2880360"/>
            <a:ext cx="1554480" cy="54864"/>
          </a:xfrm>
          <a:prstGeom prst="rect">
            <a:avLst/>
          </a:prstGeom>
          <a:solidFill>
            <a:srgbClr val="26668F"/>
          </a:solidFill>
          <a:ln/>
        </p:spPr>
        <p:txBody>
          <a:bodyPr/>
          <a:p/>
        </p:txBody>
      </p:sp>
      <p:sp>
        <p:nvSpPr>
          <p:cNvPr id="32" name="Text 29"/>
          <p:cNvSpPr/>
          <p:nvPr/>
        </p:nvSpPr>
        <p:spPr>
          <a:xfrm>
            <a:off x="566928" y="3008376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66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Simples</a:t>
            </a:r>
            <a:endParaRPr lang="en-US" sz="1500" dirty="0"/>
          </a:p>
        </p:txBody>
      </p:sp>
      <p:sp>
        <p:nvSpPr>
          <p:cNvPr id="33" name="Text 30"/>
          <p:cNvSpPr/>
          <p:nvPr/>
        </p:nvSpPr>
        <p:spPr>
          <a:xfrm>
            <a:off x="566928" y="3319272"/>
            <a:ext cx="133502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manuais com poucos campos: 10 minutos por dia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2103120" y="2880360"/>
            <a:ext cx="1554480" cy="141732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35" name="Shape 32"/>
          <p:cNvSpPr/>
          <p:nvPr/>
        </p:nvSpPr>
        <p:spPr>
          <a:xfrm>
            <a:off x="2103120" y="2880360"/>
            <a:ext cx="1554480" cy="54864"/>
          </a:xfrm>
          <a:prstGeom prst="rect">
            <a:avLst/>
          </a:prstGeom>
          <a:solidFill>
            <a:srgbClr val="1B3A8C"/>
          </a:solidFill>
          <a:ln/>
        </p:spPr>
        <p:txBody>
          <a:bodyPr/>
          <a:p/>
        </p:txBody>
      </p:sp>
      <p:sp>
        <p:nvSpPr>
          <p:cNvPr id="36" name="Text 33"/>
          <p:cNvSpPr/>
          <p:nvPr/>
        </p:nvSpPr>
        <p:spPr>
          <a:xfrm>
            <a:off x="2212848" y="3008376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1500" dirty="0"/>
          </a:p>
        </p:txBody>
      </p:sp>
      <p:sp>
        <p:nvSpPr>
          <p:cNvPr id="37" name="Text 34"/>
          <p:cNvSpPr/>
          <p:nvPr/>
        </p:nvSpPr>
        <p:spPr>
          <a:xfrm>
            <a:off x="2212848" y="3319272"/>
            <a:ext cx="133502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os indicadores que mudam a decisão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3749040" y="2880360"/>
            <a:ext cx="1554480" cy="141732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39" name="Shape 36"/>
          <p:cNvSpPr/>
          <p:nvPr/>
        </p:nvSpPr>
        <p:spPr>
          <a:xfrm>
            <a:off x="3749040" y="2880360"/>
            <a:ext cx="1554480" cy="54864"/>
          </a:xfrm>
          <a:prstGeom prst="rect">
            <a:avLst/>
          </a:prstGeom>
          <a:solidFill>
            <a:srgbClr val="C8106E"/>
          </a:solidFill>
          <a:ln/>
        </p:spPr>
        <p:txBody>
          <a:bodyPr/>
          <a:p/>
        </p:txBody>
      </p:sp>
      <p:sp>
        <p:nvSpPr>
          <p:cNvPr id="40" name="Text 37"/>
          <p:cNvSpPr/>
          <p:nvPr/>
        </p:nvSpPr>
        <p:spPr>
          <a:xfrm>
            <a:off x="3858768" y="3008376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Flexível</a:t>
            </a:r>
            <a:endParaRPr lang="en-US" sz="1500" dirty="0"/>
          </a:p>
        </p:txBody>
      </p:sp>
      <p:sp>
        <p:nvSpPr>
          <p:cNvPr id="41" name="Text 38"/>
          <p:cNvSpPr/>
          <p:nvPr/>
        </p:nvSpPr>
        <p:spPr>
          <a:xfrm>
            <a:off x="3858768" y="3319272"/>
            <a:ext cx="133502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Celular ou papel, com ou sem internet no curral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5440680" y="2880360"/>
            <a:ext cx="3246120" cy="1417320"/>
          </a:xfrm>
          <a:prstGeom prst="rect">
            <a:avLst/>
          </a:prstGeom>
          <a:solidFill>
            <a:srgbClr val="1B3A8C"/>
          </a:solidFill>
          <a:ln/>
        </p:spPr>
        <p:txBody>
          <a:bodyPr/>
          <a:p/>
        </p:txBody>
      </p:sp>
      <p:sp>
        <p:nvSpPr>
          <p:cNvPr id="43" name="Text 40"/>
          <p:cNvSpPr/>
          <p:nvPr/>
        </p:nvSpPr>
        <p:spPr>
          <a:xfrm>
            <a:off x="5623560" y="299008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5D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É MAIS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5623560" y="324612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virou commodity. O que manda é o resultado que ajudamos o pecuarista a alcançar.</a:t>
            </a:r>
            <a:endParaRPr lang="en-US" sz="15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Bússola Farm: 14.038 confinamentos mapeados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 são pequenos, mas somam só 23% da capacidade estática: muitas fazendas, pouco volume cada.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4398264"/>
            <a:ext cx="4572000" cy="7429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4791456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Bússola Farm, dados 2024/2025. Percentuais sobre os 13.214 confinamentos com faixa informada.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846320" y="6400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spc="150" kern="0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2  ·  MERCADO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10515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14.038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1737360" y="10515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confinamentos mapeados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206240" y="105156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6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14.985.249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6172200" y="10515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cabeças de capacidade estática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57200" y="1572768"/>
            <a:ext cx="8229600" cy="713232"/>
          </a:xfrm>
          <a:prstGeom prst="rect">
            <a:avLst/>
          </a:prstGeom>
          <a:solidFill>
            <a:srgbClr val="FBE7F1"/>
          </a:solidFill>
          <a:ln/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457200" y="1572768"/>
            <a:ext cx="64008" cy="713232"/>
          </a:xfrm>
          <a:prstGeom prst="rect">
            <a:avLst/>
          </a:prstGeom>
          <a:solidFill>
            <a:srgbClr val="C8106E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21792" y="166420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Faixa 1: pequenos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21792" y="195681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1.500 cabeças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2697480" y="164592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11.194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2697480" y="202996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confinamentos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023360" y="164592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3,5 mi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4023360" y="202996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cabeças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440680" y="1700784"/>
            <a:ext cx="1936242" cy="210312"/>
          </a:xfrm>
          <a:prstGeom prst="rect">
            <a:avLst/>
          </a:prstGeom>
          <a:solidFill>
            <a:srgbClr val="C8106E"/>
          </a:solidFill>
          <a:ln/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5513832" y="169164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 dos confinamentos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440680" y="1965960"/>
            <a:ext cx="525780" cy="210312"/>
          </a:xfrm>
          <a:prstGeom prst="rect">
            <a:avLst/>
          </a:prstGeom>
          <a:solidFill>
            <a:srgbClr val="9AA3AC"/>
          </a:solidFill>
          <a:ln/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6021324" y="1956816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23% da capacidade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57200" y="2359152"/>
            <a:ext cx="8229600" cy="713232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457200" y="2359152"/>
            <a:ext cx="64008" cy="713232"/>
          </a:xfrm>
          <a:prstGeom prst="rect">
            <a:avLst/>
          </a:prstGeom>
          <a:solidFill>
            <a:srgbClr val="26668F"/>
          </a:solidFill>
          <a:ln/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621792" y="24505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66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Faixa 2: médios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621792" y="27432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6.900 cabeças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2697480" y="243230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66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1.664</a:t>
            </a:r>
            <a:endParaRPr lang="en-US" sz="2400" dirty="0"/>
          </a:p>
        </p:txBody>
      </p:sp>
      <p:sp>
        <p:nvSpPr>
          <p:cNvPr id="29" name="Text 26"/>
          <p:cNvSpPr/>
          <p:nvPr/>
        </p:nvSpPr>
        <p:spPr>
          <a:xfrm>
            <a:off x="2697480" y="281635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confinamentos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4023360" y="243230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5,5 mi</a:t>
            </a:r>
            <a:endParaRPr lang="en-US" sz="2400" dirty="0"/>
          </a:p>
        </p:txBody>
      </p:sp>
      <p:sp>
        <p:nvSpPr>
          <p:cNvPr id="31" name="Text 28"/>
          <p:cNvSpPr/>
          <p:nvPr/>
        </p:nvSpPr>
        <p:spPr>
          <a:xfrm>
            <a:off x="4023360" y="281635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cabeças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5440680" y="2487168"/>
            <a:ext cx="288036" cy="210312"/>
          </a:xfrm>
          <a:prstGeom prst="rect">
            <a:avLst/>
          </a:prstGeom>
          <a:solidFill>
            <a:srgbClr val="26668F"/>
          </a:solidFill>
          <a:ln/>
        </p:spPr>
        <p:txBody>
          <a:bodyPr/>
          <a:p/>
        </p:txBody>
      </p:sp>
      <p:sp>
        <p:nvSpPr>
          <p:cNvPr id="33" name="Text 30"/>
          <p:cNvSpPr/>
          <p:nvPr/>
        </p:nvSpPr>
        <p:spPr>
          <a:xfrm>
            <a:off x="5783580" y="2478024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13% dos confinamentos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5440680" y="2752344"/>
            <a:ext cx="845820" cy="210312"/>
          </a:xfrm>
          <a:prstGeom prst="rect">
            <a:avLst/>
          </a:prstGeom>
          <a:solidFill>
            <a:srgbClr val="9AA3AC"/>
          </a:solidFill>
          <a:ln/>
        </p:spPr>
        <p:txBody>
          <a:bodyPr/>
          <a:p/>
        </p:txBody>
      </p:sp>
      <p:sp>
        <p:nvSpPr>
          <p:cNvPr id="35" name="Text 32"/>
          <p:cNvSpPr/>
          <p:nvPr/>
        </p:nvSpPr>
        <p:spPr>
          <a:xfrm>
            <a:off x="6341364" y="27432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37% da capacidade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57200" y="3145536"/>
            <a:ext cx="8229600" cy="713232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37" name="Shape 34"/>
          <p:cNvSpPr/>
          <p:nvPr/>
        </p:nvSpPr>
        <p:spPr>
          <a:xfrm>
            <a:off x="457200" y="3145536"/>
            <a:ext cx="64008" cy="713232"/>
          </a:xfrm>
          <a:prstGeom prst="rect">
            <a:avLst/>
          </a:prstGeom>
          <a:solidFill>
            <a:srgbClr val="1B3A8C"/>
          </a:solidFill>
          <a:ln/>
        </p:spPr>
        <p:txBody>
          <a:bodyPr/>
          <a:p/>
        </p:txBody>
      </p:sp>
      <p:sp>
        <p:nvSpPr>
          <p:cNvPr id="38" name="Text 35"/>
          <p:cNvSpPr/>
          <p:nvPr/>
        </p:nvSpPr>
        <p:spPr>
          <a:xfrm>
            <a:off x="621792" y="323697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Faixa 3: grandes</a:t>
            </a:r>
            <a:endParaRPr lang="en-US" sz="1400" dirty="0"/>
          </a:p>
        </p:txBody>
      </p:sp>
      <p:sp>
        <p:nvSpPr>
          <p:cNvPr id="39" name="Text 36"/>
          <p:cNvSpPr/>
          <p:nvPr/>
        </p:nvSpPr>
        <p:spPr>
          <a:xfrm>
            <a:off x="621792" y="352958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de 7.000 (média de 16 mil)</a:t>
            </a:r>
            <a:endParaRPr lang="en-US" sz="1050" dirty="0"/>
          </a:p>
        </p:txBody>
      </p:sp>
      <p:sp>
        <p:nvSpPr>
          <p:cNvPr id="40" name="Text 37"/>
          <p:cNvSpPr/>
          <p:nvPr/>
        </p:nvSpPr>
        <p:spPr>
          <a:xfrm>
            <a:off x="2697480" y="321868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356</a:t>
            </a:r>
            <a:endParaRPr lang="en-US" sz="2400" dirty="0"/>
          </a:p>
        </p:txBody>
      </p:sp>
      <p:sp>
        <p:nvSpPr>
          <p:cNvPr id="41" name="Text 38"/>
          <p:cNvSpPr/>
          <p:nvPr/>
        </p:nvSpPr>
        <p:spPr>
          <a:xfrm>
            <a:off x="2697480" y="360273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confinamentos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4023360" y="321868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6,0 mi</a:t>
            </a:r>
            <a:endParaRPr lang="en-US" sz="2400" dirty="0"/>
          </a:p>
        </p:txBody>
      </p:sp>
      <p:sp>
        <p:nvSpPr>
          <p:cNvPr id="43" name="Text 40"/>
          <p:cNvSpPr/>
          <p:nvPr/>
        </p:nvSpPr>
        <p:spPr>
          <a:xfrm>
            <a:off x="4023360" y="360273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cabeças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5440680" y="3273552"/>
            <a:ext cx="61722" cy="210312"/>
          </a:xfrm>
          <a:prstGeom prst="rect">
            <a:avLst/>
          </a:prstGeom>
          <a:solidFill>
            <a:srgbClr val="1B3A8C"/>
          </a:solidFill>
          <a:ln/>
        </p:spPr>
        <p:txBody>
          <a:bodyPr/>
          <a:p/>
        </p:txBody>
      </p:sp>
      <p:sp>
        <p:nvSpPr>
          <p:cNvPr id="45" name="Text 42"/>
          <p:cNvSpPr/>
          <p:nvPr/>
        </p:nvSpPr>
        <p:spPr>
          <a:xfrm>
            <a:off x="5557266" y="326440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3% dos confinamentos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5440680" y="3538728"/>
            <a:ext cx="914400" cy="210312"/>
          </a:xfrm>
          <a:prstGeom prst="rect">
            <a:avLst/>
          </a:prstGeom>
          <a:solidFill>
            <a:srgbClr val="9AA3AC"/>
          </a:solidFill>
          <a:ln/>
        </p:spPr>
        <p:txBody>
          <a:bodyPr/>
          <a:p/>
        </p:txBody>
      </p:sp>
      <p:sp>
        <p:nvSpPr>
          <p:cNvPr id="47" name="Text 44"/>
          <p:cNvSpPr/>
          <p:nvPr/>
        </p:nvSpPr>
        <p:spPr>
          <a:xfrm>
            <a:off x="6409944" y="3529584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da capacidade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457200" y="4005072"/>
            <a:ext cx="4206240" cy="329184"/>
          </a:xfrm>
          <a:prstGeom prst="roundRect">
            <a:avLst>
              <a:gd name="adj" fmla="val 50000"/>
            </a:avLst>
          </a:prstGeom>
          <a:solidFill>
            <a:srgbClr val="C5D300"/>
          </a:solidFill>
          <a:ln/>
        </p:spPr>
        <p:txBody>
          <a:bodyPr/>
          <a:p/>
        </p:txBody>
      </p:sp>
      <p:sp>
        <p:nvSpPr>
          <p:cNvPr id="49" name="Text 46"/>
          <p:cNvSpPr/>
          <p:nvPr/>
        </p:nvSpPr>
        <p:spPr>
          <a:xfrm>
            <a:off x="457200" y="4005072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 do TN Manager Web: Faixa 1 e início da Faixa 2</a:t>
            </a:r>
            <a:endParaRPr lang="en-US" sz="11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Nossa base: 2.796 confinadores cadastrados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no sistema da Trouw, de janeiro a outubro de 2026. RO, SP e MT somam 65%.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4398264"/>
            <a:ext cx="4572000" cy="7429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4791456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clientes cadastrados no sistema Trouw Nutrition (jan a out/2026); cabeças por estado: censo dsm-firmenich 2025. Mapa: @svg-maps/brazil (CC BY 4.0).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846320" y="6400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spc="150" kern="0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2  ·  MERCADO</a:t>
            </a:r>
            <a:endParaRPr lang="en-US" sz="800" dirty="0"/>
          </a:p>
        </p:txBody>
      </p:sp>
      <p:pic>
        <p:nvPicPr>
          <p:cNvPr id="8" name="Image 1" descr="/tmp/claude-0/-home-user-projetos-rodrigo-agro/75ea8577-07ab-56ed-800f-dbd18240b1a3/scratchpad/build/mapa-brasi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005840"/>
            <a:ext cx="3520440" cy="3669757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038724" y="2333070"/>
            <a:ext cx="749808" cy="246888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15875">
            <a:solidFill>
              <a:srgbClr val="D7263D"/>
            </a:solidFill>
            <a:prstDash val="solid"/>
          </a:ln>
        </p:spPr>
        <p:txBody>
          <a:bodyPr/>
          <a:p/>
        </p:txBody>
      </p:sp>
      <p:sp>
        <p:nvSpPr>
          <p:cNvPr id="10" name="Text 6"/>
          <p:cNvSpPr/>
          <p:nvPr/>
        </p:nvSpPr>
        <p:spPr>
          <a:xfrm>
            <a:off x="1038724" y="2333070"/>
            <a:ext cx="7498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 </a:t>
            </a:r>
            <a:pPr algn="ctr" indent="0" marL="0">
              <a:buNone/>
            </a:pPr>
            <a:r>
              <a:rPr lang="en-US" sz="120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1.022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2416656" y="3401262"/>
            <a:ext cx="594360" cy="246888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15875">
            <a:solidFill>
              <a:srgbClr val="D7263D"/>
            </a:solidFill>
            <a:prstDash val="solid"/>
          </a:ln>
        </p:spPr>
        <p:txBody>
          <a:bodyPr/>
          <a:p/>
        </p:txBody>
      </p:sp>
      <p:sp>
        <p:nvSpPr>
          <p:cNvPr id="12" name="Text 8"/>
          <p:cNvSpPr/>
          <p:nvPr/>
        </p:nvSpPr>
        <p:spPr>
          <a:xfrm>
            <a:off x="2416656" y="3401262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 </a:t>
            </a:r>
            <a:pPr algn="ctr" indent="0" marL="0">
              <a:buNone/>
            </a:pPr>
            <a:r>
              <a:rPr lang="en-US" sz="120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461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1736689" y="2521439"/>
            <a:ext cx="594360" cy="246888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15875">
            <a:solidFill>
              <a:srgbClr val="D7263D"/>
            </a:solidFill>
            <a:prstDash val="solid"/>
          </a:ln>
        </p:spPr>
        <p:txBody>
          <a:bodyPr/>
          <a:p/>
        </p:txBody>
      </p:sp>
      <p:sp>
        <p:nvSpPr>
          <p:cNvPr id="14" name="Text 10"/>
          <p:cNvSpPr/>
          <p:nvPr/>
        </p:nvSpPr>
        <p:spPr>
          <a:xfrm>
            <a:off x="1736689" y="2521439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</a:t>
            </a:r>
            <a:pPr algn="ctr" indent="0" marL="0">
              <a:buNone/>
            </a:pPr>
            <a:r>
              <a:rPr lang="en-US" sz="120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341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2831672" y="3013522"/>
            <a:ext cx="512064" cy="210312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B8C2CC"/>
            </a:solidFill>
            <a:prstDash val="solid"/>
          </a:ln>
        </p:spPr>
        <p:txBody>
          <a:bodyPr/>
          <a:p/>
        </p:txBody>
      </p:sp>
      <p:sp>
        <p:nvSpPr>
          <p:cNvPr id="16" name="Text 12"/>
          <p:cNvSpPr/>
          <p:nvPr/>
        </p:nvSpPr>
        <p:spPr>
          <a:xfrm>
            <a:off x="2831672" y="3013522"/>
            <a:ext cx="5120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 </a:t>
            </a:r>
            <a:pPr algn="ctr" indent="0" marL="0">
              <a:buNone/>
            </a:pPr>
            <a:r>
              <a:rPr lang="en-US" sz="100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1875467" y="3224864"/>
            <a:ext cx="512064" cy="210312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B8C2CC"/>
            </a:solidFill>
            <a:prstDash val="solid"/>
          </a:ln>
        </p:spPr>
        <p:txBody>
          <a:bodyPr/>
          <a:p/>
        </p:txBody>
      </p:sp>
      <p:sp>
        <p:nvSpPr>
          <p:cNvPr id="18" name="Text 14"/>
          <p:cNvSpPr/>
          <p:nvPr/>
        </p:nvSpPr>
        <p:spPr>
          <a:xfrm>
            <a:off x="1875467" y="3224864"/>
            <a:ext cx="5120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</a:t>
            </a:r>
            <a:pPr algn="ctr" indent="0" marL="0">
              <a:buNone/>
            </a:pPr>
            <a:r>
              <a:rPr lang="en-US" sz="100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161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3086085" y="2494358"/>
            <a:ext cx="512064" cy="210312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B8C2CC"/>
            </a:solidFill>
            <a:prstDash val="solid"/>
          </a:ln>
        </p:spPr>
        <p:txBody>
          <a:bodyPr/>
          <a:p/>
        </p:txBody>
      </p:sp>
      <p:sp>
        <p:nvSpPr>
          <p:cNvPr id="20" name="Text 16"/>
          <p:cNvSpPr/>
          <p:nvPr/>
        </p:nvSpPr>
        <p:spPr>
          <a:xfrm>
            <a:off x="3086085" y="2494358"/>
            <a:ext cx="5120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 </a:t>
            </a:r>
            <a:pPr algn="ctr" indent="0" marL="0">
              <a:buNone/>
            </a:pPr>
            <a:r>
              <a:rPr lang="en-US" sz="100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117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2195194" y="3638357"/>
            <a:ext cx="448056" cy="210312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B8C2CC"/>
            </a:solidFill>
            <a:prstDash val="solid"/>
          </a:ln>
        </p:spPr>
        <p:txBody>
          <a:bodyPr/>
          <a:p/>
        </p:txBody>
      </p:sp>
      <p:sp>
        <p:nvSpPr>
          <p:cNvPr id="22" name="Text 18"/>
          <p:cNvSpPr/>
          <p:nvPr/>
        </p:nvSpPr>
        <p:spPr>
          <a:xfrm>
            <a:off x="2195194" y="3638357"/>
            <a:ext cx="4480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</a:t>
            </a:r>
            <a:pPr algn="ctr" indent="0" marL="0">
              <a:buNone/>
            </a:pPr>
            <a:r>
              <a:rPr lang="en-US" sz="100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2319242" y="2875691"/>
            <a:ext cx="448056" cy="210312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B8C2CC"/>
            </a:solidFill>
            <a:prstDash val="solid"/>
          </a:ln>
        </p:spPr>
        <p:txBody>
          <a:bodyPr/>
          <a:p/>
        </p:txBody>
      </p:sp>
      <p:sp>
        <p:nvSpPr>
          <p:cNvPr id="24" name="Text 20"/>
          <p:cNvSpPr/>
          <p:nvPr/>
        </p:nvSpPr>
        <p:spPr>
          <a:xfrm>
            <a:off x="2319242" y="2875691"/>
            <a:ext cx="4480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</a:t>
            </a:r>
            <a:pPr algn="ctr" indent="0" marL="0">
              <a:buNone/>
            </a:pPr>
            <a:r>
              <a:rPr lang="en-US" sz="100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505038" y="2204338"/>
            <a:ext cx="448056" cy="210312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B8C2CC"/>
            </a:solidFill>
            <a:prstDash val="solid"/>
          </a:ln>
        </p:spPr>
        <p:txBody>
          <a:bodyPr/>
          <a:p/>
        </p:txBody>
      </p:sp>
      <p:sp>
        <p:nvSpPr>
          <p:cNvPr id="26" name="Text 22"/>
          <p:cNvSpPr/>
          <p:nvPr/>
        </p:nvSpPr>
        <p:spPr>
          <a:xfrm>
            <a:off x="505038" y="2204338"/>
            <a:ext cx="4480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</a:t>
            </a:r>
            <a:pPr algn="ctr" indent="0" marL="0">
              <a:buNone/>
            </a:pPr>
            <a:r>
              <a:rPr lang="en-US" sz="100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2047600" y="1804053"/>
            <a:ext cx="448056" cy="210312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B8C2CC"/>
            </a:solidFill>
            <a:prstDash val="solid"/>
          </a:ln>
        </p:spPr>
        <p:txBody>
          <a:bodyPr/>
          <a:p/>
        </p:txBody>
      </p:sp>
      <p:sp>
        <p:nvSpPr>
          <p:cNvPr id="28" name="Text 24"/>
          <p:cNvSpPr/>
          <p:nvPr/>
        </p:nvSpPr>
        <p:spPr>
          <a:xfrm>
            <a:off x="2047600" y="1804053"/>
            <a:ext cx="4480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 </a:t>
            </a:r>
            <a:pPr algn="ctr" indent="0" marL="0">
              <a:buNone/>
            </a:pPr>
            <a:r>
              <a:rPr lang="en-US" sz="100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1021331" y="1804053"/>
            <a:ext cx="448056" cy="210312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B8C2CC"/>
            </a:solidFill>
            <a:prstDash val="solid"/>
          </a:ln>
        </p:spPr>
        <p:txBody>
          <a:bodyPr/>
          <a:p/>
        </p:txBody>
      </p:sp>
      <p:sp>
        <p:nvSpPr>
          <p:cNvPr id="30" name="Text 26"/>
          <p:cNvSpPr/>
          <p:nvPr/>
        </p:nvSpPr>
        <p:spPr>
          <a:xfrm>
            <a:off x="1021331" y="1804053"/>
            <a:ext cx="4480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</a:t>
            </a:r>
            <a:pPr algn="ctr" indent="0" marL="0">
              <a:buNone/>
            </a:pPr>
            <a:r>
              <a:rPr lang="en-US" sz="100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  <p:sp>
        <p:nvSpPr>
          <p:cNvPr id="31" name="Shape 27"/>
          <p:cNvSpPr/>
          <p:nvPr/>
        </p:nvSpPr>
        <p:spPr>
          <a:xfrm>
            <a:off x="2490957" y="2279571"/>
            <a:ext cx="448056" cy="210312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B8C2CC"/>
            </a:solidFill>
            <a:prstDash val="solid"/>
          </a:ln>
        </p:spPr>
        <p:txBody>
          <a:bodyPr/>
          <a:p/>
        </p:txBody>
      </p:sp>
      <p:sp>
        <p:nvSpPr>
          <p:cNvPr id="32" name="Text 28"/>
          <p:cNvSpPr/>
          <p:nvPr/>
        </p:nvSpPr>
        <p:spPr>
          <a:xfrm>
            <a:off x="2490957" y="2279571"/>
            <a:ext cx="4480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</a:t>
            </a:r>
            <a:pPr algn="ctr" indent="0" marL="0">
              <a:buNone/>
            </a:pPr>
            <a:r>
              <a:rPr lang="en-US" sz="100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  <p:sp>
        <p:nvSpPr>
          <p:cNvPr id="33" name="Shape 29"/>
          <p:cNvSpPr/>
          <p:nvPr/>
        </p:nvSpPr>
        <p:spPr>
          <a:xfrm>
            <a:off x="2295696" y="3897365"/>
            <a:ext cx="448056" cy="210312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B8C2CC"/>
            </a:solidFill>
            <a:prstDash val="solid"/>
          </a:ln>
        </p:spPr>
        <p:txBody>
          <a:bodyPr/>
          <a:p/>
        </p:txBody>
      </p:sp>
      <p:sp>
        <p:nvSpPr>
          <p:cNvPr id="34" name="Text 30"/>
          <p:cNvSpPr/>
          <p:nvPr/>
        </p:nvSpPr>
        <p:spPr>
          <a:xfrm>
            <a:off x="2295696" y="3897365"/>
            <a:ext cx="4480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 </a:t>
            </a:r>
            <a:pPr algn="ctr" indent="0" marL="0">
              <a:buNone/>
            </a:pPr>
            <a:r>
              <a:rPr lang="en-US" sz="100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35" name="Shape 31"/>
          <p:cNvSpPr/>
          <p:nvPr/>
        </p:nvSpPr>
        <p:spPr>
          <a:xfrm>
            <a:off x="2120953" y="4151779"/>
            <a:ext cx="384048" cy="210312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B8C2CC"/>
            </a:solidFill>
            <a:prstDash val="solid"/>
          </a:ln>
        </p:spPr>
        <p:txBody>
          <a:bodyPr/>
          <a:p/>
        </p:txBody>
      </p:sp>
      <p:sp>
        <p:nvSpPr>
          <p:cNvPr id="36" name="Text 32"/>
          <p:cNvSpPr/>
          <p:nvPr/>
        </p:nvSpPr>
        <p:spPr>
          <a:xfrm>
            <a:off x="2120953" y="4151779"/>
            <a:ext cx="384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</a:t>
            </a:r>
            <a:pPr algn="ctr" indent="0" marL="0">
              <a:buNone/>
            </a:pPr>
            <a:r>
              <a:rPr lang="en-US" sz="100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37" name="Shape 33"/>
          <p:cNvSpPr/>
          <p:nvPr/>
        </p:nvSpPr>
        <p:spPr>
          <a:xfrm>
            <a:off x="1350821" y="1187832"/>
            <a:ext cx="384048" cy="210312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B8C2CC"/>
            </a:solidFill>
            <a:prstDash val="solid"/>
          </a:ln>
        </p:spPr>
        <p:txBody>
          <a:bodyPr/>
          <a:p/>
        </p:txBody>
      </p:sp>
      <p:sp>
        <p:nvSpPr>
          <p:cNvPr id="38" name="Text 34"/>
          <p:cNvSpPr/>
          <p:nvPr/>
        </p:nvSpPr>
        <p:spPr>
          <a:xfrm>
            <a:off x="1350821" y="1187832"/>
            <a:ext cx="384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 </a:t>
            </a:r>
            <a:pPr algn="ctr" indent="0" marL="0">
              <a:buNone/>
            </a:pPr>
            <a:r>
              <a:rPr lang="en-US" sz="100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39" name="Shape 35"/>
          <p:cNvSpPr/>
          <p:nvPr/>
        </p:nvSpPr>
        <p:spPr>
          <a:xfrm>
            <a:off x="2736599" y="1850571"/>
            <a:ext cx="384048" cy="210312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B8C2CC"/>
            </a:solidFill>
            <a:prstDash val="solid"/>
          </a:ln>
        </p:spPr>
        <p:txBody>
          <a:bodyPr/>
          <a:p/>
        </p:txBody>
      </p:sp>
      <p:sp>
        <p:nvSpPr>
          <p:cNvPr id="40" name="Text 36"/>
          <p:cNvSpPr/>
          <p:nvPr/>
        </p:nvSpPr>
        <p:spPr>
          <a:xfrm>
            <a:off x="2736599" y="1850571"/>
            <a:ext cx="384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 </a:t>
            </a:r>
            <a:pPr algn="ctr" indent="0" marL="0">
              <a:buNone/>
            </a:pPr>
            <a:r>
              <a:rPr lang="en-US" sz="100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41" name="Shape 37"/>
          <p:cNvSpPr/>
          <p:nvPr/>
        </p:nvSpPr>
        <p:spPr>
          <a:xfrm>
            <a:off x="2979527" y="2067655"/>
            <a:ext cx="384048" cy="210312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B8C2CC"/>
            </a:solidFill>
            <a:prstDash val="solid"/>
          </a:ln>
        </p:spPr>
        <p:txBody>
          <a:bodyPr/>
          <a:p/>
        </p:txBody>
      </p:sp>
      <p:sp>
        <p:nvSpPr>
          <p:cNvPr id="42" name="Text 38"/>
          <p:cNvSpPr/>
          <p:nvPr/>
        </p:nvSpPr>
        <p:spPr>
          <a:xfrm>
            <a:off x="2979527" y="2067655"/>
            <a:ext cx="384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</a:t>
            </a:r>
            <a:pPr algn="ctr" indent="0" marL="0">
              <a:buNone/>
            </a:pPr>
            <a:r>
              <a:rPr lang="en-US" sz="100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3" name="Shape 39"/>
          <p:cNvSpPr/>
          <p:nvPr/>
        </p:nvSpPr>
        <p:spPr>
          <a:xfrm>
            <a:off x="3758482" y="1998799"/>
            <a:ext cx="283166" cy="914"/>
          </a:xfrm>
          <a:prstGeom prst="line">
            <a:avLst/>
          </a:prstGeom>
          <a:noFill/>
          <a:ln w="9525">
            <a:solidFill>
              <a:srgbClr val="8A939C"/>
            </a:solidFill>
            <a:prstDash val="solid"/>
          </a:ln>
        </p:spPr>
        <p:txBody>
          <a:bodyPr/>
          <a:p/>
        </p:txBody>
      </p:sp>
      <p:sp>
        <p:nvSpPr>
          <p:cNvPr id="44" name="Shape 40"/>
          <p:cNvSpPr/>
          <p:nvPr/>
        </p:nvSpPr>
        <p:spPr>
          <a:xfrm>
            <a:off x="3731050" y="1971367"/>
            <a:ext cx="54864" cy="54864"/>
          </a:xfrm>
          <a:prstGeom prst="ellipse">
            <a:avLst/>
          </a:prstGeom>
          <a:solidFill>
            <a:srgbClr val="D7263D"/>
          </a:solidFill>
          <a:ln/>
        </p:spPr>
        <p:txBody>
          <a:bodyPr/>
          <a:p/>
        </p:txBody>
      </p:sp>
      <p:sp>
        <p:nvSpPr>
          <p:cNvPr id="45" name="Shape 41"/>
          <p:cNvSpPr/>
          <p:nvPr/>
        </p:nvSpPr>
        <p:spPr>
          <a:xfrm>
            <a:off x="4101084" y="1893643"/>
            <a:ext cx="448056" cy="210312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B8C2CC"/>
            </a:solidFill>
            <a:prstDash val="solid"/>
          </a:ln>
        </p:spPr>
        <p:txBody>
          <a:bodyPr/>
          <a:p/>
        </p:txBody>
      </p:sp>
      <p:sp>
        <p:nvSpPr>
          <p:cNvPr id="46" name="Text 42"/>
          <p:cNvSpPr/>
          <p:nvPr/>
        </p:nvSpPr>
        <p:spPr>
          <a:xfrm>
            <a:off x="4101084" y="1893643"/>
            <a:ext cx="4480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 </a:t>
            </a:r>
            <a:pPr algn="ctr" indent="0" marL="0">
              <a:buNone/>
            </a:pPr>
            <a:r>
              <a:rPr lang="en-US" sz="100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47" name="Shape 43"/>
          <p:cNvSpPr/>
          <p:nvPr/>
        </p:nvSpPr>
        <p:spPr>
          <a:xfrm>
            <a:off x="3641326" y="2221627"/>
            <a:ext cx="400322" cy="33205"/>
          </a:xfrm>
          <a:prstGeom prst="line">
            <a:avLst/>
          </a:prstGeom>
          <a:noFill/>
          <a:ln w="9525">
            <a:solidFill>
              <a:srgbClr val="8A939C"/>
            </a:solidFill>
            <a:prstDash val="solid"/>
          </a:ln>
        </p:spPr>
        <p:txBody>
          <a:bodyPr/>
          <a:p/>
        </p:txBody>
      </p:sp>
      <p:sp>
        <p:nvSpPr>
          <p:cNvPr id="48" name="Shape 44"/>
          <p:cNvSpPr/>
          <p:nvPr/>
        </p:nvSpPr>
        <p:spPr>
          <a:xfrm>
            <a:off x="3613894" y="2194195"/>
            <a:ext cx="54864" cy="54864"/>
          </a:xfrm>
          <a:prstGeom prst="ellipse">
            <a:avLst/>
          </a:prstGeom>
          <a:solidFill>
            <a:srgbClr val="D7263D"/>
          </a:solidFill>
          <a:ln/>
        </p:spPr>
        <p:txBody>
          <a:bodyPr/>
          <a:p/>
        </p:txBody>
      </p:sp>
      <p:sp>
        <p:nvSpPr>
          <p:cNvPr id="49" name="Shape 45"/>
          <p:cNvSpPr/>
          <p:nvPr/>
        </p:nvSpPr>
        <p:spPr>
          <a:xfrm>
            <a:off x="4133088" y="2149675"/>
            <a:ext cx="384048" cy="210312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B8C2CC"/>
            </a:solidFill>
            <a:prstDash val="solid"/>
          </a:ln>
        </p:spPr>
        <p:txBody>
          <a:bodyPr/>
          <a:p/>
        </p:txBody>
      </p:sp>
      <p:sp>
        <p:nvSpPr>
          <p:cNvPr id="50" name="Text 46"/>
          <p:cNvSpPr/>
          <p:nvPr/>
        </p:nvSpPr>
        <p:spPr>
          <a:xfrm>
            <a:off x="4133088" y="2149675"/>
            <a:ext cx="384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 </a:t>
            </a:r>
            <a:pPr algn="ctr" indent="0" marL="0">
              <a:buNone/>
            </a:pPr>
            <a:r>
              <a:rPr lang="en-US" sz="100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1" name="Shape 47"/>
          <p:cNvSpPr/>
          <p:nvPr/>
        </p:nvSpPr>
        <p:spPr>
          <a:xfrm>
            <a:off x="3763077" y="2328446"/>
            <a:ext cx="278571" cy="182418"/>
          </a:xfrm>
          <a:prstGeom prst="line">
            <a:avLst/>
          </a:prstGeom>
          <a:noFill/>
          <a:ln w="9525">
            <a:solidFill>
              <a:srgbClr val="8A939C"/>
            </a:solidFill>
            <a:prstDash val="solid"/>
          </a:ln>
        </p:spPr>
        <p:txBody>
          <a:bodyPr/>
          <a:p/>
        </p:txBody>
      </p:sp>
      <p:sp>
        <p:nvSpPr>
          <p:cNvPr id="52" name="Shape 48"/>
          <p:cNvSpPr/>
          <p:nvPr/>
        </p:nvSpPr>
        <p:spPr>
          <a:xfrm>
            <a:off x="3735645" y="2301014"/>
            <a:ext cx="54864" cy="54864"/>
          </a:xfrm>
          <a:prstGeom prst="ellipse">
            <a:avLst/>
          </a:prstGeom>
          <a:solidFill>
            <a:srgbClr val="D7263D"/>
          </a:solidFill>
          <a:ln/>
        </p:spPr>
        <p:txBody>
          <a:bodyPr/>
          <a:p/>
        </p:txBody>
      </p:sp>
      <p:sp>
        <p:nvSpPr>
          <p:cNvPr id="53" name="Shape 49"/>
          <p:cNvSpPr/>
          <p:nvPr/>
        </p:nvSpPr>
        <p:spPr>
          <a:xfrm>
            <a:off x="4133088" y="2405707"/>
            <a:ext cx="384048" cy="210312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B8C2CC"/>
            </a:solidFill>
            <a:prstDash val="solid"/>
          </a:ln>
        </p:spPr>
        <p:txBody>
          <a:bodyPr/>
          <a:p/>
        </p:txBody>
      </p:sp>
      <p:sp>
        <p:nvSpPr>
          <p:cNvPr id="54" name="Text 50"/>
          <p:cNvSpPr/>
          <p:nvPr/>
        </p:nvSpPr>
        <p:spPr>
          <a:xfrm>
            <a:off x="4133088" y="2405707"/>
            <a:ext cx="384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</a:t>
            </a:r>
            <a:pPr algn="ctr" indent="0" marL="0">
              <a:buNone/>
            </a:pPr>
            <a:r>
              <a:rPr lang="en-US" sz="100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5" name="Shape 51"/>
          <p:cNvSpPr/>
          <p:nvPr/>
        </p:nvSpPr>
        <p:spPr>
          <a:xfrm>
            <a:off x="3689567" y="2424928"/>
            <a:ext cx="352081" cy="341968"/>
          </a:xfrm>
          <a:prstGeom prst="line">
            <a:avLst/>
          </a:prstGeom>
          <a:noFill/>
          <a:ln w="9525">
            <a:solidFill>
              <a:srgbClr val="8A939C"/>
            </a:solidFill>
            <a:prstDash val="solid"/>
          </a:ln>
        </p:spPr>
        <p:txBody>
          <a:bodyPr/>
          <a:p/>
        </p:txBody>
      </p:sp>
      <p:sp>
        <p:nvSpPr>
          <p:cNvPr id="56" name="Shape 52"/>
          <p:cNvSpPr/>
          <p:nvPr/>
        </p:nvSpPr>
        <p:spPr>
          <a:xfrm>
            <a:off x="3662135" y="2397496"/>
            <a:ext cx="54864" cy="54864"/>
          </a:xfrm>
          <a:prstGeom prst="ellipse">
            <a:avLst/>
          </a:prstGeom>
          <a:solidFill>
            <a:srgbClr val="D7263D"/>
          </a:solidFill>
          <a:ln/>
        </p:spPr>
        <p:txBody>
          <a:bodyPr/>
          <a:p/>
        </p:txBody>
      </p:sp>
      <p:sp>
        <p:nvSpPr>
          <p:cNvPr id="57" name="Shape 53"/>
          <p:cNvSpPr/>
          <p:nvPr/>
        </p:nvSpPr>
        <p:spPr>
          <a:xfrm>
            <a:off x="4133088" y="2661739"/>
            <a:ext cx="384048" cy="210312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B8C2CC"/>
            </a:solidFill>
            <a:prstDash val="solid"/>
          </a:ln>
        </p:spPr>
        <p:txBody>
          <a:bodyPr/>
          <a:p/>
        </p:txBody>
      </p:sp>
      <p:sp>
        <p:nvSpPr>
          <p:cNvPr id="58" name="Text 54"/>
          <p:cNvSpPr/>
          <p:nvPr/>
        </p:nvSpPr>
        <p:spPr>
          <a:xfrm>
            <a:off x="4133088" y="2661739"/>
            <a:ext cx="384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</a:t>
            </a:r>
            <a:pPr algn="ctr" indent="0" marL="0">
              <a:buNone/>
            </a:pPr>
            <a:r>
              <a:rPr lang="en-US" sz="100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9" name="Shape 55"/>
          <p:cNvSpPr/>
          <p:nvPr/>
        </p:nvSpPr>
        <p:spPr>
          <a:xfrm>
            <a:off x="2762652" y="2899871"/>
            <a:ext cx="1278996" cy="123056"/>
          </a:xfrm>
          <a:prstGeom prst="line">
            <a:avLst/>
          </a:prstGeom>
          <a:noFill/>
          <a:ln w="9525">
            <a:solidFill>
              <a:srgbClr val="8A939C"/>
            </a:solidFill>
            <a:prstDash val="solid"/>
          </a:ln>
        </p:spPr>
        <p:txBody>
          <a:bodyPr/>
          <a:p/>
        </p:txBody>
      </p:sp>
      <p:sp>
        <p:nvSpPr>
          <p:cNvPr id="60" name="Shape 56"/>
          <p:cNvSpPr/>
          <p:nvPr/>
        </p:nvSpPr>
        <p:spPr>
          <a:xfrm>
            <a:off x="2735220" y="2872439"/>
            <a:ext cx="54864" cy="54864"/>
          </a:xfrm>
          <a:prstGeom prst="ellipse">
            <a:avLst/>
          </a:prstGeom>
          <a:solidFill>
            <a:srgbClr val="D7263D"/>
          </a:solidFill>
          <a:ln/>
        </p:spPr>
        <p:txBody>
          <a:bodyPr/>
          <a:p/>
        </p:txBody>
      </p:sp>
      <p:sp>
        <p:nvSpPr>
          <p:cNvPr id="61" name="Shape 57"/>
          <p:cNvSpPr/>
          <p:nvPr/>
        </p:nvSpPr>
        <p:spPr>
          <a:xfrm>
            <a:off x="4133088" y="2917771"/>
            <a:ext cx="384048" cy="210312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B8C2CC"/>
            </a:solidFill>
            <a:prstDash val="solid"/>
          </a:ln>
        </p:spPr>
        <p:txBody>
          <a:bodyPr/>
          <a:p/>
        </p:txBody>
      </p:sp>
      <p:sp>
        <p:nvSpPr>
          <p:cNvPr id="62" name="Text 58"/>
          <p:cNvSpPr/>
          <p:nvPr/>
        </p:nvSpPr>
        <p:spPr>
          <a:xfrm>
            <a:off x="4133088" y="2917771"/>
            <a:ext cx="384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 </a:t>
            </a:r>
            <a:pPr algn="ctr" indent="0" marL="0">
              <a:buNone/>
            </a:pPr>
            <a:r>
              <a:rPr lang="en-US" sz="100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63" name="Shape 59"/>
          <p:cNvSpPr/>
          <p:nvPr/>
        </p:nvSpPr>
        <p:spPr>
          <a:xfrm>
            <a:off x="3400695" y="3255935"/>
            <a:ext cx="640953" cy="23024"/>
          </a:xfrm>
          <a:prstGeom prst="line">
            <a:avLst/>
          </a:prstGeom>
          <a:noFill/>
          <a:ln w="9525">
            <a:solidFill>
              <a:srgbClr val="8A939C"/>
            </a:solidFill>
            <a:prstDash val="solid"/>
          </a:ln>
        </p:spPr>
        <p:txBody>
          <a:bodyPr/>
          <a:p/>
        </p:txBody>
      </p:sp>
      <p:sp>
        <p:nvSpPr>
          <p:cNvPr id="64" name="Shape 60"/>
          <p:cNvSpPr/>
          <p:nvPr/>
        </p:nvSpPr>
        <p:spPr>
          <a:xfrm>
            <a:off x="3373263" y="3228503"/>
            <a:ext cx="54864" cy="54864"/>
          </a:xfrm>
          <a:prstGeom prst="ellipse">
            <a:avLst/>
          </a:prstGeom>
          <a:solidFill>
            <a:srgbClr val="D7263D"/>
          </a:solidFill>
          <a:ln/>
        </p:spPr>
        <p:txBody>
          <a:bodyPr/>
          <a:p/>
        </p:txBody>
      </p:sp>
      <p:sp>
        <p:nvSpPr>
          <p:cNvPr id="65" name="Shape 61"/>
          <p:cNvSpPr/>
          <p:nvPr/>
        </p:nvSpPr>
        <p:spPr>
          <a:xfrm>
            <a:off x="4101084" y="3173803"/>
            <a:ext cx="448056" cy="210312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B8C2CC"/>
            </a:solidFill>
            <a:prstDash val="solid"/>
          </a:ln>
        </p:spPr>
        <p:txBody>
          <a:bodyPr/>
          <a:p/>
        </p:txBody>
      </p:sp>
      <p:sp>
        <p:nvSpPr>
          <p:cNvPr id="66" name="Text 62"/>
          <p:cNvSpPr/>
          <p:nvPr/>
        </p:nvSpPr>
        <p:spPr>
          <a:xfrm>
            <a:off x="4101084" y="3173803"/>
            <a:ext cx="4480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</a:t>
            </a:r>
            <a:pPr algn="ctr" indent="0" marL="0">
              <a:buNone/>
            </a:pPr>
            <a:r>
              <a:rPr lang="en-US" sz="100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67" name="Shape 63"/>
          <p:cNvSpPr/>
          <p:nvPr/>
        </p:nvSpPr>
        <p:spPr>
          <a:xfrm>
            <a:off x="3222663" y="3505180"/>
            <a:ext cx="818985" cy="29811"/>
          </a:xfrm>
          <a:prstGeom prst="line">
            <a:avLst/>
          </a:prstGeom>
          <a:noFill/>
          <a:ln w="9525">
            <a:solidFill>
              <a:srgbClr val="8A939C"/>
            </a:solidFill>
            <a:prstDash val="solid"/>
          </a:ln>
        </p:spPr>
        <p:txBody>
          <a:bodyPr/>
          <a:p/>
        </p:txBody>
      </p:sp>
      <p:sp>
        <p:nvSpPr>
          <p:cNvPr id="68" name="Shape 64"/>
          <p:cNvSpPr/>
          <p:nvPr/>
        </p:nvSpPr>
        <p:spPr>
          <a:xfrm>
            <a:off x="3195231" y="3477748"/>
            <a:ext cx="54864" cy="54864"/>
          </a:xfrm>
          <a:prstGeom prst="ellipse">
            <a:avLst/>
          </a:prstGeom>
          <a:solidFill>
            <a:srgbClr val="D7263D"/>
          </a:solidFill>
          <a:ln/>
        </p:spPr>
        <p:txBody>
          <a:bodyPr/>
          <a:p/>
        </p:txBody>
      </p:sp>
      <p:sp>
        <p:nvSpPr>
          <p:cNvPr id="69" name="Shape 65"/>
          <p:cNvSpPr/>
          <p:nvPr/>
        </p:nvSpPr>
        <p:spPr>
          <a:xfrm>
            <a:off x="4133088" y="3429835"/>
            <a:ext cx="384048" cy="210312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B8C2CC"/>
            </a:solidFill>
            <a:prstDash val="solid"/>
          </a:ln>
        </p:spPr>
        <p:txBody>
          <a:bodyPr/>
          <a:p/>
        </p:txBody>
      </p:sp>
      <p:sp>
        <p:nvSpPr>
          <p:cNvPr id="70" name="Text 66"/>
          <p:cNvSpPr/>
          <p:nvPr/>
        </p:nvSpPr>
        <p:spPr>
          <a:xfrm>
            <a:off x="4133088" y="3429835"/>
            <a:ext cx="384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RJ </a:t>
            </a:r>
            <a:pPr algn="ctr" indent="0" marL="0">
              <a:buNone/>
            </a:pPr>
            <a:r>
              <a:rPr lang="en-US" sz="100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71" name="Shape 67"/>
          <p:cNvSpPr/>
          <p:nvPr/>
        </p:nvSpPr>
        <p:spPr>
          <a:xfrm>
            <a:off x="411480" y="3840480"/>
            <a:ext cx="219456" cy="118872"/>
          </a:xfrm>
          <a:prstGeom prst="rect">
            <a:avLst/>
          </a:prstGeom>
          <a:solidFill>
            <a:srgbClr val="1B3A8C"/>
          </a:solidFill>
          <a:ln/>
        </p:spPr>
        <p:txBody>
          <a:bodyPr/>
          <a:p/>
        </p:txBody>
      </p:sp>
      <p:sp>
        <p:nvSpPr>
          <p:cNvPr id="72" name="Text 68"/>
          <p:cNvSpPr/>
          <p:nvPr/>
        </p:nvSpPr>
        <p:spPr>
          <a:xfrm>
            <a:off x="685800" y="381304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de 300</a:t>
            </a:r>
            <a:endParaRPr lang="en-US" sz="850" dirty="0"/>
          </a:p>
        </p:txBody>
      </p:sp>
      <p:sp>
        <p:nvSpPr>
          <p:cNvPr id="73" name="Shape 69"/>
          <p:cNvSpPr/>
          <p:nvPr/>
        </p:nvSpPr>
        <p:spPr>
          <a:xfrm>
            <a:off x="411480" y="3995928"/>
            <a:ext cx="219456" cy="118872"/>
          </a:xfrm>
          <a:prstGeom prst="rect">
            <a:avLst/>
          </a:prstGeom>
          <a:solidFill>
            <a:srgbClr val="4A79BF"/>
          </a:solidFill>
          <a:ln/>
        </p:spPr>
        <p:txBody>
          <a:bodyPr/>
          <a:p/>
        </p:txBody>
      </p:sp>
      <p:sp>
        <p:nvSpPr>
          <p:cNvPr id="74" name="Text 70"/>
          <p:cNvSpPr/>
          <p:nvPr/>
        </p:nvSpPr>
        <p:spPr>
          <a:xfrm>
            <a:off x="685800" y="396849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 a 300</a:t>
            </a:r>
            <a:endParaRPr lang="en-US" sz="850" dirty="0"/>
          </a:p>
        </p:txBody>
      </p:sp>
      <p:sp>
        <p:nvSpPr>
          <p:cNvPr id="75" name="Shape 71"/>
          <p:cNvSpPr/>
          <p:nvPr/>
        </p:nvSpPr>
        <p:spPr>
          <a:xfrm>
            <a:off x="411480" y="4151376"/>
            <a:ext cx="219456" cy="118872"/>
          </a:xfrm>
          <a:prstGeom prst="rect">
            <a:avLst/>
          </a:prstGeom>
          <a:solidFill>
            <a:srgbClr val="9DBBDF"/>
          </a:solidFill>
          <a:ln/>
        </p:spPr>
        <p:txBody>
          <a:bodyPr/>
          <a:p/>
        </p:txBody>
      </p:sp>
      <p:sp>
        <p:nvSpPr>
          <p:cNvPr id="76" name="Text 72"/>
          <p:cNvSpPr/>
          <p:nvPr/>
        </p:nvSpPr>
        <p:spPr>
          <a:xfrm>
            <a:off x="685800" y="4123944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a 100</a:t>
            </a:r>
            <a:endParaRPr lang="en-US" sz="850" dirty="0"/>
          </a:p>
        </p:txBody>
      </p:sp>
      <p:sp>
        <p:nvSpPr>
          <p:cNvPr id="77" name="Shape 73"/>
          <p:cNvSpPr/>
          <p:nvPr/>
        </p:nvSpPr>
        <p:spPr>
          <a:xfrm>
            <a:off x="411480" y="4306824"/>
            <a:ext cx="219456" cy="118872"/>
          </a:xfrm>
          <a:prstGeom prst="rect">
            <a:avLst/>
          </a:prstGeom>
          <a:solidFill>
            <a:srgbClr val="DCE7F3"/>
          </a:solidFill>
          <a:ln/>
        </p:spPr>
        <p:txBody>
          <a:bodyPr/>
          <a:p/>
        </p:txBody>
      </p:sp>
      <p:sp>
        <p:nvSpPr>
          <p:cNvPr id="78" name="Text 74"/>
          <p:cNvSpPr/>
          <p:nvPr/>
        </p:nvSpPr>
        <p:spPr>
          <a:xfrm>
            <a:off x="685800" y="427939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 20</a:t>
            </a:r>
            <a:endParaRPr lang="en-US" sz="850" dirty="0"/>
          </a:p>
        </p:txBody>
      </p:sp>
      <p:sp>
        <p:nvSpPr>
          <p:cNvPr id="79" name="Shape 75"/>
          <p:cNvSpPr/>
          <p:nvPr/>
        </p:nvSpPr>
        <p:spPr>
          <a:xfrm>
            <a:off x="411480" y="4462272"/>
            <a:ext cx="219456" cy="118872"/>
          </a:xfrm>
          <a:prstGeom prst="rect">
            <a:avLst/>
          </a:prstGeom>
          <a:solidFill>
            <a:srgbClr val="EEF0F3"/>
          </a:solidFill>
          <a:ln/>
        </p:spPr>
        <p:txBody>
          <a:bodyPr/>
          <a:p/>
        </p:txBody>
      </p:sp>
      <p:sp>
        <p:nvSpPr>
          <p:cNvPr id="80" name="Text 76"/>
          <p:cNvSpPr/>
          <p:nvPr/>
        </p:nvSpPr>
        <p:spPr>
          <a:xfrm>
            <a:off x="685800" y="443484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dado</a:t>
            </a:r>
            <a:endParaRPr lang="en-US" sz="850" dirty="0"/>
          </a:p>
        </p:txBody>
      </p:sp>
      <p:sp>
        <p:nvSpPr>
          <p:cNvPr id="81" name="Shape 77"/>
          <p:cNvSpPr/>
          <p:nvPr/>
        </p:nvSpPr>
        <p:spPr>
          <a:xfrm>
            <a:off x="4846320" y="1078992"/>
            <a:ext cx="3840480" cy="658368"/>
          </a:xfrm>
          <a:prstGeom prst="rect">
            <a:avLst/>
          </a:prstGeom>
          <a:solidFill>
            <a:srgbClr val="1B3A8C"/>
          </a:solidFill>
          <a:ln/>
        </p:spPr>
        <p:txBody>
          <a:bodyPr/>
          <a:p/>
        </p:txBody>
      </p:sp>
      <p:sp>
        <p:nvSpPr>
          <p:cNvPr id="82" name="Text 78"/>
          <p:cNvSpPr/>
          <p:nvPr/>
        </p:nvSpPr>
        <p:spPr>
          <a:xfrm>
            <a:off x="4983480" y="1078992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2.796</a:t>
            </a:r>
            <a:endParaRPr lang="en-US" sz="3000" dirty="0"/>
          </a:p>
        </p:txBody>
      </p:sp>
      <p:sp>
        <p:nvSpPr>
          <p:cNvPr id="83" name="Text 79"/>
          <p:cNvSpPr/>
          <p:nvPr/>
        </p:nvSpPr>
        <p:spPr>
          <a:xfrm>
            <a:off x="6446520" y="1078992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confinadores cadastrados no sistema da Trouw</a:t>
            </a:r>
            <a:endParaRPr lang="en-US" sz="1100" dirty="0"/>
          </a:p>
        </p:txBody>
      </p:sp>
      <p:sp>
        <p:nvSpPr>
          <p:cNvPr id="84" name="Text 80"/>
          <p:cNvSpPr/>
          <p:nvPr/>
        </p:nvSpPr>
        <p:spPr>
          <a:xfrm>
            <a:off x="4846320" y="182880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Maiores estados</a:t>
            </a:r>
            <a:endParaRPr lang="en-US" sz="1100" dirty="0"/>
          </a:p>
        </p:txBody>
      </p:sp>
      <p:sp>
        <p:nvSpPr>
          <p:cNvPr id="85" name="Text 81"/>
          <p:cNvSpPr/>
          <p:nvPr/>
        </p:nvSpPr>
        <p:spPr>
          <a:xfrm>
            <a:off x="4846320" y="207568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</a:t>
            </a:r>
            <a:endParaRPr lang="en-US" sz="1050" dirty="0"/>
          </a:p>
        </p:txBody>
      </p:sp>
      <p:sp>
        <p:nvSpPr>
          <p:cNvPr id="86" name="Shape 82"/>
          <p:cNvSpPr/>
          <p:nvPr/>
        </p:nvSpPr>
        <p:spPr>
          <a:xfrm>
            <a:off x="5623560" y="2103120"/>
            <a:ext cx="2103120" cy="146304"/>
          </a:xfrm>
          <a:prstGeom prst="rect">
            <a:avLst/>
          </a:prstGeom>
          <a:solidFill>
            <a:srgbClr val="1B3A8C"/>
          </a:solidFill>
          <a:ln/>
        </p:spPr>
        <p:txBody>
          <a:bodyPr/>
          <a:p/>
        </p:txBody>
      </p:sp>
      <p:sp>
        <p:nvSpPr>
          <p:cNvPr id="87" name="Text 83"/>
          <p:cNvSpPr/>
          <p:nvPr/>
        </p:nvSpPr>
        <p:spPr>
          <a:xfrm>
            <a:off x="7772400" y="20756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1.022</a:t>
            </a:r>
            <a:endParaRPr lang="en-US" sz="1050" dirty="0"/>
          </a:p>
        </p:txBody>
      </p:sp>
      <p:sp>
        <p:nvSpPr>
          <p:cNvPr id="88" name="Text 84"/>
          <p:cNvSpPr/>
          <p:nvPr/>
        </p:nvSpPr>
        <p:spPr>
          <a:xfrm>
            <a:off x="4846320" y="230428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</a:t>
            </a:r>
            <a:endParaRPr lang="en-US" sz="1050" dirty="0"/>
          </a:p>
        </p:txBody>
      </p:sp>
      <p:sp>
        <p:nvSpPr>
          <p:cNvPr id="89" name="Shape 85"/>
          <p:cNvSpPr/>
          <p:nvPr/>
        </p:nvSpPr>
        <p:spPr>
          <a:xfrm>
            <a:off x="5623560" y="2331720"/>
            <a:ext cx="948668" cy="146304"/>
          </a:xfrm>
          <a:prstGeom prst="rect">
            <a:avLst/>
          </a:prstGeom>
          <a:solidFill>
            <a:srgbClr val="1B3A8C"/>
          </a:solidFill>
          <a:ln/>
        </p:spPr>
        <p:txBody>
          <a:bodyPr/>
          <a:p/>
        </p:txBody>
      </p:sp>
      <p:sp>
        <p:nvSpPr>
          <p:cNvPr id="90" name="Text 86"/>
          <p:cNvSpPr/>
          <p:nvPr/>
        </p:nvSpPr>
        <p:spPr>
          <a:xfrm>
            <a:off x="6617948" y="23042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461</a:t>
            </a:r>
            <a:endParaRPr lang="en-US" sz="1050" dirty="0"/>
          </a:p>
        </p:txBody>
      </p:sp>
      <p:sp>
        <p:nvSpPr>
          <p:cNvPr id="91" name="Text 87"/>
          <p:cNvSpPr/>
          <p:nvPr/>
        </p:nvSpPr>
        <p:spPr>
          <a:xfrm>
            <a:off x="4846320" y="253288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</a:t>
            </a:r>
            <a:endParaRPr lang="en-US" sz="1050" dirty="0"/>
          </a:p>
        </p:txBody>
      </p:sp>
      <p:sp>
        <p:nvSpPr>
          <p:cNvPr id="92" name="Shape 88"/>
          <p:cNvSpPr/>
          <p:nvPr/>
        </p:nvSpPr>
        <p:spPr>
          <a:xfrm>
            <a:off x="5623560" y="2560320"/>
            <a:ext cx="701726" cy="146304"/>
          </a:xfrm>
          <a:prstGeom prst="rect">
            <a:avLst/>
          </a:prstGeom>
          <a:solidFill>
            <a:srgbClr val="1B3A8C"/>
          </a:solidFill>
          <a:ln/>
        </p:spPr>
        <p:txBody>
          <a:bodyPr/>
          <a:p/>
        </p:txBody>
      </p:sp>
      <p:sp>
        <p:nvSpPr>
          <p:cNvPr id="93" name="Text 89"/>
          <p:cNvSpPr/>
          <p:nvPr/>
        </p:nvSpPr>
        <p:spPr>
          <a:xfrm>
            <a:off x="6371006" y="25328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341</a:t>
            </a:r>
            <a:endParaRPr lang="en-US" sz="1050" dirty="0"/>
          </a:p>
        </p:txBody>
      </p:sp>
      <p:sp>
        <p:nvSpPr>
          <p:cNvPr id="94" name="Text 90"/>
          <p:cNvSpPr/>
          <p:nvPr/>
        </p:nvSpPr>
        <p:spPr>
          <a:xfrm>
            <a:off x="4846320" y="276148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</a:t>
            </a:r>
            <a:endParaRPr lang="en-US" sz="1050" dirty="0"/>
          </a:p>
        </p:txBody>
      </p:sp>
      <p:sp>
        <p:nvSpPr>
          <p:cNvPr id="95" name="Shape 91"/>
          <p:cNvSpPr/>
          <p:nvPr/>
        </p:nvSpPr>
        <p:spPr>
          <a:xfrm>
            <a:off x="5623560" y="2788920"/>
            <a:ext cx="411569" cy="146304"/>
          </a:xfrm>
          <a:prstGeom prst="rect">
            <a:avLst/>
          </a:prstGeom>
          <a:solidFill>
            <a:srgbClr val="4A79BF"/>
          </a:solidFill>
          <a:ln/>
        </p:spPr>
        <p:txBody>
          <a:bodyPr/>
          <a:p/>
        </p:txBody>
      </p:sp>
      <p:sp>
        <p:nvSpPr>
          <p:cNvPr id="96" name="Text 92"/>
          <p:cNvSpPr/>
          <p:nvPr/>
        </p:nvSpPr>
        <p:spPr>
          <a:xfrm>
            <a:off x="6080849" y="27614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1050" dirty="0"/>
          </a:p>
        </p:txBody>
      </p:sp>
      <p:sp>
        <p:nvSpPr>
          <p:cNvPr id="97" name="Text 93"/>
          <p:cNvSpPr/>
          <p:nvPr/>
        </p:nvSpPr>
        <p:spPr>
          <a:xfrm>
            <a:off x="4846320" y="299008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endParaRPr lang="en-US" sz="1050" dirty="0"/>
          </a:p>
        </p:txBody>
      </p:sp>
      <p:sp>
        <p:nvSpPr>
          <p:cNvPr id="98" name="Shape 94"/>
          <p:cNvSpPr/>
          <p:nvPr/>
        </p:nvSpPr>
        <p:spPr>
          <a:xfrm>
            <a:off x="5623560" y="3017520"/>
            <a:ext cx="331313" cy="146304"/>
          </a:xfrm>
          <a:prstGeom prst="rect">
            <a:avLst/>
          </a:prstGeom>
          <a:solidFill>
            <a:srgbClr val="4A79BF"/>
          </a:solidFill>
          <a:ln/>
        </p:spPr>
        <p:txBody>
          <a:bodyPr/>
          <a:p/>
        </p:txBody>
      </p:sp>
      <p:sp>
        <p:nvSpPr>
          <p:cNvPr id="99" name="Text 95"/>
          <p:cNvSpPr/>
          <p:nvPr/>
        </p:nvSpPr>
        <p:spPr>
          <a:xfrm>
            <a:off x="6000593" y="2990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161</a:t>
            </a:r>
            <a:endParaRPr lang="en-US" sz="1050" dirty="0"/>
          </a:p>
        </p:txBody>
      </p:sp>
      <p:sp>
        <p:nvSpPr>
          <p:cNvPr id="100" name="Text 96"/>
          <p:cNvSpPr/>
          <p:nvPr/>
        </p:nvSpPr>
        <p:spPr>
          <a:xfrm>
            <a:off x="4846320" y="321868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</a:t>
            </a:r>
            <a:endParaRPr lang="en-US" sz="1050" dirty="0"/>
          </a:p>
        </p:txBody>
      </p:sp>
      <p:sp>
        <p:nvSpPr>
          <p:cNvPr id="101" name="Shape 97"/>
          <p:cNvSpPr/>
          <p:nvPr/>
        </p:nvSpPr>
        <p:spPr>
          <a:xfrm>
            <a:off x="5623560" y="3246120"/>
            <a:ext cx="240768" cy="146304"/>
          </a:xfrm>
          <a:prstGeom prst="rect">
            <a:avLst/>
          </a:prstGeom>
          <a:solidFill>
            <a:srgbClr val="4A79BF"/>
          </a:solidFill>
          <a:ln/>
        </p:spPr>
        <p:txBody>
          <a:bodyPr/>
          <a:p/>
        </p:txBody>
      </p:sp>
      <p:sp>
        <p:nvSpPr>
          <p:cNvPr id="102" name="Text 98"/>
          <p:cNvSpPr/>
          <p:nvPr/>
        </p:nvSpPr>
        <p:spPr>
          <a:xfrm>
            <a:off x="5910048" y="32186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117</a:t>
            </a:r>
            <a:endParaRPr lang="en-US" sz="1050" dirty="0"/>
          </a:p>
        </p:txBody>
      </p:sp>
      <p:sp>
        <p:nvSpPr>
          <p:cNvPr id="103" name="Text 99"/>
          <p:cNvSpPr/>
          <p:nvPr/>
        </p:nvSpPr>
        <p:spPr>
          <a:xfrm>
            <a:off x="4846320" y="344728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Outros 18</a:t>
            </a:r>
            <a:endParaRPr lang="en-US" sz="1050" dirty="0"/>
          </a:p>
        </p:txBody>
      </p:sp>
      <p:sp>
        <p:nvSpPr>
          <p:cNvPr id="104" name="Shape 100"/>
          <p:cNvSpPr/>
          <p:nvPr/>
        </p:nvSpPr>
        <p:spPr>
          <a:xfrm>
            <a:off x="5623560" y="3474720"/>
            <a:ext cx="1018634" cy="146304"/>
          </a:xfrm>
          <a:prstGeom prst="rect">
            <a:avLst/>
          </a:prstGeom>
          <a:solidFill>
            <a:srgbClr val="0096B4"/>
          </a:solidFill>
          <a:ln/>
        </p:spPr>
        <p:txBody>
          <a:bodyPr/>
          <a:p/>
        </p:txBody>
      </p:sp>
      <p:sp>
        <p:nvSpPr>
          <p:cNvPr id="105" name="Text 101"/>
          <p:cNvSpPr/>
          <p:nvPr/>
        </p:nvSpPr>
        <p:spPr>
          <a:xfrm>
            <a:off x="6687914" y="34472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495</a:t>
            </a:r>
            <a:endParaRPr lang="en-US" sz="1050" dirty="0"/>
          </a:p>
        </p:txBody>
      </p:sp>
      <p:sp>
        <p:nvSpPr>
          <p:cNvPr id="106" name="Shape 102"/>
          <p:cNvSpPr/>
          <p:nvPr/>
        </p:nvSpPr>
        <p:spPr>
          <a:xfrm>
            <a:off x="4846320" y="3730752"/>
            <a:ext cx="3840480" cy="621792"/>
          </a:xfrm>
          <a:prstGeom prst="rect">
            <a:avLst/>
          </a:prstGeom>
          <a:solidFill>
            <a:srgbClr val="FBE7F1"/>
          </a:solidFill>
          <a:ln/>
        </p:spPr>
        <p:txBody>
          <a:bodyPr/>
          <a:p/>
        </p:txBody>
      </p:sp>
      <p:sp>
        <p:nvSpPr>
          <p:cNvPr id="107" name="Shape 103"/>
          <p:cNvSpPr/>
          <p:nvPr/>
        </p:nvSpPr>
        <p:spPr>
          <a:xfrm>
            <a:off x="4846320" y="3730752"/>
            <a:ext cx="54864" cy="621792"/>
          </a:xfrm>
          <a:prstGeom prst="rect">
            <a:avLst/>
          </a:prstGeom>
          <a:solidFill>
            <a:srgbClr val="C8106E"/>
          </a:solidFill>
          <a:ln/>
        </p:spPr>
        <p:txBody>
          <a:bodyPr/>
          <a:p/>
        </p:txBody>
      </p:sp>
      <p:sp>
        <p:nvSpPr>
          <p:cNvPr id="108" name="Text 104"/>
          <p:cNvSpPr/>
          <p:nvPr/>
        </p:nvSpPr>
        <p:spPr>
          <a:xfrm>
            <a:off x="4983480" y="3730752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Leitura: </a:t>
            </a:r>
            <a:pPr indent="0" marL="0">
              <a:buNone/>
            </a:pPr>
            <a:r>
              <a:rPr lang="en-US" sz="100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 tem 37% da base, com operações menores: perfil da Web. GO está entre os 3 estados com mais cabeças e tem só 93 clientes: espaço para crescer.</a:t>
            </a:r>
            <a:endParaRPr lang="en-US" sz="1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nova geração quer dados para decidir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assume o confinamento busca praticidade, números e gestão de empresa.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4398264"/>
            <a:ext cx="4572000" cy="7429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4791456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Fontes: Embrapa Pecuária Sudeste, Transformação digital da pecuária de corte intensiva no Brasil (2023), 184 confinamentos; Embrapa, Sebrae e Inpe, Agricultura digital no Brasil (2020).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846320" y="6400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spc="150" kern="0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2  ·  MERCADO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57200" y="1097280"/>
            <a:ext cx="2633472" cy="1481328"/>
          </a:xfrm>
          <a:prstGeom prst="rect">
            <a:avLst/>
          </a:prstGeom>
          <a:solidFill>
            <a:srgbClr val="1B3A8C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594360" y="1170432"/>
            <a:ext cx="2359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jovens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594360" y="1645920"/>
            <a:ext cx="2359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curso superior e consultoria são os que mais usam tecnologia digital no confinamento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94360" y="2286000"/>
            <a:ext cx="2359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DC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Embrapa, 184 confinamentos (2023)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246120" y="1097280"/>
            <a:ext cx="2633472" cy="1481328"/>
          </a:xfrm>
          <a:prstGeom prst="rect">
            <a:avLst/>
          </a:prstGeom>
          <a:solidFill>
            <a:srgbClr val="26668F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3383280" y="1170432"/>
            <a:ext cx="2359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3383280" y="1645920"/>
            <a:ext cx="2359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produtores usam aplicativo de gestão, embora 84% já usem alguma tecnologia digital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383280" y="2286000"/>
            <a:ext cx="2359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DC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Embrapa, Sebrae e Inpe (2020)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035040" y="1097280"/>
            <a:ext cx="2633472" cy="1481328"/>
          </a:xfrm>
          <a:prstGeom prst="rect">
            <a:avLst/>
          </a:prstGeom>
          <a:solidFill>
            <a:srgbClr val="C8106E"/>
          </a:solidFill>
          <a:ln/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172200" y="1170432"/>
            <a:ext cx="2359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61%</a:t>
            </a:r>
            <a:endParaRPr lang="en-US" sz="2800" dirty="0"/>
          </a:p>
        </p:txBody>
      </p:sp>
      <p:sp>
        <p:nvSpPr>
          <p:cNvPr id="18" name="Text 15"/>
          <p:cNvSpPr/>
          <p:nvPr/>
        </p:nvSpPr>
        <p:spPr>
          <a:xfrm>
            <a:off x="6172200" y="1645920"/>
            <a:ext cx="2359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apontam a conexão no campo como a principal barreira à tecnologia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172200" y="2286000"/>
            <a:ext cx="2359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DC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Embrapa, Sebrae e Inpe (2020)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57200" y="274320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 nova geração quer e como o TN Manager Web responde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57200" y="3035808"/>
            <a:ext cx="1984248" cy="1261872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457200" y="3035808"/>
            <a:ext cx="1984248" cy="54864"/>
          </a:xfrm>
          <a:prstGeom prst="rect">
            <a:avLst/>
          </a:prstGeom>
          <a:solidFill>
            <a:srgbClr val="26668F"/>
          </a:solidFill>
          <a:ln/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566928" y="3163824"/>
            <a:ext cx="1764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66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Praticidade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66928" y="3474720"/>
            <a:ext cx="176479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minutos por dia, no celular ou no papel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2532888" y="3035808"/>
            <a:ext cx="1984248" cy="1261872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2532888" y="3035808"/>
            <a:ext cx="1984248" cy="54864"/>
          </a:xfrm>
          <a:prstGeom prst="rect">
            <a:avLst/>
          </a:prstGeom>
          <a:solidFill>
            <a:srgbClr val="1B3A8C"/>
          </a:solidFill>
          <a:ln/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2642616" y="3163824"/>
            <a:ext cx="1764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2642616" y="3474720"/>
            <a:ext cx="176479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semanal e benchmark com fazendas parecidas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608576" y="3035808"/>
            <a:ext cx="1984248" cy="1261872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30" name="Shape 27"/>
          <p:cNvSpPr/>
          <p:nvPr/>
        </p:nvSpPr>
        <p:spPr>
          <a:xfrm>
            <a:off x="4608576" y="3035808"/>
            <a:ext cx="1984248" cy="54864"/>
          </a:xfrm>
          <a:prstGeom prst="rect">
            <a:avLst/>
          </a:prstGeom>
          <a:solidFill>
            <a:srgbClr val="1B3A8C"/>
          </a:solidFill>
          <a:ln/>
        </p:spPr>
        <p:txBody>
          <a:bodyPr/>
          <a:p/>
        </p:txBody>
      </p:sp>
      <p:sp>
        <p:nvSpPr>
          <p:cNvPr id="31" name="Text 28"/>
          <p:cNvSpPr/>
          <p:nvPr/>
        </p:nvSpPr>
        <p:spPr>
          <a:xfrm>
            <a:off x="4718304" y="3163824"/>
            <a:ext cx="1764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4718304" y="3474720"/>
            <a:ext cx="176479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Analista TN junto, toda semana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684264" y="3035808"/>
            <a:ext cx="1984248" cy="1261872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34" name="Shape 31"/>
          <p:cNvSpPr/>
          <p:nvPr/>
        </p:nvSpPr>
        <p:spPr>
          <a:xfrm>
            <a:off x="6684264" y="3035808"/>
            <a:ext cx="1984248" cy="54864"/>
          </a:xfrm>
          <a:prstGeom prst="rect">
            <a:avLst/>
          </a:prstGeom>
          <a:solidFill>
            <a:srgbClr val="C8106E"/>
          </a:solidFill>
          <a:ln/>
        </p:spPr>
        <p:txBody>
          <a:bodyPr/>
          <a:p/>
        </p:txBody>
      </p:sp>
      <p:sp>
        <p:nvSpPr>
          <p:cNvPr id="35" name="Text 32"/>
          <p:cNvSpPr/>
          <p:nvPr/>
        </p:nvSpPr>
        <p:spPr>
          <a:xfrm>
            <a:off x="6793992" y="3163824"/>
            <a:ext cx="1764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empresa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6793992" y="3474720"/>
            <a:ext cx="176479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Fechamento de safra e evolução ano a ano</a:t>
            </a:r>
            <a:endParaRPr lang="en-US" sz="11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Estamos no caminho certo? Sim.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sinais confirmam o foco no confinamento pequeno e médio, com uma ressalva.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4398264"/>
            <a:ext cx="4572000" cy="7429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4791456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Fontes: Bússola Farm 2024/2025; censo de confinamento dsm-firmenich 2025; base de clientes Trouw Nutrition (jan a out/2026).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846320" y="6400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spc="150" kern="0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2  ·  MERCADO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57200" y="1097280"/>
            <a:ext cx="2633472" cy="141732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457200" y="1097280"/>
            <a:ext cx="64008" cy="1417320"/>
          </a:xfrm>
          <a:prstGeom prst="rect">
            <a:avLst/>
          </a:prstGeom>
          <a:solidFill>
            <a:srgbClr val="C8106E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640080" y="1152144"/>
            <a:ext cx="2359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640080" y="1664208"/>
            <a:ext cx="2340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confinamentos mapeados são pequenos, com até 1.500 cabeças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40080" y="2258568"/>
            <a:ext cx="2359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Bússola Farm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246120" y="1097280"/>
            <a:ext cx="2633472" cy="141732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3246120" y="1097280"/>
            <a:ext cx="64008" cy="1417320"/>
          </a:xfrm>
          <a:prstGeom prst="rect">
            <a:avLst/>
          </a:prstGeom>
          <a:solidFill>
            <a:srgbClr val="1B3A8C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3429000" y="1152144"/>
            <a:ext cx="2359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</a:t>
            </a:r>
            <a:endParaRPr lang="en-US" sz="3200" dirty="0"/>
          </a:p>
        </p:txBody>
      </p:sp>
      <p:sp>
        <p:nvSpPr>
          <p:cNvPr id="16" name="Text 13"/>
          <p:cNvSpPr/>
          <p:nvPr/>
        </p:nvSpPr>
        <p:spPr>
          <a:xfrm>
            <a:off x="3429000" y="1664208"/>
            <a:ext cx="2340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cabeças estão nos 100 maiores confinamentos, um mercado já disputado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3429000" y="2258568"/>
            <a:ext cx="2359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Censo dsm-firmenich 2025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035040" y="1097280"/>
            <a:ext cx="2633472" cy="141732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6035040" y="1097280"/>
            <a:ext cx="64008" cy="1417320"/>
          </a:xfrm>
          <a:prstGeom prst="rect">
            <a:avLst/>
          </a:prstGeom>
          <a:solidFill>
            <a:srgbClr val="26668F"/>
          </a:solidFill>
          <a:ln/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6217920" y="1152144"/>
            <a:ext cx="2359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66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37%</a:t>
            </a:r>
            <a:endParaRPr lang="en-US" sz="3200" dirty="0"/>
          </a:p>
        </p:txBody>
      </p:sp>
      <p:sp>
        <p:nvSpPr>
          <p:cNvPr id="21" name="Text 18"/>
          <p:cNvSpPr/>
          <p:nvPr/>
        </p:nvSpPr>
        <p:spPr>
          <a:xfrm>
            <a:off x="6217920" y="1664208"/>
            <a:ext cx="2340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nossa base está em Rondônia, com operações menores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6217920" y="2258568"/>
            <a:ext cx="2359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clientes TN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457200" y="2651760"/>
            <a:ext cx="8229600" cy="548640"/>
          </a:xfrm>
          <a:prstGeom prst="rect">
            <a:avLst/>
          </a:prstGeom>
          <a:solidFill>
            <a:srgbClr val="FBE7F1"/>
          </a:solidFill>
          <a:ln/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621792" y="265176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Ressalva: </a:t>
            </a:r>
            <a:pPr indent="0" marL="0">
              <a:buNone/>
            </a:pPr>
            <a:r>
              <a:rPr lang="en-US" sz="120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pequenos somam só 23% da capacidade. O caso depende de muitas fazendas, custo baixo por cliente e fidelização.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57200" y="3310128"/>
            <a:ext cx="8229600" cy="1005840"/>
          </a:xfrm>
          <a:prstGeom prst="rect">
            <a:avLst/>
          </a:prstGeom>
          <a:solidFill>
            <a:srgbClr val="1B3A8C"/>
          </a:solidFill>
          <a:ln/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621792" y="3383280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5D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 COM 30 FAZENDAS: 09 A 27/11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621792" y="3621024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Vai confirmar com números: as dores da rotina, o sistema usado hoje, quanto custa, a satisfação com o suporte do fornecedor atual e a disposição de usar e recomendar o TN Manager Web.</a:t>
            </a:r>
            <a:endParaRPr lang="en-US" sz="12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valor: quem ganha o quê com o TN Manager Web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Quatro públicos, quatro ganhos. Hipóteses que a pesquisa com 30 fazendas vai validar.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4398264"/>
            <a:ext cx="4572000" cy="7429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846320" y="6400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spc="150" kern="0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3  ·  SOLUÇÃO E DIFERENCIAL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1115568"/>
            <a:ext cx="3977640" cy="1536192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457200" y="1115568"/>
            <a:ext cx="64008" cy="1536192"/>
          </a:xfrm>
          <a:prstGeom prst="rect">
            <a:avLst/>
          </a:prstGeom>
          <a:solidFill>
            <a:srgbClr val="1B3A8C"/>
          </a:solidFill>
          <a:ln/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640080" y="1252728"/>
            <a:ext cx="438912" cy="438912"/>
          </a:xfrm>
          <a:prstGeom prst="ellipse">
            <a:avLst/>
          </a:prstGeom>
          <a:solidFill>
            <a:srgbClr val="1B3A8C"/>
          </a:solidFill>
          <a:ln/>
        </p:spPr>
        <p:txBody>
          <a:bodyPr/>
          <a:p/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1353312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88720" y="1252728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 do confinamento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658368" y="1801368"/>
            <a:ext cx="3611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e desempenho por lote, sem montar planilha</a:t>
            </a:r>
            <a:endParaRPr lang="en-US" sz="1200" dirty="0"/>
          </a:p>
          <a:p>
            <a:pPr marL="114300" indent="-1143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Decidir com o dado da semana, não do mês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709160" y="1115568"/>
            <a:ext cx="3977640" cy="1536192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14" name="Shape 10"/>
          <p:cNvSpPr/>
          <p:nvPr/>
        </p:nvSpPr>
        <p:spPr>
          <a:xfrm>
            <a:off x="4709160" y="1115568"/>
            <a:ext cx="64008" cy="1536192"/>
          </a:xfrm>
          <a:prstGeom prst="rect">
            <a:avLst/>
          </a:prstGeom>
          <a:solidFill>
            <a:srgbClr val="26668F"/>
          </a:solidFill>
          <a:ln/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4892040" y="1252728"/>
            <a:ext cx="438912" cy="438912"/>
          </a:xfrm>
          <a:prstGeom prst="ellipse">
            <a:avLst/>
          </a:prstGeom>
          <a:solidFill>
            <a:srgbClr val="26668F"/>
          </a:solidFill>
          <a:ln/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2624" y="1353312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440680" y="1252728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6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Técnico TN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4910328" y="1801368"/>
            <a:ext cx="3611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Acompanhar várias fazendas à distância</a:t>
            </a:r>
            <a:endParaRPr lang="en-US" sz="1200" dirty="0"/>
          </a:p>
          <a:p>
            <a:pPr marL="114300" indent="-1143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Recomendar ajuste de dieta com dado real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57200" y="2743200"/>
            <a:ext cx="3977640" cy="1536192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457200" y="2743200"/>
            <a:ext cx="64008" cy="1536192"/>
          </a:xfrm>
          <a:prstGeom prst="rect">
            <a:avLst/>
          </a:prstGeom>
          <a:solidFill>
            <a:srgbClr val="0096B4"/>
          </a:solidFill>
          <a:ln/>
        </p:spPr>
        <p:txBody>
          <a:bodyPr/>
          <a:p/>
        </p:txBody>
      </p:sp>
      <p:sp>
        <p:nvSpPr>
          <p:cNvPr id="21" name="Shape 16"/>
          <p:cNvSpPr/>
          <p:nvPr/>
        </p:nvSpPr>
        <p:spPr>
          <a:xfrm>
            <a:off x="640080" y="2880360"/>
            <a:ext cx="438912" cy="438912"/>
          </a:xfrm>
          <a:prstGeom prst="ellipse">
            <a:avLst/>
          </a:prstGeom>
          <a:solidFill>
            <a:srgbClr val="0096B4"/>
          </a:solidFill>
          <a:ln/>
        </p:spPr>
        <p:txBody>
          <a:bodyPr/>
          <a:p/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64" y="2980944"/>
            <a:ext cx="237744" cy="23774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188720" y="2880360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9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do curral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658368" y="3429000"/>
            <a:ext cx="3611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Lançar trato e leitura de cocho em poucos minutos</a:t>
            </a:r>
            <a:endParaRPr lang="en-US" sz="1200" dirty="0"/>
          </a:p>
          <a:p>
            <a:pPr marL="114300" indent="-1143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 simples, no celular ou no papel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4709160" y="2743200"/>
            <a:ext cx="3977640" cy="1536192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26" name="Shape 20"/>
          <p:cNvSpPr/>
          <p:nvPr/>
        </p:nvSpPr>
        <p:spPr>
          <a:xfrm>
            <a:off x="4709160" y="2743200"/>
            <a:ext cx="64008" cy="1536192"/>
          </a:xfrm>
          <a:prstGeom prst="rect">
            <a:avLst/>
          </a:prstGeom>
          <a:solidFill>
            <a:srgbClr val="C8106E"/>
          </a:solidFill>
          <a:ln/>
        </p:spPr>
        <p:txBody>
          <a:bodyPr/>
          <a:p/>
        </p:txBody>
      </p:sp>
      <p:sp>
        <p:nvSpPr>
          <p:cNvPr id="27" name="Shape 21"/>
          <p:cNvSpPr/>
          <p:nvPr/>
        </p:nvSpPr>
        <p:spPr>
          <a:xfrm>
            <a:off x="4892040" y="2880360"/>
            <a:ext cx="438912" cy="438912"/>
          </a:xfrm>
          <a:prstGeom prst="ellipse">
            <a:avLst/>
          </a:prstGeom>
          <a:solidFill>
            <a:srgbClr val="C8106E"/>
          </a:solidFill>
          <a:ln/>
        </p:spPr>
        <p:txBody>
          <a:bodyPr/>
          <a:p/>
        </p:txBody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92624" y="2980944"/>
            <a:ext cx="237744" cy="237744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440680" y="2880360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Trouw Nutrition</a:t>
            </a:r>
            <a:endParaRPr lang="en-US" sz="1400" dirty="0"/>
          </a:p>
        </p:txBody>
      </p:sp>
      <p:sp>
        <p:nvSpPr>
          <p:cNvPr id="30" name="Text 23"/>
          <p:cNvSpPr/>
          <p:nvPr/>
        </p:nvSpPr>
        <p:spPr>
          <a:xfrm>
            <a:off x="4910328" y="3429000"/>
            <a:ext cx="3611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Fidelizar clientes em nutrição</a:t>
            </a:r>
            <a:endParaRPr lang="en-US" sz="1200" dirty="0"/>
          </a:p>
          <a:p>
            <a:pPr marL="114300" indent="-1143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 de entrada para novos clientes</a:t>
            </a:r>
            <a:endParaRPr lang="en-US" sz="1200" dirty="0"/>
          </a:p>
        </p:txBody>
      </p:sp>
      <p:sp>
        <p:nvSpPr>
          <p:cNvPr id="31" name="Shape 24"/>
          <p:cNvSpPr/>
          <p:nvPr/>
        </p:nvSpPr>
        <p:spPr>
          <a:xfrm>
            <a:off x="3767328" y="2194560"/>
            <a:ext cx="1609344" cy="749808"/>
          </a:xfrm>
          <a:prstGeom prst="ellipse">
            <a:avLst/>
          </a:prstGeom>
          <a:solidFill>
            <a:srgbClr val="1B3A8C"/>
          </a:solidFill>
          <a:ln w="381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2" name="Text 25"/>
          <p:cNvSpPr/>
          <p:nvPr/>
        </p:nvSpPr>
        <p:spPr>
          <a:xfrm>
            <a:off x="3767328" y="2194560"/>
            <a:ext cx="16093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 Manager Web</a:t>
            </a:r>
            <a:endParaRPr lang="en-US" sz="13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Nosso diferencial: o que fazemos com os dados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é o meio. O resultado vem do suporte, dos indicadores e da equipe técnica.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4398264"/>
            <a:ext cx="4572000" cy="7429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846320" y="6400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spc="150" kern="0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3  ·  SOLUÇÃO E DIFERENCIAL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1115568"/>
            <a:ext cx="1737360" cy="2103120"/>
          </a:xfrm>
          <a:prstGeom prst="rect">
            <a:avLst/>
          </a:prstGeom>
          <a:solidFill>
            <a:srgbClr val="E3E7EC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566928" y="12344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66928" y="1572768"/>
            <a:ext cx="1554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de prateleira: todo concorrente tem um. É o meio, não o fim.</a:t>
            </a:r>
            <a:endParaRPr lang="en-US" sz="11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8568" y="2075688"/>
            <a:ext cx="201168" cy="20116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542032" y="1115568"/>
            <a:ext cx="1984248" cy="210312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12" name="Shape 8"/>
          <p:cNvSpPr/>
          <p:nvPr/>
        </p:nvSpPr>
        <p:spPr>
          <a:xfrm>
            <a:off x="2542032" y="1115568"/>
            <a:ext cx="1984248" cy="54864"/>
          </a:xfrm>
          <a:prstGeom prst="rect">
            <a:avLst/>
          </a:prstGeom>
          <a:solidFill>
            <a:srgbClr val="26668F"/>
          </a:solidFill>
          <a:ln/>
        </p:spPr>
        <p:txBody>
          <a:bodyPr/>
          <a:p/>
        </p:txBody>
      </p:sp>
      <p:sp>
        <p:nvSpPr>
          <p:cNvPr id="13" name="Text 9"/>
          <p:cNvSpPr/>
          <p:nvPr/>
        </p:nvSpPr>
        <p:spPr>
          <a:xfrm>
            <a:off x="2651760" y="1243584"/>
            <a:ext cx="1764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66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 excelente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2651760" y="1737360"/>
            <a:ext cx="1764792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Analista online que responde rápido e técnico TN no campo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617720" y="1115568"/>
            <a:ext cx="1984248" cy="210312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4617720" y="1115568"/>
            <a:ext cx="1984248" cy="54864"/>
          </a:xfrm>
          <a:prstGeom prst="rect">
            <a:avLst/>
          </a:prstGeom>
          <a:solidFill>
            <a:srgbClr val="1B3A8C"/>
          </a:solidFill>
          <a:ln/>
        </p:spPr>
        <p:txBody>
          <a:bodyPr/>
          <a:p/>
        </p:txBody>
      </p:sp>
      <p:sp>
        <p:nvSpPr>
          <p:cNvPr id="17" name="Text 13"/>
          <p:cNvSpPr/>
          <p:nvPr/>
        </p:nvSpPr>
        <p:spPr>
          <a:xfrm>
            <a:off x="4727448" y="1243584"/>
            <a:ext cx="1764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e dashboards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4727448" y="1737360"/>
            <a:ext cx="1764792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Consumo, ganho de peso, custo da arroba e dias de cocho, toda semana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6693408" y="1115568"/>
            <a:ext cx="1984248" cy="210312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20" name="Shape 16"/>
          <p:cNvSpPr/>
          <p:nvPr/>
        </p:nvSpPr>
        <p:spPr>
          <a:xfrm>
            <a:off x="6693408" y="1115568"/>
            <a:ext cx="1984248" cy="54864"/>
          </a:xfrm>
          <a:prstGeom prst="rect">
            <a:avLst/>
          </a:prstGeom>
          <a:solidFill>
            <a:srgbClr val="1B3A8C"/>
          </a:solidFill>
          <a:ln/>
        </p:spPr>
        <p:txBody>
          <a:bodyPr/>
          <a:p/>
        </p:txBody>
      </p:sp>
      <p:sp>
        <p:nvSpPr>
          <p:cNvPr id="21" name="Text 17"/>
          <p:cNvSpPr/>
          <p:nvPr/>
        </p:nvSpPr>
        <p:spPr>
          <a:xfrm>
            <a:off x="6803136" y="1243584"/>
            <a:ext cx="1764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técnica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6803136" y="1737360"/>
            <a:ext cx="1764792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Ajustes de dieta e manejo baseados nos dados da fazenda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457200" y="3566160"/>
            <a:ext cx="8229600" cy="777240"/>
          </a:xfrm>
          <a:prstGeom prst="rect">
            <a:avLst/>
          </a:prstGeom>
          <a:solidFill>
            <a:srgbClr val="C8106E"/>
          </a:solidFill>
          <a:ln/>
        </p:spPr>
        <p:txBody>
          <a:bodyPr/>
          <a:p/>
        </p:txBody>
      </p:sp>
      <p:sp>
        <p:nvSpPr>
          <p:cNvPr id="24" name="Text 20"/>
          <p:cNvSpPr/>
          <p:nvPr/>
        </p:nvSpPr>
        <p:spPr>
          <a:xfrm>
            <a:off x="640080" y="363931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640080" y="38404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Rentabilidade da fazenda: mais ganho, menor custo por arroba e decisão no tempo certo</a:t>
            </a:r>
            <a:endParaRPr lang="en-US" sz="15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 na rotina da fazenda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fazenda registra (passos 1 a 3). A TN transforma em decisão (passos 4 e 5), toda semana.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4398264"/>
            <a:ext cx="4572000" cy="7429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846320" y="6400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spc="150" kern="0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3  ·  SOLUÇÃO E DIFERENCIAL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5010912" y="1078992"/>
            <a:ext cx="3813048" cy="2286000"/>
          </a:xfrm>
          <a:prstGeom prst="rect">
            <a:avLst/>
          </a:prstGeom>
          <a:solidFill>
            <a:srgbClr val="FBE7F1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5120640" y="113385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TÉCNICA TN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57200" y="113385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FAZENDA REGISTRA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859536" y="1481328"/>
            <a:ext cx="566928" cy="566928"/>
          </a:xfrm>
          <a:prstGeom prst="ellipse">
            <a:avLst/>
          </a:prstGeom>
          <a:solidFill>
            <a:srgbClr val="7A858F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859536" y="14813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411480" y="21945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Cadastrar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11480" y="246888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vez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11480" y="2688336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Currais, lotes e dieta</a:t>
            </a:r>
            <a:endParaRPr lang="en-US" sz="11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4792" y="1682496"/>
            <a:ext cx="182880" cy="18288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2578608" y="1481328"/>
            <a:ext cx="566928" cy="566928"/>
          </a:xfrm>
          <a:prstGeom prst="ellipse">
            <a:avLst/>
          </a:prstGeom>
          <a:solidFill>
            <a:srgbClr val="7A858F"/>
          </a:solidFill>
          <a:ln/>
        </p:spPr>
        <p:txBody>
          <a:bodyPr/>
          <a:p/>
        </p:txBody>
      </p:sp>
      <p:sp>
        <p:nvSpPr>
          <p:cNvPr id="17" name="Text 13"/>
          <p:cNvSpPr/>
          <p:nvPr/>
        </p:nvSpPr>
        <p:spPr>
          <a:xfrm>
            <a:off x="2578608" y="14813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2130552" y="21945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2130552" y="246888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dia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2130552" y="2688336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Trato e leitura de cocho</a:t>
            </a:r>
            <a:endParaRPr lang="en-US" sz="11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864" y="1682496"/>
            <a:ext cx="182880" cy="182880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4297680" y="1481328"/>
            <a:ext cx="566928" cy="566928"/>
          </a:xfrm>
          <a:prstGeom prst="ellipse">
            <a:avLst/>
          </a:prstGeom>
          <a:solidFill>
            <a:srgbClr val="7A858F"/>
          </a:solidFill>
          <a:ln/>
        </p:spPr>
        <p:txBody>
          <a:bodyPr/>
          <a:p/>
        </p:txBody>
      </p:sp>
      <p:sp>
        <p:nvSpPr>
          <p:cNvPr id="23" name="Text 18"/>
          <p:cNvSpPr/>
          <p:nvPr/>
        </p:nvSpPr>
        <p:spPr>
          <a:xfrm>
            <a:off x="4297680" y="14813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19"/>
          <p:cNvSpPr/>
          <p:nvPr/>
        </p:nvSpPr>
        <p:spPr>
          <a:xfrm>
            <a:off x="3849624" y="21945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Movimentar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3849624" y="246888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ocorre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3849624" y="2688336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Entradas, pesagens, saídas</a:t>
            </a:r>
            <a:endParaRPr lang="en-US" sz="1100" dirty="0"/>
          </a:p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2664" y="1682496"/>
            <a:ext cx="182880" cy="182880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6044184" y="1389888"/>
            <a:ext cx="731520" cy="731520"/>
          </a:xfrm>
          <a:prstGeom prst="ellipse">
            <a:avLst/>
          </a:prstGeom>
          <a:solidFill>
            <a:srgbClr val="1B3A8C"/>
          </a:solidFill>
          <a:ln/>
        </p:spPr>
        <p:txBody>
          <a:bodyPr/>
          <a:p/>
        </p:txBody>
      </p:sp>
      <p:sp>
        <p:nvSpPr>
          <p:cNvPr id="29" name="Text 23"/>
          <p:cNvSpPr/>
          <p:nvPr/>
        </p:nvSpPr>
        <p:spPr>
          <a:xfrm>
            <a:off x="6044184" y="138988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30" name="Text 24"/>
          <p:cNvSpPr/>
          <p:nvPr/>
        </p:nvSpPr>
        <p:spPr>
          <a:xfrm>
            <a:off x="5678424" y="21945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Analisar</a:t>
            </a:r>
            <a:endParaRPr lang="en-US" sz="1500" dirty="0"/>
          </a:p>
        </p:txBody>
      </p:sp>
      <p:sp>
        <p:nvSpPr>
          <p:cNvPr id="31" name="Text 25"/>
          <p:cNvSpPr/>
          <p:nvPr/>
        </p:nvSpPr>
        <p:spPr>
          <a:xfrm>
            <a:off x="5678424" y="246888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semana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5678424" y="2688336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e benchmark com o analista</a:t>
            </a:r>
            <a:endParaRPr lang="en-US" sz="1100" dirty="0"/>
          </a:p>
        </p:txBody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1736" y="1682496"/>
            <a:ext cx="182880" cy="182880"/>
          </a:xfrm>
          <a:prstGeom prst="rect">
            <a:avLst/>
          </a:prstGeom>
        </p:spPr>
      </p:pic>
      <p:sp>
        <p:nvSpPr>
          <p:cNvPr id="34" name="Shape 27"/>
          <p:cNvSpPr/>
          <p:nvPr/>
        </p:nvSpPr>
        <p:spPr>
          <a:xfrm>
            <a:off x="7763256" y="1389888"/>
            <a:ext cx="731520" cy="731520"/>
          </a:xfrm>
          <a:prstGeom prst="ellipse">
            <a:avLst/>
          </a:prstGeom>
          <a:solidFill>
            <a:srgbClr val="C8106E"/>
          </a:solidFill>
          <a:ln/>
        </p:spPr>
        <p:txBody>
          <a:bodyPr/>
          <a:p/>
        </p:txBody>
      </p:sp>
      <p:sp>
        <p:nvSpPr>
          <p:cNvPr id="35" name="Text 28"/>
          <p:cNvSpPr/>
          <p:nvPr/>
        </p:nvSpPr>
        <p:spPr>
          <a:xfrm>
            <a:off x="7763256" y="138988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 dirty="0"/>
          </a:p>
        </p:txBody>
      </p:sp>
      <p:sp>
        <p:nvSpPr>
          <p:cNvPr id="36" name="Text 29"/>
          <p:cNvSpPr/>
          <p:nvPr/>
        </p:nvSpPr>
        <p:spPr>
          <a:xfrm>
            <a:off x="7397496" y="21945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Ajustar</a:t>
            </a:r>
            <a:endParaRPr lang="en-US" sz="1500" dirty="0"/>
          </a:p>
        </p:txBody>
      </p:sp>
      <p:sp>
        <p:nvSpPr>
          <p:cNvPr id="37" name="Text 30"/>
          <p:cNvSpPr/>
          <p:nvPr/>
        </p:nvSpPr>
        <p:spPr>
          <a:xfrm>
            <a:off x="7397496" y="246888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o técnico TN</a:t>
            </a:r>
            <a:endParaRPr lang="en-US" sz="1000" dirty="0"/>
          </a:p>
        </p:txBody>
      </p:sp>
      <p:sp>
        <p:nvSpPr>
          <p:cNvPr id="38" name="Text 31"/>
          <p:cNvSpPr/>
          <p:nvPr/>
        </p:nvSpPr>
        <p:spPr>
          <a:xfrm>
            <a:off x="7397496" y="2688336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Dieta, trato e manejo</a:t>
            </a:r>
            <a:endParaRPr lang="en-US" sz="1100" dirty="0"/>
          </a:p>
        </p:txBody>
      </p:sp>
      <p:sp>
        <p:nvSpPr>
          <p:cNvPr id="39" name="Shape 32"/>
          <p:cNvSpPr/>
          <p:nvPr/>
        </p:nvSpPr>
        <p:spPr>
          <a:xfrm>
            <a:off x="2651760" y="3456432"/>
            <a:ext cx="5669280" cy="914"/>
          </a:xfrm>
          <a:prstGeom prst="line">
            <a:avLst/>
          </a:prstGeom>
          <a:noFill/>
          <a:ln w="15875">
            <a:solidFill>
              <a:srgbClr val="C8106E"/>
            </a:solidFill>
            <a:prstDash val="dash"/>
          </a:ln>
        </p:spPr>
        <p:txBody>
          <a:bodyPr/>
          <a:p/>
        </p:txBody>
      </p:sp>
      <p:sp>
        <p:nvSpPr>
          <p:cNvPr id="40" name="Shape 33"/>
          <p:cNvSpPr/>
          <p:nvPr/>
        </p:nvSpPr>
        <p:spPr>
          <a:xfrm>
            <a:off x="2651760" y="3273552"/>
            <a:ext cx="914" cy="182880"/>
          </a:xfrm>
          <a:prstGeom prst="line">
            <a:avLst/>
          </a:prstGeom>
          <a:noFill/>
          <a:ln w="15875">
            <a:solidFill>
              <a:srgbClr val="C8106E"/>
            </a:solidFill>
            <a:prstDash val="dash"/>
          </a:ln>
        </p:spPr>
        <p:txBody>
          <a:bodyPr/>
          <a:p/>
        </p:txBody>
      </p:sp>
      <p:sp>
        <p:nvSpPr>
          <p:cNvPr id="41" name="Shape 34"/>
          <p:cNvSpPr/>
          <p:nvPr/>
        </p:nvSpPr>
        <p:spPr>
          <a:xfrm>
            <a:off x="8321040" y="3364992"/>
            <a:ext cx="914" cy="91440"/>
          </a:xfrm>
          <a:prstGeom prst="line">
            <a:avLst/>
          </a:prstGeom>
          <a:noFill/>
          <a:ln w="15875">
            <a:solidFill>
              <a:srgbClr val="C8106E"/>
            </a:solidFill>
            <a:prstDash val="dash"/>
          </a:ln>
        </p:spPr>
        <p:txBody>
          <a:bodyPr/>
          <a:p/>
        </p:txBody>
      </p:sp>
      <p:sp>
        <p:nvSpPr>
          <p:cNvPr id="42" name="Text 35"/>
          <p:cNvSpPr/>
          <p:nvPr/>
        </p:nvSpPr>
        <p:spPr>
          <a:xfrm>
            <a:off x="3840480" y="3355848"/>
            <a:ext cx="3291840" cy="20116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semanal: o ajuste volta para o trato</a:t>
            </a:r>
            <a:endParaRPr lang="en-US" sz="1000" dirty="0"/>
          </a:p>
        </p:txBody>
      </p:sp>
      <p:sp>
        <p:nvSpPr>
          <p:cNvPr id="43" name="Shape 36"/>
          <p:cNvSpPr/>
          <p:nvPr/>
        </p:nvSpPr>
        <p:spPr>
          <a:xfrm>
            <a:off x="457200" y="3657600"/>
            <a:ext cx="2651760" cy="713232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44" name="Shape 37"/>
          <p:cNvSpPr/>
          <p:nvPr/>
        </p:nvSpPr>
        <p:spPr>
          <a:xfrm>
            <a:off x="457200" y="3657600"/>
            <a:ext cx="2651760" cy="54864"/>
          </a:xfrm>
          <a:prstGeom prst="rect">
            <a:avLst/>
          </a:prstGeom>
          <a:solidFill>
            <a:srgbClr val="26668F"/>
          </a:solidFill>
          <a:ln/>
        </p:spPr>
        <p:txBody>
          <a:bodyPr/>
          <a:p/>
        </p:txBody>
      </p:sp>
      <p:sp>
        <p:nvSpPr>
          <p:cNvPr id="45" name="Text 38"/>
          <p:cNvSpPr/>
          <p:nvPr/>
        </p:nvSpPr>
        <p:spPr>
          <a:xfrm>
            <a:off x="566928" y="3785616"/>
            <a:ext cx="2432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66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</a:t>
            </a:r>
            <a:endParaRPr lang="en-US" sz="1150" dirty="0"/>
          </a:p>
        </p:txBody>
      </p:sp>
      <p:sp>
        <p:nvSpPr>
          <p:cNvPr id="46" name="Text 39"/>
          <p:cNvSpPr/>
          <p:nvPr/>
        </p:nvSpPr>
        <p:spPr>
          <a:xfrm>
            <a:off x="566928" y="4041648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Rodrigo e técnico de campo, até 5 fazendas</a:t>
            </a:r>
            <a:endParaRPr lang="en-US" sz="1050" dirty="0"/>
          </a:p>
        </p:txBody>
      </p:sp>
      <p:sp>
        <p:nvSpPr>
          <p:cNvPr id="47" name="Shape 40"/>
          <p:cNvSpPr/>
          <p:nvPr/>
        </p:nvSpPr>
        <p:spPr>
          <a:xfrm>
            <a:off x="3246120" y="3657600"/>
            <a:ext cx="2651760" cy="713232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48" name="Shape 41"/>
          <p:cNvSpPr/>
          <p:nvPr/>
        </p:nvSpPr>
        <p:spPr>
          <a:xfrm>
            <a:off x="3246120" y="3657600"/>
            <a:ext cx="2651760" cy="54864"/>
          </a:xfrm>
          <a:prstGeom prst="rect">
            <a:avLst/>
          </a:prstGeom>
          <a:solidFill>
            <a:srgbClr val="1B3A8C"/>
          </a:solidFill>
          <a:ln/>
        </p:spPr>
        <p:txBody>
          <a:bodyPr/>
          <a:p/>
        </p:txBody>
      </p:sp>
      <p:sp>
        <p:nvSpPr>
          <p:cNvPr id="49" name="Text 42"/>
          <p:cNvSpPr/>
          <p:nvPr/>
        </p:nvSpPr>
        <p:spPr>
          <a:xfrm>
            <a:off x="3355848" y="3785616"/>
            <a:ext cx="2432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3 a 6</a:t>
            </a:r>
            <a:endParaRPr lang="en-US" sz="1150" dirty="0"/>
          </a:p>
        </p:txBody>
      </p:sp>
      <p:sp>
        <p:nvSpPr>
          <p:cNvPr id="50" name="Text 43"/>
          <p:cNvSpPr/>
          <p:nvPr/>
        </p:nvSpPr>
        <p:spPr>
          <a:xfrm>
            <a:off x="3355848" y="4041648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Rodrigo analisa até 20 fazendas</a:t>
            </a:r>
            <a:endParaRPr lang="en-US" sz="1050" dirty="0"/>
          </a:p>
        </p:txBody>
      </p:sp>
      <p:sp>
        <p:nvSpPr>
          <p:cNvPr id="51" name="Shape 44"/>
          <p:cNvSpPr/>
          <p:nvPr/>
        </p:nvSpPr>
        <p:spPr>
          <a:xfrm>
            <a:off x="6035040" y="3657600"/>
            <a:ext cx="2651760" cy="713232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52" name="Shape 45"/>
          <p:cNvSpPr/>
          <p:nvPr/>
        </p:nvSpPr>
        <p:spPr>
          <a:xfrm>
            <a:off x="6035040" y="3657600"/>
            <a:ext cx="2651760" cy="54864"/>
          </a:xfrm>
          <a:prstGeom prst="rect">
            <a:avLst/>
          </a:prstGeom>
          <a:solidFill>
            <a:srgbClr val="C8106E"/>
          </a:solidFill>
          <a:ln/>
        </p:spPr>
        <p:txBody>
          <a:bodyPr/>
          <a:p/>
        </p:txBody>
      </p:sp>
      <p:sp>
        <p:nvSpPr>
          <p:cNvPr id="53" name="Text 46"/>
          <p:cNvSpPr/>
          <p:nvPr/>
        </p:nvSpPr>
        <p:spPr>
          <a:xfrm>
            <a:off x="6144768" y="3785616"/>
            <a:ext cx="2432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partir do mês 7</a:t>
            </a:r>
            <a:endParaRPr lang="en-US" sz="1150" dirty="0"/>
          </a:p>
        </p:txBody>
      </p:sp>
      <p:sp>
        <p:nvSpPr>
          <p:cNvPr id="54" name="Text 47"/>
          <p:cNvSpPr/>
          <p:nvPr/>
        </p:nvSpPr>
        <p:spPr>
          <a:xfrm>
            <a:off x="6144768" y="4041648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Analistas online: 1 para 20 fazendas</a:t>
            </a:r>
            <a:endParaRPr lang="en-US" sz="105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prática: o dia a dia e a arquitetura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curral à recomendação, com ou sem internet no curral.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4398264"/>
            <a:ext cx="4572000" cy="7429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846320" y="6400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spc="150" kern="0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3  ·  SOLUÇÃO E DIFERENCIAL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57200" y="107899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dia na fazenda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75488" y="1472184"/>
            <a:ext cx="164592" cy="164592"/>
          </a:xfrm>
          <a:prstGeom prst="ellipse">
            <a:avLst/>
          </a:prstGeom>
          <a:solidFill>
            <a:srgbClr val="1B3A8C"/>
          </a:solidFill>
          <a:ln/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557784" y="1636776"/>
            <a:ext cx="914" cy="384048"/>
          </a:xfrm>
          <a:prstGeom prst="line">
            <a:avLst/>
          </a:prstGeom>
          <a:noFill/>
          <a:ln w="12700">
            <a:solidFill>
              <a:srgbClr val="D9DEE3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49808" y="141732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Manhã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49808" y="164592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de cocho antes do 1º trato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75488" y="2020824"/>
            <a:ext cx="164592" cy="164592"/>
          </a:xfrm>
          <a:prstGeom prst="ellipse">
            <a:avLst/>
          </a:prstGeom>
          <a:solidFill>
            <a:srgbClr val="1B3A8C"/>
          </a:solidFill>
          <a:ln/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557784" y="2185416"/>
            <a:ext cx="914" cy="384048"/>
          </a:xfrm>
          <a:prstGeom prst="line">
            <a:avLst/>
          </a:prstGeom>
          <a:noFill/>
          <a:ln w="12700">
            <a:solidFill>
              <a:srgbClr val="D9DEE3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49808" y="196596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Durante o dia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49808" y="219456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Trato fornecido por baia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75488" y="2569464"/>
            <a:ext cx="164592" cy="164592"/>
          </a:xfrm>
          <a:prstGeom prst="ellipse">
            <a:avLst/>
          </a:prstGeom>
          <a:solidFill>
            <a:srgbClr val="1B3A8C"/>
          </a:solidFill>
          <a:ln/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557784" y="2734056"/>
            <a:ext cx="914" cy="384048"/>
          </a:xfrm>
          <a:prstGeom prst="line">
            <a:avLst/>
          </a:prstGeom>
          <a:noFill/>
          <a:ln w="12700">
            <a:solidFill>
              <a:srgbClr val="D9DEE3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749808" y="251460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ocorre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49808" y="274320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Entradas, pesagens e saídas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75488" y="3118104"/>
            <a:ext cx="164592" cy="164592"/>
          </a:xfrm>
          <a:prstGeom prst="ellipse">
            <a:avLst/>
          </a:prstGeom>
          <a:solidFill>
            <a:srgbClr val="1B3A8C"/>
          </a:solidFill>
          <a:ln/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557784" y="3282696"/>
            <a:ext cx="914" cy="384048"/>
          </a:xfrm>
          <a:prstGeom prst="line">
            <a:avLst/>
          </a:prstGeom>
          <a:noFill/>
          <a:ln w="12700">
            <a:solidFill>
              <a:srgbClr val="D9DEE3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749808" y="306324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Fim do dia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749808" y="329184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Escritório confere e envia: 10 minutos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75488" y="3666744"/>
            <a:ext cx="164592" cy="164592"/>
          </a:xfrm>
          <a:prstGeom prst="ellipse">
            <a:avLst/>
          </a:prstGeom>
          <a:solidFill>
            <a:srgbClr val="C8106E"/>
          </a:solidFill>
          <a:ln/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749808" y="361188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semana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749808" y="384048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e análise do analista TN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4023360" y="107899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proposta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4023360" y="1417320"/>
            <a:ext cx="1691640" cy="658368"/>
          </a:xfrm>
          <a:prstGeom prst="rect">
            <a:avLst/>
          </a:prstGeom>
          <a:solidFill>
            <a:srgbClr val="26668F"/>
          </a:solidFill>
          <a:ln/>
        </p:spPr>
        <p:txBody>
          <a:bodyPr/>
          <a:p/>
        </p:txBody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1527048"/>
            <a:ext cx="274320" cy="274320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4462272" y="148132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Celular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4462272" y="170992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curral; sem sinal, envia depois</a:t>
            </a:r>
            <a:endParaRPr lang="en-US" sz="950" dirty="0"/>
          </a:p>
        </p:txBody>
      </p:sp>
      <p:sp>
        <p:nvSpPr>
          <p:cNvPr id="32" name="Shape 28"/>
          <p:cNvSpPr/>
          <p:nvPr/>
        </p:nvSpPr>
        <p:spPr>
          <a:xfrm>
            <a:off x="4023360" y="2167128"/>
            <a:ext cx="1691640" cy="658368"/>
          </a:xfrm>
          <a:prstGeom prst="rect">
            <a:avLst/>
          </a:prstGeom>
          <a:solidFill>
            <a:srgbClr val="26668F"/>
          </a:solidFill>
          <a:ln/>
        </p:spPr>
        <p:txBody>
          <a:bodyPr/>
          <a:p/>
        </p:txBody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0" y="2276856"/>
            <a:ext cx="274320" cy="274320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4462272" y="223113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de papel</a:t>
            </a:r>
            <a:endParaRPr lang="en-US" sz="1100" dirty="0"/>
          </a:p>
        </p:txBody>
      </p:sp>
      <p:sp>
        <p:nvSpPr>
          <p:cNvPr id="35" name="Text 30"/>
          <p:cNvSpPr/>
          <p:nvPr/>
        </p:nvSpPr>
        <p:spPr>
          <a:xfrm>
            <a:off x="4462272" y="245973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Digitada na sede</a:t>
            </a:r>
            <a:endParaRPr lang="en-US" sz="950" dirty="0"/>
          </a:p>
        </p:txBody>
      </p:sp>
      <p:sp>
        <p:nvSpPr>
          <p:cNvPr id="36" name="Shape 31"/>
          <p:cNvSpPr/>
          <p:nvPr/>
        </p:nvSpPr>
        <p:spPr>
          <a:xfrm>
            <a:off x="5989320" y="1417320"/>
            <a:ext cx="1188720" cy="1408176"/>
          </a:xfrm>
          <a:prstGeom prst="rect">
            <a:avLst/>
          </a:prstGeom>
          <a:solidFill>
            <a:srgbClr val="1B3A8C"/>
          </a:solidFill>
          <a:ln/>
        </p:spPr>
        <p:txBody>
          <a:bodyPr/>
          <a:p/>
        </p:txBody>
      </p:sp>
      <p:pic>
        <p:nvPicPr>
          <p:cNvPr id="3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0760" y="1527048"/>
            <a:ext cx="274320" cy="274320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6428232" y="148132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Nuvem</a:t>
            </a:r>
            <a:endParaRPr lang="en-US" sz="1100" dirty="0"/>
          </a:p>
        </p:txBody>
      </p:sp>
      <p:sp>
        <p:nvSpPr>
          <p:cNvPr id="39" name="Text 33"/>
          <p:cNvSpPr/>
          <p:nvPr/>
        </p:nvSpPr>
        <p:spPr>
          <a:xfrm>
            <a:off x="6428232" y="1709928"/>
            <a:ext cx="6858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e cálculos: consumo, ganho, custo</a:t>
            </a:r>
            <a:endParaRPr lang="en-US" sz="950" dirty="0"/>
          </a:p>
        </p:txBody>
      </p:sp>
      <p:sp>
        <p:nvSpPr>
          <p:cNvPr id="40" name="Shape 34"/>
          <p:cNvSpPr/>
          <p:nvPr/>
        </p:nvSpPr>
        <p:spPr>
          <a:xfrm>
            <a:off x="7452360" y="1417320"/>
            <a:ext cx="1280160" cy="658368"/>
          </a:xfrm>
          <a:prstGeom prst="rect">
            <a:avLst/>
          </a:prstGeom>
          <a:solidFill>
            <a:srgbClr val="1B3A8C"/>
          </a:solidFill>
          <a:ln/>
        </p:spPr>
        <p:txBody>
          <a:bodyPr/>
          <a:p/>
        </p:txBody>
      </p:sp>
      <p:pic>
        <p:nvPicPr>
          <p:cNvPr id="41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43800" y="1527048"/>
            <a:ext cx="274320" cy="274320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7891272" y="1481328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1100" dirty="0"/>
          </a:p>
        </p:txBody>
      </p:sp>
      <p:sp>
        <p:nvSpPr>
          <p:cNvPr id="43" name="Text 36"/>
          <p:cNvSpPr/>
          <p:nvPr/>
        </p:nvSpPr>
        <p:spPr>
          <a:xfrm>
            <a:off x="7891272" y="1709928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semanal</a:t>
            </a:r>
            <a:endParaRPr lang="en-US" sz="950" dirty="0"/>
          </a:p>
        </p:txBody>
      </p:sp>
      <p:sp>
        <p:nvSpPr>
          <p:cNvPr id="44" name="Shape 37"/>
          <p:cNvSpPr/>
          <p:nvPr/>
        </p:nvSpPr>
        <p:spPr>
          <a:xfrm>
            <a:off x="7452360" y="2167128"/>
            <a:ext cx="1280160" cy="658368"/>
          </a:xfrm>
          <a:prstGeom prst="rect">
            <a:avLst/>
          </a:prstGeom>
          <a:solidFill>
            <a:srgbClr val="C8106E"/>
          </a:solidFill>
          <a:ln/>
        </p:spPr>
        <p:txBody>
          <a:bodyPr/>
          <a:p/>
        </p:txBody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43800" y="2276856"/>
            <a:ext cx="274320" cy="274320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7891272" y="2231136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Analista TN</a:t>
            </a:r>
            <a:endParaRPr lang="en-US" sz="1100" dirty="0"/>
          </a:p>
        </p:txBody>
      </p:sp>
      <p:sp>
        <p:nvSpPr>
          <p:cNvPr id="47" name="Text 39"/>
          <p:cNvSpPr/>
          <p:nvPr/>
        </p:nvSpPr>
        <p:spPr>
          <a:xfrm>
            <a:off x="7891272" y="2459736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 e recomenda</a:t>
            </a:r>
            <a:endParaRPr lang="en-US" sz="950" dirty="0"/>
          </a:p>
        </p:txBody>
      </p:sp>
      <p:pic>
        <p:nvPicPr>
          <p:cNvPr id="4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60720" y="1655064"/>
            <a:ext cx="182880" cy="182880"/>
          </a:xfrm>
          <a:prstGeom prst="rect">
            <a:avLst/>
          </a:prstGeom>
        </p:spPr>
      </p:pic>
      <p:pic>
        <p:nvPicPr>
          <p:cNvPr id="4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60720" y="2404872"/>
            <a:ext cx="182880" cy="182880"/>
          </a:xfrm>
          <a:prstGeom prst="rect">
            <a:avLst/>
          </a:prstGeom>
        </p:spPr>
      </p:pic>
      <p:pic>
        <p:nvPicPr>
          <p:cNvPr id="50" name="Image 8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23760" y="1655064"/>
            <a:ext cx="182880" cy="182880"/>
          </a:xfrm>
          <a:prstGeom prst="rect">
            <a:avLst/>
          </a:prstGeom>
        </p:spPr>
      </p:pic>
      <p:sp>
        <p:nvSpPr>
          <p:cNvPr id="51" name="Shape 40"/>
          <p:cNvSpPr/>
          <p:nvPr/>
        </p:nvSpPr>
        <p:spPr>
          <a:xfrm>
            <a:off x="8092440" y="2075688"/>
            <a:ext cx="914" cy="91440"/>
          </a:xfrm>
          <a:prstGeom prst="line">
            <a:avLst/>
          </a:prstGeom>
          <a:noFill/>
          <a:ln w="15875">
            <a:solidFill>
              <a:srgbClr val="7A858F"/>
            </a:solidFill>
            <a:prstDash val="solid"/>
          </a:ln>
        </p:spPr>
        <p:txBody>
          <a:bodyPr/>
          <a:p/>
        </p:txBody>
      </p:sp>
      <p:sp>
        <p:nvSpPr>
          <p:cNvPr id="52" name="Shape 41"/>
          <p:cNvSpPr/>
          <p:nvPr/>
        </p:nvSpPr>
        <p:spPr>
          <a:xfrm>
            <a:off x="8092440" y="2825496"/>
            <a:ext cx="914" cy="137160"/>
          </a:xfrm>
          <a:prstGeom prst="line">
            <a:avLst/>
          </a:prstGeom>
          <a:noFill/>
          <a:ln w="15875">
            <a:solidFill>
              <a:srgbClr val="C8106E"/>
            </a:solidFill>
            <a:prstDash val="solid"/>
          </a:ln>
        </p:spPr>
        <p:txBody>
          <a:bodyPr/>
          <a:p/>
        </p:txBody>
      </p:sp>
      <p:sp>
        <p:nvSpPr>
          <p:cNvPr id="53" name="Shape 42"/>
          <p:cNvSpPr/>
          <p:nvPr/>
        </p:nvSpPr>
        <p:spPr>
          <a:xfrm>
            <a:off x="4846320" y="2962656"/>
            <a:ext cx="3246120" cy="914"/>
          </a:xfrm>
          <a:prstGeom prst="line">
            <a:avLst/>
          </a:prstGeom>
          <a:noFill/>
          <a:ln w="15875">
            <a:solidFill>
              <a:srgbClr val="C8106E"/>
            </a:solidFill>
            <a:prstDash val="solid"/>
          </a:ln>
        </p:spPr>
        <p:txBody>
          <a:bodyPr/>
          <a:p/>
        </p:txBody>
      </p:sp>
      <p:sp>
        <p:nvSpPr>
          <p:cNvPr id="54" name="Shape 43"/>
          <p:cNvSpPr/>
          <p:nvPr/>
        </p:nvSpPr>
        <p:spPr>
          <a:xfrm>
            <a:off x="4846320" y="2825496"/>
            <a:ext cx="914" cy="137160"/>
          </a:xfrm>
          <a:prstGeom prst="line">
            <a:avLst/>
          </a:prstGeom>
          <a:noFill/>
          <a:ln w="15875">
            <a:solidFill>
              <a:srgbClr val="C8106E"/>
            </a:solidFill>
            <a:prstDash val="solid"/>
          </a:ln>
        </p:spPr>
        <p:txBody>
          <a:bodyPr/>
          <a:p/>
        </p:txBody>
      </p:sp>
      <p:sp>
        <p:nvSpPr>
          <p:cNvPr id="55" name="Text 44"/>
          <p:cNvSpPr/>
          <p:nvPr/>
        </p:nvSpPr>
        <p:spPr>
          <a:xfrm>
            <a:off x="5120640" y="299008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Recomendação volta ao gestor</a:t>
            </a:r>
            <a:endParaRPr lang="en-US" sz="1000" dirty="0"/>
          </a:p>
        </p:txBody>
      </p:sp>
      <p:sp>
        <p:nvSpPr>
          <p:cNvPr id="56" name="Shape 45"/>
          <p:cNvSpPr/>
          <p:nvPr/>
        </p:nvSpPr>
        <p:spPr>
          <a:xfrm>
            <a:off x="4023360" y="3291840"/>
            <a:ext cx="4709160" cy="105156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pic>
        <p:nvPicPr>
          <p:cNvPr id="57" name="Image 9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33088" y="3383280"/>
            <a:ext cx="274320" cy="274320"/>
          </a:xfrm>
          <a:prstGeom prst="rect">
            <a:avLst/>
          </a:prstGeom>
        </p:spPr>
      </p:pic>
      <p:sp>
        <p:nvSpPr>
          <p:cNvPr id="58" name="Text 46"/>
          <p:cNvSpPr/>
          <p:nvPr/>
        </p:nvSpPr>
        <p:spPr>
          <a:xfrm>
            <a:off x="4498848" y="336499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Precisa de internet?</a:t>
            </a:r>
            <a:endParaRPr lang="en-US" sz="1300" dirty="0"/>
          </a:p>
        </p:txBody>
      </p:sp>
      <p:sp>
        <p:nvSpPr>
          <p:cNvPr id="59" name="Text 47"/>
          <p:cNvSpPr/>
          <p:nvPr/>
        </p:nvSpPr>
        <p:spPr>
          <a:xfrm>
            <a:off x="4160520" y="3657600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curral, não: papel ou celular que envia depois</a:t>
            </a:r>
            <a:endParaRPr lang="en-US" sz="105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sede, sim: uma conexão por dia basta</a:t>
            </a:r>
            <a:endParaRPr lang="en-US" sz="105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sem sinal no celular: validar com a Dreamer (16 a 27/11)</a:t>
            </a:r>
            <a:endParaRPr lang="en-US" sz="105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Concorrência: falham em custo e suporte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vendem sistema. A pesquisa com 30 fazendas vai medir custo e satisfação com o suporte de cada um.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4398264"/>
            <a:ext cx="4572000" cy="7429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4791456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Fontes: Cargill e Integra Software (Feed Manager); AgFeed e dsm-firmenich (FarmTell); Ponta Agro (TGC); AgFeed (Tecnobeef); Baguete (JetBov). Valor Cargill: informação de mercado levantada pela TN. Licença TGC: valores pagos pela TN. Suporte: avaliação interna e relato de clientes.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846320" y="6400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spc="150" kern="0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4  ·  CONCORRÊNCIA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1645920" y="1078992"/>
            <a:ext cx="1837944" cy="310896"/>
          </a:xfrm>
          <a:prstGeom prst="rect">
            <a:avLst/>
          </a:prstGeom>
          <a:solidFill>
            <a:srgbClr val="1B3A8C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737360" y="1078992"/>
            <a:ext cx="1655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forte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520440" y="1078992"/>
            <a:ext cx="1837944" cy="310896"/>
          </a:xfrm>
          <a:prstGeom prst="rect">
            <a:avLst/>
          </a:prstGeom>
          <a:solidFill>
            <a:srgbClr val="1B3A8C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3611880" y="1078992"/>
            <a:ext cx="1655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fraco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394960" y="1078992"/>
            <a:ext cx="1472184" cy="310896"/>
          </a:xfrm>
          <a:prstGeom prst="rect">
            <a:avLst/>
          </a:prstGeom>
          <a:solidFill>
            <a:srgbClr val="C8106E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486400" y="1078992"/>
            <a:ext cx="1289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Implantação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903720" y="1078992"/>
            <a:ext cx="1746504" cy="310896"/>
          </a:xfrm>
          <a:prstGeom prst="rect">
            <a:avLst/>
          </a:prstGeom>
          <a:solidFill>
            <a:srgbClr val="C8106E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995160" y="1078992"/>
            <a:ext cx="1563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57200" y="1426464"/>
            <a:ext cx="8229600" cy="530352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530352" y="1426464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Cargill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700784" y="1426464"/>
            <a:ext cx="17465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 completa e automatizada (Feed Manager, CattleView)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3575304" y="1426464"/>
            <a:ext cx="17465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Feita para quem já tem automação e estrutura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449824" y="1426464"/>
            <a:ext cx="13807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R$ 240 mil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6958584" y="1426464"/>
            <a:ext cx="16550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Falho; sistema mantido por terceira (Integra)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457200" y="1993392"/>
            <a:ext cx="8229600" cy="5303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530352" y="1993392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DSM (FarmTell)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700784" y="1993392"/>
            <a:ext cx="17465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 com consultoria; versão simples para pequenos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3575304" y="1993392"/>
            <a:ext cx="17465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em transição; muitos produtos separados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5449824" y="1993392"/>
            <a:ext cx="13807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divulgado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6958584" y="1993392"/>
            <a:ext cx="16550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Poucos consultores de alto nível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457200" y="2560320"/>
            <a:ext cx="8229600" cy="530352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530352" y="2560320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Ponta (TGC)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1700784" y="2560320"/>
            <a:ext cx="17465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 nos grandes confinamentos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3575304" y="2560320"/>
            <a:ext cx="17465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Complexo e caro para o pequeno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5449824" y="2560320"/>
            <a:ext cx="13807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R$ 10 mil a 40 mil por ano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6958584" y="2560320"/>
            <a:ext cx="16550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Pós-venda decepcionou clientes TN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457200" y="3127248"/>
            <a:ext cx="8229600" cy="5303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5" name="Text 32"/>
          <p:cNvSpPr/>
          <p:nvPr/>
        </p:nvSpPr>
        <p:spPr>
          <a:xfrm>
            <a:off x="530352" y="3127248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Tecnobeef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1700784" y="3127248"/>
            <a:ext cx="17465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Nasceu de confinador (grupo Campanelli)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3575304" y="3127248"/>
            <a:ext cx="17465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sistema para o cliente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5449824" y="3127248"/>
            <a:ext cx="13807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se aplica</a:t>
            </a:r>
            <a:endParaRPr lang="en-US" sz="1050" dirty="0"/>
          </a:p>
        </p:txBody>
      </p:sp>
      <p:sp>
        <p:nvSpPr>
          <p:cNvPr id="39" name="Text 36"/>
          <p:cNvSpPr/>
          <p:nvPr/>
        </p:nvSpPr>
        <p:spPr>
          <a:xfrm>
            <a:off x="6958584" y="3127248"/>
            <a:ext cx="16550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Técnico de nutrição, sem dados</a:t>
            </a:r>
            <a:endParaRPr lang="en-US" sz="1050" dirty="0"/>
          </a:p>
        </p:txBody>
      </p:sp>
      <p:sp>
        <p:nvSpPr>
          <p:cNvPr id="40" name="Shape 37"/>
          <p:cNvSpPr/>
          <p:nvPr/>
        </p:nvSpPr>
        <p:spPr>
          <a:xfrm>
            <a:off x="457200" y="3694176"/>
            <a:ext cx="8229600" cy="530352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41" name="Text 38"/>
          <p:cNvSpPr/>
          <p:nvPr/>
        </p:nvSpPr>
        <p:spPr>
          <a:xfrm>
            <a:off x="530352" y="3694176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JetBov e outros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1700784" y="3694176"/>
            <a:ext cx="17465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Barato e simples, para pequenos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3575304" y="3694176"/>
            <a:ext cx="17465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sistema: sem nutrição e sem técnico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5449824" y="3694176"/>
            <a:ext cx="13807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Mensalidade baixa</a:t>
            </a:r>
            <a:endParaRPr lang="en-US" sz="1050" dirty="0"/>
          </a:p>
        </p:txBody>
      </p:sp>
      <p:sp>
        <p:nvSpPr>
          <p:cNvPr id="45" name="Text 42"/>
          <p:cNvSpPr/>
          <p:nvPr/>
        </p:nvSpPr>
        <p:spPr>
          <a:xfrm>
            <a:off x="6958584" y="3694176"/>
            <a:ext cx="16550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Remoto, sem técnico no campo</a:t>
            </a:r>
            <a:endParaRPr lang="en-US" sz="105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vamos vencer: suporte e inteligência de dados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é o meio. O que fazemos com os dados da fazenda é o diferencial.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4398264"/>
            <a:ext cx="4572000" cy="7429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4791456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Fontes: avaliação interna TN e relatos de clientes sobre o suporte dos fornecedores atuais, a confirmar na pesquisa com 30 fazendas; licenças pagas pela TN.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846320" y="6400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spc="150" kern="0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4  ·  CONCORRÊNCIA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57200" y="1078992"/>
            <a:ext cx="3017520" cy="310896"/>
          </a:xfrm>
          <a:prstGeom prst="rect">
            <a:avLst/>
          </a:prstGeom>
          <a:solidFill>
            <a:srgbClr val="7A858F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548640" y="107899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os concorrentes falham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840480" y="1078992"/>
            <a:ext cx="4846320" cy="310896"/>
          </a:xfrm>
          <a:prstGeom prst="rect">
            <a:avLst/>
          </a:prstGeom>
          <a:solidFill>
            <a:srgbClr val="C8106E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3931920" y="1078992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a TN vai vencer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57200" y="1463040"/>
            <a:ext cx="3017520" cy="621792"/>
          </a:xfrm>
          <a:prstGeom prst="rect">
            <a:avLst/>
          </a:prstGeom>
          <a:solidFill>
            <a:srgbClr val="E3E7EC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66928" y="1527048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 fraco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566928" y="17830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da venda, o cliente fica sozinho</a:t>
            </a:r>
            <a:endParaRPr lang="en-US" sz="105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1682496"/>
            <a:ext cx="182880" cy="18288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3840480" y="1463040"/>
            <a:ext cx="4846320" cy="621792"/>
          </a:xfrm>
          <a:prstGeom prst="rect">
            <a:avLst/>
          </a:prstGeom>
          <a:solidFill>
            <a:srgbClr val="FBE7F1"/>
          </a:solidFill>
          <a:ln/>
        </p:spPr>
        <p:txBody>
          <a:bodyPr/>
          <a:p/>
        </p:txBody>
      </p:sp>
      <p:sp>
        <p:nvSpPr>
          <p:cNvPr id="17" name="Shape 13"/>
          <p:cNvSpPr/>
          <p:nvPr/>
        </p:nvSpPr>
        <p:spPr>
          <a:xfrm>
            <a:off x="3840480" y="1463040"/>
            <a:ext cx="54864" cy="621792"/>
          </a:xfrm>
          <a:prstGeom prst="rect">
            <a:avLst/>
          </a:prstGeom>
          <a:solidFill>
            <a:srgbClr val="C8106E"/>
          </a:solidFill>
          <a:ln/>
        </p:spPr>
        <p:txBody>
          <a:bodyPr/>
          <a:p/>
        </p:txBody>
      </p:sp>
      <p:sp>
        <p:nvSpPr>
          <p:cNvPr id="18" name="Text 14"/>
          <p:cNvSpPr/>
          <p:nvPr/>
        </p:nvSpPr>
        <p:spPr>
          <a:xfrm>
            <a:off x="4005072" y="152704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 excelente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4005072" y="1783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Analista online que responde rápido e técnico TN no campo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457200" y="2157984"/>
            <a:ext cx="3017520" cy="621792"/>
          </a:xfrm>
          <a:prstGeom prst="rect">
            <a:avLst/>
          </a:prstGeom>
          <a:solidFill>
            <a:srgbClr val="E3E7EC"/>
          </a:solidFill>
          <a:ln/>
        </p:spPr>
        <p:txBody>
          <a:bodyPr/>
          <a:p/>
        </p:txBody>
      </p:sp>
      <p:sp>
        <p:nvSpPr>
          <p:cNvPr id="21" name="Text 17"/>
          <p:cNvSpPr/>
          <p:nvPr/>
        </p:nvSpPr>
        <p:spPr>
          <a:xfrm>
            <a:off x="566928" y="2221992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Implantação cara e longa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566928" y="247802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R$ 240 mil e meses para começar</a:t>
            </a:r>
            <a:endParaRPr lang="en-US" sz="105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2377440"/>
            <a:ext cx="182880" cy="182880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3840480" y="2157984"/>
            <a:ext cx="4846320" cy="621792"/>
          </a:xfrm>
          <a:prstGeom prst="rect">
            <a:avLst/>
          </a:prstGeom>
          <a:solidFill>
            <a:srgbClr val="FBE7F1"/>
          </a:solidFill>
          <a:ln/>
        </p:spPr>
        <p:txBody>
          <a:bodyPr/>
          <a:p/>
        </p:txBody>
      </p:sp>
      <p:sp>
        <p:nvSpPr>
          <p:cNvPr id="25" name="Shape 20"/>
          <p:cNvSpPr/>
          <p:nvPr/>
        </p:nvSpPr>
        <p:spPr>
          <a:xfrm>
            <a:off x="3840480" y="2157984"/>
            <a:ext cx="54864" cy="621792"/>
          </a:xfrm>
          <a:prstGeom prst="rect">
            <a:avLst/>
          </a:prstGeom>
          <a:solidFill>
            <a:srgbClr val="C8106E"/>
          </a:solidFill>
          <a:ln/>
        </p:spPr>
        <p:txBody>
          <a:bodyPr/>
          <a:p/>
        </p:txBody>
      </p:sp>
      <p:sp>
        <p:nvSpPr>
          <p:cNvPr id="26" name="Text 21"/>
          <p:cNvSpPr/>
          <p:nvPr/>
        </p:nvSpPr>
        <p:spPr>
          <a:xfrm>
            <a:off x="4005072" y="222199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Implantação simples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4005072" y="247802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Começa em dias, sem licença para o cliente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457200" y="2852928"/>
            <a:ext cx="3017520" cy="621792"/>
          </a:xfrm>
          <a:prstGeom prst="rect">
            <a:avLst/>
          </a:prstGeom>
          <a:solidFill>
            <a:srgbClr val="E3E7EC"/>
          </a:solidFill>
          <a:ln/>
        </p:spPr>
        <p:txBody>
          <a:bodyPr/>
          <a:p/>
        </p:txBody>
      </p:sp>
      <p:sp>
        <p:nvSpPr>
          <p:cNvPr id="29" name="Text 24"/>
          <p:cNvSpPr/>
          <p:nvPr/>
        </p:nvSpPr>
        <p:spPr>
          <a:xfrm>
            <a:off x="566928" y="2916936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 parado no sistema</a:t>
            </a:r>
            <a:endParaRPr lang="en-US" sz="1250" dirty="0"/>
          </a:p>
        </p:txBody>
      </p:sp>
      <p:sp>
        <p:nvSpPr>
          <p:cNvPr id="30" name="Text 25"/>
          <p:cNvSpPr/>
          <p:nvPr/>
        </p:nvSpPr>
        <p:spPr>
          <a:xfrm>
            <a:off x="566928" y="317296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Ninguém transforma o número em decisão</a:t>
            </a:r>
            <a:endParaRPr lang="en-US" sz="1050" dirty="0"/>
          </a:p>
        </p:txBody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3072384"/>
            <a:ext cx="182880" cy="182880"/>
          </a:xfrm>
          <a:prstGeom prst="rect">
            <a:avLst/>
          </a:prstGeom>
        </p:spPr>
      </p:pic>
      <p:sp>
        <p:nvSpPr>
          <p:cNvPr id="32" name="Shape 26"/>
          <p:cNvSpPr/>
          <p:nvPr/>
        </p:nvSpPr>
        <p:spPr>
          <a:xfrm>
            <a:off x="3840480" y="2852928"/>
            <a:ext cx="4846320" cy="621792"/>
          </a:xfrm>
          <a:prstGeom prst="rect">
            <a:avLst/>
          </a:prstGeom>
          <a:solidFill>
            <a:srgbClr val="FBE7F1"/>
          </a:solidFill>
          <a:ln/>
        </p:spPr>
        <p:txBody>
          <a:bodyPr/>
          <a:p/>
        </p:txBody>
      </p:sp>
      <p:sp>
        <p:nvSpPr>
          <p:cNvPr id="33" name="Shape 27"/>
          <p:cNvSpPr/>
          <p:nvPr/>
        </p:nvSpPr>
        <p:spPr>
          <a:xfrm>
            <a:off x="3840480" y="2852928"/>
            <a:ext cx="54864" cy="621792"/>
          </a:xfrm>
          <a:prstGeom prst="rect">
            <a:avLst/>
          </a:prstGeom>
          <a:solidFill>
            <a:srgbClr val="C8106E"/>
          </a:solidFill>
          <a:ln/>
        </p:spPr>
        <p:txBody>
          <a:bodyPr/>
          <a:p/>
        </p:txBody>
      </p:sp>
      <p:sp>
        <p:nvSpPr>
          <p:cNvPr id="34" name="Text 28"/>
          <p:cNvSpPr/>
          <p:nvPr/>
        </p:nvSpPr>
        <p:spPr>
          <a:xfrm>
            <a:off x="4005072" y="291693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e equipe técnica</a:t>
            </a:r>
            <a:endParaRPr lang="en-US" sz="1300" dirty="0"/>
          </a:p>
        </p:txBody>
      </p:sp>
      <p:sp>
        <p:nvSpPr>
          <p:cNvPr id="35" name="Text 29"/>
          <p:cNvSpPr/>
          <p:nvPr/>
        </p:nvSpPr>
        <p:spPr>
          <a:xfrm>
            <a:off x="4005072" y="31729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Painéis criativos e ajustes baseados nos dados</a:t>
            </a:r>
            <a:endParaRPr lang="en-US" sz="1100" dirty="0"/>
          </a:p>
        </p:txBody>
      </p:sp>
      <p:sp>
        <p:nvSpPr>
          <p:cNvPr id="36" name="Text 30"/>
          <p:cNvSpPr/>
          <p:nvPr/>
        </p:nvSpPr>
        <p:spPr>
          <a:xfrm>
            <a:off x="457200" y="3602736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DE DESENVOLVIMENTO: DO SISTEMA AO RESULTADO</a:t>
            </a:r>
            <a:endParaRPr lang="en-US" sz="950" dirty="0"/>
          </a:p>
        </p:txBody>
      </p:sp>
      <p:sp>
        <p:nvSpPr>
          <p:cNvPr id="37" name="Shape 31"/>
          <p:cNvSpPr/>
          <p:nvPr/>
        </p:nvSpPr>
        <p:spPr>
          <a:xfrm>
            <a:off x="457200" y="3822192"/>
            <a:ext cx="2167128" cy="566928"/>
          </a:xfrm>
          <a:prstGeom prst="homePlate">
            <a:avLst/>
          </a:prstGeom>
          <a:solidFill>
            <a:srgbClr val="9AA3AC"/>
          </a:solidFill>
          <a:ln w="254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8" name="Text 32"/>
          <p:cNvSpPr/>
          <p:nvPr/>
        </p:nvSpPr>
        <p:spPr>
          <a:xfrm>
            <a:off x="566928" y="3822192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</a:t>
            </a:r>
            <a:endParaRPr lang="en-US" sz="11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meio</a:t>
            </a:r>
            <a:endParaRPr lang="en-US" sz="1150" dirty="0"/>
          </a:p>
        </p:txBody>
      </p:sp>
      <p:sp>
        <p:nvSpPr>
          <p:cNvPr id="39" name="Shape 33"/>
          <p:cNvSpPr/>
          <p:nvPr/>
        </p:nvSpPr>
        <p:spPr>
          <a:xfrm>
            <a:off x="2514600" y="3822192"/>
            <a:ext cx="2167128" cy="566928"/>
          </a:xfrm>
          <a:prstGeom prst="chevron">
            <a:avLst/>
          </a:prstGeom>
          <a:solidFill>
            <a:srgbClr val="26668F"/>
          </a:solidFill>
          <a:ln w="254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0" name="Text 34"/>
          <p:cNvSpPr/>
          <p:nvPr/>
        </p:nvSpPr>
        <p:spPr>
          <a:xfrm>
            <a:off x="2843784" y="3822192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da fazenda</a:t>
            </a:r>
            <a:endParaRPr lang="en-US" sz="11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lançados no dia a dia</a:t>
            </a:r>
            <a:endParaRPr lang="en-US" sz="1150" dirty="0"/>
          </a:p>
        </p:txBody>
      </p:sp>
      <p:sp>
        <p:nvSpPr>
          <p:cNvPr id="41" name="Shape 35"/>
          <p:cNvSpPr/>
          <p:nvPr/>
        </p:nvSpPr>
        <p:spPr>
          <a:xfrm>
            <a:off x="4572000" y="3822192"/>
            <a:ext cx="2167128" cy="566928"/>
          </a:xfrm>
          <a:prstGeom prst="chevron">
            <a:avLst/>
          </a:prstGeom>
          <a:solidFill>
            <a:srgbClr val="1B3A8C"/>
          </a:solidFill>
          <a:ln w="254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2" name="Text 36"/>
          <p:cNvSpPr/>
          <p:nvPr/>
        </p:nvSpPr>
        <p:spPr>
          <a:xfrm>
            <a:off x="4901184" y="3822192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Analistas</a:t>
            </a:r>
            <a:endParaRPr lang="en-US" sz="11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auditam, validam e interpretam</a:t>
            </a:r>
            <a:endParaRPr lang="en-US" sz="1150" dirty="0"/>
          </a:p>
        </p:txBody>
      </p:sp>
      <p:sp>
        <p:nvSpPr>
          <p:cNvPr id="43" name="Shape 37"/>
          <p:cNvSpPr/>
          <p:nvPr/>
        </p:nvSpPr>
        <p:spPr>
          <a:xfrm>
            <a:off x="6629400" y="3822192"/>
            <a:ext cx="2167128" cy="566928"/>
          </a:xfrm>
          <a:prstGeom prst="chevron">
            <a:avLst/>
          </a:prstGeom>
          <a:solidFill>
            <a:srgbClr val="C8106E"/>
          </a:solidFill>
          <a:ln w="254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4" name="Text 38"/>
          <p:cNvSpPr/>
          <p:nvPr/>
        </p:nvSpPr>
        <p:spPr>
          <a:xfrm>
            <a:off x="6958584" y="3822192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de safra</a:t>
            </a:r>
            <a:endParaRPr lang="en-US" sz="11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benchmark: o resultado</a:t>
            </a:r>
            <a:endParaRPr lang="en-US" sz="115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do cliente-alvo para o piloto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para escolher as primeiras fazendas: novos clientes pequenos e médios, sem automação.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4398264"/>
            <a:ext cx="4572000" cy="7429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846320" y="6400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spc="150" kern="0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5  ·  MODELO DE NEGÓCIO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1115568"/>
            <a:ext cx="2633472" cy="438912"/>
          </a:xfrm>
          <a:prstGeom prst="rect">
            <a:avLst/>
          </a:prstGeom>
          <a:solidFill>
            <a:srgbClr val="1B3A8C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594360" y="1115568"/>
            <a:ext cx="2359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Obrigatórios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7200" y="1554480"/>
            <a:ext cx="2633472" cy="237744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548640" y="1682496"/>
            <a:ext cx="24323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Confinamento ativo, com ciclo regular</a:t>
            </a:r>
            <a:endParaRPr lang="en-US" sz="1200" dirty="0"/>
          </a:p>
          <a:p>
            <a:pPr marL="114300" indent="-1143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hoje em caderno, planilha ou sistema simples</a:t>
            </a:r>
            <a:endParaRPr lang="en-US" sz="1200" dirty="0"/>
          </a:p>
          <a:p>
            <a:pPr marL="114300" indent="-1143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pessoa para lançar os dados todo dia</a:t>
            </a:r>
            <a:endParaRPr lang="en-US" sz="1200" dirty="0"/>
          </a:p>
          <a:p>
            <a:pPr marL="114300" indent="-1143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Técnico com visita ou contato frequente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246120" y="1115568"/>
            <a:ext cx="2633472" cy="438912"/>
          </a:xfrm>
          <a:prstGeom prst="rect">
            <a:avLst/>
          </a:prstGeom>
          <a:solidFill>
            <a:srgbClr val="0096B4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3383280" y="1115568"/>
            <a:ext cx="2359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Desejáveis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3246120" y="1554480"/>
            <a:ext cx="2633472" cy="237744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3337560" y="1682496"/>
            <a:ext cx="24323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Pesagem na entrada e na saída</a:t>
            </a:r>
            <a:endParaRPr lang="en-US" sz="1200" dirty="0"/>
          </a:p>
          <a:p>
            <a:pPr marL="114300" indent="-1143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de cocho diária</a:t>
            </a:r>
            <a:endParaRPr lang="en-US" sz="1200" dirty="0"/>
          </a:p>
          <a:p>
            <a:pPr marL="114300" indent="-1143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na sede da fazenda</a:t>
            </a:r>
            <a:endParaRPr lang="en-US" sz="1200" dirty="0"/>
          </a:p>
          <a:p>
            <a:pPr marL="114300" indent="-1143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 que dá retorno a cada 15 dias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035040" y="1115568"/>
            <a:ext cx="2633472" cy="438912"/>
          </a:xfrm>
          <a:prstGeom prst="rect">
            <a:avLst/>
          </a:prstGeom>
          <a:solidFill>
            <a:srgbClr val="C8106E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6172200" y="1115568"/>
            <a:ext cx="2359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Fora do perfil inicial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035040" y="1554480"/>
            <a:ext cx="2633472" cy="237744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6126480" y="1682496"/>
            <a:ext cx="24323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Operações com automação (seguem na PecCode)</a:t>
            </a:r>
            <a:endParaRPr lang="en-US" sz="1200" dirty="0"/>
          </a:p>
          <a:p>
            <a:pPr marL="114300" indent="-1143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rotina mínima de registro</a:t>
            </a:r>
            <a:endParaRPr lang="en-US" sz="1200" dirty="0"/>
          </a:p>
          <a:p>
            <a:pPr marL="114300" indent="-1143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Recria a pasto, leite e outras espécies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57200" y="4005072"/>
            <a:ext cx="8229600" cy="384048"/>
          </a:xfrm>
          <a:prstGeom prst="rect">
            <a:avLst/>
          </a:prstGeom>
          <a:solidFill>
            <a:srgbClr val="FBE7F1"/>
          </a:solidFill>
          <a:ln/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594360" y="400507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Porte: </a:t>
            </a:r>
            <a:pPr indent="0" marL="0">
              <a:buNone/>
            </a:pPr>
            <a:r>
              <a:rPr lang="en-US" sz="120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v1.0 mirava 2.000 cabeças ou mais. A versão Web mira de 200 a 2.000 cabeças.</a:t>
            </a:r>
            <a:endParaRPr lang="en-US" sz="12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Custo-benefício e cobrança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Pagamos 20 licenças hoje. O Web atende novos clientes sem automação; a PecCode segue com os maiores.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4398264"/>
            <a:ext cx="4572000" cy="7429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846320" y="6400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spc="150" kern="0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5  ·  MODELO DE NEGÓCIO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57200" y="10789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pagamos hoje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1371600"/>
            <a:ext cx="1161288" cy="292608"/>
          </a:xfrm>
          <a:prstGeom prst="rect">
            <a:avLst/>
          </a:prstGeom>
          <a:solidFill>
            <a:srgbClr val="1B3A8C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548640" y="1371600"/>
            <a:ext cx="978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Fornecedor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1645920" y="1371600"/>
            <a:ext cx="704088" cy="292608"/>
          </a:xfrm>
          <a:prstGeom prst="rect">
            <a:avLst/>
          </a:prstGeom>
          <a:solidFill>
            <a:srgbClr val="1B3A8C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737360" y="1371600"/>
            <a:ext cx="521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Licenças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377440" y="1371600"/>
            <a:ext cx="1161288" cy="292608"/>
          </a:xfrm>
          <a:prstGeom prst="rect">
            <a:avLst/>
          </a:prstGeom>
          <a:solidFill>
            <a:srgbClr val="1B3A8C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2468880" y="1371600"/>
            <a:ext cx="978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ano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566160" y="1371600"/>
            <a:ext cx="1069848" cy="292608"/>
          </a:xfrm>
          <a:prstGeom prst="rect">
            <a:avLst/>
          </a:prstGeom>
          <a:solidFill>
            <a:srgbClr val="1B3A8C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3657600" y="1371600"/>
            <a:ext cx="886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por ano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57200" y="1691640"/>
            <a:ext cx="4178808" cy="292608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530352" y="169164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TGC (Ponta)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719072" y="169164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2450592" y="169164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R$ 10 a 40 mil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3639312" y="169164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R$ 60 a 240 mil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2020824"/>
            <a:ext cx="4178808" cy="292608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530352" y="20208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PecCode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1719072" y="2020824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2450592" y="20208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R$ 8 a 12,8 mil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3639312" y="202082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R$ 112 a 179 mil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57200" y="2350008"/>
            <a:ext cx="4178808" cy="292608"/>
          </a:xfrm>
          <a:prstGeom prst="rect">
            <a:avLst/>
          </a:prstGeom>
          <a:solidFill>
            <a:srgbClr val="FBE7F1"/>
          </a:solidFill>
          <a:ln/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530352" y="235000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1719072" y="235000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2450592" y="235000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3639312" y="235000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R$ 172 a 419 mil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457200" y="2761488"/>
            <a:ext cx="987552" cy="73152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32" name="Shape 29"/>
          <p:cNvSpPr/>
          <p:nvPr/>
        </p:nvSpPr>
        <p:spPr>
          <a:xfrm>
            <a:off x="457200" y="2761488"/>
            <a:ext cx="987552" cy="45720"/>
          </a:xfrm>
          <a:prstGeom prst="rect">
            <a:avLst/>
          </a:prstGeom>
          <a:solidFill>
            <a:srgbClr val="1B3A8C"/>
          </a:solidFill>
          <a:ln/>
        </p:spPr>
        <p:txBody>
          <a:bodyPr/>
          <a:p/>
        </p:txBody>
      </p:sp>
      <p:sp>
        <p:nvSpPr>
          <p:cNvPr id="33" name="Text 30"/>
          <p:cNvSpPr/>
          <p:nvPr/>
        </p:nvSpPr>
        <p:spPr>
          <a:xfrm>
            <a:off x="512064" y="2852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R$ 364 mil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512064" y="316382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orçados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1513332" y="2761488"/>
            <a:ext cx="987552" cy="73152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36" name="Shape 33"/>
          <p:cNvSpPr/>
          <p:nvPr/>
        </p:nvSpPr>
        <p:spPr>
          <a:xfrm>
            <a:off x="1513332" y="2761488"/>
            <a:ext cx="987552" cy="45720"/>
          </a:xfrm>
          <a:prstGeom prst="rect">
            <a:avLst/>
          </a:prstGeom>
          <a:solidFill>
            <a:srgbClr val="26668F"/>
          </a:solidFill>
          <a:ln/>
        </p:spPr>
        <p:txBody>
          <a:bodyPr/>
          <a:p/>
        </p:txBody>
      </p:sp>
      <p:sp>
        <p:nvSpPr>
          <p:cNvPr id="37" name="Text 34"/>
          <p:cNvSpPr/>
          <p:nvPr/>
        </p:nvSpPr>
        <p:spPr>
          <a:xfrm>
            <a:off x="1568196" y="2852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66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R$ 64 mil</a:t>
            </a:r>
            <a:endParaRPr lang="en-US" sz="1400" dirty="0"/>
          </a:p>
        </p:txBody>
      </p:sp>
      <p:sp>
        <p:nvSpPr>
          <p:cNvPr id="38" name="Text 35"/>
          <p:cNvSpPr/>
          <p:nvPr/>
        </p:nvSpPr>
        <p:spPr>
          <a:xfrm>
            <a:off x="1568196" y="316382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pagos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2569464" y="2761488"/>
            <a:ext cx="987552" cy="73152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40" name="Shape 37"/>
          <p:cNvSpPr/>
          <p:nvPr/>
        </p:nvSpPr>
        <p:spPr>
          <a:xfrm>
            <a:off x="2569464" y="2761488"/>
            <a:ext cx="987552" cy="45720"/>
          </a:xfrm>
          <a:prstGeom prst="rect">
            <a:avLst/>
          </a:prstGeom>
          <a:solidFill>
            <a:srgbClr val="C8106E"/>
          </a:solidFill>
          <a:ln/>
        </p:spPr>
        <p:txBody>
          <a:bodyPr/>
          <a:p/>
        </p:txBody>
      </p:sp>
      <p:sp>
        <p:nvSpPr>
          <p:cNvPr id="41" name="Text 38"/>
          <p:cNvSpPr/>
          <p:nvPr/>
        </p:nvSpPr>
        <p:spPr>
          <a:xfrm>
            <a:off x="2624328" y="2852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R$ 300 mil</a:t>
            </a:r>
            <a:endParaRPr lang="en-US" sz="1400" dirty="0"/>
          </a:p>
        </p:txBody>
      </p:sp>
      <p:sp>
        <p:nvSpPr>
          <p:cNvPr id="42" name="Text 39"/>
          <p:cNvSpPr/>
          <p:nvPr/>
        </p:nvSpPr>
        <p:spPr>
          <a:xfrm>
            <a:off x="2624328" y="316382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pagar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3625596" y="2761488"/>
            <a:ext cx="987552" cy="73152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44" name="Shape 41"/>
          <p:cNvSpPr/>
          <p:nvPr/>
        </p:nvSpPr>
        <p:spPr>
          <a:xfrm>
            <a:off x="3625596" y="2761488"/>
            <a:ext cx="987552" cy="45720"/>
          </a:xfrm>
          <a:prstGeom prst="rect">
            <a:avLst/>
          </a:prstGeom>
          <a:solidFill>
            <a:srgbClr val="1B3A8C"/>
          </a:solidFill>
          <a:ln/>
        </p:spPr>
        <p:txBody>
          <a:bodyPr/>
          <a:p/>
        </p:txBody>
      </p:sp>
      <p:sp>
        <p:nvSpPr>
          <p:cNvPr id="45" name="Text 42"/>
          <p:cNvSpPr/>
          <p:nvPr/>
        </p:nvSpPr>
        <p:spPr>
          <a:xfrm>
            <a:off x="3680460" y="2852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R$ 18,2 mil</a:t>
            </a:r>
            <a:endParaRPr lang="en-US" sz="1400" dirty="0"/>
          </a:p>
        </p:txBody>
      </p:sp>
      <p:sp>
        <p:nvSpPr>
          <p:cNvPr id="46" name="Text 43"/>
          <p:cNvSpPr/>
          <p:nvPr/>
        </p:nvSpPr>
        <p:spPr>
          <a:xfrm>
            <a:off x="3680460" y="316382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fazenda/ano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457200" y="3602736"/>
            <a:ext cx="4178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licença média supera o resultado que muitos confinamentos pequenos geram para a TN.</a:t>
            </a:r>
            <a:endParaRPr lang="en-US" sz="1100" dirty="0"/>
          </a:p>
        </p:txBody>
      </p:sp>
      <p:sp>
        <p:nvSpPr>
          <p:cNvPr id="48" name="Shape 45"/>
          <p:cNvSpPr/>
          <p:nvPr/>
        </p:nvSpPr>
        <p:spPr>
          <a:xfrm>
            <a:off x="4937760" y="1078992"/>
            <a:ext cx="3749040" cy="310896"/>
          </a:xfrm>
          <a:prstGeom prst="rect">
            <a:avLst/>
          </a:prstGeom>
          <a:solidFill>
            <a:srgbClr val="1B3A8C"/>
          </a:solidFill>
          <a:ln/>
        </p:spPr>
        <p:txBody>
          <a:bodyPr/>
          <a:p/>
        </p:txBody>
      </p:sp>
      <p:sp>
        <p:nvSpPr>
          <p:cNvPr id="49" name="Text 46"/>
          <p:cNvSpPr/>
          <p:nvPr/>
        </p:nvSpPr>
        <p:spPr>
          <a:xfrm>
            <a:off x="5029200" y="107899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muda com o TN Manager Web</a:t>
            </a:r>
            <a:endParaRPr lang="en-US" sz="1150" dirty="0"/>
          </a:p>
        </p:txBody>
      </p:sp>
      <p:sp>
        <p:nvSpPr>
          <p:cNvPr id="50" name="Shape 47"/>
          <p:cNvSpPr/>
          <p:nvPr/>
        </p:nvSpPr>
        <p:spPr>
          <a:xfrm>
            <a:off x="4937760" y="1389888"/>
            <a:ext cx="3749040" cy="1024128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51" name="Text 48"/>
          <p:cNvSpPr/>
          <p:nvPr/>
        </p:nvSpPr>
        <p:spPr>
          <a:xfrm>
            <a:off x="5029200" y="1444752"/>
            <a:ext cx="358444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Novos clientes sem automação: TN Manager Web</a:t>
            </a:r>
            <a:endParaRPr lang="en-US" sz="105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Fazendas atuais sem automação podem migrar e deixar de pagar de R$ 8 mil a 40 mil por ano</a:t>
            </a:r>
            <a:endParaRPr lang="en-US" sz="105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paga quando o custo anual do Web ficar abaixo das licenças</a:t>
            </a:r>
            <a:endParaRPr lang="en-US" sz="1050" dirty="0"/>
          </a:p>
        </p:txBody>
      </p:sp>
      <p:sp>
        <p:nvSpPr>
          <p:cNvPr id="52" name="Shape 49"/>
          <p:cNvSpPr/>
          <p:nvPr/>
        </p:nvSpPr>
        <p:spPr>
          <a:xfrm>
            <a:off x="4937760" y="2487168"/>
            <a:ext cx="3749040" cy="548640"/>
          </a:xfrm>
          <a:prstGeom prst="rect">
            <a:avLst/>
          </a:prstGeom>
          <a:solidFill>
            <a:srgbClr val="E3F3F7"/>
          </a:solidFill>
          <a:ln/>
        </p:spPr>
        <p:txBody>
          <a:bodyPr/>
          <a:p/>
        </p:txBody>
      </p:sp>
      <p:sp>
        <p:nvSpPr>
          <p:cNvPr id="53" name="Shape 50"/>
          <p:cNvSpPr/>
          <p:nvPr/>
        </p:nvSpPr>
        <p:spPr>
          <a:xfrm>
            <a:off x="4937760" y="2487168"/>
            <a:ext cx="54864" cy="548640"/>
          </a:xfrm>
          <a:prstGeom prst="rect">
            <a:avLst/>
          </a:prstGeom>
          <a:solidFill>
            <a:srgbClr val="0096B4"/>
          </a:solidFill>
          <a:ln/>
        </p:spPr>
        <p:txBody>
          <a:bodyPr/>
          <a:p/>
        </p:txBody>
      </p:sp>
      <p:sp>
        <p:nvSpPr>
          <p:cNvPr id="54" name="Text 51"/>
          <p:cNvSpPr/>
          <p:nvPr/>
        </p:nvSpPr>
        <p:spPr>
          <a:xfrm>
            <a:off x="5074920" y="248716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66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PecCode, parceria consolidada: </a:t>
            </a:r>
            <a:pPr indent="0" marL="0">
              <a:buNone/>
            </a:pPr>
            <a:r>
              <a:rPr lang="en-US" sz="105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maiores com automação seguem com ela. TN Manager Automação volta no futuro.</a:t>
            </a:r>
            <a:endParaRPr lang="en-US" sz="1050" dirty="0"/>
          </a:p>
        </p:txBody>
      </p:sp>
      <p:sp>
        <p:nvSpPr>
          <p:cNvPr id="55" name="Shape 52"/>
          <p:cNvSpPr/>
          <p:nvPr/>
        </p:nvSpPr>
        <p:spPr>
          <a:xfrm>
            <a:off x="4937760" y="3108960"/>
            <a:ext cx="3749040" cy="310896"/>
          </a:xfrm>
          <a:prstGeom prst="rect">
            <a:avLst/>
          </a:prstGeom>
          <a:solidFill>
            <a:srgbClr val="C8106E"/>
          </a:solidFill>
          <a:ln/>
        </p:spPr>
        <p:txBody>
          <a:bodyPr/>
          <a:p/>
        </p:txBody>
      </p:sp>
      <p:sp>
        <p:nvSpPr>
          <p:cNvPr id="56" name="Text 53"/>
          <p:cNvSpPr/>
          <p:nvPr/>
        </p:nvSpPr>
        <p:spPr>
          <a:xfrm>
            <a:off x="5029200" y="310896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Cobrança do cliente (proposta)</a:t>
            </a:r>
            <a:endParaRPr lang="en-US" sz="1150" dirty="0"/>
          </a:p>
        </p:txBody>
      </p:sp>
      <p:sp>
        <p:nvSpPr>
          <p:cNvPr id="57" name="Shape 54"/>
          <p:cNvSpPr/>
          <p:nvPr/>
        </p:nvSpPr>
        <p:spPr>
          <a:xfrm>
            <a:off x="4937760" y="3419856"/>
            <a:ext cx="3749040" cy="914400"/>
          </a:xfrm>
          <a:prstGeom prst="rect">
            <a:avLst/>
          </a:prstGeom>
          <a:solidFill>
            <a:srgbClr val="FBE7F1"/>
          </a:solidFill>
          <a:ln/>
        </p:spPr>
        <p:txBody>
          <a:bodyPr/>
          <a:p/>
        </p:txBody>
      </p:sp>
      <p:sp>
        <p:nvSpPr>
          <p:cNvPr id="58" name="Text 55"/>
          <p:cNvSpPr/>
          <p:nvPr/>
        </p:nvSpPr>
        <p:spPr>
          <a:xfrm>
            <a:off x="5029200" y="3474720"/>
            <a:ext cx="35844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licença para o cliente</a:t>
            </a:r>
            <a:endParaRPr lang="en-US" sz="105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no pacote de nutrição e serviço técnico</a:t>
            </a:r>
            <a:endParaRPr lang="en-US" sz="105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nutrição TN: mensalidade de serviço</a:t>
            </a:r>
            <a:endParaRPr lang="en-US" sz="105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final: 18 a 29/01/2027 (item 6.3)</a:t>
            </a:r>
            <a:endParaRPr lang="en-US" sz="105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SWOT: TN Manager Web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Itens em magenta são novos em relação à v1.0.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4398264"/>
            <a:ext cx="4572000" cy="7429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846320" y="6400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spc="150" kern="0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5  ·  MODELO DE NEGÓCIO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1051560"/>
            <a:ext cx="4069080" cy="1627632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457200" y="1051560"/>
            <a:ext cx="64008" cy="1627632"/>
          </a:xfrm>
          <a:prstGeom prst="rect">
            <a:avLst/>
          </a:prstGeom>
          <a:solidFill>
            <a:srgbClr val="1B3A8C"/>
          </a:solidFill>
          <a:ln/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594360" y="1143000"/>
            <a:ext cx="347472" cy="347472"/>
          </a:xfrm>
          <a:prstGeom prst="ellipse">
            <a:avLst/>
          </a:prstGeom>
          <a:solidFill>
            <a:srgbClr val="1B3A8C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594360" y="11430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24128" y="11430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Forças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21792" y="1554480"/>
            <a:ext cx="37947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5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 excelente, com analista online</a:t>
            </a:r>
            <a:endParaRPr lang="en-US" sz="10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5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criativos para decidir</a:t>
            </a:r>
            <a:endParaRPr lang="en-US" sz="10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5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Ganho de tempo: relatório pronto toda semana</a:t>
            </a:r>
            <a:endParaRPr lang="en-US" sz="10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5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Benchmarking e comunidade (Grupo)</a:t>
            </a:r>
            <a:endParaRPr lang="en-US" sz="10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5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próprios, sem custo de licença</a:t>
            </a:r>
            <a:endParaRPr lang="en-US" sz="10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50" b="1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forte e equipe técnica de campo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617720" y="1051560"/>
            <a:ext cx="4069080" cy="1627632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4617720" y="1051560"/>
            <a:ext cx="64008" cy="1627632"/>
          </a:xfrm>
          <a:prstGeom prst="rect">
            <a:avLst/>
          </a:prstGeom>
          <a:solidFill>
            <a:srgbClr val="7A858F"/>
          </a:solidFill>
          <a:ln/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4754880" y="1143000"/>
            <a:ext cx="347472" cy="347472"/>
          </a:xfrm>
          <a:prstGeom prst="ellipse">
            <a:avLst/>
          </a:prstGeom>
          <a:solidFill>
            <a:srgbClr val="7A858F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4754880" y="11430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184648" y="11430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Fraquezas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782312" y="1554480"/>
            <a:ext cx="37947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5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 da disciplina de lançamento manual</a:t>
            </a:r>
            <a:endParaRPr lang="en-US" sz="10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5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de análise pequeno no início</a:t>
            </a:r>
            <a:endParaRPr lang="en-US" sz="10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50" b="1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Ainda sem casos de sucesso próprios</a:t>
            </a:r>
            <a:endParaRPr lang="en-US" sz="10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50" b="1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cobrança a definir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57200" y="2743200"/>
            <a:ext cx="4069080" cy="1627632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457200" y="2743200"/>
            <a:ext cx="64008" cy="1627632"/>
          </a:xfrm>
          <a:prstGeom prst="rect">
            <a:avLst/>
          </a:prstGeom>
          <a:solidFill>
            <a:srgbClr val="26668F"/>
          </a:solidFill>
          <a:ln/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594360" y="2834640"/>
            <a:ext cx="347472" cy="347472"/>
          </a:xfrm>
          <a:prstGeom prst="ellipse">
            <a:avLst/>
          </a:prstGeom>
          <a:solidFill>
            <a:srgbClr val="26668F"/>
          </a:solidFill>
          <a:ln/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594360" y="28346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1024128" y="28346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6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Oportunidades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621792" y="3246120"/>
            <a:ext cx="37947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5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11.194 confinamentos pequenos (Bússola Farm)</a:t>
            </a:r>
            <a:endParaRPr lang="en-US" sz="10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5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Concorrentes com suporte fraco e implantação cara</a:t>
            </a:r>
            <a:endParaRPr lang="en-US" sz="10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5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geração quer dados e gestão de empresa</a:t>
            </a:r>
            <a:endParaRPr lang="en-US" sz="10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5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22% dos produtores usam app de gestão</a:t>
            </a:r>
            <a:endParaRPr lang="en-US" sz="10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50" b="1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Recuperar ex-clientes e abrir não clientes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617720" y="2743200"/>
            <a:ext cx="4069080" cy="1627632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4617720" y="2743200"/>
            <a:ext cx="64008" cy="1627632"/>
          </a:xfrm>
          <a:prstGeom prst="rect">
            <a:avLst/>
          </a:prstGeom>
          <a:solidFill>
            <a:srgbClr val="C8106E"/>
          </a:solidFill>
          <a:ln/>
        </p:spPr>
        <p:txBody>
          <a:bodyPr/>
          <a:p/>
        </p:txBody>
      </p:sp>
      <p:sp>
        <p:nvSpPr>
          <p:cNvPr id="27" name="Shape 24"/>
          <p:cNvSpPr/>
          <p:nvPr/>
        </p:nvSpPr>
        <p:spPr>
          <a:xfrm>
            <a:off x="4754880" y="2834640"/>
            <a:ext cx="347472" cy="347472"/>
          </a:xfrm>
          <a:prstGeom prst="ellipse">
            <a:avLst/>
          </a:prstGeom>
          <a:solidFill>
            <a:srgbClr val="C8106E"/>
          </a:solidFill>
          <a:ln/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4754880" y="28346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5184648" y="28346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Ameaças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4782312" y="3246120"/>
            <a:ext cx="37947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5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Cargill e DSM vendem sistema com a nutrição</a:t>
            </a:r>
            <a:endParaRPr lang="en-US" sz="10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5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DSM já tem versão simples (Beef Smart)</a:t>
            </a:r>
            <a:endParaRPr lang="en-US" sz="10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5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Baixa adesão ao lançamento manual</a:t>
            </a:r>
            <a:endParaRPr lang="en-US" sz="10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50" b="1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Dependência da software house</a:t>
            </a:r>
            <a:endParaRPr lang="en-US" sz="10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50" b="1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embutir o custo no preço do produto</a:t>
            </a:r>
            <a:endParaRPr lang="en-US" sz="105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Go-to-market: piloto, 20 fazendas e analistas online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Rodrigo valida o modelo antes de contratar. O gatilho para crescer é resultado, não data.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4398264"/>
            <a:ext cx="4572000" cy="7429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846320" y="6400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spc="150" kern="0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5  ·  MODELO DE NEGÓCIO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1097280"/>
            <a:ext cx="2606040" cy="1481328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457200" y="1097280"/>
            <a:ext cx="2606040" cy="54864"/>
          </a:xfrm>
          <a:prstGeom prst="rect">
            <a:avLst/>
          </a:prstGeom>
          <a:solidFill>
            <a:srgbClr val="26668F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585216" y="120700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266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 (ITEM 8.0)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85216" y="141732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5 fazendas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85216" y="1755648"/>
            <a:ext cx="23682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Rodrigo e técnico de campo de perto; início definido no Roadmap (6.1)</a:t>
            </a:r>
            <a:endParaRPr lang="en-US" sz="11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0672" y="1737360"/>
            <a:ext cx="164592" cy="164592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273552" y="1097280"/>
            <a:ext cx="2606040" cy="1481328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14" name="Shape 10"/>
          <p:cNvSpPr/>
          <p:nvPr/>
        </p:nvSpPr>
        <p:spPr>
          <a:xfrm>
            <a:off x="3273552" y="1097280"/>
            <a:ext cx="2606040" cy="54864"/>
          </a:xfrm>
          <a:prstGeom prst="rect">
            <a:avLst/>
          </a:prstGeom>
          <a:solidFill>
            <a:srgbClr val="1B3A8C"/>
          </a:solidFill>
          <a:ln/>
        </p:spPr>
        <p:txBody>
          <a:bodyPr/>
          <a:p/>
        </p:txBody>
      </p:sp>
      <p:sp>
        <p:nvSpPr>
          <p:cNvPr id="15" name="Text 11"/>
          <p:cNvSpPr/>
          <p:nvPr/>
        </p:nvSpPr>
        <p:spPr>
          <a:xfrm>
            <a:off x="3401568" y="120700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3 A 6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3401568" y="141732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20 fazendas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3401568" y="1755648"/>
            <a:ext cx="23682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Rodrigo analisa toda semana, com relatório comentado e auditoria mensal</a:t>
            </a:r>
            <a:endParaRPr lang="en-US" sz="11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7024" y="1737360"/>
            <a:ext cx="164592" cy="164592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6089904" y="1097280"/>
            <a:ext cx="2606040" cy="1481328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6089904" y="1097280"/>
            <a:ext cx="2606040" cy="54864"/>
          </a:xfrm>
          <a:prstGeom prst="rect">
            <a:avLst/>
          </a:prstGeom>
          <a:solidFill>
            <a:srgbClr val="C8106E"/>
          </a:solidFill>
          <a:ln/>
        </p:spPr>
        <p:txBody>
          <a:bodyPr/>
          <a:p/>
        </p:txBody>
      </p:sp>
      <p:sp>
        <p:nvSpPr>
          <p:cNvPr id="21" name="Text 16"/>
          <p:cNvSpPr/>
          <p:nvPr/>
        </p:nvSpPr>
        <p:spPr>
          <a:xfrm>
            <a:off x="6217920" y="120700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PARTIR DO MÊS 7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6217920" y="141732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analista para 20 fazendas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6217920" y="1755648"/>
            <a:ext cx="23682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Analistas online cobram, auditam, validam e interpretam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457200" y="2724912"/>
            <a:ext cx="8229600" cy="292608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25" name="Text 20"/>
          <p:cNvSpPr/>
          <p:nvPr/>
        </p:nvSpPr>
        <p:spPr>
          <a:xfrm>
            <a:off x="548640" y="272491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Primeiras fazendas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2468880" y="2724912"/>
            <a:ext cx="6172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Novos clientes de 200 a 2.000 cabeças, sem automação, indicados por técnicos e RTVs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457200" y="3044952"/>
            <a:ext cx="822960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8" name="Text 23"/>
          <p:cNvSpPr/>
          <p:nvPr/>
        </p:nvSpPr>
        <p:spPr>
          <a:xfrm>
            <a:off x="548640" y="304495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recebem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2468880" y="3044952"/>
            <a:ext cx="6172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Sistema, relatório semanal comentado, visita do técnico e auditoria mensal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457200" y="3364992"/>
            <a:ext cx="8229600" cy="292608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31" name="Text 26"/>
          <p:cNvSpPr/>
          <p:nvPr/>
        </p:nvSpPr>
        <p:spPr>
          <a:xfrm>
            <a:off x="548640" y="336499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Gatilho para analistas</a:t>
            </a:r>
            <a:endParaRPr lang="en-US" sz="1100" dirty="0"/>
          </a:p>
        </p:txBody>
      </p:sp>
      <p:sp>
        <p:nvSpPr>
          <p:cNvPr id="32" name="Text 27"/>
          <p:cNvSpPr/>
          <p:nvPr/>
        </p:nvSpPr>
        <p:spPr>
          <a:xfrm>
            <a:off x="2468880" y="3364992"/>
            <a:ext cx="6172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fazendas ativas e G2 aprovado: adesão, uso e recomendação</a:t>
            </a:r>
            <a:endParaRPr lang="en-US" sz="1050" dirty="0"/>
          </a:p>
        </p:txBody>
      </p:sp>
      <p:sp>
        <p:nvSpPr>
          <p:cNvPr id="33" name="Shape 28"/>
          <p:cNvSpPr/>
          <p:nvPr/>
        </p:nvSpPr>
        <p:spPr>
          <a:xfrm>
            <a:off x="457200" y="3685032"/>
            <a:ext cx="822960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4" name="Text 29"/>
          <p:cNvSpPr/>
          <p:nvPr/>
        </p:nvSpPr>
        <p:spPr>
          <a:xfrm>
            <a:off x="548640" y="368503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e preço</a:t>
            </a:r>
            <a:endParaRPr lang="en-US" sz="1100" dirty="0"/>
          </a:p>
        </p:txBody>
      </p:sp>
      <p:sp>
        <p:nvSpPr>
          <p:cNvPr id="35" name="Text 30"/>
          <p:cNvSpPr/>
          <p:nvPr/>
        </p:nvSpPr>
        <p:spPr>
          <a:xfrm>
            <a:off x="2468880" y="3685032"/>
            <a:ext cx="6172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GTM e monetização de 18 a 29/01/2027 (6.2 e 6.3); aprovação de 01 a 05/02 (7.0)</a:t>
            </a:r>
            <a:endParaRPr lang="en-US" sz="1050" dirty="0"/>
          </a:p>
        </p:txBody>
      </p:sp>
      <p:sp>
        <p:nvSpPr>
          <p:cNvPr id="36" name="Shape 31"/>
          <p:cNvSpPr/>
          <p:nvPr/>
        </p:nvSpPr>
        <p:spPr>
          <a:xfrm>
            <a:off x="457200" y="4005072"/>
            <a:ext cx="8229600" cy="292608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37" name="Text 32"/>
          <p:cNvSpPr/>
          <p:nvPr/>
        </p:nvSpPr>
        <p:spPr>
          <a:xfrm>
            <a:off x="548640" y="400507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Início do piloto</a:t>
            </a:r>
            <a:endParaRPr lang="en-US" sz="1100" dirty="0"/>
          </a:p>
        </p:txBody>
      </p:sp>
      <p:sp>
        <p:nvSpPr>
          <p:cNvPr id="38" name="Text 33"/>
          <p:cNvSpPr/>
          <p:nvPr/>
        </p:nvSpPr>
        <p:spPr>
          <a:xfrm>
            <a:off x="2468880" y="4005072"/>
            <a:ext cx="6172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abertura da safra de confinamento, alinhado à ocupação das fazendas</a:t>
            </a:r>
            <a:endParaRPr lang="en-US" sz="105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de Desenvolvimento de Confinadores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Comunidade, dados e reconhecimento: o modelo do Fazenda Nota 10 (2020), agora com sistema.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4398264"/>
            <a:ext cx="4572000" cy="7429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846320" y="6400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spc="150" kern="0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5  ·  MODELO DE NEGÓCIO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1097280"/>
            <a:ext cx="1298448" cy="118872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457200" y="1097280"/>
            <a:ext cx="1298448" cy="54864"/>
          </a:xfrm>
          <a:prstGeom prst="rect">
            <a:avLst/>
          </a:prstGeom>
          <a:solidFill>
            <a:srgbClr val="26668F"/>
          </a:solidFill>
          <a:ln/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548640" y="1225296"/>
            <a:ext cx="329184" cy="329184"/>
          </a:xfrm>
          <a:prstGeom prst="ellipse">
            <a:avLst/>
          </a:prstGeom>
          <a:solidFill>
            <a:srgbClr val="26668F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548640" y="12252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" y="1609344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66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Lançar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48640" y="1865376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Rotina no TN Manager Web</a:t>
            </a:r>
            <a:endParaRPr lang="en-US" sz="105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9072" y="1316736"/>
            <a:ext cx="128016" cy="128016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1847088" y="1097280"/>
            <a:ext cx="1298448" cy="118872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1847088" y="1097280"/>
            <a:ext cx="1298448" cy="54864"/>
          </a:xfrm>
          <a:prstGeom prst="rect">
            <a:avLst/>
          </a:prstGeom>
          <a:solidFill>
            <a:srgbClr val="26668F"/>
          </a:solidFill>
          <a:ln/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1938528" y="1225296"/>
            <a:ext cx="329184" cy="329184"/>
          </a:xfrm>
          <a:prstGeom prst="ellipse">
            <a:avLst/>
          </a:prstGeom>
          <a:solidFill>
            <a:srgbClr val="26668F"/>
          </a:solidFill>
          <a:ln/>
        </p:spPr>
        <p:txBody>
          <a:bodyPr/>
          <a:p/>
        </p:txBody>
      </p:sp>
      <p:sp>
        <p:nvSpPr>
          <p:cNvPr id="17" name="Text 13"/>
          <p:cNvSpPr/>
          <p:nvPr/>
        </p:nvSpPr>
        <p:spPr>
          <a:xfrm>
            <a:off x="1938528" y="12252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1938528" y="1609344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66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Analista online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1938528" y="1865376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Cobra, audita e valida</a:t>
            </a:r>
            <a:endParaRPr lang="en-US" sz="105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0" y="1316736"/>
            <a:ext cx="128016" cy="128016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3236976" y="1097280"/>
            <a:ext cx="1298448" cy="118872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22" name="Shape 17"/>
          <p:cNvSpPr/>
          <p:nvPr/>
        </p:nvSpPr>
        <p:spPr>
          <a:xfrm>
            <a:off x="3236976" y="1097280"/>
            <a:ext cx="1298448" cy="54864"/>
          </a:xfrm>
          <a:prstGeom prst="rect">
            <a:avLst/>
          </a:prstGeom>
          <a:solidFill>
            <a:srgbClr val="1B3A8C"/>
          </a:solidFill>
          <a:ln/>
        </p:spPr>
        <p:txBody>
          <a:bodyPr/>
          <a:p/>
        </p:txBody>
      </p:sp>
      <p:sp>
        <p:nvSpPr>
          <p:cNvPr id="23" name="Shape 18"/>
          <p:cNvSpPr/>
          <p:nvPr/>
        </p:nvSpPr>
        <p:spPr>
          <a:xfrm>
            <a:off x="3328416" y="1225296"/>
            <a:ext cx="329184" cy="329184"/>
          </a:xfrm>
          <a:prstGeom prst="ellipse">
            <a:avLst/>
          </a:prstGeom>
          <a:solidFill>
            <a:srgbClr val="1B3A8C"/>
          </a:solidFill>
          <a:ln/>
        </p:spPr>
        <p:txBody>
          <a:bodyPr/>
          <a:p/>
        </p:txBody>
      </p:sp>
      <p:sp>
        <p:nvSpPr>
          <p:cNvPr id="24" name="Text 19"/>
          <p:cNvSpPr/>
          <p:nvPr/>
        </p:nvSpPr>
        <p:spPr>
          <a:xfrm>
            <a:off x="3328416" y="12252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3328416" y="1609344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3328416" y="1865376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da semana</a:t>
            </a:r>
            <a:endParaRPr lang="en-US" sz="1050" dirty="0"/>
          </a:p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8848" y="1316736"/>
            <a:ext cx="128016" cy="128016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4626864" y="1097280"/>
            <a:ext cx="1298448" cy="118872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29" name="Shape 23"/>
          <p:cNvSpPr/>
          <p:nvPr/>
        </p:nvSpPr>
        <p:spPr>
          <a:xfrm>
            <a:off x="4626864" y="1097280"/>
            <a:ext cx="1298448" cy="54864"/>
          </a:xfrm>
          <a:prstGeom prst="rect">
            <a:avLst/>
          </a:prstGeom>
          <a:solidFill>
            <a:srgbClr val="1B3A8C"/>
          </a:solidFill>
          <a:ln/>
        </p:spPr>
        <p:txBody>
          <a:bodyPr/>
          <a:p/>
        </p:txBody>
      </p:sp>
      <p:sp>
        <p:nvSpPr>
          <p:cNvPr id="30" name="Shape 24"/>
          <p:cNvSpPr/>
          <p:nvPr/>
        </p:nvSpPr>
        <p:spPr>
          <a:xfrm>
            <a:off x="4718304" y="1225296"/>
            <a:ext cx="329184" cy="329184"/>
          </a:xfrm>
          <a:prstGeom prst="ellipse">
            <a:avLst/>
          </a:prstGeom>
          <a:solidFill>
            <a:srgbClr val="1B3A8C"/>
          </a:solidFill>
          <a:ln/>
        </p:spPr>
        <p:txBody>
          <a:bodyPr/>
          <a:p/>
        </p:txBody>
      </p:sp>
      <p:sp>
        <p:nvSpPr>
          <p:cNvPr id="31" name="Text 25"/>
          <p:cNvSpPr/>
          <p:nvPr/>
        </p:nvSpPr>
        <p:spPr>
          <a:xfrm>
            <a:off x="4718304" y="12252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2" name="Text 26"/>
          <p:cNvSpPr/>
          <p:nvPr/>
        </p:nvSpPr>
        <p:spPr>
          <a:xfrm>
            <a:off x="4718304" y="1609344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Benchmarking</a:t>
            </a:r>
            <a:endParaRPr lang="en-US" sz="1200" dirty="0"/>
          </a:p>
        </p:txBody>
      </p:sp>
      <p:sp>
        <p:nvSpPr>
          <p:cNvPr id="33" name="Text 27"/>
          <p:cNvSpPr/>
          <p:nvPr/>
        </p:nvSpPr>
        <p:spPr>
          <a:xfrm>
            <a:off x="4718304" y="1865376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Fazenda x grupo</a:t>
            </a:r>
            <a:endParaRPr lang="en-US" sz="1050" dirty="0"/>
          </a:p>
        </p:txBody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8736" y="1316736"/>
            <a:ext cx="128016" cy="128016"/>
          </a:xfrm>
          <a:prstGeom prst="rect">
            <a:avLst/>
          </a:prstGeom>
        </p:spPr>
      </p:pic>
      <p:sp>
        <p:nvSpPr>
          <p:cNvPr id="35" name="Shape 28"/>
          <p:cNvSpPr/>
          <p:nvPr/>
        </p:nvSpPr>
        <p:spPr>
          <a:xfrm>
            <a:off x="6016752" y="1097280"/>
            <a:ext cx="1298448" cy="118872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36" name="Shape 29"/>
          <p:cNvSpPr/>
          <p:nvPr/>
        </p:nvSpPr>
        <p:spPr>
          <a:xfrm>
            <a:off x="6016752" y="1097280"/>
            <a:ext cx="1298448" cy="54864"/>
          </a:xfrm>
          <a:prstGeom prst="rect">
            <a:avLst/>
          </a:prstGeom>
          <a:solidFill>
            <a:srgbClr val="C8106E"/>
          </a:solidFill>
          <a:ln/>
        </p:spPr>
        <p:txBody>
          <a:bodyPr/>
          <a:p/>
        </p:txBody>
      </p:sp>
      <p:sp>
        <p:nvSpPr>
          <p:cNvPr id="37" name="Shape 30"/>
          <p:cNvSpPr/>
          <p:nvPr/>
        </p:nvSpPr>
        <p:spPr>
          <a:xfrm>
            <a:off x="6108192" y="1225296"/>
            <a:ext cx="329184" cy="329184"/>
          </a:xfrm>
          <a:prstGeom prst="ellipse">
            <a:avLst/>
          </a:prstGeom>
          <a:solidFill>
            <a:srgbClr val="C8106E"/>
          </a:solidFill>
          <a:ln/>
        </p:spPr>
        <p:txBody>
          <a:bodyPr/>
          <a:p/>
        </p:txBody>
      </p:sp>
      <p:sp>
        <p:nvSpPr>
          <p:cNvPr id="38" name="Text 31"/>
          <p:cNvSpPr/>
          <p:nvPr/>
        </p:nvSpPr>
        <p:spPr>
          <a:xfrm>
            <a:off x="6108192" y="12252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9" name="Text 32"/>
          <p:cNvSpPr/>
          <p:nvPr/>
        </p:nvSpPr>
        <p:spPr>
          <a:xfrm>
            <a:off x="6108192" y="1609344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Safra</a:t>
            </a:r>
            <a:endParaRPr lang="en-US" sz="1200" dirty="0"/>
          </a:p>
        </p:txBody>
      </p:sp>
      <p:sp>
        <p:nvSpPr>
          <p:cNvPr id="40" name="Text 33"/>
          <p:cNvSpPr/>
          <p:nvPr/>
        </p:nvSpPr>
        <p:spPr>
          <a:xfrm>
            <a:off x="6108192" y="1865376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e evolução</a:t>
            </a:r>
            <a:endParaRPr lang="en-US" sz="1050" dirty="0"/>
          </a:p>
        </p:txBody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8624" y="1316736"/>
            <a:ext cx="128016" cy="128016"/>
          </a:xfrm>
          <a:prstGeom prst="rect">
            <a:avLst/>
          </a:prstGeom>
        </p:spPr>
      </p:pic>
      <p:sp>
        <p:nvSpPr>
          <p:cNvPr id="42" name="Shape 34"/>
          <p:cNvSpPr/>
          <p:nvPr/>
        </p:nvSpPr>
        <p:spPr>
          <a:xfrm>
            <a:off x="7406640" y="1097280"/>
            <a:ext cx="1298448" cy="118872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43" name="Shape 35"/>
          <p:cNvSpPr/>
          <p:nvPr/>
        </p:nvSpPr>
        <p:spPr>
          <a:xfrm>
            <a:off x="7406640" y="1097280"/>
            <a:ext cx="1298448" cy="54864"/>
          </a:xfrm>
          <a:prstGeom prst="rect">
            <a:avLst/>
          </a:prstGeom>
          <a:solidFill>
            <a:srgbClr val="C8106E"/>
          </a:solidFill>
          <a:ln/>
        </p:spPr>
        <p:txBody>
          <a:bodyPr/>
          <a:p/>
        </p:txBody>
      </p:sp>
      <p:sp>
        <p:nvSpPr>
          <p:cNvPr id="44" name="Shape 36"/>
          <p:cNvSpPr/>
          <p:nvPr/>
        </p:nvSpPr>
        <p:spPr>
          <a:xfrm>
            <a:off x="7498080" y="1225296"/>
            <a:ext cx="329184" cy="329184"/>
          </a:xfrm>
          <a:prstGeom prst="ellipse">
            <a:avLst/>
          </a:prstGeom>
          <a:solidFill>
            <a:srgbClr val="C8106E"/>
          </a:solidFill>
          <a:ln/>
        </p:spPr>
        <p:txBody>
          <a:bodyPr/>
          <a:p/>
        </p:txBody>
      </p:sp>
      <p:sp>
        <p:nvSpPr>
          <p:cNvPr id="45" name="Text 37"/>
          <p:cNvSpPr/>
          <p:nvPr/>
        </p:nvSpPr>
        <p:spPr>
          <a:xfrm>
            <a:off x="7498080" y="12252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46" name="Text 38"/>
          <p:cNvSpPr/>
          <p:nvPr/>
        </p:nvSpPr>
        <p:spPr>
          <a:xfrm>
            <a:off x="7498080" y="1609344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 anual</a:t>
            </a:r>
            <a:endParaRPr lang="en-US" sz="1200" dirty="0"/>
          </a:p>
        </p:txBody>
      </p:sp>
      <p:sp>
        <p:nvSpPr>
          <p:cNvPr id="47" name="Text 39"/>
          <p:cNvSpPr/>
          <p:nvPr/>
        </p:nvSpPr>
        <p:spPr>
          <a:xfrm>
            <a:off x="7498080" y="1865376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e premiação</a:t>
            </a:r>
            <a:endParaRPr lang="en-US" sz="1050" dirty="0"/>
          </a:p>
        </p:txBody>
      </p:sp>
      <p:sp>
        <p:nvSpPr>
          <p:cNvPr id="48" name="Shape 40"/>
          <p:cNvSpPr/>
          <p:nvPr/>
        </p:nvSpPr>
        <p:spPr>
          <a:xfrm>
            <a:off x="8421624" y="2286000"/>
            <a:ext cx="914" cy="201168"/>
          </a:xfrm>
          <a:prstGeom prst="line">
            <a:avLst/>
          </a:prstGeom>
          <a:noFill/>
          <a:ln w="15875">
            <a:solidFill>
              <a:srgbClr val="C8106E"/>
            </a:solidFill>
            <a:prstDash val="dash"/>
          </a:ln>
        </p:spPr>
        <p:txBody>
          <a:bodyPr/>
          <a:p/>
        </p:txBody>
      </p:sp>
      <p:sp>
        <p:nvSpPr>
          <p:cNvPr id="49" name="Shape 41"/>
          <p:cNvSpPr/>
          <p:nvPr/>
        </p:nvSpPr>
        <p:spPr>
          <a:xfrm>
            <a:off x="1106424" y="2487168"/>
            <a:ext cx="7315200" cy="914"/>
          </a:xfrm>
          <a:prstGeom prst="line">
            <a:avLst/>
          </a:prstGeom>
          <a:noFill/>
          <a:ln w="15875">
            <a:solidFill>
              <a:srgbClr val="C8106E"/>
            </a:solidFill>
            <a:prstDash val="dash"/>
          </a:ln>
        </p:spPr>
        <p:txBody>
          <a:bodyPr/>
          <a:p/>
        </p:txBody>
      </p:sp>
      <p:sp>
        <p:nvSpPr>
          <p:cNvPr id="50" name="Shape 42"/>
          <p:cNvSpPr/>
          <p:nvPr/>
        </p:nvSpPr>
        <p:spPr>
          <a:xfrm>
            <a:off x="1106424" y="2286000"/>
            <a:ext cx="914" cy="201168"/>
          </a:xfrm>
          <a:prstGeom prst="line">
            <a:avLst/>
          </a:prstGeom>
          <a:noFill/>
          <a:ln w="15875">
            <a:solidFill>
              <a:srgbClr val="C8106E"/>
            </a:solidFill>
            <a:prstDash val="dash"/>
          </a:ln>
        </p:spPr>
        <p:txBody>
          <a:bodyPr/>
          <a:p/>
        </p:txBody>
      </p:sp>
      <p:sp>
        <p:nvSpPr>
          <p:cNvPr id="51" name="Text 43"/>
          <p:cNvSpPr/>
          <p:nvPr/>
        </p:nvSpPr>
        <p:spPr>
          <a:xfrm>
            <a:off x="2743200" y="2386584"/>
            <a:ext cx="365760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evento atrai novas fazendas e o ciclo recomeça</a:t>
            </a:r>
            <a:endParaRPr lang="en-US" sz="1050" dirty="0"/>
          </a:p>
        </p:txBody>
      </p:sp>
      <p:sp>
        <p:nvSpPr>
          <p:cNvPr id="52" name="Shape 44"/>
          <p:cNvSpPr/>
          <p:nvPr/>
        </p:nvSpPr>
        <p:spPr>
          <a:xfrm>
            <a:off x="457200" y="2743200"/>
            <a:ext cx="2633472" cy="310896"/>
          </a:xfrm>
          <a:prstGeom prst="rect">
            <a:avLst/>
          </a:prstGeom>
          <a:solidFill>
            <a:srgbClr val="26668F"/>
          </a:solidFill>
          <a:ln/>
        </p:spPr>
        <p:txBody>
          <a:bodyPr/>
          <a:p/>
        </p:txBody>
      </p:sp>
      <p:sp>
        <p:nvSpPr>
          <p:cNvPr id="53" name="Text 45"/>
          <p:cNvSpPr/>
          <p:nvPr/>
        </p:nvSpPr>
        <p:spPr>
          <a:xfrm>
            <a:off x="548640" y="2743200"/>
            <a:ext cx="2450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Analistas online</a:t>
            </a:r>
            <a:endParaRPr lang="en-US" sz="1200" dirty="0"/>
          </a:p>
        </p:txBody>
      </p:sp>
      <p:sp>
        <p:nvSpPr>
          <p:cNvPr id="54" name="Shape 46"/>
          <p:cNvSpPr/>
          <p:nvPr/>
        </p:nvSpPr>
        <p:spPr>
          <a:xfrm>
            <a:off x="457200" y="3054096"/>
            <a:ext cx="2633472" cy="128016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55" name="Text 47"/>
          <p:cNvSpPr/>
          <p:nvPr/>
        </p:nvSpPr>
        <p:spPr>
          <a:xfrm>
            <a:off x="548640" y="3127248"/>
            <a:ext cx="24505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Cobram lançamentos</a:t>
            </a:r>
            <a:endParaRPr lang="en-US" sz="11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Auditam e validam os dados</a:t>
            </a:r>
            <a:endParaRPr lang="en-US" sz="11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Interpretam com o gestor</a:t>
            </a:r>
            <a:endParaRPr lang="en-US" sz="11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Tiram dúvidas</a:t>
            </a:r>
            <a:endParaRPr lang="en-US" sz="1100" dirty="0"/>
          </a:p>
        </p:txBody>
      </p:sp>
      <p:sp>
        <p:nvSpPr>
          <p:cNvPr id="56" name="Shape 48"/>
          <p:cNvSpPr/>
          <p:nvPr/>
        </p:nvSpPr>
        <p:spPr>
          <a:xfrm>
            <a:off x="3246120" y="2743200"/>
            <a:ext cx="2633472" cy="310896"/>
          </a:xfrm>
          <a:prstGeom prst="rect">
            <a:avLst/>
          </a:prstGeom>
          <a:solidFill>
            <a:srgbClr val="1B3A8C"/>
          </a:solidFill>
          <a:ln/>
        </p:spPr>
        <p:txBody>
          <a:bodyPr/>
          <a:p/>
        </p:txBody>
      </p:sp>
      <p:sp>
        <p:nvSpPr>
          <p:cNvPr id="57" name="Text 49"/>
          <p:cNvSpPr/>
          <p:nvPr/>
        </p:nvSpPr>
        <p:spPr>
          <a:xfrm>
            <a:off x="3337560" y="2743200"/>
            <a:ext cx="2450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fazenda ganha</a:t>
            </a:r>
            <a:endParaRPr lang="en-US" sz="1200" dirty="0"/>
          </a:p>
        </p:txBody>
      </p:sp>
      <p:sp>
        <p:nvSpPr>
          <p:cNvPr id="58" name="Shape 50"/>
          <p:cNvSpPr/>
          <p:nvPr/>
        </p:nvSpPr>
        <p:spPr>
          <a:xfrm>
            <a:off x="3246120" y="3054096"/>
            <a:ext cx="2633472" cy="128016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59" name="Text 51"/>
          <p:cNvSpPr/>
          <p:nvPr/>
        </p:nvSpPr>
        <p:spPr>
          <a:xfrm>
            <a:off x="3337560" y="3127248"/>
            <a:ext cx="24505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 para decidir</a:t>
            </a:r>
            <a:endParaRPr lang="en-US" sz="11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Evolução safra a safra</a:t>
            </a:r>
            <a:endParaRPr lang="en-US" sz="11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Reconhecimento no evento</a:t>
            </a:r>
            <a:endParaRPr lang="en-US" sz="11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 com outros confinadores</a:t>
            </a:r>
            <a:endParaRPr lang="en-US" sz="1100" dirty="0"/>
          </a:p>
        </p:txBody>
      </p:sp>
      <p:sp>
        <p:nvSpPr>
          <p:cNvPr id="60" name="Shape 52"/>
          <p:cNvSpPr/>
          <p:nvPr/>
        </p:nvSpPr>
        <p:spPr>
          <a:xfrm>
            <a:off x="6035040" y="2743200"/>
            <a:ext cx="2633472" cy="310896"/>
          </a:xfrm>
          <a:prstGeom prst="rect">
            <a:avLst/>
          </a:prstGeom>
          <a:solidFill>
            <a:srgbClr val="C8106E"/>
          </a:solidFill>
          <a:ln/>
        </p:spPr>
        <p:txBody>
          <a:bodyPr/>
          <a:p/>
        </p:txBody>
      </p:sp>
      <p:sp>
        <p:nvSpPr>
          <p:cNvPr id="61" name="Text 53"/>
          <p:cNvSpPr/>
          <p:nvPr/>
        </p:nvSpPr>
        <p:spPr>
          <a:xfrm>
            <a:off x="6126480" y="2743200"/>
            <a:ext cx="2450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TN ganha</a:t>
            </a:r>
            <a:endParaRPr lang="en-US" sz="1200" dirty="0"/>
          </a:p>
        </p:txBody>
      </p:sp>
      <p:sp>
        <p:nvSpPr>
          <p:cNvPr id="62" name="Shape 54"/>
          <p:cNvSpPr/>
          <p:nvPr/>
        </p:nvSpPr>
        <p:spPr>
          <a:xfrm>
            <a:off x="6035040" y="3054096"/>
            <a:ext cx="2633472" cy="128016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63" name="Text 55"/>
          <p:cNvSpPr/>
          <p:nvPr/>
        </p:nvSpPr>
        <p:spPr>
          <a:xfrm>
            <a:off x="6126480" y="3127248"/>
            <a:ext cx="24505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Fidelização pelo grupo</a:t>
            </a:r>
            <a:endParaRPr lang="en-US" sz="11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dados própria</a:t>
            </a:r>
            <a:endParaRPr lang="en-US" sz="11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Novas fazendas querendo entrar</a:t>
            </a:r>
            <a:endParaRPr lang="en-US" sz="11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Roadmap: alinhado ao cronograma do projeto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fev/2027, datas do cronograma (itens 2.1 a 7.0). Depois, datas indicativas, fechadas no Roadmap (6.1).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4398264"/>
            <a:ext cx="4572000" cy="7429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846320" y="6400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spc="150" kern="0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6  ·  PLANO E DECISÕES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3246120" y="1051560"/>
            <a:ext cx="136017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606290" y="1051560"/>
            <a:ext cx="408051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3246120" y="1234440"/>
            <a:ext cx="34004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3586163" y="1234440"/>
            <a:ext cx="34004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586163" y="1417320"/>
            <a:ext cx="914" cy="2532888"/>
          </a:xfrm>
          <a:prstGeom prst="line">
            <a:avLst/>
          </a:prstGeom>
          <a:noFill/>
          <a:ln w="6350">
            <a:solidFill>
              <a:srgbClr val="ECEFF2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3926205" y="1234440"/>
            <a:ext cx="34004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926205" y="1417320"/>
            <a:ext cx="914" cy="2532888"/>
          </a:xfrm>
          <a:prstGeom prst="line">
            <a:avLst/>
          </a:prstGeom>
          <a:noFill/>
          <a:ln w="6350">
            <a:solidFill>
              <a:srgbClr val="ECEFF2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4266248" y="1234440"/>
            <a:ext cx="34004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266248" y="1417320"/>
            <a:ext cx="914" cy="2532888"/>
          </a:xfrm>
          <a:prstGeom prst="line">
            <a:avLst/>
          </a:prstGeom>
          <a:noFill/>
          <a:ln w="6350">
            <a:solidFill>
              <a:srgbClr val="ECEFF2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4606290" y="1234440"/>
            <a:ext cx="34004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606290" y="1417320"/>
            <a:ext cx="914" cy="2532888"/>
          </a:xfrm>
          <a:prstGeom prst="line">
            <a:avLst/>
          </a:prstGeom>
          <a:noFill/>
          <a:ln w="6350">
            <a:solidFill>
              <a:srgbClr val="ECEFF2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4946333" y="1234440"/>
            <a:ext cx="34004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fev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4946333" y="1417320"/>
            <a:ext cx="914" cy="2532888"/>
          </a:xfrm>
          <a:prstGeom prst="line">
            <a:avLst/>
          </a:prstGeom>
          <a:noFill/>
          <a:ln w="6350">
            <a:solidFill>
              <a:srgbClr val="ECEFF2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5286375" y="1234440"/>
            <a:ext cx="34004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5286375" y="1417320"/>
            <a:ext cx="914" cy="2532888"/>
          </a:xfrm>
          <a:prstGeom prst="line">
            <a:avLst/>
          </a:prstGeom>
          <a:noFill/>
          <a:ln w="6350">
            <a:solidFill>
              <a:srgbClr val="ECEFF2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5626417" y="1234440"/>
            <a:ext cx="34004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5626417" y="1417320"/>
            <a:ext cx="914" cy="2532888"/>
          </a:xfrm>
          <a:prstGeom prst="line">
            <a:avLst/>
          </a:prstGeom>
          <a:noFill/>
          <a:ln w="6350">
            <a:solidFill>
              <a:srgbClr val="ECEFF2"/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5966460" y="1234440"/>
            <a:ext cx="34004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5966460" y="1417320"/>
            <a:ext cx="914" cy="2532888"/>
          </a:xfrm>
          <a:prstGeom prst="line">
            <a:avLst/>
          </a:prstGeom>
          <a:noFill/>
          <a:ln w="6350">
            <a:solidFill>
              <a:srgbClr val="ECEFF2"/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6306503" y="1234440"/>
            <a:ext cx="34004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6306503" y="1417320"/>
            <a:ext cx="914" cy="2532888"/>
          </a:xfrm>
          <a:prstGeom prst="line">
            <a:avLst/>
          </a:prstGeom>
          <a:noFill/>
          <a:ln w="6350">
            <a:solidFill>
              <a:srgbClr val="ECEFF2"/>
            </a:solidFill>
            <a:prstDash val="solid"/>
          </a:ln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6646545" y="1234440"/>
            <a:ext cx="34004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646545" y="1417320"/>
            <a:ext cx="914" cy="2532888"/>
          </a:xfrm>
          <a:prstGeom prst="line">
            <a:avLst/>
          </a:prstGeom>
          <a:noFill/>
          <a:ln w="6350">
            <a:solidFill>
              <a:srgbClr val="ECEFF2"/>
            </a:solidFill>
            <a:prstDash val="solid"/>
          </a:ln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6986588" y="1234440"/>
            <a:ext cx="34004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6986588" y="1417320"/>
            <a:ext cx="914" cy="2532888"/>
          </a:xfrm>
          <a:prstGeom prst="line">
            <a:avLst/>
          </a:prstGeom>
          <a:noFill/>
          <a:ln w="6350">
            <a:solidFill>
              <a:srgbClr val="ECEFF2"/>
            </a:solidFill>
            <a:prstDash val="solid"/>
          </a:ln>
        </p:spPr>
        <p:txBody>
          <a:bodyPr/>
          <a:p/>
        </p:txBody>
      </p:sp>
      <p:sp>
        <p:nvSpPr>
          <p:cNvPr id="32" name="Text 29"/>
          <p:cNvSpPr/>
          <p:nvPr/>
        </p:nvSpPr>
        <p:spPr>
          <a:xfrm>
            <a:off x="7326630" y="1234440"/>
            <a:ext cx="34004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7326630" y="1417320"/>
            <a:ext cx="914" cy="2532888"/>
          </a:xfrm>
          <a:prstGeom prst="line">
            <a:avLst/>
          </a:prstGeom>
          <a:noFill/>
          <a:ln w="6350">
            <a:solidFill>
              <a:srgbClr val="ECEFF2"/>
            </a:solidFill>
            <a:prstDash val="solid"/>
          </a:ln>
        </p:spPr>
        <p:txBody>
          <a:bodyPr/>
          <a:p/>
        </p:txBody>
      </p:sp>
      <p:sp>
        <p:nvSpPr>
          <p:cNvPr id="34" name="Text 31"/>
          <p:cNvSpPr/>
          <p:nvPr/>
        </p:nvSpPr>
        <p:spPr>
          <a:xfrm>
            <a:off x="7666673" y="1234440"/>
            <a:ext cx="34004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7666673" y="1417320"/>
            <a:ext cx="914" cy="2532888"/>
          </a:xfrm>
          <a:prstGeom prst="line">
            <a:avLst/>
          </a:prstGeom>
          <a:noFill/>
          <a:ln w="6350">
            <a:solidFill>
              <a:srgbClr val="ECEFF2"/>
            </a:solidFill>
            <a:prstDash val="solid"/>
          </a:ln>
        </p:spPr>
        <p:txBody>
          <a:bodyPr/>
          <a:p/>
        </p:txBody>
      </p:sp>
      <p:sp>
        <p:nvSpPr>
          <p:cNvPr id="36" name="Text 33"/>
          <p:cNvSpPr/>
          <p:nvPr/>
        </p:nvSpPr>
        <p:spPr>
          <a:xfrm>
            <a:off x="8006715" y="1234440"/>
            <a:ext cx="34004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8006715" y="1417320"/>
            <a:ext cx="914" cy="2532888"/>
          </a:xfrm>
          <a:prstGeom prst="line">
            <a:avLst/>
          </a:prstGeom>
          <a:noFill/>
          <a:ln w="6350">
            <a:solidFill>
              <a:srgbClr val="ECEFF2"/>
            </a:solidFill>
            <a:prstDash val="solid"/>
          </a:ln>
        </p:spPr>
        <p:txBody>
          <a:bodyPr/>
          <a:p/>
        </p:txBody>
      </p:sp>
      <p:sp>
        <p:nvSpPr>
          <p:cNvPr id="38" name="Text 35"/>
          <p:cNvSpPr/>
          <p:nvPr/>
        </p:nvSpPr>
        <p:spPr>
          <a:xfrm>
            <a:off x="8346758" y="1234440"/>
            <a:ext cx="34004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8346758" y="1417320"/>
            <a:ext cx="914" cy="2532888"/>
          </a:xfrm>
          <a:prstGeom prst="line">
            <a:avLst/>
          </a:prstGeom>
          <a:noFill/>
          <a:ln w="6350">
            <a:solidFill>
              <a:srgbClr val="ECEFF2"/>
            </a:solidFill>
            <a:prstDash val="solid"/>
          </a:ln>
        </p:spPr>
        <p:txBody>
          <a:bodyPr/>
          <a:p/>
        </p:txBody>
      </p:sp>
      <p:sp>
        <p:nvSpPr>
          <p:cNvPr id="40" name="Shape 37"/>
          <p:cNvSpPr/>
          <p:nvPr/>
        </p:nvSpPr>
        <p:spPr>
          <a:xfrm>
            <a:off x="4606290" y="1051560"/>
            <a:ext cx="914" cy="2898648"/>
          </a:xfrm>
          <a:prstGeom prst="line">
            <a:avLst/>
          </a:prstGeom>
          <a:noFill/>
          <a:ln w="9525">
            <a:solidFill>
              <a:srgbClr val="D9DEE3"/>
            </a:solidFill>
            <a:prstDash val="solid"/>
          </a:ln>
        </p:spPr>
        <p:txBody>
          <a:bodyPr/>
          <a:p/>
        </p:txBody>
      </p:sp>
      <p:sp>
        <p:nvSpPr>
          <p:cNvPr id="41" name="Shape 38"/>
          <p:cNvSpPr/>
          <p:nvPr/>
        </p:nvSpPr>
        <p:spPr>
          <a:xfrm>
            <a:off x="5004140" y="1417320"/>
            <a:ext cx="914" cy="2532888"/>
          </a:xfrm>
          <a:prstGeom prst="line">
            <a:avLst/>
          </a:prstGeom>
          <a:noFill/>
          <a:ln w="9525">
            <a:solidFill>
              <a:srgbClr val="C8106E"/>
            </a:solidFill>
            <a:prstDash val="dash"/>
          </a:ln>
        </p:spPr>
        <p:txBody>
          <a:bodyPr/>
          <a:p/>
        </p:txBody>
      </p:sp>
      <p:sp>
        <p:nvSpPr>
          <p:cNvPr id="42" name="Text 39"/>
          <p:cNvSpPr/>
          <p:nvPr/>
        </p:nvSpPr>
        <p:spPr>
          <a:xfrm>
            <a:off x="457200" y="146304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Business case e benchmark</a:t>
            </a:r>
            <a:endParaRPr lang="en-US" sz="950" dirty="0"/>
          </a:p>
        </p:txBody>
      </p:sp>
      <p:sp>
        <p:nvSpPr>
          <p:cNvPr id="43" name="Text 40"/>
          <p:cNvSpPr/>
          <p:nvPr/>
        </p:nvSpPr>
        <p:spPr>
          <a:xfrm>
            <a:off x="2423160" y="1463040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Rodrigo</a:t>
            </a:r>
            <a:endParaRPr lang="en-US" sz="800" dirty="0"/>
          </a:p>
        </p:txBody>
      </p:sp>
      <p:sp>
        <p:nvSpPr>
          <p:cNvPr id="44" name="Shape 41"/>
          <p:cNvSpPr/>
          <p:nvPr/>
        </p:nvSpPr>
        <p:spPr>
          <a:xfrm>
            <a:off x="3314128" y="1490472"/>
            <a:ext cx="523665" cy="173736"/>
          </a:xfrm>
          <a:prstGeom prst="roundRect">
            <a:avLst>
              <a:gd name="adj" fmla="val 21053"/>
            </a:avLst>
          </a:prstGeom>
          <a:solidFill>
            <a:srgbClr val="26668F"/>
          </a:solidFill>
          <a:ln/>
        </p:spPr>
        <p:txBody>
          <a:bodyPr/>
          <a:p/>
        </p:txBody>
      </p:sp>
      <p:sp>
        <p:nvSpPr>
          <p:cNvPr id="45" name="Text 42"/>
          <p:cNvSpPr/>
          <p:nvPr/>
        </p:nvSpPr>
        <p:spPr>
          <a:xfrm>
            <a:off x="3874370" y="1481328"/>
            <a:ext cx="914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66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07/09 a 23/10</a:t>
            </a:r>
            <a:endParaRPr lang="en-US" sz="850" dirty="0"/>
          </a:p>
        </p:txBody>
      </p:sp>
      <p:sp>
        <p:nvSpPr>
          <p:cNvPr id="46" name="Text 43"/>
          <p:cNvSpPr/>
          <p:nvPr/>
        </p:nvSpPr>
        <p:spPr>
          <a:xfrm>
            <a:off x="457200" y="170992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Formulário com Kátia Sato</a:t>
            </a:r>
            <a:endParaRPr lang="en-US" sz="950" dirty="0"/>
          </a:p>
        </p:txBody>
      </p:sp>
      <p:sp>
        <p:nvSpPr>
          <p:cNvPr id="47" name="Text 44"/>
          <p:cNvSpPr/>
          <p:nvPr/>
        </p:nvSpPr>
        <p:spPr>
          <a:xfrm>
            <a:off x="2423160" y="1709928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Rodrigo e Kátia</a:t>
            </a:r>
            <a:endParaRPr lang="en-US" sz="800" dirty="0"/>
          </a:p>
        </p:txBody>
      </p:sp>
      <p:sp>
        <p:nvSpPr>
          <p:cNvPr id="48" name="Shape 45"/>
          <p:cNvSpPr/>
          <p:nvPr/>
        </p:nvSpPr>
        <p:spPr>
          <a:xfrm>
            <a:off x="3790188" y="1737360"/>
            <a:ext cx="204026" cy="173736"/>
          </a:xfrm>
          <a:prstGeom prst="roundRect">
            <a:avLst>
              <a:gd name="adj" fmla="val 21053"/>
            </a:avLst>
          </a:prstGeom>
          <a:solidFill>
            <a:srgbClr val="26668F"/>
          </a:solidFill>
          <a:ln/>
        </p:spPr>
        <p:txBody>
          <a:bodyPr/>
          <a:p/>
        </p:txBody>
      </p:sp>
      <p:sp>
        <p:nvSpPr>
          <p:cNvPr id="49" name="Text 46"/>
          <p:cNvSpPr/>
          <p:nvPr/>
        </p:nvSpPr>
        <p:spPr>
          <a:xfrm>
            <a:off x="4030790" y="1728216"/>
            <a:ext cx="914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66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19/10 a 06/11</a:t>
            </a:r>
            <a:endParaRPr lang="en-US" sz="850" dirty="0"/>
          </a:p>
        </p:txBody>
      </p:sp>
      <p:sp>
        <p:nvSpPr>
          <p:cNvPr id="50" name="Text 47"/>
          <p:cNvSpPr/>
          <p:nvPr/>
        </p:nvSpPr>
        <p:spPr>
          <a:xfrm>
            <a:off x="457200" y="195681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Pesquisa com 30 fazendas</a:t>
            </a:r>
            <a:endParaRPr lang="en-US" sz="950" dirty="0"/>
          </a:p>
        </p:txBody>
      </p:sp>
      <p:sp>
        <p:nvSpPr>
          <p:cNvPr id="51" name="Text 48"/>
          <p:cNvSpPr/>
          <p:nvPr/>
        </p:nvSpPr>
        <p:spPr>
          <a:xfrm>
            <a:off x="2423160" y="1956816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Rodrigo e RTVs</a:t>
            </a:r>
            <a:endParaRPr lang="en-US" sz="800" dirty="0"/>
          </a:p>
        </p:txBody>
      </p:sp>
      <p:sp>
        <p:nvSpPr>
          <p:cNvPr id="52" name="Shape 49"/>
          <p:cNvSpPr/>
          <p:nvPr/>
        </p:nvSpPr>
        <p:spPr>
          <a:xfrm>
            <a:off x="4018016" y="1984248"/>
            <a:ext cx="292437" cy="173736"/>
          </a:xfrm>
          <a:prstGeom prst="roundRect">
            <a:avLst>
              <a:gd name="adj" fmla="val 21053"/>
            </a:avLst>
          </a:prstGeom>
          <a:solidFill>
            <a:srgbClr val="C8106E"/>
          </a:solidFill>
          <a:ln/>
        </p:spPr>
        <p:txBody>
          <a:bodyPr/>
          <a:p/>
        </p:txBody>
      </p:sp>
      <p:sp>
        <p:nvSpPr>
          <p:cNvPr id="53" name="Text 50"/>
          <p:cNvSpPr/>
          <p:nvPr/>
        </p:nvSpPr>
        <p:spPr>
          <a:xfrm>
            <a:off x="4347029" y="1975104"/>
            <a:ext cx="914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09/11 a 04/12</a:t>
            </a:r>
            <a:endParaRPr lang="en-US" sz="850" dirty="0"/>
          </a:p>
        </p:txBody>
      </p:sp>
      <p:sp>
        <p:nvSpPr>
          <p:cNvPr id="54" name="Text 51"/>
          <p:cNvSpPr/>
          <p:nvPr/>
        </p:nvSpPr>
        <p:spPr>
          <a:xfrm>
            <a:off x="457200" y="220370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Imersão técnica Dreamer</a:t>
            </a:r>
            <a:endParaRPr lang="en-US" sz="950" dirty="0"/>
          </a:p>
        </p:txBody>
      </p:sp>
      <p:sp>
        <p:nvSpPr>
          <p:cNvPr id="55" name="Text 52"/>
          <p:cNvSpPr/>
          <p:nvPr/>
        </p:nvSpPr>
        <p:spPr>
          <a:xfrm>
            <a:off x="2423160" y="2203704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Rodrigo e Dreamer</a:t>
            </a:r>
            <a:endParaRPr lang="en-US" sz="800" dirty="0"/>
          </a:p>
        </p:txBody>
      </p:sp>
      <p:sp>
        <p:nvSpPr>
          <p:cNvPr id="56" name="Shape 53"/>
          <p:cNvSpPr/>
          <p:nvPr/>
        </p:nvSpPr>
        <p:spPr>
          <a:xfrm>
            <a:off x="4096226" y="2231136"/>
            <a:ext cx="136017" cy="173736"/>
          </a:xfrm>
          <a:prstGeom prst="roundRect">
            <a:avLst>
              <a:gd name="adj" fmla="val 26891"/>
            </a:avLst>
          </a:prstGeom>
          <a:solidFill>
            <a:srgbClr val="26668F"/>
          </a:solidFill>
          <a:ln/>
        </p:spPr>
        <p:txBody>
          <a:bodyPr/>
          <a:p/>
        </p:txBody>
      </p:sp>
      <p:sp>
        <p:nvSpPr>
          <p:cNvPr id="57" name="Text 54"/>
          <p:cNvSpPr/>
          <p:nvPr/>
        </p:nvSpPr>
        <p:spPr>
          <a:xfrm>
            <a:off x="4268819" y="2221992"/>
            <a:ext cx="914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66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a 27/11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457200" y="245059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 e 5.1 Diagnóstico e PRDs</a:t>
            </a:r>
            <a:endParaRPr lang="en-US" sz="950" dirty="0"/>
          </a:p>
        </p:txBody>
      </p:sp>
      <p:sp>
        <p:nvSpPr>
          <p:cNvPr id="59" name="Text 56"/>
          <p:cNvSpPr/>
          <p:nvPr/>
        </p:nvSpPr>
        <p:spPr>
          <a:xfrm>
            <a:off x="2423160" y="2450592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Rodrigo e Matheus</a:t>
            </a:r>
            <a:endParaRPr lang="en-US" sz="800" dirty="0"/>
          </a:p>
        </p:txBody>
      </p:sp>
      <p:sp>
        <p:nvSpPr>
          <p:cNvPr id="60" name="Shape 57"/>
          <p:cNvSpPr/>
          <p:nvPr/>
        </p:nvSpPr>
        <p:spPr>
          <a:xfrm>
            <a:off x="4334256" y="2478024"/>
            <a:ext cx="129216" cy="173736"/>
          </a:xfrm>
          <a:prstGeom prst="roundRect">
            <a:avLst>
              <a:gd name="adj" fmla="val 28306"/>
            </a:avLst>
          </a:prstGeom>
          <a:solidFill>
            <a:srgbClr val="1B3A8C"/>
          </a:solidFill>
          <a:ln/>
        </p:spPr>
        <p:txBody>
          <a:bodyPr/>
          <a:p/>
        </p:txBody>
      </p:sp>
      <p:sp>
        <p:nvSpPr>
          <p:cNvPr id="61" name="Text 58"/>
          <p:cNvSpPr/>
          <p:nvPr/>
        </p:nvSpPr>
        <p:spPr>
          <a:xfrm>
            <a:off x="4500048" y="2468880"/>
            <a:ext cx="914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a 18/12</a:t>
            </a:r>
            <a:endParaRPr lang="en-US" sz="850" dirty="0"/>
          </a:p>
        </p:txBody>
      </p:sp>
      <p:sp>
        <p:nvSpPr>
          <p:cNvPr id="62" name="Text 59"/>
          <p:cNvSpPr/>
          <p:nvPr/>
        </p:nvSpPr>
        <p:spPr>
          <a:xfrm>
            <a:off x="457200" y="269748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 a 6.3 Roadmap, GTM e preço</a:t>
            </a:r>
            <a:endParaRPr lang="en-US" sz="950" dirty="0"/>
          </a:p>
        </p:txBody>
      </p:sp>
      <p:sp>
        <p:nvSpPr>
          <p:cNvPr id="63" name="Text 60"/>
          <p:cNvSpPr/>
          <p:nvPr/>
        </p:nvSpPr>
        <p:spPr>
          <a:xfrm>
            <a:off x="2423160" y="2697480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Rodrigo e liderança</a:t>
            </a:r>
            <a:endParaRPr lang="en-US" sz="800" dirty="0"/>
          </a:p>
        </p:txBody>
      </p:sp>
      <p:sp>
        <p:nvSpPr>
          <p:cNvPr id="64" name="Shape 61"/>
          <p:cNvSpPr/>
          <p:nvPr/>
        </p:nvSpPr>
        <p:spPr>
          <a:xfrm>
            <a:off x="4657296" y="2724912"/>
            <a:ext cx="268634" cy="173736"/>
          </a:xfrm>
          <a:prstGeom prst="roundRect">
            <a:avLst>
              <a:gd name="adj" fmla="val 21053"/>
            </a:avLst>
          </a:prstGeom>
          <a:solidFill>
            <a:srgbClr val="1B3A8C"/>
          </a:solidFill>
          <a:ln/>
        </p:spPr>
        <p:txBody>
          <a:bodyPr/>
          <a:p/>
        </p:txBody>
      </p:sp>
      <p:sp>
        <p:nvSpPr>
          <p:cNvPr id="65" name="Text 62"/>
          <p:cNvSpPr/>
          <p:nvPr/>
        </p:nvSpPr>
        <p:spPr>
          <a:xfrm>
            <a:off x="4962506" y="2715768"/>
            <a:ext cx="914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a 29/01</a:t>
            </a:r>
            <a:endParaRPr lang="en-US" sz="850" dirty="0"/>
          </a:p>
        </p:txBody>
      </p:sp>
      <p:sp>
        <p:nvSpPr>
          <p:cNvPr id="66" name="Text 63"/>
          <p:cNvSpPr/>
          <p:nvPr/>
        </p:nvSpPr>
        <p:spPr>
          <a:xfrm>
            <a:off x="457200" y="294436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7.0 Apresentação final</a:t>
            </a:r>
            <a:endParaRPr lang="en-US" sz="950" dirty="0"/>
          </a:p>
        </p:txBody>
      </p:sp>
      <p:sp>
        <p:nvSpPr>
          <p:cNvPr id="67" name="Text 64"/>
          <p:cNvSpPr/>
          <p:nvPr/>
        </p:nvSpPr>
        <p:spPr>
          <a:xfrm>
            <a:off x="2423160" y="2944368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Liderança</a:t>
            </a:r>
            <a:endParaRPr lang="en-US" sz="800" dirty="0"/>
          </a:p>
        </p:txBody>
      </p:sp>
      <p:sp>
        <p:nvSpPr>
          <p:cNvPr id="68" name="Shape 65"/>
          <p:cNvSpPr/>
          <p:nvPr/>
        </p:nvSpPr>
        <p:spPr>
          <a:xfrm>
            <a:off x="4946333" y="2971800"/>
            <a:ext cx="73152" cy="173736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/>
        </p:spPr>
        <p:txBody>
          <a:bodyPr/>
          <a:p/>
        </p:txBody>
      </p:sp>
      <p:sp>
        <p:nvSpPr>
          <p:cNvPr id="69" name="Text 66"/>
          <p:cNvSpPr/>
          <p:nvPr/>
        </p:nvSpPr>
        <p:spPr>
          <a:xfrm>
            <a:off x="5056061" y="2962656"/>
            <a:ext cx="914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a 05/02</a:t>
            </a:r>
            <a:endParaRPr lang="en-US" sz="850" dirty="0"/>
          </a:p>
        </p:txBody>
      </p:sp>
      <p:sp>
        <p:nvSpPr>
          <p:cNvPr id="70" name="Text 67"/>
          <p:cNvSpPr/>
          <p:nvPr/>
        </p:nvSpPr>
        <p:spPr>
          <a:xfrm>
            <a:off x="457200" y="319125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8.0 Piloto, até 5 fazendas</a:t>
            </a:r>
            <a:endParaRPr lang="en-US" sz="950" dirty="0"/>
          </a:p>
        </p:txBody>
      </p:sp>
      <p:sp>
        <p:nvSpPr>
          <p:cNvPr id="71" name="Text 68"/>
          <p:cNvSpPr/>
          <p:nvPr/>
        </p:nvSpPr>
        <p:spPr>
          <a:xfrm>
            <a:off x="2423160" y="3191256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Rodrigo e técnicos</a:t>
            </a:r>
            <a:endParaRPr lang="en-US" sz="800" dirty="0"/>
          </a:p>
        </p:txBody>
      </p:sp>
      <p:sp>
        <p:nvSpPr>
          <p:cNvPr id="72" name="Shape 69"/>
          <p:cNvSpPr/>
          <p:nvPr/>
        </p:nvSpPr>
        <p:spPr>
          <a:xfrm>
            <a:off x="5966460" y="3218688"/>
            <a:ext cx="680085" cy="173736"/>
          </a:xfrm>
          <a:prstGeom prst="roundRect">
            <a:avLst>
              <a:gd name="adj" fmla="val 21053"/>
            </a:avLst>
          </a:prstGeom>
          <a:solidFill>
            <a:srgbClr val="C8106E"/>
          </a:solidFill>
          <a:ln/>
        </p:spPr>
        <p:txBody>
          <a:bodyPr/>
          <a:p/>
        </p:txBody>
      </p:sp>
      <p:sp>
        <p:nvSpPr>
          <p:cNvPr id="73" name="Text 70"/>
          <p:cNvSpPr/>
          <p:nvPr/>
        </p:nvSpPr>
        <p:spPr>
          <a:xfrm>
            <a:off x="5966460" y="3209544"/>
            <a:ext cx="680085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 a jun</a:t>
            </a:r>
            <a:endParaRPr lang="en-US" sz="850" dirty="0"/>
          </a:p>
        </p:txBody>
      </p:sp>
      <p:sp>
        <p:nvSpPr>
          <p:cNvPr id="74" name="Text 71"/>
          <p:cNvSpPr/>
          <p:nvPr/>
        </p:nvSpPr>
        <p:spPr>
          <a:xfrm>
            <a:off x="457200" y="343814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Rodrigo atende até 20 fazendas</a:t>
            </a:r>
            <a:endParaRPr lang="en-US" sz="950" dirty="0"/>
          </a:p>
        </p:txBody>
      </p:sp>
      <p:sp>
        <p:nvSpPr>
          <p:cNvPr id="75" name="Text 72"/>
          <p:cNvSpPr/>
          <p:nvPr/>
        </p:nvSpPr>
        <p:spPr>
          <a:xfrm>
            <a:off x="2423160" y="3438144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Rodrigo</a:t>
            </a:r>
            <a:endParaRPr lang="en-US" sz="800" dirty="0"/>
          </a:p>
        </p:txBody>
      </p:sp>
      <p:sp>
        <p:nvSpPr>
          <p:cNvPr id="76" name="Shape 73"/>
          <p:cNvSpPr/>
          <p:nvPr/>
        </p:nvSpPr>
        <p:spPr>
          <a:xfrm>
            <a:off x="6646545" y="3465576"/>
            <a:ext cx="1360170" cy="173736"/>
          </a:xfrm>
          <a:prstGeom prst="roundRect">
            <a:avLst>
              <a:gd name="adj" fmla="val 21053"/>
            </a:avLst>
          </a:prstGeom>
          <a:solidFill>
            <a:srgbClr val="C8106E"/>
          </a:solidFill>
          <a:ln/>
        </p:spPr>
        <p:txBody>
          <a:bodyPr/>
          <a:p/>
        </p:txBody>
      </p:sp>
      <p:sp>
        <p:nvSpPr>
          <p:cNvPr id="77" name="Text 74"/>
          <p:cNvSpPr/>
          <p:nvPr/>
        </p:nvSpPr>
        <p:spPr>
          <a:xfrm>
            <a:off x="6646545" y="3456432"/>
            <a:ext cx="136017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a out</a:t>
            </a:r>
            <a:endParaRPr lang="en-US" sz="850" dirty="0"/>
          </a:p>
        </p:txBody>
      </p:sp>
      <p:sp>
        <p:nvSpPr>
          <p:cNvPr id="78" name="Text 75"/>
          <p:cNvSpPr/>
          <p:nvPr/>
        </p:nvSpPr>
        <p:spPr>
          <a:xfrm>
            <a:off x="457200" y="368503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Analistas online e safra</a:t>
            </a:r>
            <a:endParaRPr lang="en-US" sz="950" dirty="0"/>
          </a:p>
        </p:txBody>
      </p:sp>
      <p:sp>
        <p:nvSpPr>
          <p:cNvPr id="79" name="Text 76"/>
          <p:cNvSpPr/>
          <p:nvPr/>
        </p:nvSpPr>
        <p:spPr>
          <a:xfrm>
            <a:off x="2423160" y="3685032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Diretoria aprova</a:t>
            </a:r>
            <a:endParaRPr lang="en-US" sz="800" dirty="0"/>
          </a:p>
        </p:txBody>
      </p:sp>
      <p:sp>
        <p:nvSpPr>
          <p:cNvPr id="80" name="Shape 77"/>
          <p:cNvSpPr/>
          <p:nvPr/>
        </p:nvSpPr>
        <p:spPr>
          <a:xfrm>
            <a:off x="8006715" y="3712464"/>
            <a:ext cx="680085" cy="173736"/>
          </a:xfrm>
          <a:prstGeom prst="roundRect">
            <a:avLst>
              <a:gd name="adj" fmla="val 21053"/>
            </a:avLst>
          </a:prstGeom>
          <a:solidFill>
            <a:srgbClr val="C5D300"/>
          </a:solidFill>
          <a:ln/>
        </p:spPr>
        <p:txBody>
          <a:bodyPr/>
          <a:p/>
        </p:txBody>
      </p:sp>
      <p:sp>
        <p:nvSpPr>
          <p:cNvPr id="81" name="Text 78"/>
          <p:cNvSpPr/>
          <p:nvPr/>
        </p:nvSpPr>
        <p:spPr>
          <a:xfrm>
            <a:off x="8006715" y="3703320"/>
            <a:ext cx="680085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e dez</a:t>
            </a:r>
            <a:endParaRPr lang="en-US" sz="850" dirty="0"/>
          </a:p>
        </p:txBody>
      </p:sp>
      <p:sp>
        <p:nvSpPr>
          <p:cNvPr id="82" name="Text 79"/>
          <p:cNvSpPr/>
          <p:nvPr/>
        </p:nvSpPr>
        <p:spPr>
          <a:xfrm>
            <a:off x="457200" y="395935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</a:t>
            </a:r>
            <a:endParaRPr lang="en-US" sz="1000" dirty="0"/>
          </a:p>
        </p:txBody>
      </p:sp>
      <p:sp>
        <p:nvSpPr>
          <p:cNvPr id="83" name="Shape 80"/>
          <p:cNvSpPr/>
          <p:nvPr/>
        </p:nvSpPr>
        <p:spPr>
          <a:xfrm>
            <a:off x="4297223" y="3977640"/>
            <a:ext cx="182880" cy="182880"/>
          </a:xfrm>
          <a:prstGeom prst="diamond">
            <a:avLst/>
          </a:prstGeom>
          <a:solidFill>
            <a:srgbClr val="C5D300"/>
          </a:solidFill>
          <a:ln/>
        </p:spPr>
        <p:txBody>
          <a:bodyPr/>
          <a:p/>
        </p:txBody>
      </p:sp>
      <p:sp>
        <p:nvSpPr>
          <p:cNvPr id="84" name="Text 81"/>
          <p:cNvSpPr/>
          <p:nvPr/>
        </p:nvSpPr>
        <p:spPr>
          <a:xfrm>
            <a:off x="3382823" y="416966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G0: escopo</a:t>
            </a:r>
            <a:endParaRPr lang="en-US" sz="900" dirty="0"/>
          </a:p>
        </p:txBody>
      </p:sp>
      <p:sp>
        <p:nvSpPr>
          <p:cNvPr id="85" name="Shape 82"/>
          <p:cNvSpPr/>
          <p:nvPr/>
        </p:nvSpPr>
        <p:spPr>
          <a:xfrm>
            <a:off x="4912700" y="3977640"/>
            <a:ext cx="182880" cy="182880"/>
          </a:xfrm>
          <a:prstGeom prst="diamond">
            <a:avLst/>
          </a:prstGeom>
          <a:solidFill>
            <a:srgbClr val="C5D300"/>
          </a:solidFill>
          <a:ln/>
        </p:spPr>
        <p:txBody>
          <a:bodyPr/>
          <a:p/>
        </p:txBody>
      </p:sp>
      <p:sp>
        <p:nvSpPr>
          <p:cNvPr id="86" name="Text 83"/>
          <p:cNvSpPr/>
          <p:nvPr/>
        </p:nvSpPr>
        <p:spPr>
          <a:xfrm>
            <a:off x="4912700" y="416966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Aprovação</a:t>
            </a:r>
            <a:endParaRPr lang="en-US" sz="900" dirty="0"/>
          </a:p>
        </p:txBody>
      </p:sp>
      <p:sp>
        <p:nvSpPr>
          <p:cNvPr id="87" name="Shape 84"/>
          <p:cNvSpPr/>
          <p:nvPr/>
        </p:nvSpPr>
        <p:spPr>
          <a:xfrm>
            <a:off x="6555105" y="3977640"/>
            <a:ext cx="182880" cy="182880"/>
          </a:xfrm>
          <a:prstGeom prst="diamond">
            <a:avLst/>
          </a:prstGeom>
          <a:solidFill>
            <a:srgbClr val="C5D300"/>
          </a:solidFill>
          <a:ln/>
        </p:spPr>
        <p:txBody>
          <a:bodyPr/>
          <a:p/>
        </p:txBody>
      </p:sp>
      <p:sp>
        <p:nvSpPr>
          <p:cNvPr id="88" name="Text 85"/>
          <p:cNvSpPr/>
          <p:nvPr/>
        </p:nvSpPr>
        <p:spPr>
          <a:xfrm>
            <a:off x="6097905" y="416966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G1: piloto</a:t>
            </a:r>
            <a:endParaRPr lang="en-US" sz="900" dirty="0"/>
          </a:p>
        </p:txBody>
      </p:sp>
      <p:sp>
        <p:nvSpPr>
          <p:cNvPr id="89" name="Shape 86"/>
          <p:cNvSpPr/>
          <p:nvPr/>
        </p:nvSpPr>
        <p:spPr>
          <a:xfrm>
            <a:off x="7915275" y="3977640"/>
            <a:ext cx="182880" cy="182880"/>
          </a:xfrm>
          <a:prstGeom prst="diamond">
            <a:avLst/>
          </a:prstGeom>
          <a:solidFill>
            <a:srgbClr val="C5D300"/>
          </a:solidFill>
          <a:ln/>
        </p:spPr>
        <p:txBody>
          <a:bodyPr/>
          <a:p/>
        </p:txBody>
      </p:sp>
      <p:sp>
        <p:nvSpPr>
          <p:cNvPr id="90" name="Text 87"/>
          <p:cNvSpPr/>
          <p:nvPr/>
        </p:nvSpPr>
        <p:spPr>
          <a:xfrm>
            <a:off x="7458075" y="416966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G2: escala</a:t>
            </a:r>
            <a:endParaRPr lang="en-US" sz="9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Cronograma de 4 anos: 2027 a 2030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piloto à comunidade de confinadores TN. Metas propostas, revistas a cada gate.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4398264"/>
            <a:ext cx="4572000" cy="7429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846320" y="6400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spc="150" kern="0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6  ·  PLANO E DECISÕES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1874520" y="1051560"/>
            <a:ext cx="1645920" cy="475488"/>
          </a:xfrm>
          <a:prstGeom prst="rect">
            <a:avLst/>
          </a:prstGeom>
          <a:solidFill>
            <a:srgbClr val="26668F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874520" y="10515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874520" y="129844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 e 20 fazendas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575304" y="1051560"/>
            <a:ext cx="1645920" cy="475488"/>
          </a:xfrm>
          <a:prstGeom prst="rect">
            <a:avLst/>
          </a:prstGeom>
          <a:solidFill>
            <a:srgbClr val="1B3A8C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3575304" y="10515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575304" y="129844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e 1º evento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276088" y="1051560"/>
            <a:ext cx="1645920" cy="475488"/>
          </a:xfrm>
          <a:prstGeom prst="rect">
            <a:avLst/>
          </a:prstGeom>
          <a:solidFill>
            <a:srgbClr val="C8106E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5276088" y="10515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2029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276088" y="129844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e fidelidade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976872" y="1051560"/>
            <a:ext cx="1645920" cy="475488"/>
          </a:xfrm>
          <a:prstGeom prst="rect">
            <a:avLst/>
          </a:prstGeom>
          <a:solidFill>
            <a:srgbClr val="C5D300"/>
          </a:solidFill>
          <a:ln/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976872" y="10515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976872" y="129844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de dados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57200" y="1600200"/>
            <a:ext cx="1371600" cy="457200"/>
          </a:xfrm>
          <a:prstGeom prst="rect">
            <a:avLst/>
          </a:prstGeom>
          <a:solidFill>
            <a:srgbClr val="1B3A8C"/>
          </a:solidFill>
          <a:ln/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548640" y="1600200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1874520" y="1600200"/>
            <a:ext cx="1645920" cy="45720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1929384" y="1600200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estável e piloto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3575304" y="1600200"/>
            <a:ext cx="1645920" cy="45720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3630168" y="1600200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sem sinal e integração NOA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276088" y="1600200"/>
            <a:ext cx="1645920" cy="45720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5330952" y="1600200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de benchmark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6976872" y="1600200"/>
            <a:ext cx="1645920" cy="45720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7031736" y="1600200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Pegada de carbono e recomendação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457200" y="2103120"/>
            <a:ext cx="1371600" cy="457200"/>
          </a:xfrm>
          <a:prstGeom prst="rect">
            <a:avLst/>
          </a:prstGeom>
          <a:solidFill>
            <a:srgbClr val="1B3A8C"/>
          </a:solidFill>
          <a:ln/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548640" y="2103120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Atendimento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1874520" y="2103120"/>
            <a:ext cx="1645920" cy="45720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32" name="Text 29"/>
          <p:cNvSpPr/>
          <p:nvPr/>
        </p:nvSpPr>
        <p:spPr>
          <a:xfrm>
            <a:off x="1929384" y="2103120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Rodrigo analisa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3575304" y="2103120"/>
            <a:ext cx="1645920" cy="45720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34" name="Text 31"/>
          <p:cNvSpPr/>
          <p:nvPr/>
        </p:nvSpPr>
        <p:spPr>
          <a:xfrm>
            <a:off x="3630168" y="2103120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Analistas online (1 para 20)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5276088" y="2103120"/>
            <a:ext cx="1645920" cy="45720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36" name="Text 33"/>
          <p:cNvSpPr/>
          <p:nvPr/>
        </p:nvSpPr>
        <p:spPr>
          <a:xfrm>
            <a:off x="5330952" y="2103120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Núcleo de análise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6976872" y="2103120"/>
            <a:ext cx="1645920" cy="45720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38" name="Text 35"/>
          <p:cNvSpPr/>
          <p:nvPr/>
        </p:nvSpPr>
        <p:spPr>
          <a:xfrm>
            <a:off x="7031736" y="2103120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na oferta comercial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457200" y="2606040"/>
            <a:ext cx="1371600" cy="457200"/>
          </a:xfrm>
          <a:prstGeom prst="rect">
            <a:avLst/>
          </a:prstGeom>
          <a:solidFill>
            <a:srgbClr val="1B3A8C"/>
          </a:solidFill>
          <a:ln/>
        </p:spPr>
        <p:txBody>
          <a:bodyPr/>
          <a:p/>
        </p:txBody>
      </p:sp>
      <p:sp>
        <p:nvSpPr>
          <p:cNvPr id="40" name="Text 37"/>
          <p:cNvSpPr/>
          <p:nvPr/>
        </p:nvSpPr>
        <p:spPr>
          <a:xfrm>
            <a:off x="548640" y="2606040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Comunidade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1874520" y="2606040"/>
            <a:ext cx="1645920" cy="45720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42" name="Text 39"/>
          <p:cNvSpPr/>
          <p:nvPr/>
        </p:nvSpPr>
        <p:spPr>
          <a:xfrm>
            <a:off x="1929384" y="2606040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piloto; 1ª safra fechada</a:t>
            </a:r>
            <a:endParaRPr lang="en-US" sz="1050" dirty="0"/>
          </a:p>
        </p:txBody>
      </p:sp>
      <p:sp>
        <p:nvSpPr>
          <p:cNvPr id="43" name="Shape 40"/>
          <p:cNvSpPr/>
          <p:nvPr/>
        </p:nvSpPr>
        <p:spPr>
          <a:xfrm>
            <a:off x="3575304" y="2606040"/>
            <a:ext cx="1645920" cy="45720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44" name="Text 41"/>
          <p:cNvSpPr/>
          <p:nvPr/>
        </p:nvSpPr>
        <p:spPr>
          <a:xfrm>
            <a:off x="3630168" y="2606040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lançado; 1º evento</a:t>
            </a:r>
            <a:endParaRPr lang="en-US" sz="1050" dirty="0"/>
          </a:p>
        </p:txBody>
      </p:sp>
      <p:sp>
        <p:nvSpPr>
          <p:cNvPr id="45" name="Shape 42"/>
          <p:cNvSpPr/>
          <p:nvPr/>
        </p:nvSpPr>
        <p:spPr>
          <a:xfrm>
            <a:off x="5276088" y="2606040"/>
            <a:ext cx="1645920" cy="45720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46" name="Text 43"/>
          <p:cNvSpPr/>
          <p:nvPr/>
        </p:nvSpPr>
        <p:spPr>
          <a:xfrm>
            <a:off x="5330952" y="2606040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 anual e benchmark</a:t>
            </a:r>
            <a:endParaRPr lang="en-US" sz="1050" dirty="0"/>
          </a:p>
        </p:txBody>
      </p:sp>
      <p:sp>
        <p:nvSpPr>
          <p:cNvPr id="47" name="Shape 44"/>
          <p:cNvSpPr/>
          <p:nvPr/>
        </p:nvSpPr>
        <p:spPr>
          <a:xfrm>
            <a:off x="6976872" y="2606040"/>
            <a:ext cx="1645920" cy="45720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48" name="Text 45"/>
          <p:cNvSpPr/>
          <p:nvPr/>
        </p:nvSpPr>
        <p:spPr>
          <a:xfrm>
            <a:off x="7031736" y="2606040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Comunidade nacional TN</a:t>
            </a:r>
            <a:endParaRPr lang="en-US" sz="1050" dirty="0"/>
          </a:p>
        </p:txBody>
      </p:sp>
      <p:sp>
        <p:nvSpPr>
          <p:cNvPr id="49" name="Shape 46"/>
          <p:cNvSpPr/>
          <p:nvPr/>
        </p:nvSpPr>
        <p:spPr>
          <a:xfrm>
            <a:off x="457200" y="3108960"/>
            <a:ext cx="1371600" cy="365760"/>
          </a:xfrm>
          <a:prstGeom prst="rect">
            <a:avLst/>
          </a:prstGeom>
          <a:solidFill>
            <a:srgbClr val="1B3A8C"/>
          </a:solidFill>
          <a:ln/>
        </p:spPr>
        <p:txBody>
          <a:bodyPr/>
          <a:p/>
        </p:txBody>
      </p:sp>
      <p:sp>
        <p:nvSpPr>
          <p:cNvPr id="50" name="Text 47"/>
          <p:cNvSpPr/>
          <p:nvPr/>
        </p:nvSpPr>
        <p:spPr>
          <a:xfrm>
            <a:off x="548640" y="3108960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Fazendas</a:t>
            </a:r>
            <a:endParaRPr lang="en-US" sz="1150" dirty="0"/>
          </a:p>
        </p:txBody>
      </p:sp>
      <p:sp>
        <p:nvSpPr>
          <p:cNvPr id="51" name="Shape 48"/>
          <p:cNvSpPr/>
          <p:nvPr/>
        </p:nvSpPr>
        <p:spPr>
          <a:xfrm>
            <a:off x="1874520" y="3108960"/>
            <a:ext cx="1645920" cy="36576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52" name="Text 49"/>
          <p:cNvSpPr/>
          <p:nvPr/>
        </p:nvSpPr>
        <p:spPr>
          <a:xfrm>
            <a:off x="1929384" y="3108960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500" dirty="0"/>
          </a:p>
        </p:txBody>
      </p:sp>
      <p:sp>
        <p:nvSpPr>
          <p:cNvPr id="53" name="Shape 50"/>
          <p:cNvSpPr/>
          <p:nvPr/>
        </p:nvSpPr>
        <p:spPr>
          <a:xfrm>
            <a:off x="3575304" y="3108960"/>
            <a:ext cx="1645920" cy="36576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54" name="Text 51"/>
          <p:cNvSpPr/>
          <p:nvPr/>
        </p:nvSpPr>
        <p:spPr>
          <a:xfrm>
            <a:off x="3630168" y="3108960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500" dirty="0"/>
          </a:p>
        </p:txBody>
      </p:sp>
      <p:sp>
        <p:nvSpPr>
          <p:cNvPr id="55" name="Shape 52"/>
          <p:cNvSpPr/>
          <p:nvPr/>
        </p:nvSpPr>
        <p:spPr>
          <a:xfrm>
            <a:off x="5276088" y="3108960"/>
            <a:ext cx="1645920" cy="36576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56" name="Text 53"/>
          <p:cNvSpPr/>
          <p:nvPr/>
        </p:nvSpPr>
        <p:spPr>
          <a:xfrm>
            <a:off x="5330952" y="3108960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</a:t>
            </a:r>
            <a:endParaRPr lang="en-US" sz="1500" dirty="0"/>
          </a:p>
        </p:txBody>
      </p:sp>
      <p:sp>
        <p:nvSpPr>
          <p:cNvPr id="57" name="Shape 54"/>
          <p:cNvSpPr/>
          <p:nvPr/>
        </p:nvSpPr>
        <p:spPr>
          <a:xfrm>
            <a:off x="6976872" y="3108960"/>
            <a:ext cx="1645920" cy="36576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58" name="Text 55"/>
          <p:cNvSpPr/>
          <p:nvPr/>
        </p:nvSpPr>
        <p:spPr>
          <a:xfrm>
            <a:off x="7031736" y="3108960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1500" dirty="0"/>
          </a:p>
        </p:txBody>
      </p:sp>
      <p:sp>
        <p:nvSpPr>
          <p:cNvPr id="59" name="Shape 56"/>
          <p:cNvSpPr/>
          <p:nvPr/>
        </p:nvSpPr>
        <p:spPr>
          <a:xfrm>
            <a:off x="457200" y="3520440"/>
            <a:ext cx="1371600" cy="365760"/>
          </a:xfrm>
          <a:prstGeom prst="rect">
            <a:avLst/>
          </a:prstGeom>
          <a:solidFill>
            <a:srgbClr val="1B3A8C"/>
          </a:solidFill>
          <a:ln/>
        </p:spPr>
        <p:txBody>
          <a:bodyPr/>
          <a:p/>
        </p:txBody>
      </p:sp>
      <p:sp>
        <p:nvSpPr>
          <p:cNvPr id="60" name="Text 57"/>
          <p:cNvSpPr/>
          <p:nvPr/>
        </p:nvSpPr>
        <p:spPr>
          <a:xfrm>
            <a:off x="548640" y="3520440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Analistas</a:t>
            </a:r>
            <a:endParaRPr lang="en-US" sz="1150" dirty="0"/>
          </a:p>
        </p:txBody>
      </p:sp>
      <p:sp>
        <p:nvSpPr>
          <p:cNvPr id="61" name="Shape 58"/>
          <p:cNvSpPr/>
          <p:nvPr/>
        </p:nvSpPr>
        <p:spPr>
          <a:xfrm>
            <a:off x="1874520" y="3520440"/>
            <a:ext cx="1645920" cy="36576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62" name="Text 59"/>
          <p:cNvSpPr/>
          <p:nvPr/>
        </p:nvSpPr>
        <p:spPr>
          <a:xfrm>
            <a:off x="1929384" y="3520440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(Rodrigo)</a:t>
            </a:r>
            <a:endParaRPr lang="en-US" sz="1500" dirty="0"/>
          </a:p>
        </p:txBody>
      </p:sp>
      <p:sp>
        <p:nvSpPr>
          <p:cNvPr id="63" name="Shape 60"/>
          <p:cNvSpPr/>
          <p:nvPr/>
        </p:nvSpPr>
        <p:spPr>
          <a:xfrm>
            <a:off x="3575304" y="3520440"/>
            <a:ext cx="1645920" cy="36576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64" name="Text 61"/>
          <p:cNvSpPr/>
          <p:nvPr/>
        </p:nvSpPr>
        <p:spPr>
          <a:xfrm>
            <a:off x="3630168" y="3520440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65" name="Shape 62"/>
          <p:cNvSpPr/>
          <p:nvPr/>
        </p:nvSpPr>
        <p:spPr>
          <a:xfrm>
            <a:off x="5276088" y="3520440"/>
            <a:ext cx="1645920" cy="36576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66" name="Text 63"/>
          <p:cNvSpPr/>
          <p:nvPr/>
        </p:nvSpPr>
        <p:spPr>
          <a:xfrm>
            <a:off x="5330952" y="3520440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67" name="Shape 64"/>
          <p:cNvSpPr/>
          <p:nvPr/>
        </p:nvSpPr>
        <p:spPr>
          <a:xfrm>
            <a:off x="6976872" y="3520440"/>
            <a:ext cx="1645920" cy="36576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68" name="Text 65"/>
          <p:cNvSpPr/>
          <p:nvPr/>
        </p:nvSpPr>
        <p:spPr>
          <a:xfrm>
            <a:off x="7031736" y="3520440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500" dirty="0"/>
          </a:p>
        </p:txBody>
      </p:sp>
      <p:sp>
        <p:nvSpPr>
          <p:cNvPr id="69" name="Shape 66"/>
          <p:cNvSpPr/>
          <p:nvPr/>
        </p:nvSpPr>
        <p:spPr>
          <a:xfrm>
            <a:off x="457200" y="3931920"/>
            <a:ext cx="1371600" cy="457200"/>
          </a:xfrm>
          <a:prstGeom prst="rect">
            <a:avLst/>
          </a:prstGeom>
          <a:solidFill>
            <a:srgbClr val="1B3A8C"/>
          </a:solidFill>
          <a:ln/>
        </p:spPr>
        <p:txBody>
          <a:bodyPr/>
          <a:p/>
        </p:txBody>
      </p:sp>
      <p:sp>
        <p:nvSpPr>
          <p:cNvPr id="70" name="Text 67"/>
          <p:cNvSpPr/>
          <p:nvPr/>
        </p:nvSpPr>
        <p:spPr>
          <a:xfrm>
            <a:off x="548640" y="3931920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Automação</a:t>
            </a:r>
            <a:endParaRPr lang="en-US" sz="1150" dirty="0"/>
          </a:p>
        </p:txBody>
      </p:sp>
      <p:sp>
        <p:nvSpPr>
          <p:cNvPr id="71" name="Shape 68"/>
          <p:cNvSpPr/>
          <p:nvPr/>
        </p:nvSpPr>
        <p:spPr>
          <a:xfrm>
            <a:off x="1874520" y="3931920"/>
            <a:ext cx="1645920" cy="45720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72" name="Text 69"/>
          <p:cNvSpPr/>
          <p:nvPr/>
        </p:nvSpPr>
        <p:spPr>
          <a:xfrm>
            <a:off x="1929384" y="3931920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Maiores com a PecCode</a:t>
            </a:r>
            <a:endParaRPr lang="en-US" sz="1050" dirty="0"/>
          </a:p>
        </p:txBody>
      </p:sp>
      <p:sp>
        <p:nvSpPr>
          <p:cNvPr id="73" name="Shape 70"/>
          <p:cNvSpPr/>
          <p:nvPr/>
        </p:nvSpPr>
        <p:spPr>
          <a:xfrm>
            <a:off x="3575304" y="3931920"/>
            <a:ext cx="1645920" cy="45720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74" name="Text 71"/>
          <p:cNvSpPr/>
          <p:nvPr/>
        </p:nvSpPr>
        <p:spPr>
          <a:xfrm>
            <a:off x="3630168" y="3931920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Preparar a retomada</a:t>
            </a:r>
            <a:endParaRPr lang="en-US" sz="1050" dirty="0"/>
          </a:p>
        </p:txBody>
      </p:sp>
      <p:sp>
        <p:nvSpPr>
          <p:cNvPr id="75" name="Shape 72"/>
          <p:cNvSpPr/>
          <p:nvPr/>
        </p:nvSpPr>
        <p:spPr>
          <a:xfrm>
            <a:off x="5276088" y="3931920"/>
            <a:ext cx="1645920" cy="45720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76" name="Text 73"/>
          <p:cNvSpPr/>
          <p:nvPr/>
        </p:nvSpPr>
        <p:spPr>
          <a:xfrm>
            <a:off x="5330952" y="3931920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 Manager Automação retomado</a:t>
            </a:r>
            <a:endParaRPr lang="en-US" sz="1050" dirty="0"/>
          </a:p>
        </p:txBody>
      </p:sp>
      <p:sp>
        <p:nvSpPr>
          <p:cNvPr id="77" name="Shape 74"/>
          <p:cNvSpPr/>
          <p:nvPr/>
        </p:nvSpPr>
        <p:spPr>
          <a:xfrm>
            <a:off x="6976872" y="3931920"/>
            <a:ext cx="1645920" cy="45720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78" name="Text 75"/>
          <p:cNvSpPr/>
          <p:nvPr/>
        </p:nvSpPr>
        <p:spPr>
          <a:xfrm>
            <a:off x="7031736" y="3931920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e Automação lado a lado</a:t>
            </a:r>
            <a:endParaRPr lang="en-US" sz="105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8C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5D30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846320" y="6400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spc="150" kern="0" dirty="0">
                <a:solidFill>
                  <a:srgbClr val="C5D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6  ·  PLANO E DECISÕES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 e próximos passos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D6D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precisamos aprovar hoje para seguir com a pesquisa e a imersão técnica.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5D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 PARA HOJE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329184" cy="329184"/>
          </a:xfrm>
          <a:prstGeom prst="ellipse">
            <a:avLst/>
          </a:prstGeom>
          <a:solidFill>
            <a:srgbClr val="C8106E"/>
          </a:solidFill>
          <a:ln/>
        </p:spPr>
        <p:txBody>
          <a:bodyPr/>
          <a:p/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" y="1545336"/>
            <a:ext cx="164592" cy="16459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1426464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em novos clientes de 200 a 2.000 cabeças, sem automação; maiores seguem na PecCode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57200" y="1938528"/>
            <a:ext cx="329184" cy="329184"/>
          </a:xfrm>
          <a:prstGeom prst="ellipse">
            <a:avLst/>
          </a:prstGeom>
          <a:solidFill>
            <a:srgbClr val="C8106E"/>
          </a:solidFill>
          <a:ln/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" y="2020824"/>
            <a:ext cx="164592" cy="16459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14400" y="1901952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alinhado ao cronograma, com gates G0 a G2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457200" y="2414016"/>
            <a:ext cx="329184" cy="329184"/>
          </a:xfrm>
          <a:prstGeom prst="ellipse">
            <a:avLst/>
          </a:prstGeom>
          <a:solidFill>
            <a:srgbClr val="C8106E"/>
          </a:solidFill>
          <a:ln/>
        </p:spPr>
        <p:txBody>
          <a:bodyPr/>
          <a:p/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" y="2496312"/>
            <a:ext cx="164592" cy="16459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14400" y="2377440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Modelo: Rodrigo atende 20 fazendas; analistas online após o G2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457200" y="2889504"/>
            <a:ext cx="329184" cy="329184"/>
          </a:xfrm>
          <a:prstGeom prst="ellipse">
            <a:avLst/>
          </a:prstGeom>
          <a:solidFill>
            <a:srgbClr val="C8106E"/>
          </a:solidFill>
          <a:ln/>
        </p:spPr>
        <p:txBody>
          <a:bodyPr/>
          <a:p/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" y="2971800"/>
            <a:ext cx="164592" cy="16459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14400" y="2852928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Imersão técnica e orçamento com a Dreamer</a:t>
            </a:r>
            <a:endParaRPr lang="en-US" sz="1150" dirty="0"/>
          </a:p>
        </p:txBody>
      </p:sp>
      <p:sp>
        <p:nvSpPr>
          <p:cNvPr id="19" name="Shape 13"/>
          <p:cNvSpPr/>
          <p:nvPr/>
        </p:nvSpPr>
        <p:spPr>
          <a:xfrm>
            <a:off x="457200" y="3364992"/>
            <a:ext cx="329184" cy="329184"/>
          </a:xfrm>
          <a:prstGeom prst="ellipse">
            <a:avLst/>
          </a:prstGeom>
          <a:solidFill>
            <a:srgbClr val="C8106E"/>
          </a:solidFill>
          <a:ln/>
        </p:spPr>
        <p:txBody>
          <a:bodyPr/>
          <a:p/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" y="3447288"/>
            <a:ext cx="164592" cy="16459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914400" y="3328416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de Desenvolvimento e evento anual como pilares</a:t>
            </a:r>
            <a:endParaRPr lang="en-US" sz="1150" dirty="0"/>
          </a:p>
        </p:txBody>
      </p:sp>
      <p:sp>
        <p:nvSpPr>
          <p:cNvPr id="22" name="Shape 15"/>
          <p:cNvSpPr/>
          <p:nvPr/>
        </p:nvSpPr>
        <p:spPr>
          <a:xfrm>
            <a:off x="457200" y="3840480"/>
            <a:ext cx="329184" cy="329184"/>
          </a:xfrm>
          <a:prstGeom prst="ellipse">
            <a:avLst/>
          </a:prstGeom>
          <a:solidFill>
            <a:srgbClr val="C8106E"/>
          </a:solidFill>
          <a:ln/>
        </p:spPr>
        <p:txBody>
          <a:bodyPr/>
          <a:p/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" y="3922776"/>
            <a:ext cx="164592" cy="164592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914400" y="3803904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Indicar um patrocinador na diretoria</a:t>
            </a:r>
            <a:endParaRPr lang="en-US" sz="1150" dirty="0"/>
          </a:p>
        </p:txBody>
      </p:sp>
      <p:sp>
        <p:nvSpPr>
          <p:cNvPr id="25" name="Shape 17"/>
          <p:cNvSpPr/>
          <p:nvPr/>
        </p:nvSpPr>
        <p:spPr>
          <a:xfrm>
            <a:off x="4846320" y="1143000"/>
            <a:ext cx="3886200" cy="3246120"/>
          </a:xfrm>
          <a:prstGeom prst="rect">
            <a:avLst/>
          </a:prstGeom>
          <a:solidFill>
            <a:srgbClr val="12295F"/>
          </a:solidFill>
          <a:ln/>
        </p:spPr>
        <p:txBody>
          <a:bodyPr/>
          <a:p/>
        </p:txBody>
      </p:sp>
      <p:sp>
        <p:nvSpPr>
          <p:cNvPr id="26" name="Text 18"/>
          <p:cNvSpPr/>
          <p:nvPr/>
        </p:nvSpPr>
        <p:spPr>
          <a:xfrm>
            <a:off x="5029200" y="123444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5D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PRÓXIMAS SEMANAS</a:t>
            </a:r>
            <a:endParaRPr lang="en-US" sz="1000" dirty="0"/>
          </a:p>
        </p:txBody>
      </p:sp>
      <p:sp>
        <p:nvSpPr>
          <p:cNvPr id="27" name="Text 19"/>
          <p:cNvSpPr/>
          <p:nvPr/>
        </p:nvSpPr>
        <p:spPr>
          <a:xfrm>
            <a:off x="5029200" y="15087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D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23/10</a:t>
            </a:r>
            <a:endParaRPr lang="en-US" sz="1100" dirty="0"/>
          </a:p>
        </p:txBody>
      </p:sp>
      <p:sp>
        <p:nvSpPr>
          <p:cNvPr id="28" name="Text 20"/>
          <p:cNvSpPr/>
          <p:nvPr/>
        </p:nvSpPr>
        <p:spPr>
          <a:xfrm>
            <a:off x="6217920" y="150876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Entrevistas e benchmark</a:t>
            </a:r>
            <a:endParaRPr lang="en-US" sz="1100" dirty="0"/>
          </a:p>
        </p:txBody>
      </p:sp>
      <p:sp>
        <p:nvSpPr>
          <p:cNvPr id="29" name="Text 21"/>
          <p:cNvSpPr/>
          <p:nvPr/>
        </p:nvSpPr>
        <p:spPr>
          <a:xfrm>
            <a:off x="5029200" y="191109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D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23/10</a:t>
            </a:r>
            <a:endParaRPr lang="en-US" sz="1100" dirty="0"/>
          </a:p>
        </p:txBody>
      </p:sp>
      <p:sp>
        <p:nvSpPr>
          <p:cNvPr id="30" name="Text 22"/>
          <p:cNvSpPr/>
          <p:nvPr/>
        </p:nvSpPr>
        <p:spPr>
          <a:xfrm>
            <a:off x="6217920" y="1911096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Rascunho do formulário</a:t>
            </a:r>
            <a:endParaRPr lang="en-US" sz="1100" dirty="0"/>
          </a:p>
        </p:txBody>
      </p:sp>
      <p:sp>
        <p:nvSpPr>
          <p:cNvPr id="31" name="Text 23"/>
          <p:cNvSpPr/>
          <p:nvPr/>
        </p:nvSpPr>
        <p:spPr>
          <a:xfrm>
            <a:off x="5029200" y="231343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D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26/10 a 06/11</a:t>
            </a:r>
            <a:endParaRPr lang="en-US" sz="1100" dirty="0"/>
          </a:p>
        </p:txBody>
      </p:sp>
      <p:sp>
        <p:nvSpPr>
          <p:cNvPr id="32" name="Text 24"/>
          <p:cNvSpPr/>
          <p:nvPr/>
        </p:nvSpPr>
        <p:spPr>
          <a:xfrm>
            <a:off x="6217920" y="231343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 com Kátia Sato</a:t>
            </a:r>
            <a:endParaRPr lang="en-US" sz="1100" dirty="0"/>
          </a:p>
        </p:txBody>
      </p:sp>
      <p:sp>
        <p:nvSpPr>
          <p:cNvPr id="33" name="Text 25"/>
          <p:cNvSpPr/>
          <p:nvPr/>
        </p:nvSpPr>
        <p:spPr>
          <a:xfrm>
            <a:off x="5029200" y="271576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D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a 27/11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6217920" y="271576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 com 30 fazendas</a:t>
            </a:r>
            <a:endParaRPr lang="en-US" sz="1100" dirty="0"/>
          </a:p>
        </p:txBody>
      </p:sp>
      <p:sp>
        <p:nvSpPr>
          <p:cNvPr id="35" name="Text 27"/>
          <p:cNvSpPr/>
          <p:nvPr/>
        </p:nvSpPr>
        <p:spPr>
          <a:xfrm>
            <a:off x="5029200" y="311810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D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a 27/11</a:t>
            </a:r>
            <a:endParaRPr lang="en-US" sz="1100" dirty="0"/>
          </a:p>
        </p:txBody>
      </p:sp>
      <p:sp>
        <p:nvSpPr>
          <p:cNvPr id="36" name="Text 28"/>
          <p:cNvSpPr/>
          <p:nvPr/>
        </p:nvSpPr>
        <p:spPr>
          <a:xfrm>
            <a:off x="6217920" y="3118104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Imersão técnica Dreamer</a:t>
            </a:r>
            <a:endParaRPr lang="en-US" sz="1100" dirty="0"/>
          </a:p>
        </p:txBody>
      </p:sp>
      <p:sp>
        <p:nvSpPr>
          <p:cNvPr id="37" name="Text 29"/>
          <p:cNvSpPr/>
          <p:nvPr/>
        </p:nvSpPr>
        <p:spPr>
          <a:xfrm>
            <a:off x="5029200" y="352044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D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a 18/12</a:t>
            </a:r>
            <a:endParaRPr lang="en-US" sz="1100" dirty="0"/>
          </a:p>
        </p:txBody>
      </p:sp>
      <p:sp>
        <p:nvSpPr>
          <p:cNvPr id="38" name="Text 30"/>
          <p:cNvSpPr/>
          <p:nvPr/>
        </p:nvSpPr>
        <p:spPr>
          <a:xfrm>
            <a:off x="6217920" y="352044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e PRDs (G0)</a:t>
            </a:r>
            <a:endParaRPr lang="en-US" sz="1100" dirty="0"/>
          </a:p>
        </p:txBody>
      </p:sp>
      <p:sp>
        <p:nvSpPr>
          <p:cNvPr id="39" name="Text 31"/>
          <p:cNvSpPr/>
          <p:nvPr/>
        </p:nvSpPr>
        <p:spPr>
          <a:xfrm>
            <a:off x="5029200" y="392277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D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a 05/02</a:t>
            </a:r>
            <a:endParaRPr lang="en-US" sz="1100" dirty="0"/>
          </a:p>
        </p:txBody>
      </p:sp>
      <p:sp>
        <p:nvSpPr>
          <p:cNvPr id="40" name="Text 32"/>
          <p:cNvSpPr/>
          <p:nvPr/>
        </p:nvSpPr>
        <p:spPr>
          <a:xfrm>
            <a:off x="6217920" y="3922776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final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6430</TotalTime>
  <Words>7305</Words>
  <Application>Microsoft Office PowerPoint</Application>
  <PresentationFormat>Apresentação na tela (16:9)</PresentationFormat>
  <Paragraphs>899</Paragraphs>
  <Slides>38</Slides>
  <Notes>32</Notes>
  <HiddenSlides>6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38</vt:i4>
      </vt:variant>
    </vt:vector>
  </HeadingPairs>
  <TitlesOfParts>
    <vt:vector size="43" baseType="lpstr">
      <vt:lpstr>Aptos</vt:lpstr>
      <vt:lpstr>Arial</vt:lpstr>
      <vt:lpstr>Calibri</vt:lpstr>
      <vt:lpstr>Calibri Light</vt:lpstr>
      <vt:lpstr>Office Theme</vt:lpstr>
      <vt:lpstr> 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Case v2.0 TN Manager e TN Manager Web</dc:title>
  <dc:subject>PptxGenJS Presentation</dc:subject>
  <dc:creator>Rodrigo Gennari</dc:creator>
  <cp:lastModifiedBy>Rodrigo Gennari</cp:lastModifiedBy>
  <cp:revision>13</cp:revision>
  <dcterms:created xsi:type="dcterms:W3CDTF">2026-10-07T20:43:28Z</dcterms:created>
  <dcterms:modified xsi:type="dcterms:W3CDTF">2026-10-21T00:19:23Z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6de8be1-d189-4942-ac4d-e73ca8d25762_Enabled">
    <vt:lpwstr>true</vt:lpwstr>
  </property>
  <property fmtid="{D5CDD505-2E9C-101B-9397-08002B2CF9AE}" pid="3" name="MSIP_Label_36de8be1-d189-4942-ac4d-e73ca8d25762_SetDate">
    <vt:lpwstr>2026-10-16T09:33:55Z</vt:lpwstr>
  </property>
  <property fmtid="{D5CDD505-2E9C-101B-9397-08002B2CF9AE}" pid="4" name="MSIP_Label_36de8be1-d189-4942-ac4d-e73ca8d25762_Method">
    <vt:lpwstr>Privileged</vt:lpwstr>
  </property>
  <property fmtid="{D5CDD505-2E9C-101B-9397-08002B2CF9AE}" pid="5" name="MSIP_Label_36de8be1-d189-4942-ac4d-e73ca8d25762_Name">
    <vt:lpwstr>Public</vt:lpwstr>
  </property>
  <property fmtid="{D5CDD505-2E9C-101B-9397-08002B2CF9AE}" pid="6" name="MSIP_Label_36de8be1-d189-4942-ac4d-e73ca8d25762_SiteId">
    <vt:lpwstr>aaace049-6505-453e-94a3-c70dcacf2984</vt:lpwstr>
  </property>
  <property fmtid="{D5CDD505-2E9C-101B-9397-08002B2CF9AE}" pid="7" name="MSIP_Label_36de8be1-d189-4942-ac4d-e73ca8d25762_ActionId">
    <vt:lpwstr>49bb33d2-cc89-4221-8ff2-c54442898523</vt:lpwstr>
  </property>
  <property fmtid="{D5CDD505-2E9C-101B-9397-08002B2CF9AE}" pid="8" name="MSIP_Label_36de8be1-d189-4942-ac4d-e73ca8d25762_ContentBits">
    <vt:lpwstr>0</vt:lpwstr>
  </property>
  <property fmtid="{D5CDD505-2E9C-101B-9397-08002B2CF9AE}" pid="9" name="MSIP_Label_36de8be1-d189-4942-ac4d-e73ca8d25762_Tag">
    <vt:lpwstr>10, 0, 1, 1</vt:lpwstr>
  </property>
</Properties>
</file>