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</c:v>
                </c:pt>
              </c:strCache>
            </c:strRef>
          </c:tx>
          <c:spPr>
            <a:solidFill>
              <a:srgbClr val="C810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 100 feedlots</c:v>
                  </c:pt>
                  <c:pt idx="1">
                    <c:v>Pareto 80% (265 accounts)</c:v>
                  </c:pt>
                  <c:pt idx="2">
                    <c:v>Feedlot</c:v>
                  </c:pt>
                  <c:pt idx="3">
                    <c:v>Total Beef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10.5</c:v>
                </c:pt>
                <c:pt idx="2">
                  <c:v>13</c:v>
                </c:pt>
                <c:pt idx="3">
                  <c:v>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Objetivo da reunião: revisar o Business Case do TN Manager à luz do que mudou desde 2023 e sair com 3 decisões. Fale que a apresentação dura cerca de 18 minutos e o restante é discussão.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pela conclusão (2 min). Mensagem: o problema de 2023 continua, mas a forma de resolver muda. Em vez de um sistema completo para grandes confinamentos, começamos com uma versão simples, testada em 5 fazendas, e só crescemos quando houver prova de uso. Se o chefe só ouvir este slide, ele já sabe o que você está pedindo.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com o Business Case de 2023 (1 min). Leia só a coluna da direita. Ponto-chave: a v1.0 decidiu com base em premissas internas; a v2.0 decide com base em pesquisa com fazendas.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em números (1 min). São dados da própria v1.0, de 2023. Deixe claro que serão atualizados no diagnóstico de dezembro. Não se aprofunde: o chefe já conhece esses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do público-alvo (2 min). Tema 1 da pauta. Explique os dois eixos: tamanho da fazenda e nível de controle de dados. A v1.0 mirou o canto superior direito, onde a Cargill é mais forte. A proposta é começar no canto inferior esquerdo: fazendas médias que anotam em papel ou planilha. Deixe claro que é hipótese e que a pesquisa de novembro confirma.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da fazenda piloto (1 min). Mostre que existem critérios objetivos para escolher as 5 primeiras fazendas. Destaque: no piloto, só clientes TN, porque o técnico já está lá e o risco é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valor (2 min). Tema 2 da pauta. Leia da direita para a esquerda: primeiro o que o pecuarista precisa fazer (tarefas), o que dói e o que ele quer ganhar. Depois mostre que cada item da esquerda responde a um item da direita. Frase de efeito: o cliente não compra software, ele compra saber o custo do lote sem montar planilha.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Posicionamento (1 min). Antecipe a objeção: a versão web não é uma versão pior. Ela é a porta de entrada. Quem amadurecer migra para o TN Manager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Descrição do MVP (2 min). Tema 3 da pauta. MVP é o produto mínimo: o menor sistema que já resolve a dor principal. Mostre só a coluna rosa. Diga o que NÃO entra (coluna cinza): isso mostra disciplina e evita o erro da v1.0 de querer tudo de uma vez. Lembrete: a Dreamer já tem 78 de 131 tarefas prontas, com entrega prevista para o fim de novembro.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MVP funciona (1 min). Conte como uma história: cadastra uma vez, lança todo dia em poucos minutos, e toda semana o relatório sai sozinho para o dono e para o técnico. O técnico TN fecha o ciclo ajustando a dieta. É aqui que o produto vende nutrição.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alvo (3 min). Tema 4 da pauta. Explique assim: o cronograma mostra as tarefas do projeto semana a semana; o roadmap mostra aonde o PRODUTO vai chegar e em que ordem, em meses e anos. Cada barra é uma fase com um tamanho de fazenda: 5, depois 20, depois 50 ou mais. Os losangos verdes (G0 a G3) são pontos de decisão: só avançamos se a fase anterior bater as metas (detalhe no anexo). O piloto começa em março porque muitos confinamentos pequenos e médios só enchem no período seco.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 (3 min). Tema 5 da pauta. GTM é como o produto chega ao cliente: para quem vendemos primeiro, por qual canal, com qual oferta e como cobramos. Ordem: primeiro clientes atuais (menor risco), depois recuperar quem saiu, depois atrair novos. O canal é o técnico TN, nosso diferencial frente à Cargill. Preço: a proposta é não cobrar licença e embutir o custo no produto, como a v1.0 previa. Deixe claro que o modelo final de cobrança será fechado na etapa de monetização, em janeiro.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 de validação (1 min). Mostre que tudo que foi dito até aqui é hipótese e será testado. Datas do cronograma revisado: formulário revisado com a consultora até 06/11, respostas de 09/11 a 27/11, resultado em 04/12 e diagnóstico de 07 a 11/12.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(1 min) e abertura da discussão. Peça as 3 decisões em voz alta. Depois abra: o que falta para você aprovar? Use os slides do anexo se perguntarem sobre metas ou riscos.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Anexo: use só se o chefe perguntar como vamos saber se o piloto deu certo. São metas propostas, abertas para discussão.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Anexo: riscos. Use se a discussão for para o lado do que pode dar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v2.0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and TN Manager Web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product creates value and for whom: target customer, value proposition, MVP, target roadmap and go-to-market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 Nutrition Brazil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Gennari  |  October 2026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114800"/>
            <a:ext cx="59436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take a step back, prove value with a few farms, then scale.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291840" cy="306324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371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TN Manager Web first: a simple, manual-entry version, piloted with 5 feedlots. Each new version moves forward only after the previous one proves use and value.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scaling: survey with at least 30 feedlots, internal interviews and competitor benchmark.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69080" y="1188720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1" name="Text 8"/>
          <p:cNvSpPr/>
          <p:nvPr/>
        </p:nvSpPr>
        <p:spPr>
          <a:xfrm>
            <a:off x="4069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09160" y="11704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 is still there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09160" y="14630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Feedlot accounts for 19% of Beef Sales Profit, and v1.0 recorded 51,000 heads lost to competitors with stronger digital support.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69080" y="2240280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5" name="Text 12"/>
          <p:cNvSpPr/>
          <p:nvPr/>
        </p:nvSpPr>
        <p:spPr>
          <a:xfrm>
            <a:off x="4069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09160" y="2221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customer must change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9160" y="25146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targeted large, automated feedlots, where Cargill and DSM/Prodap are strongest. Our hypothesis: the bigger gap is in feedlots that still record data on paper or spreadsheets.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069080" y="3291840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9" name="Text 16"/>
          <p:cNvSpPr/>
          <p:nvPr/>
        </p:nvSpPr>
        <p:spPr>
          <a:xfrm>
            <a:off x="4069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709160" y="32735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investing more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09160" y="35661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MVP scope comes from customers, former customers and non-customers, not from internal assumptions.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from v1.0 to v2.0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moves from how to defend our base to where the product creates value and for whom.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 (October 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66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 (October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6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feedlots (A+ and B+), minimum 2,000 heads, with weighing and structured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and medium feedlots with manual or spreadsheet records, customers and non-customers (hypothesis)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cloud app, hardware integration and offline terminal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Manager Web: manual entry, few indicators, released in versions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assumptions and list of lost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interviews, competitor benchmark and survey with 30+ feedlots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customers in year 1 and 200 in year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pilot farms, then waves with go/no-go 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Profit and market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use and perceived value first; Sales Profit 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Feedlot is still a key revenue stream at risk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2023 numbers still justify the project. v2.0 changes how we solve it.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Feedlot App Business Case v1.0 (Oct/2023) and OGP Brazil 2023. To be refreshed in the diagnosis.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Sales Profit 2022 (BRL million)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417320"/>
          <a:ext cx="49377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6"/>
          <p:cNvSpPr/>
          <p:nvPr/>
        </p:nvSpPr>
        <p:spPr>
          <a:xfrm>
            <a:off x="5577840" y="1188720"/>
            <a:ext cx="54864" cy="1325880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1" name="Text 7"/>
          <p:cNvSpPr/>
          <p:nvPr/>
        </p:nvSpPr>
        <p:spPr>
          <a:xfrm>
            <a:off x="57332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7332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Beef Sales Profit comes from feedlots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1780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0"/>
          <p:cNvSpPr/>
          <p:nvPr/>
        </p:nvSpPr>
        <p:spPr>
          <a:xfrm>
            <a:off x="7178040" y="1188720"/>
            <a:ext cx="54864" cy="132588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15" name="Text 11"/>
          <p:cNvSpPr/>
          <p:nvPr/>
        </p:nvSpPr>
        <p:spPr>
          <a:xfrm>
            <a:off x="73334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51k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3334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lost in 7 accounts, mostly to Cargill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778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Shape 14"/>
          <p:cNvSpPr/>
          <p:nvPr/>
        </p:nvSpPr>
        <p:spPr>
          <a:xfrm>
            <a:off x="5577840" y="2670048"/>
            <a:ext cx="54864" cy="1325880"/>
          </a:xfrm>
          <a:prstGeom prst="rect">
            <a:avLst/>
          </a:prstGeom>
          <a:solidFill>
            <a:srgbClr val="26668F"/>
          </a:solidFill>
          <a:ln/>
        </p:spPr>
      </p:sp>
      <p:sp>
        <p:nvSpPr>
          <p:cNvPr id="19" name="Text 15"/>
          <p:cNvSpPr/>
          <p:nvPr/>
        </p:nvSpPr>
        <p:spPr>
          <a:xfrm>
            <a:off x="57332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12.5k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7332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at risk of loss in 2023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1780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Shape 18"/>
          <p:cNvSpPr/>
          <p:nvPr/>
        </p:nvSpPr>
        <p:spPr>
          <a:xfrm>
            <a:off x="7178040" y="2670048"/>
            <a:ext cx="54864" cy="132588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3" name="Text 19"/>
          <p:cNvSpPr/>
          <p:nvPr/>
        </p:nvSpPr>
        <p:spPr>
          <a:xfrm>
            <a:off x="73334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73334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in premix, minerals and concentrates for feedlots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 review: where TN Manager Web plays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aimed at the most contested quadrant. v2.0 starts where pain is high and simple tools are scarce.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88136" y="1179576"/>
            <a:ext cx="2670048" cy="1481328"/>
          </a:xfrm>
          <a:prstGeom prst="rect">
            <a:avLst/>
          </a:prstGeom>
          <a:solidFill>
            <a:srgbClr val="FBE7F1"/>
          </a:solidFill>
          <a:ln/>
        </p:spPr>
      </p:sp>
      <p:sp>
        <p:nvSpPr>
          <p:cNvPr id="7" name="Shape 4"/>
          <p:cNvSpPr/>
          <p:nvPr/>
        </p:nvSpPr>
        <p:spPr>
          <a:xfrm>
            <a:off x="12344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C8106E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manual records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pain and high product volume. Second wave for TN Manager Web.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31336" y="117957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39776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26668F"/>
          </a:solidFill>
          <a:ln/>
        </p:spPr>
      </p:sp>
      <p:sp>
        <p:nvSpPr>
          <p:cNvPr id="13" name="Text 10"/>
          <p:cNvSpPr/>
          <p:nvPr/>
        </p:nvSpPr>
        <p:spPr>
          <a:xfrm>
            <a:off x="39776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77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automated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776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focus. Contested by Cargill and DSM/Prodap. Full TN Manager territory.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88136" y="2734056"/>
            <a:ext cx="2670048" cy="1481328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7" name="Shape 14"/>
          <p:cNvSpPr/>
          <p:nvPr/>
        </p:nvSpPr>
        <p:spPr>
          <a:xfrm>
            <a:off x="12344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/>
        </p:spPr>
      </p:sp>
      <p:sp>
        <p:nvSpPr>
          <p:cNvPr id="18" name="Text 15"/>
          <p:cNvSpPr/>
          <p:nvPr/>
        </p:nvSpPr>
        <p:spPr>
          <a:xfrm>
            <a:off x="12344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344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Medium, manual records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farms and fewest simple tools available. Suggested entry point for the pilot.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31336" y="273405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Shape 19"/>
          <p:cNvSpPr/>
          <p:nvPr/>
        </p:nvSpPr>
        <p:spPr>
          <a:xfrm>
            <a:off x="39776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7A858F"/>
          </a:solidFill>
          <a:ln/>
        </p:spPr>
      </p:sp>
      <p:sp>
        <p:nvSpPr>
          <p:cNvPr id="23" name="Text 20"/>
          <p:cNvSpPr/>
          <p:nvPr/>
        </p:nvSpPr>
        <p:spPr>
          <a:xfrm>
            <a:off x="39776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9776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Medium, automated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9776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uses some tool. Assess switch or integration in a later version.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20040" y="1143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2004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3474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515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or spreadsheet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7947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feed mixer and software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maturity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12280" y="1143000"/>
            <a:ext cx="1920240" cy="310896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33" name="Text 30"/>
          <p:cNvSpPr/>
          <p:nvPr/>
        </p:nvSpPr>
        <p:spPr>
          <a:xfrm>
            <a:off x="6967728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shift focus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67728" y="1627632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feedlots compare TN Manager with mature systems and larger field teams.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feedlots compare it with a notebook. A simple product already shows a visible gain.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confirms minimum size and how big each quadrant is.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 profile for the pilot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criteria to select the first farms. Minimum herd size comes from the survey.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606040" cy="41148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2606040" cy="2331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19072"/>
            <a:ext cx="2404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feedlot with regular in and out cycles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customer for nucleus, premix or minerals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today on paper, notebook or spreadsheet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responsible for daily data entry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technician with regular visits or contact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06040" cy="41148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46120" y="1600200"/>
            <a:ext cx="2606040" cy="2331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1719072"/>
            <a:ext cx="2404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at entry and exit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bunk reading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at the farm office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willing to give feedback every 2 weeks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35040" y="1188720"/>
            <a:ext cx="2606040" cy="411480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initial scope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1600200"/>
            <a:ext cx="2606040" cy="2331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1719072"/>
            <a:ext cx="2404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already integrated with scales, mixers and software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Feedlots with no minimum recording routine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Pasture backgrounding, dairy and other species (kept from v1.0)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solidFill>
            <a:srgbClr val="FBE7F1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0416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size: </a:t>
            </a:r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used 2,000 heads. For the manual version, the ideal range will be set with survey data.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proposition: TN Manager Web canvas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what we deliver. Right: what the feedlot needs. Hypotheses to validate in the survey.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71600"/>
            <a:ext cx="1783080" cy="27432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and services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with manual data entry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a few indicators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weekly report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by the TN technician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317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666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31720" y="1371600"/>
            <a:ext cx="1965960" cy="274320"/>
          </a:xfrm>
          <a:prstGeom prst="rect">
            <a:avLst/>
          </a:prstGeom>
          <a:solidFill>
            <a:srgbClr val="26668F"/>
          </a:solidFill>
          <a:ln/>
        </p:spPr>
      </p:sp>
      <p:sp>
        <p:nvSpPr>
          <p:cNvPr id="14" name="Text 11"/>
          <p:cNvSpPr/>
          <p:nvPr/>
        </p:nvSpPr>
        <p:spPr>
          <a:xfrm>
            <a:off x="24231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relievers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865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standard entry forms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fee for the farmer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from the technician who already visits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3317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31720" y="2880360"/>
            <a:ext cx="1965960" cy="27432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8" name="Text 15"/>
          <p:cNvSpPr/>
          <p:nvPr/>
        </p:nvSpPr>
        <p:spPr>
          <a:xfrm>
            <a:off x="24231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creators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3865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ready for the owner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adjustment advice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between lots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463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1371600"/>
            <a:ext cx="1965960" cy="274320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22" name="Text 19"/>
          <p:cNvSpPr/>
          <p:nvPr/>
        </p:nvSpPr>
        <p:spPr>
          <a:xfrm>
            <a:off x="49377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011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in notebooks and spreadsheets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errors and rework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is costly, complex or unsupported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463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0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46320" y="2880360"/>
            <a:ext cx="1965960" cy="274320"/>
          </a:xfrm>
          <a:prstGeom prst="rect">
            <a:avLst/>
          </a:prstGeom>
          <a:solidFill>
            <a:srgbClr val="A30C5A"/>
          </a:solidFill>
          <a:ln/>
        </p:spPr>
      </p:sp>
      <p:sp>
        <p:nvSpPr>
          <p:cNvPr id="26" name="Text 23"/>
          <p:cNvSpPr/>
          <p:nvPr/>
        </p:nvSpPr>
        <p:spPr>
          <a:xfrm>
            <a:off x="49377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9011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lot performance every week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similar farms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 reviewing the numbers together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0372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295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03720" y="1371600"/>
            <a:ext cx="1783080" cy="274320"/>
          </a:xfrm>
          <a:prstGeom prst="rect">
            <a:avLst/>
          </a:prstGeom>
          <a:solidFill>
            <a:srgbClr val="12295F"/>
          </a:solidFill>
          <a:ln/>
        </p:spPr>
      </p:sp>
      <p:sp>
        <p:nvSpPr>
          <p:cNvPr id="30" name="Text 27"/>
          <p:cNvSpPr/>
          <p:nvPr/>
        </p:nvSpPr>
        <p:spPr>
          <a:xfrm>
            <a:off x="699516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jobs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95858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daily feeding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cost per lot and per arroba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entries, exits and deaths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owner or partner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325112" y="2578608"/>
            <a:ext cx="502920" cy="502920"/>
          </a:xfrm>
          <a:prstGeom prst="ellipse">
            <a:avLst/>
          </a:prstGeom>
          <a:solidFill>
            <a:srgbClr val="C5D300"/>
          </a:solidFill>
          <a:ln/>
        </p:spPr>
      </p:sp>
      <p:sp>
        <p:nvSpPr>
          <p:cNvPr id="33" name="Text 30"/>
          <p:cNvSpPr/>
          <p:nvPr/>
        </p:nvSpPr>
        <p:spPr>
          <a:xfrm>
            <a:off x="432511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versions, two roles in the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 opens the door and prepares the customer to move to the full version.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8840" y="1143000"/>
            <a:ext cx="3200400" cy="365760"/>
          </a:xfrm>
          <a:prstGeom prst="rect">
            <a:avLst/>
          </a:prstGeom>
          <a:solidFill>
            <a:srgbClr val="266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(v1.0 scope)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1143000"/>
            <a:ext cx="3200400" cy="365760"/>
          </a:xfrm>
          <a:prstGeom prst="rect">
            <a:avLst/>
          </a:prstGeom>
          <a:solidFill>
            <a:srgbClr val="C810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 (v2.0 proposal)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600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whom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4028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feedlots with scales, mixers and a structured team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Feedlots with manual records (hypothesis)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20574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4028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 and automatic capture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in simple forms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514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24028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offline terminal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7784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on computer or phone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24028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management, integrations and add-ons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essential modules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4290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4290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and support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24028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project with a dedicated team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7784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technician who already serves the farm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3886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strategy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24028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A+ and B+ accounts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7784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Win, teach and prepare for migration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what goes into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prioritization. Only the first column is required for the pilot.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965960" cy="566928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0.1, pilot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1965960" cy="2542032"/>
          </a:xfrm>
          <a:prstGeom prst="rect">
            <a:avLst/>
          </a:prstGeom>
          <a:solidFill>
            <a:srgbClr val="FBE7F1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Farm, pen and lot registration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feed delivery per pen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Bunk reading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Entries, weighing, exits, deaths and sick pen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dry matter intake, ADG, days on feed and mortality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PDF report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32888" y="1188720"/>
            <a:ext cx="1965960" cy="566928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12" name="Text 9"/>
          <p:cNvSpPr/>
          <p:nvPr/>
        </p:nvSpPr>
        <p:spPr>
          <a:xfrm>
            <a:off x="2642616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42616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0.2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32888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2"/>
          <p:cNvSpPr/>
          <p:nvPr/>
        </p:nvSpPr>
        <p:spPr>
          <a:xfrm>
            <a:off x="2587752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registration with dry matter correction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lot and per arroba produced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alerts for intake off target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08576" y="1188720"/>
            <a:ext cx="1965960" cy="56692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7" name="Text 14"/>
          <p:cNvSpPr/>
          <p:nvPr/>
        </p:nvSpPr>
        <p:spPr>
          <a:xfrm>
            <a:off x="4718304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18304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0.3 onward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08576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Text 17"/>
          <p:cNvSpPr/>
          <p:nvPr/>
        </p:nvSpPr>
        <p:spPr>
          <a:xfrm>
            <a:off x="4663440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existing spreadsheet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between lots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benchmark between farms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84264" y="1188720"/>
            <a:ext cx="1965960" cy="566928"/>
          </a:xfrm>
          <a:prstGeom prst="rect">
            <a:avLst/>
          </a:prstGeom>
          <a:solidFill>
            <a:srgbClr val="7A858F"/>
          </a:solidFill>
          <a:ln/>
        </p:spPr>
      </p:sp>
      <p:sp>
        <p:nvSpPr>
          <p:cNvPr id="22" name="Text 19"/>
          <p:cNvSpPr/>
          <p:nvPr/>
        </p:nvSpPr>
        <p:spPr>
          <a:xfrm>
            <a:off x="6793992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 now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93992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for the full version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684264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Text 22"/>
          <p:cNvSpPr/>
          <p:nvPr/>
        </p:nvSpPr>
        <p:spPr>
          <a:xfrm>
            <a:off x="6739128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scales, mixers and hardware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offline app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and sustainability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Backgrounding, dairy and other species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MVP fits the farm routine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steps. If it does not fit the pen routine, it does not go into the MVP.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04672" y="1234440"/>
            <a:ext cx="868680" cy="868680"/>
          </a:xfrm>
          <a:prstGeom prst="ellipse">
            <a:avLst/>
          </a:prstGeom>
          <a:solidFill>
            <a:srgbClr val="1B3A8C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764792" y="1554480"/>
            <a:ext cx="34747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Farm, pens, lots and diet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1234440"/>
            <a:ext cx="868680" cy="868680"/>
          </a:xfrm>
          <a:prstGeom prst="ellipse">
            <a:avLst/>
          </a:prstGeom>
          <a:solidFill>
            <a:srgbClr val="26668F"/>
          </a:solidFill>
          <a:ln/>
        </p:spPr>
      </p:sp>
      <p:sp>
        <p:nvSpPr>
          <p:cNvPr id="13" name="Text 10"/>
          <p:cNvSpPr/>
          <p:nvPr/>
        </p:nvSpPr>
        <p:spPr>
          <a:xfrm>
            <a:off x="2487168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3447288" y="1554480"/>
            <a:ext cx="34747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15" name="Text 12"/>
          <p:cNvSpPr/>
          <p:nvPr/>
        </p:nvSpPr>
        <p:spPr>
          <a:xfrm>
            <a:off x="2185416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185416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31136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delivered and bunk reading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69664" y="1234440"/>
            <a:ext cx="868680" cy="868680"/>
          </a:xfrm>
          <a:prstGeom prst="ellipse">
            <a:avLst/>
          </a:prstGeom>
          <a:solidFill>
            <a:srgbClr val="0096B4"/>
          </a:solidFill>
          <a:ln/>
        </p:spPr>
      </p:sp>
      <p:sp>
        <p:nvSpPr>
          <p:cNvPr id="19" name="Text 16"/>
          <p:cNvSpPr/>
          <p:nvPr/>
        </p:nvSpPr>
        <p:spPr>
          <a:xfrm>
            <a:off x="4169664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129784" y="1554480"/>
            <a:ext cx="34747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21" name="Text 18"/>
          <p:cNvSpPr/>
          <p:nvPr/>
        </p:nvSpPr>
        <p:spPr>
          <a:xfrm>
            <a:off x="3867912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67912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happens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913632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Entries, weighing, exits and deaths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52160" y="1234440"/>
            <a:ext cx="868680" cy="86868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5" name="Text 22"/>
          <p:cNvSpPr/>
          <p:nvPr/>
        </p:nvSpPr>
        <p:spPr>
          <a:xfrm>
            <a:off x="585216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6812280" y="1554480"/>
            <a:ext cx="34747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27" name="Text 24"/>
          <p:cNvSpPr/>
          <p:nvPr/>
        </p:nvSpPr>
        <p:spPr>
          <a:xfrm>
            <a:off x="5550408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550408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596128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report generated automatically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34656" y="1234440"/>
            <a:ext cx="868680" cy="86868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31" name="Text 28"/>
          <p:cNvSpPr/>
          <p:nvPr/>
        </p:nvSpPr>
        <p:spPr>
          <a:xfrm>
            <a:off x="7534656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7232904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232904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TN technician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278624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numbers and adjust the diet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3520440"/>
            <a:ext cx="26060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6" name="Shape 33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37" name="Text 34"/>
          <p:cNvSpPr/>
          <p:nvPr/>
        </p:nvSpPr>
        <p:spPr>
          <a:xfrm>
            <a:off x="621792" y="3593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fields per screen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21792" y="3858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daily entry in up to 10 minutes.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246120" y="3520440"/>
            <a:ext cx="26060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0" name="Shape 37"/>
          <p:cNvSpPr/>
          <p:nvPr/>
        </p:nvSpPr>
        <p:spPr>
          <a:xfrm>
            <a:off x="3246120" y="3520440"/>
            <a:ext cx="54864" cy="77724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41" name="Text 38"/>
          <p:cNvSpPr/>
          <p:nvPr/>
        </p:nvSpPr>
        <p:spPr>
          <a:xfrm>
            <a:off x="3410712" y="3593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Feedlot language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3410712" y="3858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the pen crew already uses, no system jargon.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035040" y="3520440"/>
            <a:ext cx="26060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4" name="Shape 41"/>
          <p:cNvSpPr/>
          <p:nvPr/>
        </p:nvSpPr>
        <p:spPr>
          <a:xfrm>
            <a:off x="6035040" y="3520440"/>
            <a:ext cx="54864" cy="77724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45" name="Text 42"/>
          <p:cNvSpPr/>
          <p:nvPr/>
        </p:nvSpPr>
        <p:spPr>
          <a:xfrm>
            <a:off x="6199632" y="3593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for weak internet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6199632" y="3858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screens that load on farm connections.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roadmap: grow by versions, with a decision at each step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dates. The pilot is timed with feedlot occupancy in the dry season.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807208" y="1097280"/>
            <a:ext cx="700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526155" y="1325880"/>
            <a:ext cx="914" cy="278892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3544443" y="1097280"/>
            <a:ext cx="700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263390" y="1325880"/>
            <a:ext cx="914" cy="278892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4281678" y="1097280"/>
            <a:ext cx="700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00625" y="1325880"/>
            <a:ext cx="914" cy="278892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018913" y="1097280"/>
            <a:ext cx="700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27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737860" y="1325880"/>
            <a:ext cx="914" cy="278892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5756148" y="1097280"/>
            <a:ext cx="700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75095" y="1325880"/>
            <a:ext cx="914" cy="278892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493383" y="1097280"/>
            <a:ext cx="700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28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212330" y="1325880"/>
            <a:ext cx="914" cy="278892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7230618" y="1097280"/>
            <a:ext cx="700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28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49565" y="1325880"/>
            <a:ext cx="914" cy="278892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7967853" y="1097280"/>
            <a:ext cx="7006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28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1399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 Discovery and plan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Survey, diagnosis, PRDs and business plan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88920" y="1417320"/>
            <a:ext cx="1192149" cy="365760"/>
          </a:xfrm>
          <a:prstGeom prst="roundRect">
            <a:avLst>
              <a:gd name="adj" fmla="val 15000"/>
            </a:avLst>
          </a:prstGeom>
          <a:solidFill>
            <a:srgbClr val="1B3A8C"/>
          </a:solidFill>
          <a:ln/>
        </p:spPr>
      </p:sp>
      <p:sp>
        <p:nvSpPr>
          <p:cNvPr id="24" name="Text 21"/>
          <p:cNvSpPr/>
          <p:nvPr/>
        </p:nvSpPr>
        <p:spPr>
          <a:xfrm>
            <a:off x="2816352" y="1417320"/>
            <a:ext cx="11372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to Feb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19293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MVP pilot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21305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0.1 with 5 TN customer farms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017645" y="1947672"/>
            <a:ext cx="1437894" cy="365760"/>
          </a:xfrm>
          <a:prstGeom prst="roundRect">
            <a:avLst>
              <a:gd name="adj" fmla="val 15000"/>
            </a:avLst>
          </a:prstGeom>
          <a:solidFill>
            <a:srgbClr val="C8106E"/>
          </a:solidFill>
          <a:ln/>
        </p:spPr>
      </p:sp>
      <p:sp>
        <p:nvSpPr>
          <p:cNvPr id="28" name="Text 25"/>
          <p:cNvSpPr/>
          <p:nvPr/>
        </p:nvSpPr>
        <p:spPr>
          <a:xfrm>
            <a:off x="4045077" y="1947672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to Aug 27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4597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First wave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2660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0.2 with about 20 farms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92115" y="2478024"/>
            <a:ext cx="946404" cy="365760"/>
          </a:xfrm>
          <a:prstGeom prst="roundRect">
            <a:avLst>
              <a:gd name="adj" fmla="val 15000"/>
            </a:avLst>
          </a:prstGeom>
          <a:solidFill>
            <a:srgbClr val="26668F"/>
          </a:solidFill>
          <a:ln/>
        </p:spPr>
      </p:sp>
      <p:sp>
        <p:nvSpPr>
          <p:cNvPr id="32" name="Text 29"/>
          <p:cNvSpPr/>
          <p:nvPr/>
        </p:nvSpPr>
        <p:spPr>
          <a:xfrm>
            <a:off x="5519547" y="2478024"/>
            <a:ext cx="891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to Dec 27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29900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Expansion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57200" y="31912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0.3 with 50+ farms and trained technicians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475095" y="3008376"/>
            <a:ext cx="1437894" cy="365760"/>
          </a:xfrm>
          <a:prstGeom prst="roundRect">
            <a:avLst>
              <a:gd name="adj" fmla="val 15000"/>
            </a:avLst>
          </a:prstGeom>
          <a:solidFill>
            <a:srgbClr val="0096B4"/>
          </a:solidFill>
          <a:ln/>
        </p:spPr>
      </p:sp>
      <p:sp>
        <p:nvSpPr>
          <p:cNvPr id="36" name="Text 33"/>
          <p:cNvSpPr/>
          <p:nvPr/>
        </p:nvSpPr>
        <p:spPr>
          <a:xfrm>
            <a:off x="6502527" y="3008376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Jun 28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Convergence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57200" y="3721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farms move to full TN Manager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949565" y="3538728"/>
            <a:ext cx="700659" cy="365760"/>
          </a:xfrm>
          <a:prstGeom prst="roundRect">
            <a:avLst>
              <a:gd name="adj" fmla="val 15000"/>
            </a:avLst>
          </a:prstGeom>
          <a:solidFill>
            <a:srgbClr val="00A8A8"/>
          </a:solidFill>
          <a:ln/>
        </p:spPr>
      </p:sp>
      <p:sp>
        <p:nvSpPr>
          <p:cNvPr id="40" name="Text 37"/>
          <p:cNvSpPr/>
          <p:nvPr/>
        </p:nvSpPr>
        <p:spPr>
          <a:xfrm>
            <a:off x="7976997" y="3538728"/>
            <a:ext cx="6457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28 on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889629" y="4133088"/>
            <a:ext cx="256032" cy="256032"/>
          </a:xfrm>
          <a:prstGeom prst="diamond">
            <a:avLst/>
          </a:prstGeom>
          <a:solidFill>
            <a:srgbClr val="C5D300"/>
          </a:solidFill>
          <a:ln/>
        </p:spPr>
      </p:sp>
      <p:sp>
        <p:nvSpPr>
          <p:cNvPr id="42" name="Text 39"/>
          <p:cNvSpPr/>
          <p:nvPr/>
        </p:nvSpPr>
        <p:spPr>
          <a:xfrm>
            <a:off x="3789045" y="4398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364099" y="4133088"/>
            <a:ext cx="256032" cy="256032"/>
          </a:xfrm>
          <a:prstGeom prst="diamond">
            <a:avLst/>
          </a:prstGeom>
          <a:solidFill>
            <a:srgbClr val="C5D300"/>
          </a:solidFill>
          <a:ln/>
        </p:spPr>
      </p:sp>
      <p:sp>
        <p:nvSpPr>
          <p:cNvPr id="44" name="Text 41"/>
          <p:cNvSpPr/>
          <p:nvPr/>
        </p:nvSpPr>
        <p:spPr>
          <a:xfrm>
            <a:off x="5263515" y="4398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347079" y="4133088"/>
            <a:ext cx="256032" cy="256032"/>
          </a:xfrm>
          <a:prstGeom prst="diamond">
            <a:avLst/>
          </a:prstGeom>
          <a:solidFill>
            <a:srgbClr val="C5D300"/>
          </a:solidFill>
          <a:ln/>
        </p:spPr>
      </p:sp>
      <p:sp>
        <p:nvSpPr>
          <p:cNvPr id="46" name="Text 43"/>
          <p:cNvSpPr/>
          <p:nvPr/>
        </p:nvSpPr>
        <p:spPr>
          <a:xfrm>
            <a:off x="6246495" y="4398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821549" y="4133088"/>
            <a:ext cx="256032" cy="256032"/>
          </a:xfrm>
          <a:prstGeom prst="diamond">
            <a:avLst/>
          </a:prstGeom>
          <a:solidFill>
            <a:srgbClr val="C5D300"/>
          </a:solidFill>
          <a:ln/>
        </p:spPr>
      </p:sp>
      <p:sp>
        <p:nvSpPr>
          <p:cNvPr id="48" name="Text 45"/>
          <p:cNvSpPr/>
          <p:nvPr/>
        </p:nvSpPr>
        <p:spPr>
          <a:xfrm>
            <a:off x="7720965" y="4398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57200" y="41605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decisions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technician-led, inside-out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who already trusts us, then win back, then attract new customers.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514600" cy="114300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618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5156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TN customers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farms, onboarded by their own TN technician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99232" y="1645920"/>
            <a:ext cx="25603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12" name="Shape 9"/>
          <p:cNvSpPr/>
          <p:nvPr/>
        </p:nvSpPr>
        <p:spPr>
          <a:xfrm>
            <a:off x="3291840" y="1188720"/>
            <a:ext cx="2514600" cy="1143000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12618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88620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back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88620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customers and detractors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29000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the conversation with proof from the pilot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33872" y="1645920"/>
            <a:ext cx="25603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18" name="Shape 15"/>
          <p:cNvSpPr/>
          <p:nvPr/>
        </p:nvSpPr>
        <p:spPr>
          <a:xfrm>
            <a:off x="6126480" y="1188720"/>
            <a:ext cx="2514600" cy="11430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12618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72084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2084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Non-customers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plus technical service as the entry door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2560320"/>
            <a:ext cx="1965960" cy="1737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2560320"/>
            <a:ext cx="1965960" cy="54864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26974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6928" y="3017520"/>
            <a:ext cx="1746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technicians and RTVs onboard and follow up each farm. v1.0 premise: 1 technician for 5 farms.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32888" y="2560320"/>
            <a:ext cx="1965960" cy="1737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8" name="Shape 25"/>
          <p:cNvSpPr/>
          <p:nvPr/>
        </p:nvSpPr>
        <p:spPr>
          <a:xfrm>
            <a:off x="2532888" y="2560320"/>
            <a:ext cx="1965960" cy="54864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29" name="Text 26"/>
          <p:cNvSpPr/>
          <p:nvPr/>
        </p:nvSpPr>
        <p:spPr>
          <a:xfrm>
            <a:off x="2642616" y="26974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642616" y="3017520"/>
            <a:ext cx="1746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Web, technical follow-up and a weekly report, bundled with TN nutrition.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608576" y="2560320"/>
            <a:ext cx="1965960" cy="1737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2" name="Shape 29"/>
          <p:cNvSpPr/>
          <p:nvPr/>
        </p:nvSpPr>
        <p:spPr>
          <a:xfrm>
            <a:off x="4608576" y="2560320"/>
            <a:ext cx="1965960" cy="54864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33" name="Text 30"/>
          <p:cNvSpPr/>
          <p:nvPr/>
        </p:nvSpPr>
        <p:spPr>
          <a:xfrm>
            <a:off x="4718304" y="26974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718304" y="3017520"/>
            <a:ext cx="1746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fee for the farmer. Cost covered in product price (v1.0 modeled a 3.8% markup). Final model in the monetization step.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684264" y="2560320"/>
            <a:ext cx="1965960" cy="1737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6" name="Shape 33"/>
          <p:cNvSpPr/>
          <p:nvPr/>
        </p:nvSpPr>
        <p:spPr>
          <a:xfrm>
            <a:off x="6684264" y="2560320"/>
            <a:ext cx="1965960" cy="54864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37" name="Text 34"/>
          <p:cNvSpPr/>
          <p:nvPr/>
        </p:nvSpPr>
        <p:spPr>
          <a:xfrm>
            <a:off x="6793992" y="26974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793992" y="3017520"/>
            <a:ext cx="1746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results become case studies, shown in technical events and referrals between farmers.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scaling: research plan and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research fronts feed the diagnosis on December 7 to 11.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06040" cy="658368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533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alignment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1556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8"/>
          <p:cNvSpPr/>
          <p:nvPr/>
        </p:nvSpPr>
        <p:spPr>
          <a:xfrm>
            <a:off x="585216" y="189280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85216" y="2084832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understanding and support among those who can speed up or block the project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5216" y="269748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85216" y="2889504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leadership, sales management, technicians, RTVs, IT and marketing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85216" y="350215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85216" y="3694176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October 23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46120" y="1143000"/>
            <a:ext cx="2606040" cy="658368"/>
          </a:xfrm>
          <a:prstGeom prst="rect">
            <a:avLst/>
          </a:prstGeom>
          <a:solidFill>
            <a:srgbClr val="26668F"/>
          </a:solidFill>
          <a:ln/>
        </p:spPr>
      </p:sp>
      <p:sp>
        <p:nvSpPr>
          <p:cNvPr id="19" name="Shape 15"/>
          <p:cNvSpPr/>
          <p:nvPr/>
        </p:nvSpPr>
        <p:spPr>
          <a:xfrm>
            <a:off x="335584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1353312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0448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benchmark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90448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systems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4612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4" name="Text 19"/>
          <p:cNvSpPr/>
          <p:nvPr/>
        </p:nvSpPr>
        <p:spPr>
          <a:xfrm>
            <a:off x="3374136" y="189280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374136" y="2084832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weaknesses of systems in the market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374136" y="269748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74136" y="2889504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firms using several systems and consultants with their own system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374136" y="350215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374136" y="3694176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October 23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035040" y="1143000"/>
            <a:ext cx="2606040" cy="658368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31" name="Shape 26"/>
          <p:cNvSpPr/>
          <p:nvPr/>
        </p:nvSpPr>
        <p:spPr>
          <a:xfrm>
            <a:off x="614476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3533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69340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69340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detractors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03504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6" name="Text 30"/>
          <p:cNvSpPr/>
          <p:nvPr/>
        </p:nvSpPr>
        <p:spPr>
          <a:xfrm>
            <a:off x="6163056" y="189280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163056" y="2084832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perceived value and pains before building more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163056" y="269748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6163056" y="2889504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former customers and non-customers. Minimum 30 feedlots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6163056" y="350215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163056" y="3694176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review with a partner consultant until Nov 6. Answers Nov 9 to 27. Results Dec 4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agree today to keep the schedule.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REQUESTED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C810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37944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7190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TN Manager Web as the first v2.0 delivery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C810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61518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4963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research plan and the 30-feedlot minimum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rgbClr val="C810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39242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2735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 internal sponsor and focal points in sales and technical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46320" y="1325880"/>
            <a:ext cx="3840480" cy="2743200"/>
          </a:xfrm>
          <a:prstGeom prst="rect">
            <a:avLst/>
          </a:prstGeom>
          <a:solidFill>
            <a:srgbClr val="12295F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029200" y="18105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852160" y="1810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and benchmark done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0" y="2240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6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85216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form validated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0" y="26700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27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852160" y="26700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feedlots answered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29200" y="30998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11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852160" y="30998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and go/no-go (G0)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29200" y="35295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5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852160" y="35295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and GTM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A. Go/no-go criteria between phases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targets for discussion. No phase moves forward on the calendar alone.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25880"/>
                <a:gridCol w="4892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 to move forward (proposal)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  Go to 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February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 feedlots answered; customer profile and top 5 pains confirmed; internal sponsor named; business plan approved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 Pilot validated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entered on at least 70% of days for 8 weeks; up to 10 minutes a day; manager uses the weekly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6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 Scale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December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of farms active after 90 days; average recommendation score of 8 or more; each technician serves 5 farms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6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2028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5 farms asking for scale or mixer integration; cost per customer below third-party license (BRL 13,541 per year in v1.0)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B. Main risks and mitigation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v2.0 risks sit in field adoption.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292608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of manual entry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9728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fields per screen, 10-minute daily target and the TN technician supporting the first weeks.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9"/>
          <p:cNvSpPr/>
          <p:nvPr/>
        </p:nvSpPr>
        <p:spPr>
          <a:xfrm>
            <a:off x="466344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71600"/>
            <a:ext cx="292608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survey sample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30352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30352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quota of former customers and non-customers. Results guide decisions only with 30 valid answers.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71800"/>
            <a:ext cx="292608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as a lesser version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9728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09728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TN Manager Web as a step, with a clear migration path to the full version.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66344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971800"/>
            <a:ext cx="292608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technical team capacity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530352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limited to 5 farms and 1 technician per 5 farms, reviewed at G2.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Case v2.0 TN Manager and TN Manager Web</dc:title>
  <dc:subject>PptxGenJS Presentation</dc:subject>
  <dc:creator>Rodrigo Gennari</dc:creator>
  <cp:lastModifiedBy>Rodrigo Gennari</cp:lastModifiedBy>
  <cp:revision>1</cp:revision>
  <dcterms:created xsi:type="dcterms:W3CDTF">2026-10-15T09:44:45Z</dcterms:created>
  <dcterms:modified xsi:type="dcterms:W3CDTF">2026-10-15T09:44:45Z</dcterms:modified>
</cp:coreProperties>
</file>