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1.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75" r:id="rId2"/>
    <p:sldId id="2147471979" r:id="rId38"/>
    <p:sldId id="2142533174" r:id="rId4"/>
    <p:sldId id="257" r:id="rId5"/>
    <p:sldId id="258" r:id="rId6"/>
    <p:sldId id="2147471990" r:id="rId49"/>
    <p:sldId id="2147471992" r:id="rId51"/>
    <p:sldId id="2147471993" r:id="rId52"/>
    <p:sldId id="2147471991" r:id="rId50"/>
    <p:sldId id="2147471980" r:id="rId39"/>
    <p:sldId id="2147471981" r:id="rId40"/>
    <p:sldId id="2147471982" r:id="rId41"/>
    <p:sldId id="2147471983" r:id="rId42"/>
    <p:sldId id="2147471984" r:id="rId43"/>
    <p:sldId id="2147471985" r:id="rId44"/>
    <p:sldId id="2147471986" r:id="rId45"/>
    <p:sldId id="2147471987" r:id="rId46"/>
    <p:sldId id="2147471988" r:id="rId47"/>
    <p:sldId id="2147471989" r:id="rId48"/>
    <p:sldId id="2142533161" r:id="rId32"/>
    <p:sldId id="2147471994" r:id="rId53"/>
    <p:sldId id="259" r:id="rId7"/>
    <p:sldId id="260" r:id="rId8"/>
    <p:sldId id="262" r:id="rId10"/>
    <p:sldId id="2147471956" r:id="rId11"/>
    <p:sldId id="264" r:id="rId13"/>
    <p:sldId id="265" r:id="rId14"/>
    <p:sldId id="267" r:id="rId16"/>
    <p:sldId id="268" r:id="rId17"/>
    <p:sldId id="271" r:id="rId26"/>
    <p:sldId id="272" r:id="rId29"/>
    <p:sldId id="269" r:id="rId31"/>
    <p:sldId id="256" r:id="rId3"/>
    <p:sldId id="261" r:id="rId9"/>
    <p:sldId id="263" r:id="rId12"/>
    <p:sldId id="2147471958" r:id="rId19"/>
    <p:sldId id="2147471978" r:id="rId20"/>
    <p:sldId id="2147471967"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0" Type="http://schemas.openxmlformats.org/officeDocument/2006/relationships/slide" Target="slides/slide19.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bar"/>
        <c:grouping val="clustered"/>
        <c:varyColors val="0"/>
        <c:ser>
          <c:idx val="0"/>
          <c:order val="0"/>
          <c:tx>
            <c:strRef>
              <c:f>Sheet1!$B$1</c:f>
              <c:strCache>
                <c:ptCount val="1"/>
                <c:pt idx="0">
                  <c:v>SP</c:v>
                </c:pt>
              </c:strCache>
            </c:strRef>
          </c:tx>
          <c:spPr>
            <a:solidFill>
              <a:srgbClr val="C8106E"/>
            </a:solidFill>
            <a:effectLst/>
          </c:spPr>
          <c:invertIfNegative val="0"/>
          <c:dLbls>
            <c:numFmt formatCode="0.0" sourceLinked="0"/>
            <c:spPr>
              <a:noFill/>
              <a:ln>
                <a:noFill/>
              </a:ln>
              <a:effectLst/>
            </c:spPr>
            <c:txPr>
              <a:bodyPr/>
              <a:lstStyle/>
              <a:p>
                <a:pPr>
                  <a:defRPr sz="1000" b="0" i="0" u="none" strike="noStrike">
                    <a:solidFill>
                      <a:srgbClr val="4A5560"/>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Top 100 confinamentos</c:v>
                </c:pt>
                <c:pt idx="1">
                  <c:v>Pareto 80% (265 contas)</c:v>
                </c:pt>
                <c:pt idx="2">
                  <c:v>Confinamento</c:v>
                </c:pt>
                <c:pt idx="3">
                  <c:v>Total Beef</c:v>
                </c:pt>
              </c:strCache>
            </c:strRef>
          </c:cat>
          <c:val>
            <c:numRef>
              <c:f>Sheet1!$B$2:$B$5</c:f>
              <c:numCache>
                <c:formatCode>General</c:formatCode>
                <c:ptCount val="4"/>
                <c:pt idx="0">
                  <c:v>6.5</c:v>
                </c:pt>
                <c:pt idx="1">
                  <c:v>10.5</c:v>
                </c:pt>
                <c:pt idx="2">
                  <c:v>13</c:v>
                </c:pt>
                <c:pt idx="3">
                  <c:v>68</c:v>
                </c:pt>
              </c:numCache>
            </c:numRef>
          </c:val>
          <c:extLst>
            <c:ext xmlns:c16="http://schemas.microsoft.com/office/drawing/2014/chart" uri="{C3380CC4-5D6E-409C-BE32-E72D297353CC}">
              <c16:uniqueId val="{00000000-0658-4AB3-ACA0-7D9616C6425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Calibri"/>
              </a:defRPr>
            </a:pPr>
            <a:endParaRPr lang="pt-BR"/>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doughnutChart>
        <c:varyColors val="1"/>
        <c:ser>
          <c:idx val="0"/>
          <c:order val="0"/>
          <c:tx>
            <c:strRef>
              <c:f>Sheet1!$B$1</c:f>
              <c:strCache>
                <c:ptCount val="1"/>
                <c:pt idx="0">
                  <c:v>Amostra</c:v>
                </c:pt>
              </c:strCache>
            </c:strRef>
          </c:tx>
          <c:spPr>
            <a:solidFill>
              <a:schemeClr val="accent1"/>
            </a:solidFill>
            <a:ln w="9525" cap="flat">
              <a:solidFill>
                <a:srgbClr val="F9F9F9"/>
              </a:solidFill>
              <a:prstDash val="solid"/>
              <a:round/>
            </a:ln>
            <a:effectLst/>
          </c:spPr>
          <c:dPt>
            <c:idx val="0"/>
            <c:bubble3D val="0"/>
            <c:spPr>
              <a:solidFill>
                <a:srgbClr val="1B3A8C"/>
              </a:solidFill>
              <a:effectLst/>
            </c:spPr>
            <c:extLst>
              <c:ext xmlns:c16="http://schemas.microsoft.com/office/drawing/2014/chart" uri="{C3380CC4-5D6E-409C-BE32-E72D297353CC}">
                <c16:uniqueId val="{00000001-D6B1-45BF-8B8D-F51A52919082}"/>
              </c:ext>
            </c:extLst>
          </c:dPt>
          <c:dPt>
            <c:idx val="1"/>
            <c:bubble3D val="0"/>
            <c:spPr>
              <a:solidFill>
                <a:srgbClr val="0096B4"/>
              </a:solidFill>
              <a:effectLst/>
            </c:spPr>
            <c:extLst>
              <c:ext xmlns:c16="http://schemas.microsoft.com/office/drawing/2014/chart" uri="{C3380CC4-5D6E-409C-BE32-E72D297353CC}">
                <c16:uniqueId val="{00000003-D6B1-45BF-8B8D-F51A52919082}"/>
              </c:ext>
            </c:extLst>
          </c:dPt>
          <c:dPt>
            <c:idx val="2"/>
            <c:bubble3D val="0"/>
            <c:spPr>
              <a:solidFill>
                <a:srgbClr val="C8106E"/>
              </a:solidFill>
              <a:effectLst/>
            </c:spPr>
            <c:extLst>
              <c:ext xmlns:c16="http://schemas.microsoft.com/office/drawing/2014/chart" uri="{C3380CC4-5D6E-409C-BE32-E72D297353CC}">
                <c16:uniqueId val="{00000005-D6B1-45BF-8B8D-F51A52919082}"/>
              </c:ext>
            </c:extLst>
          </c:dPt>
          <c:dLbls>
            <c:dLbl>
              <c:idx val="0"/>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1-45BF-8B8D-F51A52919082}"/>
                </c:ext>
              </c:extLst>
            </c:dLbl>
            <c:dLbl>
              <c:idx val="1"/>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6B1-45BF-8B8D-F51A52919082}"/>
                </c:ext>
              </c:extLst>
            </c:dLbl>
            <c:dLbl>
              <c:idx val="2"/>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B1-45BF-8B8D-F51A52919082}"/>
                </c:ext>
              </c:extLst>
            </c:dLbl>
            <c:numFmt formatCode="General" sourceLinked="0"/>
            <c:spPr>
              <a:noFill/>
              <a:ln>
                <a:noFill/>
              </a:ln>
              <a:effectLst/>
            </c:spPr>
            <c:txPr>
              <a:bodyPr/>
              <a:lstStyle/>
              <a:p>
                <a:pPr>
                  <a:defRPr sz="1800" b="1" i="0" u="none" strike="noStrike">
                    <a:solidFill>
                      <a:srgbClr val="000000"/>
                    </a:solidFill>
                    <a:latin typeface="Arial"/>
                  </a:defRPr>
                </a:pPr>
                <a:endParaRPr lang="pt-B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Clientes ativos</c:v>
                </c:pt>
                <c:pt idx="1">
                  <c:v>Não clientes</c:v>
                </c:pt>
                <c:pt idx="2">
                  <c:v>Ex-clientes e detratores</c:v>
                </c:pt>
              </c:strCache>
            </c:strRef>
          </c:cat>
          <c:val>
            <c:numRef>
              <c:f>Sheet1!$B$2:$B$4</c:f>
              <c:numCache>
                <c:formatCode>General</c:formatCode>
                <c:ptCount val="3"/>
                <c:pt idx="0">
                  <c:v>12</c:v>
                </c:pt>
                <c:pt idx="1">
                  <c:v>10</c:v>
                </c:pt>
                <c:pt idx="2">
                  <c:v>8</c:v>
                </c:pt>
              </c:numCache>
            </c:numRef>
          </c:val>
          <c:extLst>
            <c:ext xmlns:c16="http://schemas.microsoft.com/office/drawing/2014/chart" uri="{C3380CC4-5D6E-409C-BE32-E72D297353CC}">
              <c16:uniqueId val="{00000006-D6B1-45BF-8B8D-F51A5291908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4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BB8961-162D-413B-A79F-06D8B6E59E12}" type="slidenum">
              <a:rPr lang="en-GB" smtClean="0"/>
              <a:t>31</a:t>
            </a:fld>
            <a:endParaRPr lang="en-GB"/>
          </a:p>
        </p:txBody>
      </p:sp>
    </p:spTree>
    <p:extLst>
      <p:ext uri="{BB962C8B-B14F-4D97-AF65-F5344CB8AC3E}">
        <p14:creationId xmlns:p14="http://schemas.microsoft.com/office/powerpoint/2010/main" val="3285505670"/>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item 3 é o coração da conversa: o diferencial é a entrega técnica, e a ferramenta é o meio. O material de apoio para perguntas está no anexo, depois do slide de agradecimento.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Termo sugerido: 'item de prateleira' (ou 'commodity', palavra que o agro conhece bem). Mensagem central: qualquer concorrente entrega um sistema; poucos entregam um analista que olha os números toda semana e transforma em ajuste de dieta e manejo. É por isso que o projeto não é de TI: é de serviço técnico apoiado por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passos 1 a 3 são registro, e qualquer sistema faz. Os passos 4 e 5 são o serviço da TN e o motivo do projeto. Plano de capacidade: nos dois primeiros meses (piloto), Rodrigo e o técnico de campo acompanham de perto. Do mês 3 ao 6, Rodrigo analisa até 20 fazendas (estimativa de 1 hora por fazenda por semana, cerca de 20 horas semanais). A partir do mês 7, condicionado ao G2, entram analistas dedicados na proporção proposta de 1 para cada 20 fazendas. A proporção é proposta e será revista com dados do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Arquitetura proposta para discussão com a software house Dreamer, não definida ainda. Princípio: o produto mínimo é um sistema web (abre no navegador do computador ou do celular), com dados na nuvem. Duas formas de lançar: (1) ficha de papel padrão preenchida no curral e digitada no fim do dia no computador da sede; (2) celular no curral pelo navegador. Guardar no aparelho e enviar depois (modo offline) depende de viabilidade técnica e custo, e o app nativo offline continua fora do produto mínimo, como no slide de MoSCoW. A escala de escore de cocho segue o padrão técnico da TN (por exemplo, notas de 0 a 4). A meta de 10 minutos por dia é critério do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Cargill: CattleView usa visão computacional, drones e nuvem para contagem de animais, leitura de cocho, estruturas, comportamento e bem-estar, água e pesagem; a Nutron usa drones em cerca de 15 confinamentos. Estudo da UFV em 6 confinamentos (1.754 imagens) mostrou que a quantificação de sobras ainda precisa de ajustes. DSM-firmenich comprou a Prodap (Belo Horizonte), que une tecnologia, consultoria e nutrição personalizada e atende mais de 5 mil fazendas. Tecnobeef: empresa de nutrição criada em 2017 dentro do grupo Campanelli, que confina cerca de 110 mil animais (dado do LinkedIn da empresa); não encontramos ferramenta digital pública, item a confirmar nas entrevistas de benchmark (2.1.1). Pontos fracos de Cargill e DSM e da própria TN vêm da avaliação interna do business case de 2023 e devem ser atualizados no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Dados informados: 20 licenças pagas a empresas parceiras. TGC (Ponta): 6 licenças de R$ 10 mil a R$ 40 mil. PecCode: 14 licenças de R$ 8 mil a R$ 12,8 mil. Orçado R$ 364 mil, pago até agora R$ 64 mil. Posição: tudo que for web passa a ser TN Manager Web; a PecCode continua como parceira quando a fazenda quiser automação (balança, vagão, integração), que a TN ainda não oferece. Faixas calculadas: TGC 6 x 10 a 40 mil = 60 a 240 mil; PecCode 14 x 8 a 12,8 mil = 112 a 179,2 mil; total 172 a 419 mil. Média: 364 mil / 20 = 18,2 mil por fazenda. Premissa: valores anuais; confirmar a periodicidade dos contratos. As fazendas TGC tendem a ser maiores e podem continuar no TGC até existir a versão com integração. Referência da v1.0 (2023): custo estimado de R$ 2.500 por cliente no app interno contra R$ 13.541 no TGC.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Mudanças em relação à SWOT da v1.0: entram como forças o ganho de tempo (relatório automático), o benchmarking entre fazendas, a posse dos dados e a ausência de licença. Sai a premissa de integração com hardware no início. Entram como fraquezas a dependência do lançamento manual e a capacidade de análise concentrada no Rodrigo nos primeiros meses. Oportunidade nova: o público de menos de 1.000 cabeças do Censo de Confinamento 2025 e a economia com licenças de terceiros.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Capacidade estimada do Rodrigo: cerca de 1 hora por fazenda por semana, ou 20 horas semanais com 20 fazendas, mais a auditoria mensal. A proporção de 1 analista para cada 20 fazendas é proposta e será calibrada com o tempo real medido no piloto. Contar os meses a partir do início do piloto (item 8.0 do cronograma). Começar pelas fazendas que já têm licença paga pela TN gera economia imediata e usa clientes que já registram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Até fevereiro de 2027 as datas são as do cronograma revisado (itens 2.1 a 7.0). G0 em dezembro, com o diagnóstico; a apresentação final de 01 a 05/02/2027 é o momento de aprovar o investimento. Desenvolvimento de cerca de 12 semanas é estimativa a confirmar com a Dreamer após a imersão técnica. O piloto dura 8 semanas, prazo do critério G1. G2 depois de 90 dias com as fazendas ativas. Se um gate não for atingido, as barras seguintes andam para a direita: as datas a partir de março são indicativas.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Metas de fazendas e analistas são propostas: 20 em 2027 (capacidade do Rodrigo), 60 em 2028, 120 em 2029 e 200 em 2030, alinhado à meta de 200 clientes da v1.0. Analistas na proporção de 1 para cada 20 fazendas. As funcionalidades por ano vêm da visão estratégica original: 2027 versão estável e integração com hardware; 2028 versão madura com NOA e complementos da AgTech Garage; 2029 fidelidade, clube de membros e benchmark; 2030 sustentabilidade, pegada de carbono e recomendação de produto. Licenças: tudo que for web migra para o TN Manager Web; a PecCode segue como parceira para fazendas que quiserem automação, que ainda não temos; manter TGC onde a integração com balança e vagão for indispensável até a versão que a ofereça.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Fonte principal: Censo de Confinamento 2025 da dsm-firmenich, divulgado em fevereiro de 2026 (9,25 milhões de cabeças, 2.445 propriedades, 1.095 municípios, 100 maiores com 45% das cabeças; MT 2,2 mi, SP 1,4, GO 1,4, MS 0,9, MG 0,8). 'Outros' = 9,25 menos a soma dos 5 estados. O número de 1.131 propriedades abaixo de 1.000 cabeças vem de reportagem sobre o mesmo censo (CompreRural): confirmar no relatório completo. A faixa do meio (cerca de 1.200; exatamente 1.214) é calculada: 2.445 menos 1.131 menos 100. O censo mapeia propriedades monitoradas, não é a contagem de todos os confinamentos do país. Bioma: não há tabela pública por bioma; o Cerrado é inferência pela concentração no Centro-Oeste, MG e SP. Embrapa (Censos 2006 e 2017): o número de estabelecimentos com confinamento cresceu cerca de 145% e aumentou em todos os biomas.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Bússola Farm 2025: faixa 1 (até 1.500 cabeças) com 11.194 confinamentos e 3,5 milhões de cabeças de capacidade estática projetada, de 15 milhões nas três faixas. Estimativa anterior, pelo censo dsm-firmenich, de 'menos de 10% das cabeças': 1.131 propriedades com média hipotética de 500 cabeças dão cerca de 0,57 milhão, ou 6% de 9,25 milhões. É uma conta nossa, não dado do censo. Dados de 2024 (dsm-firmenich): confinamentos acima de 10 mil cabeças passaram de 53,9% para 58,7% das cabeças; abaixo de 10 mil ficaram em 3,3 milhões. Embrapa Pecuária Sudeste: estudos com 184 confinamentos (2023) e 130 confinamentos (2024) mostram que escala, escolaridade e consultoria aumentam a adoção de tecnologia digital; adotantes de software têm eficiência técnica maior (114 confinamentos). A indicação do vagão a partir de cerca de 200 cabeças vem de publicação técnica antiga da Embrapa sobre confinamento de bovinos.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Dados do Bússola Farm 2025: 14.014 confinamentos no total. Faixa 1 (pequenos, até 1.500 cabeças): 11.194 confinamentos, 3,5 milhões de cabeças de capacidade estática projetada, unidades até 2,4 hectares. Faixa 2 (médios, até 6.900 cabeças): 1.664, 5,5 milhões, até 9 hectares. Faixa 3 (grandes, mais de 7.000 cabeças, média de 16.000): 356, 6 milhões, acima de 10 hectares. Atenção: as três faixas somam 13.214, não 14.014; os 800 restantes não aparecem com faixa e precisam ser confirmados na fonte. Percentuais calculados sobre 13.214 confinamentos e 15 milhões de cabeças. O Bússola conta muito mais confinamentos que o censo dsm-firmenich (2.445): os métodos são diferentes, e vale explicar se perguntarem. Mensagem: a faixa do TN Manager Web (200 a 2.000 cabeças) cobre a Faixa 1 e o começo da Faixa 2, o maior grupo em número de fazendas.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informada: 2.796 confinadores, período de outubro de 2025 a janeiro de 2026 (confirmar o período exato). A soma dos estados dá 2.797, um a mais que o total: conferir. A sigla MD da planilha foi lida como MS (Mato Grosso do Sul). AP, CE e PB não aparecem na base. RO 1.022, SP 461, MT 341, MG 200, MS 161, BA 117, PR 94, GO 93, AC 78, PA 77, AM 34, TO 34, SC 18, ES 13, RN 11, RJ 8, RR 8, RS 8, SE 5, DF 4, AL 3, PE 3, PI 3, MA 1. RO, SP e MT somam 1.824, ou 65%. A leitura sobre Rondônia cruza com o censo dsm-firmenich 2025, em que MT, SP, GO, MS e MG somam 72% das cabeças e RO não aparece entre 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339B28D0-9ED5-49CC-BDB0-A90FF861F2E3}"/>
              </a:ext>
            </a:extLst>
          </p:cNvPr>
          <p:cNvSpPr>
            <a:spLocks noGrp="1"/>
          </p:cNvSpPr>
          <p:nvPr>
            <p:ph type="pic" sz="quarter" idx="18"/>
          </p:nvPr>
        </p:nvSpPr>
        <p:spPr>
          <a:xfrm>
            <a:off x="0" y="1083435"/>
            <a:ext cx="9144000" cy="4058636"/>
          </a:xfrm>
          <a:prstGeom prst="rect">
            <a:avLst/>
          </a:prstGeom>
          <a:solidFill>
            <a:schemeClr val="bg1">
              <a:lumMod val="85000"/>
            </a:schemeClr>
          </a:solidFill>
        </p:spPr>
        <p:txBody>
          <a:bodyPr anchor="ctr"/>
          <a:lstStyle>
            <a:lvl1pPr marL="0" indent="0" algn="ctr">
              <a:buNone/>
              <a:defRPr/>
            </a:lvl1pPr>
          </a:lstStyle>
          <a:p>
            <a:endParaRPr lang="nl-NL"/>
          </a:p>
        </p:txBody>
      </p:sp>
      <p:sp>
        <p:nvSpPr>
          <p:cNvPr id="2" name="Footer Placeholder 1"/>
          <p:cNvSpPr>
            <a:spLocks noGrp="1"/>
          </p:cNvSpPr>
          <p:nvPr userDrawn="1">
            <p:ph type="ftr" sz="quarter" idx="13"/>
          </p:nvPr>
        </p:nvSpPr>
        <p:spPr/>
        <p:txBody>
          <a:bodyPr/>
          <a:lstStyle>
            <a:lvl1pPr>
              <a:defRPr>
                <a:solidFill>
                  <a:schemeClr val="bg1"/>
                </a:solidFill>
              </a:defRPr>
            </a:lvl1pPr>
          </a:lstStyle>
          <a:p>
            <a:endParaRPr lang="en-GB"/>
          </a:p>
        </p:txBody>
      </p:sp>
      <p:sp>
        <p:nvSpPr>
          <p:cNvPr id="22" name="Tijdelijke aanduiding voor dianummer 5">
            <a:extLst>
              <a:ext uri="{FF2B5EF4-FFF2-40B4-BE49-F238E27FC236}">
                <a16:creationId xmlns:a16="http://schemas.microsoft.com/office/drawing/2014/main" id="{7BD98785-612D-6449-9480-6E8F478993CF}"/>
              </a:ext>
            </a:extLst>
          </p:cNvPr>
          <p:cNvSpPr>
            <a:spLocks noGrp="1"/>
          </p:cNvSpPr>
          <p:nvPr>
            <p:ph type="sldNum" sz="quarter" idx="4"/>
          </p:nvPr>
        </p:nvSpPr>
        <p:spPr>
          <a:xfrm>
            <a:off x="4579106" y="4484368"/>
            <a:ext cx="4572000" cy="659132"/>
          </a:xfrm>
          <a:prstGeom prst="rect">
            <a:avLst/>
          </a:prstGeom>
          <a:blipFill>
            <a:blip>
              <a:extLst>
                <a:ext uri="{96DAC541-7B7A-43D3-8B79-37D633B846F1}">
                  <asvg:svgBlip xmlns:asvg="http://schemas.microsoft.com/office/drawing/2016/SVG/main" r:embed="rId2"/>
                </a:ext>
              </a:extLst>
            </a:blip>
            <a:stretch>
              <a:fillRect/>
            </a:stretch>
          </a:blipFill>
        </p:spPr>
        <p:txBody>
          <a:bodyPr vert="horz" lIns="0" tIns="251999" rIns="396000" bIns="0" rtlCol="0" anchor="ctr" anchorCtr="0"/>
          <a:lstStyle>
            <a:lvl1pPr algn="r">
              <a:defRPr sz="1200">
                <a:solidFill>
                  <a:schemeClr val="tx2">
                    <a:alpha val="0"/>
                  </a:schemeClr>
                </a:solidFill>
              </a:defRPr>
            </a:lvl1pPr>
          </a:lstStyle>
          <a:p>
            <a:endParaRPr lang="en-GB"/>
          </a:p>
        </p:txBody>
      </p:sp>
      <p:pic>
        <p:nvPicPr>
          <p:cNvPr id="7" name="Afbeelding 6">
            <a:extLst>
              <a:ext uri="{FF2B5EF4-FFF2-40B4-BE49-F238E27FC236}">
                <a16:creationId xmlns:a16="http://schemas.microsoft.com/office/drawing/2014/main" id="{97036F5A-4F41-9642-8812-E040E741FE0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494886" y="303610"/>
            <a:ext cx="1348788" cy="432048"/>
          </a:xfrm>
          <a:prstGeom prst="rect">
            <a:avLst/>
          </a:prstGeom>
        </p:spPr>
      </p:pic>
      <p:sp>
        <p:nvSpPr>
          <p:cNvPr id="3" name="Title 2">
            <a:extLst>
              <a:ext uri="{FF2B5EF4-FFF2-40B4-BE49-F238E27FC236}">
                <a16:creationId xmlns:a16="http://schemas.microsoft.com/office/drawing/2014/main" id="{40708F81-AA0F-4A51-BBF4-B1B177186987}"/>
              </a:ext>
            </a:extLst>
          </p:cNvPr>
          <p:cNvSpPr>
            <a:spLocks noGrp="1"/>
          </p:cNvSpPr>
          <p:nvPr>
            <p:ph type="title" hasCustomPrompt="1"/>
          </p:nvPr>
        </p:nvSpPr>
        <p:spPr>
          <a:xfrm>
            <a:off x="0" y="0"/>
            <a:ext cx="9144900" cy="2343600"/>
          </a:xfrm>
          <a:blipFill>
            <a:blip r:embed="rId4"/>
            <a:stretch>
              <a:fillRect/>
            </a:stretch>
          </a:blipFill>
        </p:spPr>
        <p:txBody>
          <a:bodyPr lIns="871200" tIns="828000" rIns="3816000" bIns="1080000" anchor="ctr" anchorCtr="0"/>
          <a:lstStyle>
            <a:lvl1pPr>
              <a:defRPr/>
            </a:lvl1pPr>
          </a:lstStyle>
          <a:p>
            <a:r>
              <a:rPr lang="en-US"/>
              <a:t>Thank you</a:t>
            </a:r>
            <a:endParaRPr lang="nl-NL"/>
          </a:p>
        </p:txBody>
      </p:sp>
    </p:spTree>
    <p:extLst>
      <p:ext uri="{BB962C8B-B14F-4D97-AF65-F5344CB8AC3E}">
        <p14:creationId xmlns:p14="http://schemas.microsoft.com/office/powerpoint/2010/main" val="1370397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extslid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9842" y="465517"/>
            <a:ext cx="5670350" cy="756065"/>
          </a:xfrm>
        </p:spPr>
        <p:txBody>
          <a:bodyPr wrap="square"/>
          <a:lstStyle>
            <a:lvl1pPr algn="l">
              <a:defRPr/>
            </a:lvl1pPr>
          </a:lstStyle>
          <a:p>
            <a:r>
              <a:rPr lang="en-GB"/>
              <a:t>Title paragraph </a:t>
            </a:r>
          </a:p>
        </p:txBody>
      </p:sp>
      <p:sp>
        <p:nvSpPr>
          <p:cNvPr id="6" name="Text Placeholder 5"/>
          <p:cNvSpPr>
            <a:spLocks noGrp="1"/>
          </p:cNvSpPr>
          <p:nvPr>
            <p:ph type="body" sz="quarter" idx="12"/>
          </p:nvPr>
        </p:nvSpPr>
        <p:spPr>
          <a:xfrm>
            <a:off x="629841" y="1491853"/>
            <a:ext cx="7884319" cy="2876747"/>
          </a:xfrm>
        </p:spPr>
        <p:txBody>
          <a:bodyPr lIns="36000" tIns="36000" rIns="36000" bIns="36000">
            <a:noAutofit/>
          </a:bodyPr>
          <a:lstStyle>
            <a:lvl1pPr marL="0" indent="0">
              <a:lnSpc>
                <a:spcPct val="100000"/>
              </a:lnSpc>
              <a:spcBef>
                <a:spcPts val="0"/>
              </a:spcBef>
              <a:spcAft>
                <a:spcPts val="450"/>
              </a:spcAft>
              <a:buClr>
                <a:schemeClr val="tx1"/>
              </a:buClr>
              <a:buNone/>
              <a:defRPr sz="1350"/>
            </a:lvl1pPr>
            <a:lvl2pPr marL="2862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2pPr>
            <a:lvl3pPr marL="5724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3pPr>
            <a:lvl4pPr marL="8289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4pPr>
            <a:lvl5pPr marL="10854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5pPr>
            <a:lvl6pPr>
              <a:buClr>
                <a:schemeClr val="tx1"/>
              </a:buCl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4"/>
          </p:nvPr>
        </p:nvSpPr>
        <p:spPr/>
        <p:txBody>
          <a:bodyPr/>
          <a:lstStyle/>
          <a:p>
            <a:endParaRPr lang="en-GB"/>
          </a:p>
        </p:txBody>
      </p:sp>
      <p:pic>
        <p:nvPicPr>
          <p:cNvPr id="9" name="Graphic 8">
            <a:extLst>
              <a:ext uri="{FF2B5EF4-FFF2-40B4-BE49-F238E27FC236}">
                <a16:creationId xmlns:a16="http://schemas.microsoft.com/office/drawing/2014/main" id="{997147C5-1F2E-AA4F-935F-91B1D284EFA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598116" y="4628529"/>
            <a:ext cx="3545883" cy="524495"/>
          </a:xfrm>
          <a:prstGeom prst="rect">
            <a:avLst/>
          </a:prstGeom>
        </p:spPr>
      </p:pic>
      <p:sp>
        <p:nvSpPr>
          <p:cNvPr id="11" name="Slide Number Placeholder 7">
            <a:extLst>
              <a:ext uri="{FF2B5EF4-FFF2-40B4-BE49-F238E27FC236}">
                <a16:creationId xmlns:a16="http://schemas.microsoft.com/office/drawing/2014/main" id="{84898B21-2385-7249-AE1D-5F0164D15086}"/>
              </a:ext>
            </a:extLst>
          </p:cNvPr>
          <p:cNvSpPr>
            <a:spLocks noGrp="1"/>
          </p:cNvSpPr>
          <p:nvPr>
            <p:ph type="sldNum" sz="quarter" idx="15"/>
          </p:nvPr>
        </p:nvSpPr>
        <p:spPr>
          <a:xfrm>
            <a:off x="8514160" y="4677984"/>
            <a:ext cx="629840" cy="465516"/>
          </a:xfrm>
        </p:spPr>
        <p:txBody>
          <a:bodyPr/>
          <a:lstStyle/>
          <a:p>
            <a:fld id="{82366C92-DFCE-40A6-8CC1-5A4741E3726D}" type="slidenum">
              <a:rPr lang="en-GB" smtClean="0"/>
              <a:pPr/>
              <a:t>‹nº›</a:t>
            </a:fld>
            <a:endParaRPr lang="en-GB"/>
          </a:p>
        </p:txBody>
      </p:sp>
    </p:spTree>
    <p:extLst>
      <p:ext uri="{BB962C8B-B14F-4D97-AF65-F5344CB8AC3E}">
        <p14:creationId xmlns:p14="http://schemas.microsoft.com/office/powerpoint/2010/main" val="204602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Fixed heading 1">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25EED34-690F-CB41-8188-BB2E7E64F79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598116" y="4628529"/>
            <a:ext cx="3545883" cy="524495"/>
          </a:xfrm>
          <a:prstGeom prst="rect">
            <a:avLst/>
          </a:prstGeom>
        </p:spPr>
      </p:pic>
      <p:sp>
        <p:nvSpPr>
          <p:cNvPr id="7" name="Footer Placeholder 6"/>
          <p:cNvSpPr>
            <a:spLocks noGrp="1"/>
          </p:cNvSpPr>
          <p:nvPr>
            <p:ph type="ftr" sz="quarter" idx="14"/>
          </p:nvPr>
        </p:nvSpPr>
        <p:spPr/>
        <p:txBody>
          <a:bodyPr/>
          <a:lstStyle/>
          <a:p>
            <a:endParaRPr lang="en-GB"/>
          </a:p>
        </p:txBody>
      </p:sp>
      <p:sp>
        <p:nvSpPr>
          <p:cNvPr id="8" name="Slide Number Placeholder 7"/>
          <p:cNvSpPr>
            <a:spLocks noGrp="1"/>
          </p:cNvSpPr>
          <p:nvPr>
            <p:ph type="sldNum" sz="quarter" idx="15"/>
          </p:nvPr>
        </p:nvSpPr>
        <p:spPr/>
        <p:txBody>
          <a:bodyPr/>
          <a:lstStyle/>
          <a:p>
            <a:fld id="{82366C92-DFCE-40A6-8CC1-5A4741E3726D}" type="slidenum">
              <a:rPr lang="en-GB" smtClean="0"/>
              <a:pPr/>
              <a:t>‹nº›</a:t>
            </a:fld>
            <a:endParaRPr lang="en-GB"/>
          </a:p>
        </p:txBody>
      </p:sp>
      <p:sp>
        <p:nvSpPr>
          <p:cNvPr id="6" name="Tijdelijke aanduiding voor titel 1">
            <a:extLst>
              <a:ext uri="{FF2B5EF4-FFF2-40B4-BE49-F238E27FC236}">
                <a16:creationId xmlns:a16="http://schemas.microsoft.com/office/drawing/2014/main" id="{9FD576D2-650F-5142-A42C-138C7D767DF3}"/>
              </a:ext>
            </a:extLst>
          </p:cNvPr>
          <p:cNvSpPr>
            <a:spLocks noGrp="1"/>
          </p:cNvSpPr>
          <p:nvPr>
            <p:ph type="title" hasCustomPrompt="1"/>
          </p:nvPr>
        </p:nvSpPr>
        <p:spPr>
          <a:xfrm>
            <a:off x="629841" y="1491853"/>
            <a:ext cx="7884319" cy="2808089"/>
          </a:xfrm>
          <a:prstGeom prst="rect">
            <a:avLst/>
          </a:prstGeom>
        </p:spPr>
        <p:txBody>
          <a:bodyPr vert="horz" lIns="0" tIns="0" rIns="0" bIns="0" rtlCol="0" anchor="ctr" anchorCtr="0">
            <a:noAutofit/>
          </a:bodyPr>
          <a:lstStyle>
            <a:lvl1pPr>
              <a:lnSpc>
                <a:spcPct val="100000"/>
              </a:lnSpc>
              <a:defRPr sz="4950"/>
            </a:lvl1pPr>
          </a:lstStyle>
          <a:p>
            <a:r>
              <a:rPr lang="en-GB"/>
              <a:t>Fixed heading</a:t>
            </a:r>
            <a:br>
              <a:rPr lang="en-GB"/>
            </a:br>
            <a:r>
              <a:rPr lang="en-GB"/>
              <a:t>(statement)</a:t>
            </a:r>
          </a:p>
        </p:txBody>
      </p:sp>
    </p:spTree>
    <p:extLst>
      <p:ext uri="{BB962C8B-B14F-4D97-AF65-F5344CB8AC3E}">
        <p14:creationId xmlns:p14="http://schemas.microsoft.com/office/powerpoint/2010/main" val="26380302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emf"/><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8.png"/><Relationship Id="rId8" Type="http://schemas.openxmlformats.org/officeDocument/2006/relationships/image" Target="../media/image29.png"/><Relationship Id="rId9" Type="http://schemas.openxmlformats.org/officeDocument/2006/relationships/image" Target="../media/image34.png"/><Relationship Id="rId10"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5.png"/><Relationship Id="rId4"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finamento de gado: veja como fazer de maneira eficaz — CompreRural">
            <a:extLst>
              <a:ext uri="{FF2B5EF4-FFF2-40B4-BE49-F238E27FC236}">
                <a16:creationId xmlns:a16="http://schemas.microsoft.com/office/drawing/2014/main" id="{948B6E11-E154-9C44-5943-13AA267552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392" b="4112"/>
          <a:stretch/>
        </p:blipFill>
        <p:spPr bwMode="auto">
          <a:xfrm flipH="1">
            <a:off x="14" y="1581845"/>
            <a:ext cx="9143985" cy="3560226"/>
          </a:xfrm>
          <a:prstGeom prst="rect">
            <a:avLst/>
          </a:prstGeom>
          <a:solidFill>
            <a:srgbClr val="FFFFFF"/>
          </a:solidFill>
        </p:spPr>
      </p:pic>
      <p:sp>
        <p:nvSpPr>
          <p:cNvPr id="3079" name="Slide Number Placeholder 2">
            <a:extLst>
              <a:ext uri="{FF2B5EF4-FFF2-40B4-BE49-F238E27FC236}">
                <a16:creationId xmlns:a16="http://schemas.microsoft.com/office/drawing/2014/main" id="{EB397809-47F3-012B-A513-6B52402C306E}"/>
              </a:ext>
            </a:extLst>
          </p:cNvPr>
          <p:cNvSpPr>
            <a:spLocks noGrp="1"/>
          </p:cNvSpPr>
          <p:nvPr>
            <p:ph type="sldNum" sz="quarter" idx="4"/>
          </p:nvPr>
        </p:nvSpPr>
        <p:spPr>
          <a:xfrm>
            <a:off x="4579106" y="4484368"/>
            <a:ext cx="4572000" cy="659132"/>
          </a:xfrm>
        </p:spPr>
        <p:txBody>
          <a:bodyPr/>
          <a:lstStyle/>
          <a:p>
            <a:endParaRPr lang="en-GB"/>
          </a:p>
        </p:txBody>
      </p:sp>
      <p:sp>
        <p:nvSpPr>
          <p:cNvPr id="7" name="Title 6">
            <a:extLst>
              <a:ext uri="{FF2B5EF4-FFF2-40B4-BE49-F238E27FC236}">
                <a16:creationId xmlns:a16="http://schemas.microsoft.com/office/drawing/2014/main" id="{949EA813-F4B8-2D42-B9BF-DD66E13A96F2}"/>
              </a:ext>
            </a:extLst>
          </p:cNvPr>
          <p:cNvSpPr>
            <a:spLocks noGrp="1"/>
          </p:cNvSpPr>
          <p:nvPr>
            <p:ph type="title"/>
          </p:nvPr>
        </p:nvSpPr>
        <p:spPr>
          <a:xfrm>
            <a:off x="0" y="0"/>
            <a:ext cx="9144900" cy="2343600"/>
          </a:xfrm>
        </p:spPr>
        <p:txBody>
          <a:bodyPr anchor="ctr">
            <a:normAutofit/>
          </a:bodyPr>
          <a:lstStyle/>
          <a:p>
            <a:r>
              <a:rPr lang="pt-BR" sz="825"/>
              <a:t> </a:t>
            </a:r>
            <a:endParaRPr lang="en-NL" sz="825" dirty="0"/>
          </a:p>
        </p:txBody>
      </p:sp>
      <p:sp>
        <p:nvSpPr>
          <p:cNvPr id="2" name="CaixaDeTexto 1">
            <a:extLst>
              <a:ext uri="{FF2B5EF4-FFF2-40B4-BE49-F238E27FC236}">
                <a16:creationId xmlns:a16="http://schemas.microsoft.com/office/drawing/2014/main" id="{A0D481DD-CA22-7E8E-A0F2-65705D288393}"/>
              </a:ext>
            </a:extLst>
          </p:cNvPr>
          <p:cNvSpPr txBox="1"/>
          <p:nvPr/>
        </p:nvSpPr>
        <p:spPr>
          <a:xfrm>
            <a:off x="521550" y="290764"/>
            <a:ext cx="3770480" cy="1292662"/>
          </a:xfrm>
          <a:prstGeom prst="rect">
            <a:avLst/>
          </a:prstGeom>
          <a:noFill/>
        </p:spPr>
        <p:txBody>
          <a:bodyPr wrap="square" rtlCol="0">
            <a:spAutoFit/>
          </a:bodyPr>
          <a:lstStyle/>
          <a:p>
            <a:r>
              <a:rPr lang="en-CA" sz="2400" b="1" dirty="0"/>
              <a:t>TN Manager Web</a:t>
            </a:r>
          </a:p>
          <a:p>
            <a:r>
              <a:rPr lang="en-CA" sz="1350" i="1" dirty="0"/>
              <a:t>Desenvolvimento Interno Personalizado</a:t>
            </a:r>
          </a:p>
          <a:p>
            <a:endParaRPr lang="en-CA" sz="1350" dirty="0"/>
          </a:p>
          <a:p>
            <a:r>
              <a:rPr lang="en-CA" sz="1350" b="1" dirty="0"/>
              <a:t>Trouw Nutrition Brasil</a:t>
            </a:r>
          </a:p>
          <a:p>
            <a:r>
              <a:rPr lang="en-CA" sz="1350" dirty="0"/>
              <a:t>Outubro de 2026</a:t>
            </a:r>
          </a:p>
        </p:txBody>
      </p:sp>
    </p:spTree>
    <p:extLst>
      <p:ext uri="{BB962C8B-B14F-4D97-AF65-F5344CB8AC3E}">
        <p14:creationId xmlns:p14="http://schemas.microsoft.com/office/powerpoint/2010/main" val="1683093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1">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D300"/>
          </a:solidFill>
          <a:ln/>
        </p:spPr>
        <p:txBody>
          <a:bodyPr/>
          <a:lstStyle/>
          <a:p>
            <a:endParaRPr lang="pt-BR"/>
          </a:p>
        </p:txBody>
      </p:sp>
      <p:sp>
        <p:nvSpPr>
          <p:cNvPr id="3" name="Text 1"/>
          <p:cNvSpPr/>
          <p:nvPr/>
        </p:nvSpPr>
        <p:spPr>
          <a:xfrm>
            <a:off x="640080" y="822960"/>
            <a:ext cx="5486400" cy="274320"/>
          </a:xfrm>
          <a:prstGeom prst="rect">
            <a:avLst/>
          </a:prstGeom>
          <a:noFill/>
          <a:ln/>
        </p:spPr>
        <p:txBody>
          <a:bodyPr wrap="square" lIns="0" tIns="0" rIns="0" bIns="0" rtlCol="0" anchor="t"/>
          <a:lstStyle/>
          <a:p>
            <a:pPr marL="0" indent="0">
              <a:buNone/>
            </a:pPr>
            <a:r>
              <a:rPr lang="en-US" sz="1300" b="1" kern="0" spc="400" dirty="0">
                <a:solidFill>
                  <a:srgbClr val="C5D300"/>
                </a:solidFill>
                <a:latin typeface="Calibri" pitchFamily="34" charset="0"/>
                <a:ea typeface="Calibri" pitchFamily="34" charset="-122"/>
                <a:cs typeface="Calibri" pitchFamily="34" charset="-120"/>
              </a:rPr>
              <a:t>BUSINESS CASE v2.0</a:t>
            </a:r>
            <a:endParaRPr lang="en-US" sz="1300" dirty="0"/>
          </a:p>
        </p:txBody>
      </p:sp>
      <p:sp>
        <p:nvSpPr>
          <p:cNvPr id="4" name="Text 2"/>
          <p:cNvSpPr/>
          <p:nvPr/>
        </p:nvSpPr>
        <p:spPr>
          <a:xfrm>
            <a:off x="640080" y="1188720"/>
            <a:ext cx="7772400" cy="68580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TN Manager e TN Manager Web</a:t>
            </a:r>
            <a:endParaRPr lang="en-US" sz="3800" dirty="0"/>
          </a:p>
        </p:txBody>
      </p:sp>
      <p:sp>
        <p:nvSpPr>
          <p:cNvPr id="5" name="Text 3"/>
          <p:cNvSpPr/>
          <p:nvPr/>
        </p:nvSpPr>
        <p:spPr>
          <a:xfrm>
            <a:off x="640080" y="1965960"/>
            <a:ext cx="6766560" cy="731520"/>
          </a:xfrm>
          <a:prstGeom prst="rect">
            <a:avLst/>
          </a:prstGeom>
          <a:noFill/>
          <a:ln/>
        </p:spPr>
        <p:txBody>
          <a:bodyPr wrap="square" lIns="0" tIns="0" rIns="0" bIns="0" rtlCol="0" anchor="t"/>
          <a:lstStyle/>
          <a:p>
            <a:pPr marL="0" indent="0">
              <a:buNone/>
            </a:pPr>
            <a:r>
              <a:rPr lang="en-US" sz="1600" i="1" dirty="0">
                <a:solidFill>
                  <a:srgbClr val="D6DEF0"/>
                </a:solidFill>
                <a:latin typeface="Calibri" pitchFamily="34" charset="0"/>
                <a:ea typeface="Calibri" pitchFamily="34" charset="-122"/>
                <a:cs typeface="Calibri" pitchFamily="34" charset="-120"/>
              </a:rPr>
              <a:t>Onde o produto gera valor e para quem: revisão do cliente-alvo, proposta de valor, produto mínimo e roadmap macro</a:t>
            </a:r>
            <a:endParaRPr lang="en-US" sz="1600" dirty="0"/>
          </a:p>
        </p:txBody>
      </p:sp>
      <p:sp>
        <p:nvSpPr>
          <p:cNvPr id="6" name="Text 4"/>
          <p:cNvSpPr/>
          <p:nvPr/>
        </p:nvSpPr>
        <p:spPr>
          <a:xfrm>
            <a:off x="640080" y="2612580"/>
            <a:ext cx="640080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Nutreco – </a:t>
            </a:r>
            <a:r>
              <a:rPr lang="en-US" sz="1300" b="1" dirty="0" err="1">
                <a:solidFill>
                  <a:srgbClr val="FFFFFF"/>
                </a:solidFill>
                <a:latin typeface="Calibri" pitchFamily="34" charset="0"/>
                <a:ea typeface="Calibri" pitchFamily="34" charset="-122"/>
                <a:cs typeface="Calibri" pitchFamily="34" charset="-120"/>
              </a:rPr>
              <a:t>Trouw</a:t>
            </a:r>
            <a:r>
              <a:rPr lang="en-US" sz="1300" b="1" dirty="0">
                <a:solidFill>
                  <a:srgbClr val="FFFFFF"/>
                </a:solidFill>
                <a:latin typeface="Calibri" pitchFamily="34" charset="0"/>
                <a:ea typeface="Calibri" pitchFamily="34" charset="-122"/>
                <a:cs typeface="Calibri" pitchFamily="34" charset="-120"/>
              </a:rPr>
              <a:t> Nutrition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Fase 2 do projeto TN Manager: Base Estratégica  |  Outubro de 2026</a:t>
            </a:r>
            <a:endParaRPr lang="en-US" sz="1300" dirty="0"/>
          </a:p>
        </p:txBody>
      </p:sp>
      <p:pic>
        <p:nvPicPr>
          <p:cNvPr id="7" name="Image 0" descr="preencoded.png"/>
          <p:cNvPicPr>
            <a:picLocks noChangeAspect="1"/>
          </p:cNvPicPr>
          <p:nvPr/>
        </p:nvPicPr>
        <p:blipFill>
          <a:blip r:embed="rId3"/>
          <a:stretch>
            <a:fillRect/>
          </a:stretch>
        </p:blipFill>
        <p:spPr>
          <a:xfrm>
            <a:off x="3200400" y="4121331"/>
            <a:ext cx="5943600" cy="1028700"/>
          </a:xfrm>
          <a:prstGeom prst="rect">
            <a:avLst/>
          </a:prstGeom>
        </p:spPr>
      </p:pic>
      <p:pic>
        <p:nvPicPr>
          <p:cNvPr id="8" name="Imagem 7" descr="Confinamento de gado: veja como fazer de maneira eficaz — CompreRural">
            <a:extLst>
              <a:ext uri="{FF2B5EF4-FFF2-40B4-BE49-F238E27FC236}">
                <a16:creationId xmlns:a16="http://schemas.microsoft.com/office/drawing/2014/main" id="{C6E60F84-3DD4-EA92-19AE-D3EA16319D3E}"/>
              </a:ext>
            </a:extLst>
          </p:cNvPr>
          <p:cNvPicPr>
            <a:picLocks noChangeAspect="1"/>
          </p:cNvPicPr>
          <p:nvPr/>
        </p:nvPicPr>
        <p:blipFill>
          <a:blip r:embed="rId4"/>
          <a:stretch>
            <a:fillRect/>
          </a:stretch>
        </p:blipFill>
        <p:spPr>
          <a:xfrm>
            <a:off x="4630783" y="3058900"/>
            <a:ext cx="4441371" cy="19735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521550" y="143730"/>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CA" sz="2400" dirty="0"/>
              <a:t>Resumo Executivo</a:t>
            </a:r>
            <a:br>
              <a:rPr lang="en-CA" sz="2400" dirty="0"/>
            </a:br>
            <a:r>
              <a:rPr lang="en-US" sz="1350" b="0" i="1" dirty="0"/>
              <a:t>Conheça o TN Manager Web, </a:t>
            </a:r>
            <a:r>
              <a:rPr lang="en-US" sz="1350" b="0" i="1" dirty="0" err="1"/>
              <a:t>uma</a:t>
            </a:r>
            <a:r>
              <a:rPr lang="en-US" sz="1350" b="0" i="1" dirty="0"/>
              <a:t> nova </a:t>
            </a:r>
            <a:r>
              <a:rPr lang="en-US" sz="1350" b="0" i="1" dirty="0" err="1"/>
              <a:t>versão</a:t>
            </a:r>
            <a:r>
              <a:rPr lang="en-US" sz="1350" b="0" i="1" dirty="0"/>
              <a:t> do TN Manager que </a:t>
            </a:r>
            <a:r>
              <a:rPr lang="en-US" sz="1350" b="0" i="1" dirty="0" err="1"/>
              <a:t>tem</a:t>
            </a:r>
            <a:r>
              <a:rPr lang="en-US" sz="1350" b="0" i="1" dirty="0"/>
              <a:t> iniciativa estratégica totalmente alinhada à nossa visão de longo prazo de crescimento orgânico e transformação digital.</a:t>
            </a:r>
          </a:p>
          <a:p>
            <a:pPr>
              <a:lnSpc>
                <a:spcPct val="100000"/>
              </a:lnSpc>
            </a:pPr>
            <a:endParaRPr lang="en-CA" sz="2400" b="0" i="1" dirty="0"/>
          </a:p>
        </p:txBody>
      </p:sp>
      <p:sp>
        <p:nvSpPr>
          <p:cNvPr id="4" name="Espaço Reservado para Texto 3">
            <a:extLst>
              <a:ext uri="{FF2B5EF4-FFF2-40B4-BE49-F238E27FC236}">
                <a16:creationId xmlns:a16="http://schemas.microsoft.com/office/drawing/2014/main" id="{F8FEE3EA-3D4A-DD54-6A99-1DD5E326C43E}"/>
              </a:ext>
            </a:extLst>
          </p:cNvPr>
          <p:cNvSpPr>
            <a:spLocks noGrp="1"/>
          </p:cNvSpPr>
          <p:nvPr>
            <p:ph type="body" sz="quarter" idx="12"/>
          </p:nvPr>
        </p:nvSpPr>
        <p:spPr>
          <a:xfrm>
            <a:off x="521550" y="2654710"/>
            <a:ext cx="7884319" cy="1821679"/>
          </a:xfrm>
        </p:spPr>
        <p:txBody>
          <a:bodyPr/>
          <a:lstStyle/>
          <a:p>
            <a:r>
              <a:rPr lang="en-US" dirty="0"/>
              <a:t>O mercado está evoluindo rapidamente, e os concorrentes estão avançando mais rápido do que nós na transformação digital. </a:t>
            </a:r>
          </a:p>
          <a:p>
            <a:r>
              <a:rPr lang="en-US" dirty="0"/>
              <a:t>Este projeto inovador atende um segmento relevante, que representa 19% da nossa Unidade de Negócios Beef. Nosso plano é </a:t>
            </a:r>
            <a:r>
              <a:rPr lang="en-US" dirty="0" err="1"/>
              <a:t>desenvolver</a:t>
            </a:r>
            <a:r>
              <a:rPr lang="en-US" dirty="0"/>
              <a:t> internamente um Sistema web para </a:t>
            </a:r>
            <a:r>
              <a:rPr lang="en-US" dirty="0" err="1"/>
              <a:t>confinamentos</a:t>
            </a:r>
            <a:r>
              <a:rPr lang="en-US" dirty="0"/>
              <a:t> que proteja e fortaleça o relacionamento com os clientes atuais, aumente a fidelização e, ao mesmo tempo, sirva como alavanca para atrair novos clientes.</a:t>
            </a:r>
          </a:p>
          <a:p>
            <a:r>
              <a:rPr lang="en-US" dirty="0"/>
              <a:t>Em um cenário em constante mudança, o TN Manager </a:t>
            </a:r>
            <a:r>
              <a:rPr lang="en-US" dirty="0" err="1"/>
              <a:t>na</a:t>
            </a:r>
            <a:r>
              <a:rPr lang="en-US" dirty="0"/>
              <a:t> </a:t>
            </a:r>
            <a:r>
              <a:rPr lang="en-US" dirty="0" err="1"/>
              <a:t>versão</a:t>
            </a:r>
            <a:r>
              <a:rPr lang="en-US" dirty="0"/>
              <a:t> web nos </a:t>
            </a:r>
            <a:r>
              <a:rPr lang="en-US" dirty="0" err="1"/>
              <a:t>posiciona</a:t>
            </a:r>
            <a:r>
              <a:rPr lang="en-US" dirty="0"/>
              <a:t> no mercado, garantindo nossa presença no digital e nos levando a novos horizontes.</a:t>
            </a:r>
            <a:endParaRPr lang="en-CA" dirty="0"/>
          </a:p>
        </p:txBody>
      </p:sp>
      <p:sp>
        <p:nvSpPr>
          <p:cNvPr id="2" name="Rectangle 9">
            <a:extLst>
              <a:ext uri="{FF2B5EF4-FFF2-40B4-BE49-F238E27FC236}">
                <a16:creationId xmlns:a16="http://schemas.microsoft.com/office/drawing/2014/main" id="{A9C8DE9B-0182-9F12-A971-BD522072C4A3}"/>
              </a:ext>
            </a:extLst>
          </p:cNvPr>
          <p:cNvSpPr/>
          <p:nvPr/>
        </p:nvSpPr>
        <p:spPr>
          <a:xfrm>
            <a:off x="521550" y="1154220"/>
            <a:ext cx="7884319" cy="1125875"/>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11">
            <a:extLst>
              <a:ext uri="{FF2B5EF4-FFF2-40B4-BE49-F238E27FC236}">
                <a16:creationId xmlns:a16="http://schemas.microsoft.com/office/drawing/2014/main" id="{AB97EAB9-B9D3-2C9B-E5C2-6D2E1CAC77D5}"/>
              </a:ext>
            </a:extLst>
          </p:cNvPr>
          <p:cNvSpPr txBox="1"/>
          <p:nvPr/>
        </p:nvSpPr>
        <p:spPr>
          <a:xfrm>
            <a:off x="1894825" y="1221600"/>
            <a:ext cx="6248567" cy="972108"/>
          </a:xfrm>
          <a:prstGeom prst="rect">
            <a:avLst/>
          </a:prstGeom>
          <a:noFill/>
        </p:spPr>
        <p:txBody>
          <a:bodyPr wrap="square" lIns="0" tIns="0" rIns="0" bIns="0" rtlCol="0" anchor="ctr" anchorCtr="0">
            <a:noAutofit/>
          </a:bodyPr>
          <a:lstStyle/>
          <a:p>
            <a:pPr>
              <a:lnSpc>
                <a:spcPct val="120000"/>
              </a:lnSpc>
            </a:pPr>
            <a:r>
              <a:rPr lang="en-US" sz="1200" dirty="0">
                <a:solidFill>
                  <a:schemeClr val="bg1"/>
                </a:solidFill>
              </a:rPr>
              <a:t>O TN Manager colocará a Trouw Nutrition Brasil na vanguarda da inovação no mercado de Corte, reforçando nossa tradição em oferecer produtos premium e serviços de excelência, ao mesmo tempo que impulsiona nossa agenda de </a:t>
            </a:r>
            <a:r>
              <a:rPr lang="en-US" sz="1200" dirty="0" err="1">
                <a:solidFill>
                  <a:schemeClr val="bg1"/>
                </a:solidFill>
              </a:rPr>
              <a:t>Transformação</a:t>
            </a:r>
            <a:r>
              <a:rPr lang="en-US" sz="1200" dirty="0">
                <a:solidFill>
                  <a:schemeClr val="bg1"/>
                </a:solidFill>
              </a:rPr>
              <a:t> Digital. </a:t>
            </a:r>
            <a:r>
              <a:rPr lang="en-US" sz="1200" dirty="0" err="1">
                <a:solidFill>
                  <a:schemeClr val="bg1"/>
                </a:solidFill>
              </a:rPr>
              <a:t>Além</a:t>
            </a:r>
            <a:r>
              <a:rPr lang="en-US" sz="1200" dirty="0">
                <a:solidFill>
                  <a:schemeClr val="bg1"/>
                </a:solidFill>
              </a:rPr>
              <a:t> de </a:t>
            </a:r>
            <a:r>
              <a:rPr lang="en-US" sz="1200" dirty="0" err="1">
                <a:solidFill>
                  <a:schemeClr val="bg1"/>
                </a:solidFill>
              </a:rPr>
              <a:t>fornecer</a:t>
            </a:r>
            <a:r>
              <a:rPr lang="en-US" sz="1200" dirty="0">
                <a:solidFill>
                  <a:schemeClr val="bg1"/>
                </a:solidFill>
              </a:rPr>
              <a:t> dados e </a:t>
            </a:r>
            <a:r>
              <a:rPr lang="en-US" sz="1200" dirty="0" err="1">
                <a:solidFill>
                  <a:schemeClr val="bg1"/>
                </a:solidFill>
              </a:rPr>
              <a:t>métricas</a:t>
            </a:r>
            <a:r>
              <a:rPr lang="en-US" sz="1200" dirty="0">
                <a:solidFill>
                  <a:schemeClr val="bg1"/>
                </a:solidFill>
              </a:rPr>
              <a:t> para </a:t>
            </a:r>
            <a:r>
              <a:rPr lang="en-US" sz="1200" dirty="0" err="1">
                <a:solidFill>
                  <a:schemeClr val="bg1"/>
                </a:solidFill>
              </a:rPr>
              <a:t>tomada</a:t>
            </a:r>
            <a:r>
              <a:rPr lang="en-US" sz="1200" dirty="0">
                <a:solidFill>
                  <a:schemeClr val="bg1"/>
                </a:solidFill>
              </a:rPr>
              <a:t> de </a:t>
            </a:r>
            <a:r>
              <a:rPr lang="en-US" sz="1200" dirty="0" err="1">
                <a:solidFill>
                  <a:schemeClr val="bg1"/>
                </a:solidFill>
              </a:rPr>
              <a:t>decisões</a:t>
            </a:r>
            <a:r>
              <a:rPr lang="en-US" sz="1200" dirty="0">
                <a:solidFill>
                  <a:schemeClr val="bg1"/>
                </a:solidFill>
              </a:rPr>
              <a:t> e </a:t>
            </a:r>
            <a:r>
              <a:rPr lang="en-US" sz="1200" dirty="0" err="1">
                <a:solidFill>
                  <a:schemeClr val="bg1"/>
                </a:solidFill>
              </a:rPr>
              <a:t>suporte</a:t>
            </a:r>
            <a:r>
              <a:rPr lang="en-US" sz="1200" dirty="0">
                <a:solidFill>
                  <a:schemeClr val="bg1"/>
                </a:solidFill>
              </a:rPr>
              <a:t> </a:t>
            </a:r>
            <a:r>
              <a:rPr lang="en-US" sz="1200" dirty="0" err="1">
                <a:solidFill>
                  <a:schemeClr val="bg1"/>
                </a:solidFill>
              </a:rPr>
              <a:t>técnico</a:t>
            </a:r>
            <a:r>
              <a:rPr lang="en-US" sz="1200" dirty="0">
                <a:solidFill>
                  <a:schemeClr val="bg1"/>
                </a:solidFill>
              </a:rPr>
              <a:t> de </a:t>
            </a:r>
            <a:r>
              <a:rPr lang="en-US" sz="1200" dirty="0" err="1">
                <a:solidFill>
                  <a:schemeClr val="bg1"/>
                </a:solidFill>
              </a:rPr>
              <a:t>qualidade</a:t>
            </a:r>
            <a:r>
              <a:rPr lang="en-US" sz="1200" dirty="0">
                <a:solidFill>
                  <a:schemeClr val="bg1"/>
                </a:solidFill>
              </a:rPr>
              <a:t>.</a:t>
            </a:r>
          </a:p>
        </p:txBody>
      </p:sp>
      <p:sp>
        <p:nvSpPr>
          <p:cNvPr id="5" name="Rectangle 22">
            <a:extLst>
              <a:ext uri="{FF2B5EF4-FFF2-40B4-BE49-F238E27FC236}">
                <a16:creationId xmlns:a16="http://schemas.microsoft.com/office/drawing/2014/main" id="{4BD2E2A4-A5A8-FB8A-00E5-7DB8A880E464}"/>
              </a:ext>
            </a:extLst>
          </p:cNvPr>
          <p:cNvSpPr/>
          <p:nvPr/>
        </p:nvSpPr>
        <p:spPr>
          <a:xfrm>
            <a:off x="521550" y="1154220"/>
            <a:ext cx="1103282" cy="1125875"/>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2">
            <a:extLst>
              <a:ext uri="{FF2B5EF4-FFF2-40B4-BE49-F238E27FC236}">
                <a16:creationId xmlns:a16="http://schemas.microsoft.com/office/drawing/2014/main" id="{9FEEAC2A-8F6F-33F1-31DC-45CF7E394C48}"/>
              </a:ext>
            </a:extLst>
          </p:cNvPr>
          <p:cNvGrpSpPr/>
          <p:nvPr/>
        </p:nvGrpSpPr>
        <p:grpSpPr>
          <a:xfrm>
            <a:off x="791580" y="1435871"/>
            <a:ext cx="562571" cy="562571"/>
            <a:chOff x="4119563" y="2171701"/>
            <a:chExt cx="346075" cy="346075"/>
          </a:xfrm>
        </p:grpSpPr>
        <p:sp>
          <p:nvSpPr>
            <p:cNvPr id="7" name="Freeform 307">
              <a:extLst>
                <a:ext uri="{FF2B5EF4-FFF2-40B4-BE49-F238E27FC236}">
                  <a16:creationId xmlns:a16="http://schemas.microsoft.com/office/drawing/2014/main" id="{522FD061-F040-8E76-4307-F7CF91D9DAD5}"/>
                </a:ext>
              </a:extLst>
            </p:cNvPr>
            <p:cNvSpPr>
              <a:spLocks/>
            </p:cNvSpPr>
            <p:nvPr/>
          </p:nvSpPr>
          <p:spPr bwMode="auto">
            <a:xfrm>
              <a:off x="4300538" y="2352676"/>
              <a:ext cx="165100" cy="165100"/>
            </a:xfrm>
            <a:custGeom>
              <a:avLst/>
              <a:gdLst>
                <a:gd name="T0" fmla="*/ 33 w 104"/>
                <a:gd name="T1" fmla="*/ 95 h 104"/>
                <a:gd name="T2" fmla="*/ 0 w 104"/>
                <a:gd name="T3" fmla="*/ 104 h 104"/>
                <a:gd name="T4" fmla="*/ 9 w 104"/>
                <a:gd name="T5" fmla="*/ 71 h 104"/>
                <a:gd name="T6" fmla="*/ 80 w 104"/>
                <a:gd name="T7" fmla="*/ 0 h 104"/>
                <a:gd name="T8" fmla="*/ 104 w 104"/>
                <a:gd name="T9" fmla="*/ 23 h 104"/>
                <a:gd name="T10" fmla="*/ 33 w 104"/>
                <a:gd name="T11" fmla="*/ 95 h 104"/>
              </a:gdLst>
              <a:ahLst/>
              <a:cxnLst>
                <a:cxn ang="0">
                  <a:pos x="T0" y="T1"/>
                </a:cxn>
                <a:cxn ang="0">
                  <a:pos x="T2" y="T3"/>
                </a:cxn>
                <a:cxn ang="0">
                  <a:pos x="T4" y="T5"/>
                </a:cxn>
                <a:cxn ang="0">
                  <a:pos x="T6" y="T7"/>
                </a:cxn>
                <a:cxn ang="0">
                  <a:pos x="T8" y="T9"/>
                </a:cxn>
                <a:cxn ang="0">
                  <a:pos x="T10" y="T11"/>
                </a:cxn>
              </a:cxnLst>
              <a:rect l="0" t="0" r="r" b="b"/>
              <a:pathLst>
                <a:path w="104" h="104">
                  <a:moveTo>
                    <a:pt x="33" y="95"/>
                  </a:moveTo>
                  <a:lnTo>
                    <a:pt x="0" y="104"/>
                  </a:lnTo>
                  <a:lnTo>
                    <a:pt x="9" y="71"/>
                  </a:lnTo>
                  <a:lnTo>
                    <a:pt x="80" y="0"/>
                  </a:lnTo>
                  <a:lnTo>
                    <a:pt x="104" y="23"/>
                  </a:lnTo>
                  <a:lnTo>
                    <a:pt x="33" y="95"/>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9" name="Line 308">
              <a:extLst>
                <a:ext uri="{FF2B5EF4-FFF2-40B4-BE49-F238E27FC236}">
                  <a16:creationId xmlns:a16="http://schemas.microsoft.com/office/drawing/2014/main" id="{069A3C55-6DD6-04FF-ECB3-363712CEDEEF}"/>
                </a:ext>
              </a:extLst>
            </p:cNvPr>
            <p:cNvSpPr>
              <a:spLocks noChangeShapeType="1"/>
            </p:cNvSpPr>
            <p:nvPr/>
          </p:nvSpPr>
          <p:spPr bwMode="auto">
            <a:xfrm>
              <a:off x="4398963" y="2382838"/>
              <a:ext cx="36513" cy="36513"/>
            </a:xfrm>
            <a:prstGeom prst="line">
              <a:avLst/>
            </a:prstGeom>
            <a:noFill/>
            <a:ln w="15875"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0" name="Line 309">
              <a:extLst>
                <a:ext uri="{FF2B5EF4-FFF2-40B4-BE49-F238E27FC236}">
                  <a16:creationId xmlns:a16="http://schemas.microsoft.com/office/drawing/2014/main" id="{ACEFF4E0-BE2A-72D5-3F62-2367F0A886D0}"/>
                </a:ext>
              </a:extLst>
            </p:cNvPr>
            <p:cNvSpPr>
              <a:spLocks noChangeShapeType="1"/>
            </p:cNvSpPr>
            <p:nvPr/>
          </p:nvSpPr>
          <p:spPr bwMode="auto">
            <a:xfrm>
              <a:off x="4314825" y="2465388"/>
              <a:ext cx="38100" cy="381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1" name="Line 310">
              <a:extLst>
                <a:ext uri="{FF2B5EF4-FFF2-40B4-BE49-F238E27FC236}">
                  <a16:creationId xmlns:a16="http://schemas.microsoft.com/office/drawing/2014/main" id="{67C6C67A-3B0A-ED2C-C25D-F507AA69C2EE}"/>
                </a:ext>
              </a:extLst>
            </p:cNvPr>
            <p:cNvSpPr>
              <a:spLocks noChangeShapeType="1"/>
            </p:cNvSpPr>
            <p:nvPr/>
          </p:nvSpPr>
          <p:spPr bwMode="auto">
            <a:xfrm>
              <a:off x="4248150" y="2322513"/>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2" name="Line 311">
              <a:extLst>
                <a:ext uri="{FF2B5EF4-FFF2-40B4-BE49-F238E27FC236}">
                  <a16:creationId xmlns:a16="http://schemas.microsoft.com/office/drawing/2014/main" id="{EC9255DD-75C5-87A2-45B4-8219D21A44BF}"/>
                </a:ext>
              </a:extLst>
            </p:cNvPr>
            <p:cNvSpPr>
              <a:spLocks noChangeShapeType="1"/>
            </p:cNvSpPr>
            <p:nvPr/>
          </p:nvSpPr>
          <p:spPr bwMode="auto">
            <a:xfrm>
              <a:off x="4248150" y="238283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3" name="Freeform 312">
              <a:extLst>
                <a:ext uri="{FF2B5EF4-FFF2-40B4-BE49-F238E27FC236}">
                  <a16:creationId xmlns:a16="http://schemas.microsoft.com/office/drawing/2014/main" id="{438BC57C-66BF-790A-EBC2-A11496D2E24F}"/>
                </a:ext>
              </a:extLst>
            </p:cNvPr>
            <p:cNvSpPr>
              <a:spLocks/>
            </p:cNvSpPr>
            <p:nvPr/>
          </p:nvSpPr>
          <p:spPr bwMode="auto">
            <a:xfrm>
              <a:off x="4165600" y="2292351"/>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4" name="Freeform 313">
              <a:extLst>
                <a:ext uri="{FF2B5EF4-FFF2-40B4-BE49-F238E27FC236}">
                  <a16:creationId xmlns:a16="http://schemas.microsoft.com/office/drawing/2014/main" id="{40071169-1B90-2E5C-B3F8-9C673684073E}"/>
                </a:ext>
              </a:extLst>
            </p:cNvPr>
            <p:cNvSpPr>
              <a:spLocks/>
            </p:cNvSpPr>
            <p:nvPr/>
          </p:nvSpPr>
          <p:spPr bwMode="auto">
            <a:xfrm>
              <a:off x="4165600" y="2352676"/>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5" name="Freeform 314">
              <a:extLst>
                <a:ext uri="{FF2B5EF4-FFF2-40B4-BE49-F238E27FC236}">
                  <a16:creationId xmlns:a16="http://schemas.microsoft.com/office/drawing/2014/main" id="{7445F3E2-D41E-B5AF-99DD-1A524DF8293D}"/>
                </a:ext>
              </a:extLst>
            </p:cNvPr>
            <p:cNvSpPr>
              <a:spLocks/>
            </p:cNvSpPr>
            <p:nvPr/>
          </p:nvSpPr>
          <p:spPr bwMode="auto">
            <a:xfrm>
              <a:off x="4119563" y="2171701"/>
              <a:ext cx="241300" cy="315913"/>
            </a:xfrm>
            <a:custGeom>
              <a:avLst/>
              <a:gdLst>
                <a:gd name="T0" fmla="*/ 81 w 152"/>
                <a:gd name="T1" fmla="*/ 199 h 199"/>
                <a:gd name="T2" fmla="*/ 0 w 152"/>
                <a:gd name="T3" fmla="*/ 199 h 199"/>
                <a:gd name="T4" fmla="*/ 0 w 152"/>
                <a:gd name="T5" fmla="*/ 0 h 199"/>
                <a:gd name="T6" fmla="*/ 105 w 152"/>
                <a:gd name="T7" fmla="*/ 0 h 199"/>
                <a:gd name="T8" fmla="*/ 152 w 152"/>
                <a:gd name="T9" fmla="*/ 47 h 199"/>
                <a:gd name="T10" fmla="*/ 152 w 152"/>
                <a:gd name="T11" fmla="*/ 118 h 199"/>
              </a:gdLst>
              <a:ahLst/>
              <a:cxnLst>
                <a:cxn ang="0">
                  <a:pos x="T0" y="T1"/>
                </a:cxn>
                <a:cxn ang="0">
                  <a:pos x="T2" y="T3"/>
                </a:cxn>
                <a:cxn ang="0">
                  <a:pos x="T4" y="T5"/>
                </a:cxn>
                <a:cxn ang="0">
                  <a:pos x="T6" y="T7"/>
                </a:cxn>
                <a:cxn ang="0">
                  <a:pos x="T8" y="T9"/>
                </a:cxn>
                <a:cxn ang="0">
                  <a:pos x="T10" y="T11"/>
                </a:cxn>
              </a:cxnLst>
              <a:rect l="0" t="0" r="r" b="b"/>
              <a:pathLst>
                <a:path w="152" h="199">
                  <a:moveTo>
                    <a:pt x="81" y="199"/>
                  </a:moveTo>
                  <a:lnTo>
                    <a:pt x="0" y="199"/>
                  </a:lnTo>
                  <a:lnTo>
                    <a:pt x="0" y="0"/>
                  </a:lnTo>
                  <a:lnTo>
                    <a:pt x="105" y="0"/>
                  </a:lnTo>
                  <a:lnTo>
                    <a:pt x="152" y="47"/>
                  </a:lnTo>
                  <a:lnTo>
                    <a:pt x="152" y="118"/>
                  </a:lnTo>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6" name="Freeform 315">
              <a:extLst>
                <a:ext uri="{FF2B5EF4-FFF2-40B4-BE49-F238E27FC236}">
                  <a16:creationId xmlns:a16="http://schemas.microsoft.com/office/drawing/2014/main" id="{3B6C4BF5-8B76-8B82-C592-0D03E6B71C36}"/>
                </a:ext>
              </a:extLst>
            </p:cNvPr>
            <p:cNvSpPr>
              <a:spLocks/>
            </p:cNvSpPr>
            <p:nvPr/>
          </p:nvSpPr>
          <p:spPr bwMode="auto">
            <a:xfrm>
              <a:off x="4286250" y="2171701"/>
              <a:ext cx="74613" cy="74613"/>
            </a:xfrm>
            <a:custGeom>
              <a:avLst/>
              <a:gdLst>
                <a:gd name="T0" fmla="*/ 0 w 47"/>
                <a:gd name="T1" fmla="*/ 0 h 47"/>
                <a:gd name="T2" fmla="*/ 0 w 47"/>
                <a:gd name="T3" fmla="*/ 47 h 47"/>
                <a:gd name="T4" fmla="*/ 47 w 47"/>
                <a:gd name="T5" fmla="*/ 47 h 47"/>
              </a:gdLst>
              <a:ahLst/>
              <a:cxnLst>
                <a:cxn ang="0">
                  <a:pos x="T0" y="T1"/>
                </a:cxn>
                <a:cxn ang="0">
                  <a:pos x="T2" y="T3"/>
                </a:cxn>
                <a:cxn ang="0">
                  <a:pos x="T4" y="T5"/>
                </a:cxn>
              </a:cxnLst>
              <a:rect l="0" t="0" r="r" b="b"/>
              <a:pathLst>
                <a:path w="47" h="47">
                  <a:moveTo>
                    <a:pt x="0" y="0"/>
                  </a:moveTo>
                  <a:lnTo>
                    <a:pt x="0" y="47"/>
                  </a:lnTo>
                  <a:lnTo>
                    <a:pt x="47" y="4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grpSp>
    </p:spTree>
    <p:extLst>
      <p:ext uri="{BB962C8B-B14F-4D97-AF65-F5344CB8AC3E}">
        <p14:creationId xmlns:p14="http://schemas.microsoft.com/office/powerpoint/2010/main" val="279536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err="1">
                <a:solidFill>
                  <a:srgbClr val="1B3A8C"/>
                </a:solidFill>
                <a:latin typeface="Calibri" pitchFamily="34" charset="0"/>
                <a:ea typeface="Calibri" pitchFamily="34" charset="-122"/>
                <a:cs typeface="Calibri" pitchFamily="34" charset="-120"/>
              </a:rPr>
              <a:t>Quem</a:t>
            </a:r>
            <a:r>
              <a:rPr lang="en-US" sz="2400" b="1" dirty="0">
                <a:solidFill>
                  <a:srgbClr val="1B3A8C"/>
                </a:solidFill>
                <a:latin typeface="Calibri" pitchFamily="34" charset="0"/>
                <a:ea typeface="Calibri" pitchFamily="34" charset="-122"/>
                <a:cs typeface="Calibri" pitchFamily="34" charset="-120"/>
              </a:rPr>
              <a:t> é </a:t>
            </a:r>
            <a:r>
              <a:rPr lang="en-US" sz="2400" b="1" dirty="0" err="1">
                <a:solidFill>
                  <a:srgbClr val="1B3A8C"/>
                </a:solidFill>
                <a:latin typeface="Calibri" pitchFamily="34" charset="0"/>
                <a:ea typeface="Calibri" pitchFamily="34" charset="-122"/>
                <a:cs typeface="Calibri" pitchFamily="34" charset="-120"/>
              </a:rPr>
              <a:t>nosso</a:t>
            </a:r>
            <a:r>
              <a:rPr lang="en-US" sz="2400" b="1" dirty="0">
                <a:solidFill>
                  <a:srgbClr val="1B3A8C"/>
                </a:solidFill>
                <a:latin typeface="Calibri" pitchFamily="34" charset="0"/>
                <a:ea typeface="Calibri" pitchFamily="34" charset="-122"/>
                <a:cs typeface="Calibri" pitchFamily="34" charset="-120"/>
              </a:rPr>
              <a:t> Target Customer?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TN Manager </a:t>
            </a:r>
            <a:r>
              <a:rPr lang="en-US" sz="1300" i="1" dirty="0" err="1">
                <a:solidFill>
                  <a:srgbClr val="1B3A8C"/>
                </a:solidFill>
                <a:latin typeface="Calibri" pitchFamily="34" charset="0"/>
                <a:ea typeface="Calibri" pitchFamily="34" charset="-122"/>
                <a:cs typeface="Calibri" pitchFamily="34" charset="-120"/>
              </a:rPr>
              <a:t>versão</a:t>
            </a:r>
            <a:r>
              <a:rPr lang="en-US" sz="1300" i="1" dirty="0">
                <a:solidFill>
                  <a:srgbClr val="1B3A8C"/>
                </a:solidFill>
                <a:latin typeface="Calibri" pitchFamily="34" charset="0"/>
                <a:ea typeface="Calibri" pitchFamily="34" charset="-122"/>
                <a:cs typeface="Calibri" pitchFamily="34" charset="-120"/>
              </a:rPr>
              <a:t> Web</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8" name="Text 5"/>
          <p:cNvSpPr/>
          <p:nvPr/>
        </p:nvSpPr>
        <p:spPr>
          <a:xfrm>
            <a:off x="685800" y="1691640"/>
            <a:ext cx="2834640" cy="16459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Construir primeiro o TN Manager Web: uma versão simples, de lançamento manual, testada com 3 a 5 fazendas piloto. Cada nova versão só avança quando a anterior provar uso e valor.</a:t>
            </a:r>
            <a:endParaRPr lang="en-US" sz="1500" dirty="0"/>
          </a:p>
        </p:txBody>
      </p:sp>
      <p:sp>
        <p:nvSpPr>
          <p:cNvPr id="10" name="Shape 7"/>
          <p:cNvSpPr/>
          <p:nvPr/>
        </p:nvSpPr>
        <p:spPr>
          <a:xfrm>
            <a:off x="892026" y="1342231"/>
            <a:ext cx="457200" cy="457200"/>
          </a:xfrm>
          <a:prstGeom prst="ellipse">
            <a:avLst/>
          </a:prstGeom>
          <a:solidFill>
            <a:srgbClr val="C8106E"/>
          </a:solidFill>
          <a:ln/>
        </p:spPr>
        <p:txBody>
          <a:bodyPr/>
          <a:lstStyle/>
          <a:p>
            <a:endParaRPr lang="pt-BR"/>
          </a:p>
        </p:txBody>
      </p:sp>
      <p:sp>
        <p:nvSpPr>
          <p:cNvPr id="11" name="Text 8"/>
          <p:cNvSpPr/>
          <p:nvPr/>
        </p:nvSpPr>
        <p:spPr>
          <a:xfrm>
            <a:off x="892026" y="134223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p:nvPr/>
        </p:nvSpPr>
        <p:spPr>
          <a:xfrm>
            <a:off x="1532106" y="132394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PERFIL DO CLIENTE</a:t>
            </a:r>
            <a:endParaRPr lang="en-US" sz="1400" dirty="0"/>
          </a:p>
        </p:txBody>
      </p:sp>
      <p:sp>
        <p:nvSpPr>
          <p:cNvPr id="13" name="Text 10"/>
          <p:cNvSpPr/>
          <p:nvPr/>
        </p:nvSpPr>
        <p:spPr>
          <a:xfrm>
            <a:off x="1532106" y="161655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Confinamentos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pequenos</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médios</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de 200 a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 e com </a:t>
            </a:r>
            <a:r>
              <a:rPr lang="en-US" sz="1100" dirty="0" err="1">
                <a:solidFill>
                  <a:srgbClr val="4A5560"/>
                </a:solidFill>
                <a:latin typeface="Calibri" pitchFamily="34" charset="0"/>
                <a:ea typeface="Calibri" pitchFamily="34" charset="-122"/>
                <a:cs typeface="Calibri" pitchFamily="34" charset="-120"/>
              </a:rPr>
              <a:t>nível</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gestão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moderada</a:t>
            </a:r>
            <a:r>
              <a:rPr lang="en-US" sz="1100" dirty="0">
                <a:solidFill>
                  <a:srgbClr val="4A5560"/>
                </a:solidFill>
                <a:latin typeface="Calibri" pitchFamily="34" charset="0"/>
                <a:ea typeface="Calibri" pitchFamily="34" charset="-122"/>
                <a:cs typeface="Calibri" pitchFamily="34" charset="-120"/>
              </a:rPr>
              <a:t>, que </a:t>
            </a:r>
            <a:r>
              <a:rPr lang="en-US" sz="1100" dirty="0" err="1">
                <a:solidFill>
                  <a:srgbClr val="4A5560"/>
                </a:solidFill>
                <a:latin typeface="Calibri" pitchFamily="34" charset="0"/>
                <a:ea typeface="Calibri" pitchFamily="34" charset="-122"/>
                <a:cs typeface="Calibri" pitchFamily="34" charset="-120"/>
              </a:rPr>
              <a:t>fazem</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anotações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papel</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planilhas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ou</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sistema</a:t>
            </a:r>
            <a:r>
              <a:rPr lang="en-US" sz="1100" dirty="0">
                <a:solidFill>
                  <a:srgbClr val="4A5560"/>
                </a:solidFill>
                <a:latin typeface="Calibri" pitchFamily="34" charset="0"/>
                <a:ea typeface="Calibri" pitchFamily="34" charset="-122"/>
                <a:cs typeface="Calibri" pitchFamily="34" charset="-120"/>
              </a:rPr>
              <a:t> simples.</a:t>
            </a:r>
            <a:endParaRPr lang="en-US" sz="1100" dirty="0"/>
          </a:p>
        </p:txBody>
      </p:sp>
      <p:sp>
        <p:nvSpPr>
          <p:cNvPr id="14" name="Shape 11"/>
          <p:cNvSpPr/>
          <p:nvPr/>
        </p:nvSpPr>
        <p:spPr>
          <a:xfrm>
            <a:off x="892026" y="2393791"/>
            <a:ext cx="457200" cy="457200"/>
          </a:xfrm>
          <a:prstGeom prst="ellipse">
            <a:avLst/>
          </a:prstGeom>
          <a:solidFill>
            <a:srgbClr val="C8106E"/>
          </a:solidFill>
          <a:ln/>
        </p:spPr>
        <p:txBody>
          <a:bodyPr/>
          <a:lstStyle/>
          <a:p>
            <a:endParaRPr lang="pt-BR"/>
          </a:p>
        </p:txBody>
      </p:sp>
      <p:sp>
        <p:nvSpPr>
          <p:cNvPr id="15" name="Text 12"/>
          <p:cNvSpPr/>
          <p:nvPr/>
        </p:nvSpPr>
        <p:spPr>
          <a:xfrm>
            <a:off x="892026" y="239379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1532106" y="237550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A FERRAMENTA ENTREGA?</a:t>
            </a:r>
            <a:endParaRPr lang="en-US" sz="1400" dirty="0"/>
          </a:p>
        </p:txBody>
      </p:sp>
      <p:sp>
        <p:nvSpPr>
          <p:cNvPr id="17" name="Text 14"/>
          <p:cNvSpPr/>
          <p:nvPr/>
        </p:nvSpPr>
        <p:spPr>
          <a:xfrm>
            <a:off x="1532106" y="266811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trato</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entradas e </a:t>
            </a:r>
            <a:r>
              <a:rPr lang="en-US" sz="1100" dirty="0" err="1">
                <a:solidFill>
                  <a:srgbClr val="4A5560"/>
                </a:solidFill>
                <a:latin typeface="Calibri" pitchFamily="34" charset="0"/>
                <a:ea typeface="Calibri" pitchFamily="34" charset="-122"/>
                <a:cs typeface="Calibri" pitchFamily="34" charset="-120"/>
              </a:rPr>
              <a:t>saídas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indicadores</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desempenho</a:t>
            </a:r>
            <a:r>
              <a:rPr lang="en-US" sz="1100" dirty="0">
                <a:solidFill>
                  <a:srgbClr val="4A5560"/>
                </a:solidFill>
                <a:latin typeface="Calibri" pitchFamily="34" charset="0"/>
                <a:ea typeface="Calibri" pitchFamily="34" charset="-122"/>
                <a:cs typeface="Calibri" pitchFamily="34" charset="-120"/>
              </a:rPr>
              <a:t>(GMD, </a:t>
            </a:r>
            <a:r>
              <a:rPr lang="en-US" sz="1100" dirty="0" err="1">
                <a:solidFill>
                  <a:srgbClr val="4A5560"/>
                </a:solidFill>
                <a:latin typeface="Calibri" pitchFamily="34" charset="0"/>
                <a:ea typeface="Calibri" pitchFamily="34" charset="-122"/>
                <a:cs typeface="Calibri" pitchFamily="34" charset="-120"/>
              </a:rPr>
              <a:t>lotação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IMS, </a:t>
            </a:r>
            <a:r>
              <a:rPr lang="en-US" sz="1100" dirty="0" err="1">
                <a:solidFill>
                  <a:srgbClr val="4A5560"/>
                </a:solidFill>
                <a:latin typeface="Calibri" pitchFamily="34" charset="0"/>
                <a:ea typeface="Calibri" pitchFamily="34" charset="-122"/>
                <a:cs typeface="Calibri" pitchFamily="34" charset="-120"/>
              </a:rPr>
              <a:t>dias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cocho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além</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relatórios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semanais</a:t>
            </a:r>
            <a:r>
              <a:rPr lang="en-US" sz="1100" dirty="0">
                <a:solidFill>
                  <a:srgbClr val="4A5560"/>
                </a:solidFill>
                <a:latin typeface="Calibri" pitchFamily="34" charset="0"/>
                <a:ea typeface="Calibri" pitchFamily="34" charset="-122"/>
                <a:cs typeface="Calibri" pitchFamily="34" charset="-120"/>
              </a:rPr>
              <a:t> para </a:t>
            </a:r>
            <a:r>
              <a:rPr lang="en-US" sz="1100" dirty="0" err="1">
                <a:solidFill>
                  <a:srgbClr val="4A5560"/>
                </a:solidFill>
                <a:latin typeface="Calibri" pitchFamily="34" charset="0"/>
                <a:ea typeface="Calibri" pitchFamily="34" charset="-122"/>
                <a:cs typeface="Calibri" pitchFamily="34" charset="-120"/>
              </a:rPr>
              <a:t>tomada</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decisões</a:t>
            </a:r>
            <a:r>
              <a:rPr lang="en-US" sz="1100" dirty="0">
                <a:solidFill>
                  <a:srgbClr val="4A5560"/>
                </a:solidFill>
                <a:latin typeface="Calibri" pitchFamily="34" charset="0"/>
                <a:ea typeface="Calibri" pitchFamily="34" charset="-122"/>
                <a:cs typeface="Calibri" pitchFamily="34" charset="-120"/>
              </a:rPr>
              <a:t>.</a:t>
            </a:r>
            <a:endParaRPr lang="en-US" sz="1100" dirty="0"/>
          </a:p>
        </p:txBody>
      </p:sp>
      <p:sp>
        <p:nvSpPr>
          <p:cNvPr id="18" name="Shape 15"/>
          <p:cNvSpPr/>
          <p:nvPr/>
        </p:nvSpPr>
        <p:spPr>
          <a:xfrm>
            <a:off x="892026" y="3445351"/>
            <a:ext cx="457200" cy="457200"/>
          </a:xfrm>
          <a:prstGeom prst="ellipse">
            <a:avLst/>
          </a:prstGeom>
          <a:solidFill>
            <a:srgbClr val="C8106E"/>
          </a:solidFill>
          <a:ln/>
        </p:spPr>
        <p:txBody>
          <a:bodyPr/>
          <a:lstStyle/>
          <a:p>
            <a:endParaRPr lang="pt-BR"/>
          </a:p>
        </p:txBody>
      </p:sp>
      <p:sp>
        <p:nvSpPr>
          <p:cNvPr id="19" name="Text 16"/>
          <p:cNvSpPr/>
          <p:nvPr/>
        </p:nvSpPr>
        <p:spPr>
          <a:xfrm>
            <a:off x="892026" y="344535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532106" y="342706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NOS DIFERENCIA DA CONCORRÊNCIA?</a:t>
            </a:r>
            <a:endParaRPr lang="en-US" sz="1400" dirty="0"/>
          </a:p>
        </p:txBody>
      </p:sp>
      <p:sp>
        <p:nvSpPr>
          <p:cNvPr id="21" name="Text 18"/>
          <p:cNvSpPr/>
          <p:nvPr/>
        </p:nvSpPr>
        <p:spPr>
          <a:xfrm>
            <a:off x="1532106" y="3712997"/>
            <a:ext cx="3977640" cy="685800"/>
          </a:xfrm>
          <a:prstGeom prst="rect">
            <a:avLst/>
          </a:prstGeom>
          <a:noFill/>
          <a:ln/>
        </p:spPr>
        <p:txBody>
          <a:bodyPr wrap="square" lIns="0" tIns="0" rIns="0" bIns="0" rtlCol="0" anchor="t"/>
          <a:lstStyle/>
          <a:p>
            <a:pPr marL="0" indent="0">
              <a:buNone/>
            </a:pPr>
            <a:r>
              <a:rPr lang="en-US" sz="1100" dirty="0">
                <a:solidFill>
                  <a:srgbClr val="4A5560"/>
                </a:solidFill>
                <a:latin typeface="Calibri" pitchFamily="34" charset="0"/>
                <a:ea typeface="Calibri" pitchFamily="34" charset="-122"/>
                <a:cs typeface="Calibri" pitchFamily="34" charset="-120"/>
              </a:rPr>
              <a:t>Não é a ferramenta: software de gestão virou item de prateleira. O diferencial é a entrega técnica: a TN acompanha toda a engorda, analisa os números toda semana, compara com o benchmark e transforma dados em decisão para o confinador. Sem custo de licença.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que muda da v1.0 para a v2.0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pergunta deixa de ser como defender a base e passa a ser onde o produto gera valor e para quem.</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509232090"/>
              </p:ext>
            </p:extLst>
          </p:nvPr>
        </p:nvGraphicFramePr>
        <p:xfrm>
          <a:off x="457200" y="1188720"/>
          <a:ext cx="8229600" cy="2962656"/>
        </p:xfrm>
        <a:graphic>
          <a:graphicData uri="http://schemas.openxmlformats.org/drawingml/2006/table">
            <a:tbl>
              <a:tblPr/>
              <a:tblGrid>
                <a:gridCol w="155448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v1.0 (outubro de 2023)</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6668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v2.0 (outubro de 2026)</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C8106E"/>
                    </a:solidFill>
                  </a:tcPr>
                </a:tc>
                <a:extLst>
                  <a:ext uri="{0D108BD9-81ED-4DB2-BD59-A6C34878D82A}">
                    <a16:rowId xmlns:a16="http://schemas.microsoft.com/office/drawing/2014/main" val="10000"/>
                  </a:ext>
                </a:extLst>
              </a:tr>
              <a:tr h="62179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Cliente-alvo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Confinamentos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a </a:t>
                      </a:r>
                      <a:r>
                        <a:rPr lang="en-US" sz="1100" dirty="0" err="1">
                          <a:solidFill>
                            <a:srgbClr val="4A5560"/>
                          </a:solidFill>
                          <a:latin typeface="Calibri" pitchFamily="34" charset="0"/>
                          <a:ea typeface="Calibri" pitchFamily="34" charset="-122"/>
                          <a:cs typeface="Calibri" pitchFamily="34" charset="-120"/>
                        </a:rPr>
                        <a:t>partir</a:t>
                      </a:r>
                      <a:r>
                        <a:rPr lang="en-US" sz="1100" dirty="0">
                          <a:solidFill>
                            <a:srgbClr val="4A5560"/>
                          </a:solidFill>
                          <a:latin typeface="Calibri" pitchFamily="34" charset="0"/>
                          <a:ea typeface="Calibri" pitchFamily="34" charset="-122"/>
                          <a:cs typeface="Calibri" pitchFamily="34" charset="-120"/>
                        </a:rPr>
                        <a:t> de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automação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err="1">
                          <a:solidFill>
                            <a:srgbClr val="4A5560"/>
                          </a:solidFill>
                          <a:latin typeface="Calibri" pitchFamily="34" charset="0"/>
                          <a:ea typeface="Calibri" pitchFamily="34" charset="-122"/>
                          <a:cs typeface="Calibri" pitchFamily="34" charset="-120"/>
                        </a:rPr>
                        <a:t>Confinamentos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pequenos</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médios</a:t>
                      </a:r>
                      <a:r>
                        <a:rPr lang="en-US" sz="1100" dirty="0">
                          <a:solidFill>
                            <a:srgbClr val="4A5560"/>
                          </a:solidFill>
                          <a:latin typeface="Calibri" pitchFamily="34" charset="0"/>
                          <a:ea typeface="Calibri" pitchFamily="34" charset="-122"/>
                          <a:cs typeface="Calibri" pitchFamily="34" charset="-120"/>
                        </a:rPr>
                        <a:t>, (200 a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gestão</a:t>
                      </a:r>
                      <a:r>
                        <a:rPr lang="en-US" sz="1100" dirty="0">
                          <a:solidFill>
                            <a:srgbClr val="4A5560"/>
                          </a:solidFill>
                          <a:latin typeface="Calibri" pitchFamily="34" charset="0"/>
                          <a:ea typeface="Calibri" pitchFamily="34" charset="-122"/>
                          <a:cs typeface="Calibri" pitchFamily="34" charset="-120"/>
                        </a:rPr>
                        <a:t> manual</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Produto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Sistema </a:t>
                      </a:r>
                      <a:r>
                        <a:rPr lang="en-US" sz="1100" dirty="0" err="1">
                          <a:solidFill>
                            <a:srgbClr val="4A5560"/>
                          </a:solidFill>
                          <a:latin typeface="Calibri" pitchFamily="34" charset="0"/>
                          <a:ea typeface="Calibri" pitchFamily="34" charset="-122"/>
                          <a:cs typeface="Calibri" pitchFamily="34" charset="-120"/>
                        </a:rPr>
                        <a:t>integração</a:t>
                      </a:r>
                      <a:r>
                        <a:rPr lang="en-US" sz="1100" dirty="0">
                          <a:solidFill>
                            <a:srgbClr val="4A5560"/>
                          </a:solidFill>
                          <a:latin typeface="Calibri" pitchFamily="34" charset="0"/>
                          <a:ea typeface="Calibri" pitchFamily="34" charset="-122"/>
                          <a:cs typeface="Calibri" pitchFamily="34" charset="-120"/>
                        </a:rPr>
                        <a:t> com hardware, terminal offline e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TN Manager Web: lançamento manual, poucos indicadores, evolução por versões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Base da decisão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Premissas internas e base de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Entrevistas internas, benchmark externo e discovery com 30 ou mais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Implantação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50 clientes no ano 1 e 200 no ano 5</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3 a 5 fazendas piloto, com critério de </a:t>
                      </a:r>
                      <a:r>
                        <a:rPr lang="en-US" sz="1100" dirty="0" err="1">
                          <a:solidFill>
                            <a:srgbClr val="4A5560"/>
                          </a:solidFill>
                          <a:latin typeface="Calibri" pitchFamily="34" charset="0"/>
                          <a:ea typeface="Calibri" pitchFamily="34" charset="-122"/>
                          <a:cs typeface="Calibri" pitchFamily="34" charset="-120"/>
                        </a:rPr>
                        <a:t>avanço</a:t>
                      </a:r>
                      <a:r>
                        <a:rPr lang="en-US" sz="1100" dirty="0">
                          <a:solidFill>
                            <a:srgbClr val="4A5560"/>
                          </a:solidFill>
                          <a:latin typeface="Calibri" pitchFamily="34" charset="0"/>
                          <a:ea typeface="Calibri" pitchFamily="34" charset="-122"/>
                          <a:cs typeface="Calibri" pitchFamily="34" charset="-120"/>
                        </a:rPr>
                        <a:t> (5, 20 e 50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Métrica de sucesso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Sales Profit e market share</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Uso recorrente e valor percebido primeiro; Sales Profit em seguida</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problema de negócio da v1.0 continua válido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números de 2023 justificam o projeto. A v2.0 revisa a forma de resolver o problema.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Business Case Feedlot App v1.0 (out/2023) e OGP Brazil 2023. Atualizar no diagnóstico.</a:t>
            </a:r>
            <a:endParaRPr lang="en-US" sz="800" dirty="0"/>
          </a:p>
        </p:txBody>
      </p:sp>
      <p:sp>
        <p:nvSpPr>
          <p:cNvPr id="7" name="Text 4"/>
          <p:cNvSpPr/>
          <p:nvPr/>
        </p:nvSpPr>
        <p:spPr>
          <a:xfrm>
            <a:off x="457200" y="1143000"/>
            <a:ext cx="475488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Sales Profit Beef 2022 (R$ milhões)</a:t>
            </a:r>
            <a:endParaRPr lang="en-US" sz="1200" dirty="0"/>
          </a:p>
        </p:txBody>
      </p:sp>
      <p:graphicFrame>
        <p:nvGraphicFramePr>
          <p:cNvPr id="8" name="Chart 0"/>
          <p:cNvGraphicFramePr/>
          <p:nvPr/>
        </p:nvGraphicFramePr>
        <p:xfrm>
          <a:off x="365760" y="1417320"/>
          <a:ext cx="49377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1188720"/>
            <a:ext cx="1463040" cy="1325880"/>
          </a:xfrm>
          <a:prstGeom prst="rect">
            <a:avLst/>
          </a:prstGeom>
          <a:solidFill>
            <a:srgbClr val="F4F6F8"/>
          </a:solidFill>
          <a:ln/>
        </p:spPr>
        <p:txBody>
          <a:bodyPr/>
          <a:lstStyle/>
          <a:p>
            <a:endParaRPr lang="pt-BR"/>
          </a:p>
        </p:txBody>
      </p:sp>
      <p:sp>
        <p:nvSpPr>
          <p:cNvPr id="10" name="Shape 6"/>
          <p:cNvSpPr/>
          <p:nvPr/>
        </p:nvSpPr>
        <p:spPr>
          <a:xfrm>
            <a:off x="5577840" y="1188720"/>
            <a:ext cx="54864" cy="1325880"/>
          </a:xfrm>
          <a:prstGeom prst="rect">
            <a:avLst/>
          </a:prstGeom>
          <a:solidFill>
            <a:srgbClr val="C8106E"/>
          </a:solidFill>
          <a:ln/>
        </p:spPr>
        <p:txBody>
          <a:bodyPr/>
          <a:lstStyle/>
          <a:p>
            <a:endParaRPr lang="pt-BR"/>
          </a:p>
        </p:txBody>
      </p:sp>
      <p:sp>
        <p:nvSpPr>
          <p:cNvPr id="11" name="Text 7"/>
          <p:cNvSpPr/>
          <p:nvPr/>
        </p:nvSpPr>
        <p:spPr>
          <a:xfrm>
            <a:off x="5733288" y="1298448"/>
            <a:ext cx="1261872" cy="457200"/>
          </a:xfrm>
          <a:prstGeom prst="rect">
            <a:avLst/>
          </a:prstGeom>
          <a:noFill/>
          <a:ln/>
        </p:spPr>
        <p:txBody>
          <a:bodyPr wrap="square" lIns="0" tIns="0" rIns="0" bIns="0" rtlCol="0" anchor="t"/>
          <a:lstStyle/>
          <a:p>
            <a:pPr marL="0" indent="0">
              <a:buNone/>
            </a:pPr>
            <a:r>
              <a:rPr lang="en-US" sz="2400" b="1" dirty="0">
                <a:solidFill>
                  <a:srgbClr val="C8106E"/>
                </a:solidFill>
                <a:latin typeface="Calibri" pitchFamily="34" charset="0"/>
                <a:ea typeface="Calibri" pitchFamily="34" charset="-122"/>
                <a:cs typeface="Calibri" pitchFamily="34" charset="-120"/>
              </a:rPr>
              <a:t>19%</a:t>
            </a:r>
            <a:endParaRPr lang="en-US" sz="2400" dirty="0"/>
          </a:p>
        </p:txBody>
      </p:sp>
      <p:sp>
        <p:nvSpPr>
          <p:cNvPr id="12" name="Text 8"/>
          <p:cNvSpPr/>
          <p:nvPr/>
        </p:nvSpPr>
        <p:spPr>
          <a:xfrm>
            <a:off x="57332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do Sales Profit Beef vem de confinamento</a:t>
            </a:r>
            <a:endParaRPr lang="en-US" sz="950" dirty="0"/>
          </a:p>
        </p:txBody>
      </p:sp>
      <p:sp>
        <p:nvSpPr>
          <p:cNvPr id="13" name="Shape 9"/>
          <p:cNvSpPr/>
          <p:nvPr/>
        </p:nvSpPr>
        <p:spPr>
          <a:xfrm>
            <a:off x="7178040" y="1188720"/>
            <a:ext cx="1463040" cy="1325880"/>
          </a:xfrm>
          <a:prstGeom prst="rect">
            <a:avLst/>
          </a:prstGeom>
          <a:solidFill>
            <a:srgbClr val="F4F6F8"/>
          </a:solidFill>
          <a:ln/>
        </p:spPr>
        <p:txBody>
          <a:bodyPr/>
          <a:lstStyle/>
          <a:p>
            <a:endParaRPr lang="pt-BR"/>
          </a:p>
        </p:txBody>
      </p:sp>
      <p:sp>
        <p:nvSpPr>
          <p:cNvPr id="14" name="Shape 10"/>
          <p:cNvSpPr/>
          <p:nvPr/>
        </p:nvSpPr>
        <p:spPr>
          <a:xfrm>
            <a:off x="7178040" y="1188720"/>
            <a:ext cx="54864" cy="1325880"/>
          </a:xfrm>
          <a:prstGeom prst="rect">
            <a:avLst/>
          </a:prstGeom>
          <a:solidFill>
            <a:srgbClr val="1B3A8C"/>
          </a:solidFill>
          <a:ln/>
        </p:spPr>
        <p:txBody>
          <a:bodyPr/>
          <a:lstStyle/>
          <a:p>
            <a:endParaRPr lang="pt-BR"/>
          </a:p>
        </p:txBody>
      </p:sp>
      <p:sp>
        <p:nvSpPr>
          <p:cNvPr id="15" name="Text 11"/>
          <p:cNvSpPr/>
          <p:nvPr/>
        </p:nvSpPr>
        <p:spPr>
          <a:xfrm>
            <a:off x="7333488" y="1298448"/>
            <a:ext cx="1261872" cy="457200"/>
          </a:xfrm>
          <a:prstGeom prst="rect">
            <a:avLst/>
          </a:prstGeom>
          <a:noFill/>
          <a:ln/>
        </p:spPr>
        <p:txBody>
          <a:bodyPr wrap="square" lIns="0" tIns="0" rIns="0" bIns="0" rtlCol="0" anchor="t"/>
          <a:lstStyle/>
          <a:p>
            <a:pPr marL="0" indent="0">
              <a:buNone/>
            </a:pPr>
            <a:r>
              <a:rPr lang="en-US" sz="2400" b="1" dirty="0">
                <a:solidFill>
                  <a:srgbClr val="1B3A8C"/>
                </a:solidFill>
                <a:latin typeface="Calibri" pitchFamily="34" charset="0"/>
                <a:ea typeface="Calibri" pitchFamily="34" charset="-122"/>
                <a:cs typeface="Calibri" pitchFamily="34" charset="-120"/>
              </a:rPr>
              <a:t>51 mil</a:t>
            </a:r>
            <a:endParaRPr lang="en-US" sz="2400" dirty="0"/>
          </a:p>
        </p:txBody>
      </p:sp>
      <p:sp>
        <p:nvSpPr>
          <p:cNvPr id="16" name="Text 12"/>
          <p:cNvSpPr/>
          <p:nvPr/>
        </p:nvSpPr>
        <p:spPr>
          <a:xfrm>
            <a:off x="73334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perdidas em 7 clientes, a maior parte para a Cargill</a:t>
            </a:r>
            <a:endParaRPr lang="en-US" sz="950" dirty="0"/>
          </a:p>
        </p:txBody>
      </p:sp>
      <p:sp>
        <p:nvSpPr>
          <p:cNvPr id="17" name="Shape 13"/>
          <p:cNvSpPr/>
          <p:nvPr/>
        </p:nvSpPr>
        <p:spPr>
          <a:xfrm>
            <a:off x="5577840" y="2670048"/>
            <a:ext cx="1463040" cy="1325880"/>
          </a:xfrm>
          <a:prstGeom prst="rect">
            <a:avLst/>
          </a:prstGeom>
          <a:solidFill>
            <a:srgbClr val="F4F6F8"/>
          </a:solidFill>
          <a:ln/>
        </p:spPr>
        <p:txBody>
          <a:bodyPr/>
          <a:lstStyle/>
          <a:p>
            <a:endParaRPr lang="pt-BR"/>
          </a:p>
        </p:txBody>
      </p:sp>
      <p:sp>
        <p:nvSpPr>
          <p:cNvPr id="18" name="Shape 14"/>
          <p:cNvSpPr/>
          <p:nvPr/>
        </p:nvSpPr>
        <p:spPr>
          <a:xfrm>
            <a:off x="5577840" y="2670048"/>
            <a:ext cx="54864" cy="1325880"/>
          </a:xfrm>
          <a:prstGeom prst="rect">
            <a:avLst/>
          </a:prstGeom>
          <a:solidFill>
            <a:srgbClr val="26668F"/>
          </a:solidFill>
          <a:ln/>
        </p:spPr>
        <p:txBody>
          <a:bodyPr/>
          <a:lstStyle/>
          <a:p>
            <a:endParaRPr lang="pt-BR"/>
          </a:p>
        </p:txBody>
      </p:sp>
      <p:sp>
        <p:nvSpPr>
          <p:cNvPr id="19" name="Text 15"/>
          <p:cNvSpPr/>
          <p:nvPr/>
        </p:nvSpPr>
        <p:spPr>
          <a:xfrm>
            <a:off x="5733288" y="2779776"/>
            <a:ext cx="1261872" cy="457200"/>
          </a:xfrm>
          <a:prstGeom prst="rect">
            <a:avLst/>
          </a:prstGeom>
          <a:noFill/>
          <a:ln/>
        </p:spPr>
        <p:txBody>
          <a:bodyPr wrap="square" lIns="0" tIns="0" rIns="0" bIns="0" rtlCol="0" anchor="t"/>
          <a:lstStyle/>
          <a:p>
            <a:pPr marL="0" indent="0">
              <a:buNone/>
            </a:pPr>
            <a:r>
              <a:rPr lang="en-US" sz="2400" b="1" dirty="0">
                <a:solidFill>
                  <a:srgbClr val="26668F"/>
                </a:solidFill>
                <a:latin typeface="Calibri" pitchFamily="34" charset="0"/>
                <a:ea typeface="Calibri" pitchFamily="34" charset="-122"/>
                <a:cs typeface="Calibri" pitchFamily="34" charset="-120"/>
              </a:rPr>
              <a:t>12,5 mil</a:t>
            </a:r>
            <a:endParaRPr lang="en-US" sz="2400" dirty="0"/>
          </a:p>
        </p:txBody>
      </p:sp>
      <p:sp>
        <p:nvSpPr>
          <p:cNvPr id="20" name="Text 16"/>
          <p:cNvSpPr/>
          <p:nvPr/>
        </p:nvSpPr>
        <p:spPr>
          <a:xfrm>
            <a:off x="57332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em risco de perda em 2023</a:t>
            </a:r>
            <a:endParaRPr lang="en-US" sz="950" dirty="0"/>
          </a:p>
        </p:txBody>
      </p:sp>
      <p:sp>
        <p:nvSpPr>
          <p:cNvPr id="21" name="Shape 17"/>
          <p:cNvSpPr/>
          <p:nvPr/>
        </p:nvSpPr>
        <p:spPr>
          <a:xfrm>
            <a:off x="7178040" y="2670048"/>
            <a:ext cx="1463040" cy="1325880"/>
          </a:xfrm>
          <a:prstGeom prst="rect">
            <a:avLst/>
          </a:prstGeom>
          <a:solidFill>
            <a:srgbClr val="F4F6F8"/>
          </a:solidFill>
          <a:ln/>
        </p:spPr>
        <p:txBody>
          <a:bodyPr/>
          <a:lstStyle/>
          <a:p>
            <a:endParaRPr lang="pt-BR"/>
          </a:p>
        </p:txBody>
      </p:sp>
      <p:sp>
        <p:nvSpPr>
          <p:cNvPr id="22" name="Shape 18"/>
          <p:cNvSpPr/>
          <p:nvPr/>
        </p:nvSpPr>
        <p:spPr>
          <a:xfrm>
            <a:off x="7178040" y="2670048"/>
            <a:ext cx="54864" cy="1325880"/>
          </a:xfrm>
          <a:prstGeom prst="rect">
            <a:avLst/>
          </a:prstGeom>
          <a:solidFill>
            <a:srgbClr val="0096B4"/>
          </a:solidFill>
          <a:ln/>
        </p:spPr>
        <p:txBody>
          <a:bodyPr/>
          <a:lstStyle/>
          <a:p>
            <a:endParaRPr lang="pt-BR"/>
          </a:p>
        </p:txBody>
      </p:sp>
      <p:sp>
        <p:nvSpPr>
          <p:cNvPr id="23" name="Text 19"/>
          <p:cNvSpPr/>
          <p:nvPr/>
        </p:nvSpPr>
        <p:spPr>
          <a:xfrm>
            <a:off x="7333488" y="2779776"/>
            <a:ext cx="1261872" cy="457200"/>
          </a:xfrm>
          <a:prstGeom prst="rect">
            <a:avLst/>
          </a:prstGeom>
          <a:noFill/>
          <a:ln/>
        </p:spPr>
        <p:txBody>
          <a:bodyPr wrap="square" lIns="0" tIns="0" rIns="0" bIns="0" rtlCol="0" anchor="t"/>
          <a:lstStyle/>
          <a:p>
            <a:pPr marL="0" indent="0">
              <a:buNone/>
            </a:pPr>
            <a:r>
              <a:rPr lang="en-US" sz="2400" b="1" dirty="0">
                <a:solidFill>
                  <a:srgbClr val="0096B4"/>
                </a:solidFill>
                <a:latin typeface="Calibri" pitchFamily="34" charset="0"/>
                <a:ea typeface="Calibri" pitchFamily="34" charset="-122"/>
                <a:cs typeface="Calibri" pitchFamily="34" charset="-120"/>
              </a:rPr>
              <a:t>9,6%</a:t>
            </a:r>
            <a:endParaRPr lang="en-US" sz="2400" dirty="0"/>
          </a:p>
        </p:txBody>
      </p:sp>
      <p:sp>
        <p:nvSpPr>
          <p:cNvPr id="24" name="Text 20"/>
          <p:cNvSpPr/>
          <p:nvPr/>
        </p:nvSpPr>
        <p:spPr>
          <a:xfrm>
            <a:off x="73334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de market share em premix, mineral e concentrado para confinamento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Mapa de valor: quem ganha o quê com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Quatro públicos, quatro tipos de valor. Todos são hipóteses a validar no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
        <p:nvSpPr>
          <p:cNvPr id="6" name="Shape 3"/>
          <p:cNvSpPr/>
          <p:nvPr/>
        </p:nvSpPr>
        <p:spPr>
          <a:xfrm>
            <a:off x="1920240" y="1874520"/>
            <a:ext cx="2651760" cy="731520"/>
          </a:xfrm>
          <a:prstGeom prst="line">
            <a:avLst/>
          </a:prstGeom>
          <a:noFill/>
          <a:ln w="25400">
            <a:solidFill>
              <a:srgbClr val="1B3A8C"/>
            </a:solidFill>
            <a:prstDash val="solid"/>
          </a:ln>
        </p:spPr>
        <p:txBody>
          <a:bodyPr/>
          <a:lstStyle/>
          <a:p>
            <a:endParaRPr lang="pt-BR"/>
          </a:p>
        </p:txBody>
      </p:sp>
      <p:sp>
        <p:nvSpPr>
          <p:cNvPr id="7" name="Shape 4"/>
          <p:cNvSpPr/>
          <p:nvPr/>
        </p:nvSpPr>
        <p:spPr>
          <a:xfrm flipV="1">
            <a:off x="1920240" y="2606040"/>
            <a:ext cx="2651760" cy="731520"/>
          </a:xfrm>
          <a:prstGeom prst="line">
            <a:avLst/>
          </a:prstGeom>
          <a:noFill/>
          <a:ln w="25400">
            <a:solidFill>
              <a:srgbClr val="26668F"/>
            </a:solidFill>
            <a:prstDash val="solid"/>
          </a:ln>
        </p:spPr>
        <p:txBody>
          <a:bodyPr/>
          <a:lstStyle/>
          <a:p>
            <a:endParaRPr lang="pt-BR"/>
          </a:p>
        </p:txBody>
      </p:sp>
      <p:sp>
        <p:nvSpPr>
          <p:cNvPr id="8" name="Shape 5"/>
          <p:cNvSpPr/>
          <p:nvPr/>
        </p:nvSpPr>
        <p:spPr>
          <a:xfrm flipV="1">
            <a:off x="4572000" y="1874520"/>
            <a:ext cx="2651760" cy="731520"/>
          </a:xfrm>
          <a:prstGeom prst="line">
            <a:avLst/>
          </a:prstGeom>
          <a:noFill/>
          <a:ln w="25400">
            <a:solidFill>
              <a:srgbClr val="0096B4"/>
            </a:solidFill>
            <a:prstDash val="solid"/>
          </a:ln>
        </p:spPr>
        <p:txBody>
          <a:bodyPr/>
          <a:lstStyle/>
          <a:p>
            <a:endParaRPr lang="pt-BR"/>
          </a:p>
        </p:txBody>
      </p:sp>
      <p:sp>
        <p:nvSpPr>
          <p:cNvPr id="9" name="Shape 6"/>
          <p:cNvSpPr/>
          <p:nvPr/>
        </p:nvSpPr>
        <p:spPr>
          <a:xfrm>
            <a:off x="4572000" y="2606040"/>
            <a:ext cx="2651760" cy="731520"/>
          </a:xfrm>
          <a:prstGeom prst="line">
            <a:avLst/>
          </a:prstGeom>
          <a:noFill/>
          <a:ln w="25400">
            <a:solidFill>
              <a:srgbClr val="C8106E"/>
            </a:solidFill>
            <a:prstDash val="solid"/>
          </a:ln>
        </p:spPr>
        <p:txBody>
          <a:bodyPr/>
          <a:lstStyle/>
          <a:p>
            <a:endParaRPr lang="pt-BR"/>
          </a:p>
        </p:txBody>
      </p:sp>
      <p:sp>
        <p:nvSpPr>
          <p:cNvPr id="10" name="Shape 7"/>
          <p:cNvSpPr/>
          <p:nvPr/>
        </p:nvSpPr>
        <p:spPr>
          <a:xfrm>
            <a:off x="3657600" y="2103120"/>
            <a:ext cx="1828800" cy="1005840"/>
          </a:xfrm>
          <a:prstGeom prst="ellipse">
            <a:avLst/>
          </a:prstGeom>
          <a:solidFill>
            <a:srgbClr val="1B3A8C"/>
          </a:solidFill>
          <a:ln/>
        </p:spPr>
        <p:txBody>
          <a:bodyPr/>
          <a:lstStyle/>
          <a:p>
            <a:endParaRPr lang="pt-BR"/>
          </a:p>
        </p:txBody>
      </p:sp>
      <p:sp>
        <p:nvSpPr>
          <p:cNvPr id="11" name="Text 8"/>
          <p:cNvSpPr/>
          <p:nvPr/>
        </p:nvSpPr>
        <p:spPr>
          <a:xfrm>
            <a:off x="3657600" y="2103120"/>
            <a:ext cx="182880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TN Manager Web</a:t>
            </a:r>
            <a:endParaRPr lang="en-US" sz="1600" dirty="0"/>
          </a:p>
        </p:txBody>
      </p:sp>
      <p:sp>
        <p:nvSpPr>
          <p:cNvPr id="12" name="Shape 9"/>
          <p:cNvSpPr/>
          <p:nvPr/>
        </p:nvSpPr>
        <p:spPr>
          <a:xfrm>
            <a:off x="1645920" y="1600200"/>
            <a:ext cx="548640" cy="548640"/>
          </a:xfrm>
          <a:prstGeom prst="ellipse">
            <a:avLst/>
          </a:prstGeom>
          <a:solidFill>
            <a:srgbClr val="1B3A8C"/>
          </a:solidFill>
          <a:ln/>
        </p:spPr>
        <p:txBody>
          <a:bodyPr/>
          <a:lstStyle/>
          <a:p>
            <a:endParaRPr lang="pt-BR"/>
          </a:p>
        </p:txBody>
      </p:sp>
      <p:pic>
        <p:nvPicPr>
          <p:cNvPr id="13" name="Image 1" descr="preencoded.png"/>
          <p:cNvPicPr>
            <a:picLocks noChangeAspect="1"/>
          </p:cNvPicPr>
          <p:nvPr/>
        </p:nvPicPr>
        <p:blipFill>
          <a:blip r:embed="rId4"/>
          <a:stretch>
            <a:fillRect/>
          </a:stretch>
        </p:blipFill>
        <p:spPr>
          <a:xfrm>
            <a:off x="1783080" y="1737360"/>
            <a:ext cx="274320" cy="274320"/>
          </a:xfrm>
          <a:prstGeom prst="rect">
            <a:avLst/>
          </a:prstGeom>
        </p:spPr>
      </p:pic>
      <p:sp>
        <p:nvSpPr>
          <p:cNvPr id="14" name="Text 10"/>
          <p:cNvSpPr/>
          <p:nvPr/>
        </p:nvSpPr>
        <p:spPr>
          <a:xfrm>
            <a:off x="2267712" y="1755648"/>
            <a:ext cx="1572768" cy="237744"/>
          </a:xfrm>
          <a:prstGeom prst="rect">
            <a:avLst/>
          </a:prstGeom>
          <a:noFill/>
          <a:ln/>
        </p:spPr>
        <p:txBody>
          <a:bodyPr wrap="square" lIns="0" tIns="0" rIns="0" bIns="0" rtlCol="0" anchor="t"/>
          <a:lstStyle/>
          <a:p>
            <a:pPr marL="0" indent="0" algn="l">
              <a:buNone/>
            </a:pPr>
            <a:r>
              <a:rPr lang="en-US" sz="1150" b="1" dirty="0">
                <a:solidFill>
                  <a:srgbClr val="1B3A8C"/>
                </a:solidFill>
                <a:latin typeface="Calibri" pitchFamily="34" charset="0"/>
                <a:ea typeface="Calibri" pitchFamily="34" charset="-122"/>
                <a:cs typeface="Calibri" pitchFamily="34" charset="-120"/>
              </a:rPr>
              <a:t>Gestor do confinamento</a:t>
            </a:r>
            <a:endParaRPr lang="en-US" sz="1150" dirty="0"/>
          </a:p>
        </p:txBody>
      </p:sp>
      <p:sp>
        <p:nvSpPr>
          <p:cNvPr id="15" name="Shape 11"/>
          <p:cNvSpPr/>
          <p:nvPr/>
        </p:nvSpPr>
        <p:spPr>
          <a:xfrm>
            <a:off x="41148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6" name="Text 12"/>
          <p:cNvSpPr/>
          <p:nvPr/>
        </p:nvSpPr>
        <p:spPr>
          <a:xfrm>
            <a:off x="46634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Custo e desempenho por lote sem montar planilha</a:t>
            </a:r>
            <a:endParaRPr lang="en-US" sz="850" dirty="0"/>
          </a:p>
        </p:txBody>
      </p:sp>
      <p:sp>
        <p:nvSpPr>
          <p:cNvPr id="17" name="Shape 13"/>
          <p:cNvSpPr/>
          <p:nvPr/>
        </p:nvSpPr>
        <p:spPr>
          <a:xfrm>
            <a:off x="164592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8" name="Text 14"/>
          <p:cNvSpPr/>
          <p:nvPr/>
        </p:nvSpPr>
        <p:spPr>
          <a:xfrm>
            <a:off x="170078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Decidir com o dados da semana, não do mês</a:t>
            </a:r>
            <a:endParaRPr lang="en-US" sz="850" dirty="0"/>
          </a:p>
        </p:txBody>
      </p:sp>
      <p:sp>
        <p:nvSpPr>
          <p:cNvPr id="19" name="Shape 15"/>
          <p:cNvSpPr/>
          <p:nvPr/>
        </p:nvSpPr>
        <p:spPr>
          <a:xfrm>
            <a:off x="1645920" y="3063240"/>
            <a:ext cx="548640" cy="548640"/>
          </a:xfrm>
          <a:prstGeom prst="ellipse">
            <a:avLst/>
          </a:prstGeom>
          <a:solidFill>
            <a:srgbClr val="26668F"/>
          </a:solidFill>
          <a:ln/>
        </p:spPr>
        <p:txBody>
          <a:bodyPr/>
          <a:lstStyle/>
          <a:p>
            <a:endParaRPr lang="pt-BR"/>
          </a:p>
        </p:txBody>
      </p:sp>
      <p:pic>
        <p:nvPicPr>
          <p:cNvPr id="20" name="Image 2" descr="preencoded.png"/>
          <p:cNvPicPr>
            <a:picLocks noChangeAspect="1"/>
          </p:cNvPicPr>
          <p:nvPr/>
        </p:nvPicPr>
        <p:blipFill>
          <a:blip r:embed="rId5"/>
          <a:stretch>
            <a:fillRect/>
          </a:stretch>
        </p:blipFill>
        <p:spPr>
          <a:xfrm>
            <a:off x="1783080" y="3200400"/>
            <a:ext cx="274320" cy="274320"/>
          </a:xfrm>
          <a:prstGeom prst="rect">
            <a:avLst/>
          </a:prstGeom>
        </p:spPr>
      </p:pic>
      <p:sp>
        <p:nvSpPr>
          <p:cNvPr id="21" name="Text 16"/>
          <p:cNvSpPr/>
          <p:nvPr/>
        </p:nvSpPr>
        <p:spPr>
          <a:xfrm>
            <a:off x="2267712" y="3218688"/>
            <a:ext cx="1572768" cy="237744"/>
          </a:xfrm>
          <a:prstGeom prst="rect">
            <a:avLst/>
          </a:prstGeom>
          <a:noFill/>
          <a:ln/>
        </p:spPr>
        <p:txBody>
          <a:bodyPr wrap="square" lIns="0" tIns="0" rIns="0" bIns="0" rtlCol="0" anchor="t"/>
          <a:lstStyle/>
          <a:p>
            <a:pPr marL="0" indent="0" algn="l">
              <a:buNone/>
            </a:pPr>
            <a:r>
              <a:rPr lang="en-US" sz="1150" b="1" dirty="0">
                <a:solidFill>
                  <a:srgbClr val="26668F"/>
                </a:solidFill>
                <a:latin typeface="Calibri" pitchFamily="34" charset="0"/>
                <a:ea typeface="Calibri" pitchFamily="34" charset="-122"/>
                <a:cs typeface="Calibri" pitchFamily="34" charset="-120"/>
              </a:rPr>
              <a:t>Equipe do curral</a:t>
            </a:r>
            <a:endParaRPr lang="en-US" sz="1150" dirty="0"/>
          </a:p>
        </p:txBody>
      </p:sp>
      <p:sp>
        <p:nvSpPr>
          <p:cNvPr id="22" name="Shape 17"/>
          <p:cNvSpPr/>
          <p:nvPr/>
        </p:nvSpPr>
        <p:spPr>
          <a:xfrm>
            <a:off x="41148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3" name="Text 18"/>
          <p:cNvSpPr/>
          <p:nvPr/>
        </p:nvSpPr>
        <p:spPr>
          <a:xfrm>
            <a:off x="46634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Lançar leitura de cocho e trato em poucos minutos</a:t>
            </a:r>
            <a:endParaRPr lang="en-US" sz="850" dirty="0"/>
          </a:p>
        </p:txBody>
      </p:sp>
      <p:sp>
        <p:nvSpPr>
          <p:cNvPr id="24" name="Shape 19"/>
          <p:cNvSpPr/>
          <p:nvPr/>
        </p:nvSpPr>
        <p:spPr>
          <a:xfrm>
            <a:off x="164592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5" name="Text 20"/>
          <p:cNvSpPr/>
          <p:nvPr/>
        </p:nvSpPr>
        <p:spPr>
          <a:xfrm>
            <a:off x="170078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Tela simples, no celular ou no computador</a:t>
            </a:r>
            <a:endParaRPr lang="en-US" sz="850" dirty="0"/>
          </a:p>
        </p:txBody>
      </p:sp>
      <p:sp>
        <p:nvSpPr>
          <p:cNvPr id="26" name="Shape 21"/>
          <p:cNvSpPr/>
          <p:nvPr/>
        </p:nvSpPr>
        <p:spPr>
          <a:xfrm>
            <a:off x="6949440" y="1600200"/>
            <a:ext cx="548640" cy="548640"/>
          </a:xfrm>
          <a:prstGeom prst="ellipse">
            <a:avLst/>
          </a:prstGeom>
          <a:solidFill>
            <a:srgbClr val="0096B4"/>
          </a:solidFill>
          <a:ln/>
        </p:spPr>
        <p:txBody>
          <a:bodyPr/>
          <a:lstStyle/>
          <a:p>
            <a:endParaRPr lang="pt-BR"/>
          </a:p>
        </p:txBody>
      </p:sp>
      <p:pic>
        <p:nvPicPr>
          <p:cNvPr id="27" name="Image 3" descr="preencoded.png"/>
          <p:cNvPicPr>
            <a:picLocks noChangeAspect="1"/>
          </p:cNvPicPr>
          <p:nvPr/>
        </p:nvPicPr>
        <p:blipFill>
          <a:blip r:embed="rId6"/>
          <a:stretch>
            <a:fillRect/>
          </a:stretch>
        </p:blipFill>
        <p:spPr>
          <a:xfrm>
            <a:off x="7086600" y="1737360"/>
            <a:ext cx="274320" cy="274320"/>
          </a:xfrm>
          <a:prstGeom prst="rect">
            <a:avLst/>
          </a:prstGeom>
        </p:spPr>
      </p:pic>
      <p:sp>
        <p:nvSpPr>
          <p:cNvPr id="28" name="Text 22"/>
          <p:cNvSpPr/>
          <p:nvPr/>
        </p:nvSpPr>
        <p:spPr>
          <a:xfrm>
            <a:off x="5303520" y="1755648"/>
            <a:ext cx="1572768" cy="237744"/>
          </a:xfrm>
          <a:prstGeom prst="rect">
            <a:avLst/>
          </a:prstGeom>
          <a:noFill/>
          <a:ln/>
        </p:spPr>
        <p:txBody>
          <a:bodyPr wrap="square" lIns="0" tIns="0" rIns="0" bIns="0" rtlCol="0" anchor="t"/>
          <a:lstStyle/>
          <a:p>
            <a:pPr marL="0" indent="0" algn="r">
              <a:buNone/>
            </a:pPr>
            <a:r>
              <a:rPr lang="en-US" sz="1150" b="1" dirty="0">
                <a:solidFill>
                  <a:srgbClr val="0096B4"/>
                </a:solidFill>
                <a:latin typeface="Calibri" pitchFamily="34" charset="0"/>
                <a:ea typeface="Calibri" pitchFamily="34" charset="-122"/>
                <a:cs typeface="Calibri" pitchFamily="34" charset="-120"/>
              </a:rPr>
              <a:t>Técnico TN</a:t>
            </a:r>
            <a:endParaRPr lang="en-US" sz="1150" dirty="0"/>
          </a:p>
        </p:txBody>
      </p:sp>
      <p:sp>
        <p:nvSpPr>
          <p:cNvPr id="29" name="Shape 23"/>
          <p:cNvSpPr/>
          <p:nvPr/>
        </p:nvSpPr>
        <p:spPr>
          <a:xfrm>
            <a:off x="630936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0" name="Text 24"/>
          <p:cNvSpPr/>
          <p:nvPr/>
        </p:nvSpPr>
        <p:spPr>
          <a:xfrm>
            <a:off x="636422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Acompanhar várias fazendas à distância</a:t>
            </a:r>
            <a:endParaRPr lang="en-US" sz="850" dirty="0"/>
          </a:p>
        </p:txBody>
      </p:sp>
      <p:sp>
        <p:nvSpPr>
          <p:cNvPr id="31" name="Shape 25"/>
          <p:cNvSpPr/>
          <p:nvPr/>
        </p:nvSpPr>
        <p:spPr>
          <a:xfrm>
            <a:off x="754380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2" name="Text 26"/>
          <p:cNvSpPr/>
          <p:nvPr/>
        </p:nvSpPr>
        <p:spPr>
          <a:xfrm>
            <a:off x="759866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Recomendar ajuste de dieta com dado real</a:t>
            </a:r>
            <a:endParaRPr lang="en-US" sz="850" dirty="0"/>
          </a:p>
        </p:txBody>
      </p:sp>
      <p:sp>
        <p:nvSpPr>
          <p:cNvPr id="33" name="Shape 27"/>
          <p:cNvSpPr/>
          <p:nvPr/>
        </p:nvSpPr>
        <p:spPr>
          <a:xfrm>
            <a:off x="6949440" y="3063240"/>
            <a:ext cx="548640" cy="548640"/>
          </a:xfrm>
          <a:prstGeom prst="ellipse">
            <a:avLst/>
          </a:prstGeom>
          <a:solidFill>
            <a:srgbClr val="C8106E"/>
          </a:solidFill>
          <a:ln/>
        </p:spPr>
        <p:txBody>
          <a:bodyPr/>
          <a:lstStyle/>
          <a:p>
            <a:endParaRPr lang="pt-BR"/>
          </a:p>
        </p:txBody>
      </p:sp>
      <p:pic>
        <p:nvPicPr>
          <p:cNvPr id="34" name="Image 4" descr="preencoded.png"/>
          <p:cNvPicPr>
            <a:picLocks noChangeAspect="1"/>
          </p:cNvPicPr>
          <p:nvPr/>
        </p:nvPicPr>
        <p:blipFill>
          <a:blip r:embed="rId7"/>
          <a:stretch>
            <a:fillRect/>
          </a:stretch>
        </p:blipFill>
        <p:spPr>
          <a:xfrm>
            <a:off x="7086600" y="3200400"/>
            <a:ext cx="274320" cy="274320"/>
          </a:xfrm>
          <a:prstGeom prst="rect">
            <a:avLst/>
          </a:prstGeom>
        </p:spPr>
      </p:pic>
      <p:sp>
        <p:nvSpPr>
          <p:cNvPr id="35" name="Text 28"/>
          <p:cNvSpPr/>
          <p:nvPr/>
        </p:nvSpPr>
        <p:spPr>
          <a:xfrm>
            <a:off x="5303520" y="3218688"/>
            <a:ext cx="1572768" cy="237744"/>
          </a:xfrm>
          <a:prstGeom prst="rect">
            <a:avLst/>
          </a:prstGeom>
          <a:noFill/>
          <a:ln/>
        </p:spPr>
        <p:txBody>
          <a:bodyPr wrap="square" lIns="0" tIns="0" rIns="0" bIns="0" rtlCol="0" anchor="t"/>
          <a:lstStyle/>
          <a:p>
            <a:pPr marL="0" indent="0" algn="r">
              <a:buNone/>
            </a:pPr>
            <a:r>
              <a:rPr lang="en-US" sz="1150" b="1" dirty="0">
                <a:solidFill>
                  <a:srgbClr val="C8106E"/>
                </a:solidFill>
                <a:latin typeface="Calibri" pitchFamily="34" charset="0"/>
                <a:ea typeface="Calibri" pitchFamily="34" charset="-122"/>
                <a:cs typeface="Calibri" pitchFamily="34" charset="-120"/>
              </a:rPr>
              <a:t>Trouw Nutrition</a:t>
            </a:r>
            <a:endParaRPr lang="en-US" sz="1150" dirty="0"/>
          </a:p>
        </p:txBody>
      </p:sp>
      <p:sp>
        <p:nvSpPr>
          <p:cNvPr id="36" name="Shape 29"/>
          <p:cNvSpPr/>
          <p:nvPr/>
        </p:nvSpPr>
        <p:spPr>
          <a:xfrm>
            <a:off x="630936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7" name="Text 30"/>
          <p:cNvSpPr/>
          <p:nvPr/>
        </p:nvSpPr>
        <p:spPr>
          <a:xfrm>
            <a:off x="636422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Fidelizar </a:t>
            </a:r>
            <a:r>
              <a:rPr lang="en-US" sz="850" dirty="0" err="1">
                <a:solidFill>
                  <a:srgbClr val="4A5560"/>
                </a:solidFill>
                <a:latin typeface="Calibri" pitchFamily="34" charset="0"/>
                <a:ea typeface="Calibri" pitchFamily="34" charset="-122"/>
                <a:cs typeface="Calibri" pitchFamily="34" charset="-120"/>
              </a:rPr>
              <a:t>clientes</a:t>
            </a:r>
            <a:r>
              <a:rPr lang="en-US" sz="850" dirty="0">
                <a:solidFill>
                  <a:srgbClr val="4A5560"/>
                </a:solidFill>
                <a:latin typeface="Calibri" pitchFamily="34" charset="0"/>
                <a:ea typeface="Calibri" pitchFamily="34" charset="-122"/>
                <a:cs typeface="Calibri" pitchFamily="34" charset="-120"/>
              </a:rPr>
              <a:t> em </a:t>
            </a:r>
            <a:r>
              <a:rPr lang="en-US" sz="850" dirty="0" err="1">
                <a:solidFill>
                  <a:srgbClr val="4A5560"/>
                </a:solidFill>
                <a:latin typeface="Calibri" pitchFamily="34" charset="0"/>
                <a:ea typeface="Calibri" pitchFamily="34" charset="-122"/>
                <a:cs typeface="Calibri" pitchFamily="34" charset="-120"/>
              </a:rPr>
              <a:t>nutrição</a:t>
            </a:r>
            <a:endParaRPr lang="en-US" sz="850" dirty="0"/>
          </a:p>
        </p:txBody>
      </p:sp>
      <p:sp>
        <p:nvSpPr>
          <p:cNvPr id="38" name="Shape 31"/>
          <p:cNvSpPr/>
          <p:nvPr/>
        </p:nvSpPr>
        <p:spPr>
          <a:xfrm>
            <a:off x="754380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9" name="Text 32"/>
          <p:cNvSpPr/>
          <p:nvPr/>
        </p:nvSpPr>
        <p:spPr>
          <a:xfrm>
            <a:off x="759866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Porta de entrada para não clientes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Revisão do cliente-alvo: onde o TN Manager Web entra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v1.0 mirou o quadrante mais disputado. A v2.0 propõe começar onde há dor e pouca oferta simples.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34</a:t>
            </a:r>
            <a:endParaRPr lang="en-US" sz="900" dirty="0"/>
          </a:p>
        </p:txBody>
      </p:sp>
      <p:sp>
        <p:nvSpPr>
          <p:cNvPr id="6" name="Shape 3"/>
          <p:cNvSpPr/>
          <p:nvPr/>
        </p:nvSpPr>
        <p:spPr>
          <a:xfrm>
            <a:off x="1088136" y="1179576"/>
            <a:ext cx="2670048" cy="1481328"/>
          </a:xfrm>
          <a:prstGeom prst="rect">
            <a:avLst/>
          </a:prstGeom>
          <a:solidFill>
            <a:srgbClr val="FBE7F1"/>
          </a:solidFill>
          <a:ln/>
        </p:spPr>
        <p:txBody>
          <a:bodyPr/>
          <a:lstStyle/>
          <a:p>
            <a:endParaRPr lang="pt-BR"/>
          </a:p>
        </p:txBody>
      </p:sp>
      <p:sp>
        <p:nvSpPr>
          <p:cNvPr id="7" name="Shape 4"/>
          <p:cNvSpPr/>
          <p:nvPr/>
        </p:nvSpPr>
        <p:spPr>
          <a:xfrm>
            <a:off x="1234440" y="1325880"/>
            <a:ext cx="1097280" cy="219456"/>
          </a:xfrm>
          <a:prstGeom prst="roundRect">
            <a:avLst>
              <a:gd name="adj" fmla="val 50000"/>
            </a:avLst>
          </a:prstGeom>
          <a:solidFill>
            <a:srgbClr val="C8106E"/>
          </a:solidFill>
          <a:ln/>
        </p:spPr>
        <p:txBody>
          <a:bodyPr/>
          <a:lstStyle/>
          <a:p>
            <a:endParaRPr lang="pt-BR"/>
          </a:p>
        </p:txBody>
      </p:sp>
      <p:sp>
        <p:nvSpPr>
          <p:cNvPr id="8" name="Text 5"/>
          <p:cNvSpPr/>
          <p:nvPr/>
        </p:nvSpPr>
        <p:spPr>
          <a:xfrm>
            <a:off x="12344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PRIORIDADE 2</a:t>
            </a:r>
            <a:endParaRPr lang="en-US" sz="900" dirty="0"/>
          </a:p>
        </p:txBody>
      </p:sp>
      <p:sp>
        <p:nvSpPr>
          <p:cNvPr id="9" name="Text 6"/>
          <p:cNvSpPr/>
          <p:nvPr/>
        </p:nvSpPr>
        <p:spPr>
          <a:xfrm>
            <a:off x="12344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registro manual</a:t>
            </a:r>
            <a:endParaRPr lang="en-US" sz="1300" dirty="0"/>
          </a:p>
        </p:txBody>
      </p:sp>
      <p:sp>
        <p:nvSpPr>
          <p:cNvPr id="10" name="Text 7"/>
          <p:cNvSpPr/>
          <p:nvPr/>
        </p:nvSpPr>
        <p:spPr>
          <a:xfrm>
            <a:off x="12344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Alta dor e alto volume de produto. Segunda onda do TN Manager Web.</a:t>
            </a:r>
            <a:endParaRPr lang="en-US" sz="1050" dirty="0"/>
          </a:p>
        </p:txBody>
      </p:sp>
      <p:sp>
        <p:nvSpPr>
          <p:cNvPr id="11" name="Shape 8"/>
          <p:cNvSpPr/>
          <p:nvPr/>
        </p:nvSpPr>
        <p:spPr>
          <a:xfrm>
            <a:off x="3831336" y="1179576"/>
            <a:ext cx="2670048" cy="1481328"/>
          </a:xfrm>
          <a:prstGeom prst="rect">
            <a:avLst/>
          </a:prstGeom>
          <a:solidFill>
            <a:srgbClr val="F4F6F8"/>
          </a:solidFill>
          <a:ln/>
        </p:spPr>
        <p:txBody>
          <a:bodyPr/>
          <a:lstStyle/>
          <a:p>
            <a:endParaRPr lang="pt-BR"/>
          </a:p>
        </p:txBody>
      </p:sp>
      <p:sp>
        <p:nvSpPr>
          <p:cNvPr id="12" name="Shape 9"/>
          <p:cNvSpPr/>
          <p:nvPr/>
        </p:nvSpPr>
        <p:spPr>
          <a:xfrm>
            <a:off x="3977640" y="1325880"/>
            <a:ext cx="1097280" cy="219456"/>
          </a:xfrm>
          <a:prstGeom prst="roundRect">
            <a:avLst>
              <a:gd name="adj" fmla="val 50000"/>
            </a:avLst>
          </a:prstGeom>
          <a:solidFill>
            <a:srgbClr val="26668F"/>
          </a:solidFill>
          <a:ln/>
        </p:spPr>
        <p:txBody>
          <a:bodyPr/>
          <a:lstStyle/>
          <a:p>
            <a:endParaRPr lang="pt-BR"/>
          </a:p>
        </p:txBody>
      </p:sp>
      <p:sp>
        <p:nvSpPr>
          <p:cNvPr id="13" name="Text 10"/>
          <p:cNvSpPr/>
          <p:nvPr/>
        </p:nvSpPr>
        <p:spPr>
          <a:xfrm>
            <a:off x="39776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TN MANAGER</a:t>
            </a:r>
            <a:endParaRPr lang="en-US" sz="900" dirty="0"/>
          </a:p>
        </p:txBody>
      </p:sp>
      <p:sp>
        <p:nvSpPr>
          <p:cNvPr id="14" name="Text 11"/>
          <p:cNvSpPr/>
          <p:nvPr/>
        </p:nvSpPr>
        <p:spPr>
          <a:xfrm>
            <a:off x="39776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automatizado</a:t>
            </a:r>
            <a:endParaRPr lang="en-US" sz="1300" dirty="0"/>
          </a:p>
        </p:txBody>
      </p:sp>
      <p:sp>
        <p:nvSpPr>
          <p:cNvPr id="15" name="Text 12"/>
          <p:cNvSpPr/>
          <p:nvPr/>
        </p:nvSpPr>
        <p:spPr>
          <a:xfrm>
            <a:off x="39776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Foco da v1.0. Disputado por Cargill e DSM/Prodap. Território do TN Manager completo.</a:t>
            </a:r>
            <a:endParaRPr lang="en-US" sz="1050" dirty="0"/>
          </a:p>
        </p:txBody>
      </p:sp>
      <p:sp>
        <p:nvSpPr>
          <p:cNvPr id="16" name="Shape 13"/>
          <p:cNvSpPr/>
          <p:nvPr/>
        </p:nvSpPr>
        <p:spPr>
          <a:xfrm>
            <a:off x="1088136" y="2734056"/>
            <a:ext cx="2670048" cy="1481328"/>
          </a:xfrm>
          <a:prstGeom prst="rect">
            <a:avLst/>
          </a:prstGeom>
          <a:solidFill>
            <a:srgbClr val="C8106E"/>
          </a:solidFill>
          <a:ln/>
        </p:spPr>
        <p:txBody>
          <a:bodyPr/>
          <a:lstStyle/>
          <a:p>
            <a:endParaRPr lang="pt-BR"/>
          </a:p>
        </p:txBody>
      </p:sp>
      <p:sp>
        <p:nvSpPr>
          <p:cNvPr id="17" name="Shape 14"/>
          <p:cNvSpPr/>
          <p:nvPr/>
        </p:nvSpPr>
        <p:spPr>
          <a:xfrm>
            <a:off x="1234440" y="2880360"/>
            <a:ext cx="1097280" cy="219456"/>
          </a:xfrm>
          <a:prstGeom prst="roundRect">
            <a:avLst>
              <a:gd name="adj" fmla="val 50000"/>
            </a:avLst>
          </a:prstGeom>
          <a:solidFill>
            <a:srgbClr val="1B3A8C"/>
          </a:solidFill>
          <a:ln/>
        </p:spPr>
        <p:txBody>
          <a:bodyPr/>
          <a:lstStyle/>
          <a:p>
            <a:endParaRPr lang="pt-BR"/>
          </a:p>
        </p:txBody>
      </p:sp>
      <p:sp>
        <p:nvSpPr>
          <p:cNvPr id="18" name="Text 15"/>
          <p:cNvSpPr/>
          <p:nvPr/>
        </p:nvSpPr>
        <p:spPr>
          <a:xfrm>
            <a:off x="12344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PILOTO</a:t>
            </a:r>
            <a:endParaRPr lang="en-US" sz="900" dirty="0"/>
          </a:p>
        </p:txBody>
      </p:sp>
      <p:sp>
        <p:nvSpPr>
          <p:cNvPr id="19" name="Text 16"/>
          <p:cNvSpPr/>
          <p:nvPr/>
        </p:nvSpPr>
        <p:spPr>
          <a:xfrm>
            <a:off x="1234440" y="3200400"/>
            <a:ext cx="237744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Médio porte, registro manual</a:t>
            </a:r>
            <a:endParaRPr lang="en-US" sz="1300" dirty="0"/>
          </a:p>
        </p:txBody>
      </p:sp>
      <p:sp>
        <p:nvSpPr>
          <p:cNvPr id="20" name="Text 17"/>
          <p:cNvSpPr/>
          <p:nvPr/>
        </p:nvSpPr>
        <p:spPr>
          <a:xfrm>
            <a:off x="1234440" y="3502152"/>
            <a:ext cx="2377440" cy="68580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Mais fazendas e menos software simples disponível. Ponto de entrada sugerido para o piloto.</a:t>
            </a:r>
            <a:endParaRPr lang="en-US" sz="1050" dirty="0"/>
          </a:p>
        </p:txBody>
      </p:sp>
      <p:sp>
        <p:nvSpPr>
          <p:cNvPr id="21" name="Shape 18"/>
          <p:cNvSpPr/>
          <p:nvPr/>
        </p:nvSpPr>
        <p:spPr>
          <a:xfrm>
            <a:off x="3831336" y="2734056"/>
            <a:ext cx="2670048" cy="1481328"/>
          </a:xfrm>
          <a:prstGeom prst="rect">
            <a:avLst/>
          </a:prstGeom>
          <a:solidFill>
            <a:srgbClr val="F4F6F8"/>
          </a:solidFill>
          <a:ln/>
        </p:spPr>
        <p:txBody>
          <a:bodyPr/>
          <a:lstStyle/>
          <a:p>
            <a:endParaRPr lang="pt-BR"/>
          </a:p>
        </p:txBody>
      </p:sp>
      <p:sp>
        <p:nvSpPr>
          <p:cNvPr id="22" name="Shape 19"/>
          <p:cNvSpPr/>
          <p:nvPr/>
        </p:nvSpPr>
        <p:spPr>
          <a:xfrm>
            <a:off x="3977640" y="2880360"/>
            <a:ext cx="1097280" cy="219456"/>
          </a:xfrm>
          <a:prstGeom prst="roundRect">
            <a:avLst>
              <a:gd name="adj" fmla="val 50000"/>
            </a:avLst>
          </a:prstGeom>
          <a:solidFill>
            <a:srgbClr val="7A858F"/>
          </a:solidFill>
          <a:ln/>
        </p:spPr>
        <p:txBody>
          <a:bodyPr/>
          <a:lstStyle/>
          <a:p>
            <a:endParaRPr lang="pt-BR"/>
          </a:p>
        </p:txBody>
      </p:sp>
      <p:sp>
        <p:nvSpPr>
          <p:cNvPr id="23" name="Text 20"/>
          <p:cNvSpPr/>
          <p:nvPr/>
        </p:nvSpPr>
        <p:spPr>
          <a:xfrm>
            <a:off x="39776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AVALIAR</a:t>
            </a:r>
            <a:endParaRPr lang="en-US" sz="900" dirty="0"/>
          </a:p>
        </p:txBody>
      </p:sp>
      <p:sp>
        <p:nvSpPr>
          <p:cNvPr id="24" name="Text 21"/>
          <p:cNvSpPr/>
          <p:nvPr/>
        </p:nvSpPr>
        <p:spPr>
          <a:xfrm>
            <a:off x="3977640" y="320040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Médio porte, automatizado</a:t>
            </a:r>
            <a:endParaRPr lang="en-US" sz="1300" dirty="0"/>
          </a:p>
        </p:txBody>
      </p:sp>
      <p:sp>
        <p:nvSpPr>
          <p:cNvPr id="25" name="Text 22"/>
          <p:cNvSpPr/>
          <p:nvPr/>
        </p:nvSpPr>
        <p:spPr>
          <a:xfrm>
            <a:off x="3977640" y="350215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Já usa alguma ferramenta. Avaliar troca ou integração em versão futura.</a:t>
            </a:r>
            <a:endParaRPr lang="en-US" sz="1050" dirty="0"/>
          </a:p>
        </p:txBody>
      </p:sp>
      <p:sp>
        <p:nvSpPr>
          <p:cNvPr id="26" name="Text 23"/>
          <p:cNvSpPr/>
          <p:nvPr/>
        </p:nvSpPr>
        <p:spPr>
          <a:xfrm>
            <a:off x="320040" y="1143000"/>
            <a:ext cx="64008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Porte</a:t>
            </a:r>
            <a:endParaRPr lang="en-US" sz="1000" dirty="0"/>
          </a:p>
        </p:txBody>
      </p:sp>
      <p:sp>
        <p:nvSpPr>
          <p:cNvPr id="27" name="Text 24"/>
          <p:cNvSpPr/>
          <p:nvPr/>
        </p:nvSpPr>
        <p:spPr>
          <a:xfrm>
            <a:off x="320040" y="192024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Grande</a:t>
            </a:r>
            <a:endParaRPr lang="en-US" sz="1000" dirty="0"/>
          </a:p>
        </p:txBody>
      </p:sp>
      <p:sp>
        <p:nvSpPr>
          <p:cNvPr id="28" name="Text 25"/>
          <p:cNvSpPr/>
          <p:nvPr/>
        </p:nvSpPr>
        <p:spPr>
          <a:xfrm>
            <a:off x="320040" y="347472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Médio</a:t>
            </a:r>
            <a:endParaRPr lang="en-US" sz="1000" dirty="0"/>
          </a:p>
        </p:txBody>
      </p:sp>
      <p:sp>
        <p:nvSpPr>
          <p:cNvPr id="29" name="Text 26"/>
          <p:cNvSpPr/>
          <p:nvPr/>
        </p:nvSpPr>
        <p:spPr>
          <a:xfrm>
            <a:off x="10515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Registro manual ou planilha</a:t>
            </a:r>
            <a:endParaRPr lang="en-US" sz="1000" dirty="0"/>
          </a:p>
        </p:txBody>
      </p:sp>
      <p:sp>
        <p:nvSpPr>
          <p:cNvPr id="30" name="Text 27"/>
          <p:cNvSpPr/>
          <p:nvPr/>
        </p:nvSpPr>
        <p:spPr>
          <a:xfrm>
            <a:off x="37947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Balança, vagão e software</a:t>
            </a:r>
            <a:endParaRPr lang="en-US" sz="1000" dirty="0"/>
          </a:p>
        </p:txBody>
      </p:sp>
      <p:sp>
        <p:nvSpPr>
          <p:cNvPr id="31" name="Text 28"/>
          <p:cNvSpPr/>
          <p:nvPr/>
        </p:nvSpPr>
        <p:spPr>
          <a:xfrm>
            <a:off x="1051560" y="4526280"/>
            <a:ext cx="548640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Maturidade de gestão de dados</a:t>
            </a:r>
            <a:endParaRPr lang="en-US" sz="1000" dirty="0"/>
          </a:p>
        </p:txBody>
      </p:sp>
      <p:sp>
        <p:nvSpPr>
          <p:cNvPr id="32" name="Shape 29"/>
          <p:cNvSpPr/>
          <p:nvPr/>
        </p:nvSpPr>
        <p:spPr>
          <a:xfrm>
            <a:off x="6812280" y="1143000"/>
            <a:ext cx="1920240" cy="3108960"/>
          </a:xfrm>
          <a:prstGeom prst="rect">
            <a:avLst/>
          </a:prstGeom>
          <a:solidFill>
            <a:srgbClr val="1B3A8C"/>
          </a:solidFill>
          <a:ln/>
        </p:spPr>
        <p:txBody>
          <a:bodyPr/>
          <a:lstStyle/>
          <a:p>
            <a:endParaRPr lang="pt-BR"/>
          </a:p>
        </p:txBody>
      </p:sp>
      <p:sp>
        <p:nvSpPr>
          <p:cNvPr id="33" name="Text 30"/>
          <p:cNvSpPr/>
          <p:nvPr/>
        </p:nvSpPr>
        <p:spPr>
          <a:xfrm>
            <a:off x="6967728" y="1280160"/>
            <a:ext cx="164592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Por que mudar o foco</a:t>
            </a:r>
            <a:endParaRPr lang="en-US" sz="1200" dirty="0"/>
          </a:p>
        </p:txBody>
      </p:sp>
      <p:sp>
        <p:nvSpPr>
          <p:cNvPr id="34" name="Text 31"/>
          <p:cNvSpPr/>
          <p:nvPr/>
        </p:nvSpPr>
        <p:spPr>
          <a:xfrm>
            <a:off x="6967728" y="1627632"/>
            <a:ext cx="1645920" cy="256032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Quem já tem balança e vagão compara o TN Manager com sistemas maduros e equipes de campo maiores.</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Quem registra no papel compara com o caderno. Um produto simples já entrega ganho visível.</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O discovery confirma porte mínimo e tamanho de cada quadrante.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Perfil do cliente-alvo para o piloto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Critérios propostos para escolher as primeiras fazendas. A faixa de porte sai do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24</a:t>
            </a:r>
            <a:endParaRPr lang="en-US" sz="900" dirty="0"/>
          </a:p>
        </p:txBody>
      </p:sp>
      <p:sp>
        <p:nvSpPr>
          <p:cNvPr id="6" name="Shape 3"/>
          <p:cNvSpPr/>
          <p:nvPr/>
        </p:nvSpPr>
        <p:spPr>
          <a:xfrm>
            <a:off x="457200" y="1188720"/>
            <a:ext cx="2606040" cy="411480"/>
          </a:xfrm>
          <a:prstGeom prst="rect">
            <a:avLst/>
          </a:prstGeom>
          <a:solidFill>
            <a:srgbClr val="1B3A8C"/>
          </a:solidFill>
          <a:ln/>
        </p:spPr>
        <p:txBody>
          <a:bodyPr/>
          <a:lstStyle/>
          <a:p>
            <a:endParaRPr lang="pt-BR"/>
          </a:p>
        </p:txBody>
      </p:sp>
      <p:sp>
        <p:nvSpPr>
          <p:cNvPr id="7" name="Text 4"/>
          <p:cNvSpPr/>
          <p:nvPr/>
        </p:nvSpPr>
        <p:spPr>
          <a:xfrm>
            <a:off x="59436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Obrigatórios</a:t>
            </a:r>
            <a:endParaRPr lang="en-US" sz="1300" dirty="0"/>
          </a:p>
        </p:txBody>
      </p:sp>
      <p:sp>
        <p:nvSpPr>
          <p:cNvPr id="8" name="Shape 5"/>
          <p:cNvSpPr/>
          <p:nvPr/>
        </p:nvSpPr>
        <p:spPr>
          <a:xfrm>
            <a:off x="457200" y="1600200"/>
            <a:ext cx="2606040" cy="2331720"/>
          </a:xfrm>
          <a:prstGeom prst="rect">
            <a:avLst/>
          </a:prstGeom>
          <a:solidFill>
            <a:srgbClr val="F4F6F8"/>
          </a:solidFill>
          <a:ln/>
        </p:spPr>
        <p:txBody>
          <a:bodyPr/>
          <a:lstStyle/>
          <a:p>
            <a:endParaRPr lang="pt-BR"/>
          </a:p>
        </p:txBody>
      </p:sp>
      <p:sp>
        <p:nvSpPr>
          <p:cNvPr id="9" name="Text 6"/>
          <p:cNvSpPr/>
          <p:nvPr/>
        </p:nvSpPr>
        <p:spPr>
          <a:xfrm>
            <a:off x="54864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 ativo, com ciclo regular de entrada e saída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Registro </a:t>
            </a:r>
            <a:r>
              <a:rPr lang="en-US" sz="1050" dirty="0" err="1">
                <a:solidFill>
                  <a:srgbClr val="4A5560"/>
                </a:solidFill>
                <a:latin typeface="Calibri" pitchFamily="34" charset="0"/>
                <a:ea typeface="Calibri" pitchFamily="34" charset="-122"/>
                <a:cs typeface="Calibri" pitchFamily="34" charset="-120"/>
              </a:rPr>
              <a:t>atual</a:t>
            </a:r>
            <a:r>
              <a:rPr lang="en-US" sz="1050" dirty="0">
                <a:solidFill>
                  <a:srgbClr val="4A5560"/>
                </a:solidFill>
                <a:latin typeface="Calibri" pitchFamily="34" charset="0"/>
                <a:ea typeface="Calibri" pitchFamily="34" charset="-122"/>
                <a:cs typeface="Calibri" pitchFamily="34" charset="-120"/>
              </a:rPr>
              <a:t> em </a:t>
            </a:r>
            <a:r>
              <a:rPr lang="en-US" sz="1050" dirty="0" err="1">
                <a:solidFill>
                  <a:srgbClr val="4A5560"/>
                </a:solidFill>
                <a:latin typeface="Calibri" pitchFamily="34" charset="0"/>
                <a:ea typeface="Calibri" pitchFamily="34" charset="-122"/>
                <a:cs typeface="Calibri" pitchFamily="34" charset="-120"/>
              </a:rPr>
              <a:t>caderno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planilhas</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ou</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sistemas</a:t>
            </a:r>
            <a:r>
              <a:rPr lang="en-US" sz="1050" dirty="0">
                <a:solidFill>
                  <a:srgbClr val="4A5560"/>
                </a:solidFill>
                <a:latin typeface="Calibri" pitchFamily="34" charset="0"/>
                <a:ea typeface="Calibri" pitchFamily="34" charset="-122"/>
                <a:cs typeface="Calibri" pitchFamily="34" charset="-120"/>
              </a:rPr>
              <a:t> simples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Uma pessoa responsável por lançar os dados todo dia</a:t>
            </a:r>
            <a:endParaRPr lang="en-US" sz="1050" dirty="0"/>
          </a:p>
          <a:p>
            <a:pPr marL="152400" indent="-152400">
              <a:spcAft>
                <a:spcPts val="500"/>
              </a:spcAft>
              <a:buSzPct val="100000"/>
              <a:buChar char="•"/>
            </a:pPr>
            <a:r>
              <a:rPr lang="en-US" sz="1050" dirty="0" err="1">
                <a:solidFill>
                  <a:srgbClr val="4A5560"/>
                </a:solidFill>
                <a:latin typeface="Calibri" pitchFamily="34" charset="0"/>
                <a:ea typeface="Calibri" pitchFamily="34" charset="-122"/>
                <a:cs typeface="Calibri" pitchFamily="34" charset="-120"/>
              </a:rPr>
              <a:t>Acompanhamento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técnico</a:t>
            </a:r>
            <a:r>
              <a:rPr lang="en-US" sz="1050" dirty="0">
                <a:solidFill>
                  <a:srgbClr val="4A5560"/>
                </a:solidFill>
                <a:latin typeface="Calibri" pitchFamily="34" charset="0"/>
                <a:ea typeface="Calibri" pitchFamily="34" charset="-122"/>
                <a:cs typeface="Calibri" pitchFamily="34" charset="-120"/>
              </a:rPr>
              <a:t> com visita ou contato recorrente</a:t>
            </a:r>
            <a:endParaRPr lang="en-US" sz="1050" dirty="0"/>
          </a:p>
        </p:txBody>
      </p:sp>
      <p:sp>
        <p:nvSpPr>
          <p:cNvPr id="10" name="Shape 7"/>
          <p:cNvSpPr/>
          <p:nvPr/>
        </p:nvSpPr>
        <p:spPr>
          <a:xfrm>
            <a:off x="3246120" y="1188720"/>
            <a:ext cx="2606040" cy="411480"/>
          </a:xfrm>
          <a:prstGeom prst="rect">
            <a:avLst/>
          </a:prstGeom>
          <a:solidFill>
            <a:srgbClr val="0096B4"/>
          </a:solidFill>
          <a:ln/>
        </p:spPr>
        <p:txBody>
          <a:bodyPr/>
          <a:lstStyle/>
          <a:p>
            <a:endParaRPr lang="pt-BR"/>
          </a:p>
        </p:txBody>
      </p:sp>
      <p:sp>
        <p:nvSpPr>
          <p:cNvPr id="11" name="Text 8"/>
          <p:cNvSpPr/>
          <p:nvPr/>
        </p:nvSpPr>
        <p:spPr>
          <a:xfrm>
            <a:off x="338328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Desejáveis</a:t>
            </a:r>
            <a:endParaRPr lang="en-US" sz="1300" dirty="0"/>
          </a:p>
        </p:txBody>
      </p:sp>
      <p:sp>
        <p:nvSpPr>
          <p:cNvPr id="12" name="Shape 9"/>
          <p:cNvSpPr/>
          <p:nvPr/>
        </p:nvSpPr>
        <p:spPr>
          <a:xfrm>
            <a:off x="3246120" y="1600200"/>
            <a:ext cx="2606040" cy="2331720"/>
          </a:xfrm>
          <a:prstGeom prst="rect">
            <a:avLst/>
          </a:prstGeom>
          <a:solidFill>
            <a:srgbClr val="F4F6F8"/>
          </a:solidFill>
          <a:ln/>
        </p:spPr>
        <p:txBody>
          <a:bodyPr/>
          <a:lstStyle/>
          <a:p>
            <a:endParaRPr lang="pt-BR"/>
          </a:p>
        </p:txBody>
      </p:sp>
      <p:sp>
        <p:nvSpPr>
          <p:cNvPr id="13" name="Text 10"/>
          <p:cNvSpPr/>
          <p:nvPr/>
        </p:nvSpPr>
        <p:spPr>
          <a:xfrm>
            <a:off x="333756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Pesagem na entrada e na saída dos animais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Leitura de cocho diária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Internet na sede da fazenda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Gestor disposto a dar retorno a cada 15 dias</a:t>
            </a:r>
            <a:endParaRPr lang="en-US" sz="1050" dirty="0"/>
          </a:p>
        </p:txBody>
      </p:sp>
      <p:sp>
        <p:nvSpPr>
          <p:cNvPr id="14" name="Shape 11"/>
          <p:cNvSpPr/>
          <p:nvPr/>
        </p:nvSpPr>
        <p:spPr>
          <a:xfrm>
            <a:off x="6035040" y="1188720"/>
            <a:ext cx="2606040" cy="411480"/>
          </a:xfrm>
          <a:prstGeom prst="rect">
            <a:avLst/>
          </a:prstGeom>
          <a:solidFill>
            <a:srgbClr val="C8106E"/>
          </a:solidFill>
          <a:ln/>
        </p:spPr>
        <p:txBody>
          <a:bodyPr/>
          <a:lstStyle/>
          <a:p>
            <a:endParaRPr lang="pt-BR"/>
          </a:p>
        </p:txBody>
      </p:sp>
      <p:sp>
        <p:nvSpPr>
          <p:cNvPr id="15" name="Text 12"/>
          <p:cNvSpPr/>
          <p:nvPr/>
        </p:nvSpPr>
        <p:spPr>
          <a:xfrm>
            <a:off x="617220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Fora do perfil inicial</a:t>
            </a:r>
            <a:endParaRPr lang="en-US" sz="1300" dirty="0"/>
          </a:p>
        </p:txBody>
      </p:sp>
      <p:sp>
        <p:nvSpPr>
          <p:cNvPr id="16" name="Shape 13"/>
          <p:cNvSpPr/>
          <p:nvPr/>
        </p:nvSpPr>
        <p:spPr>
          <a:xfrm>
            <a:off x="6035040" y="1600200"/>
            <a:ext cx="2606040" cy="2331720"/>
          </a:xfrm>
          <a:prstGeom prst="rect">
            <a:avLst/>
          </a:prstGeom>
          <a:solidFill>
            <a:srgbClr val="F4F6F8"/>
          </a:solidFill>
          <a:ln/>
        </p:spPr>
        <p:txBody>
          <a:bodyPr/>
          <a:lstStyle/>
          <a:p>
            <a:endParaRPr lang="pt-BR"/>
          </a:p>
        </p:txBody>
      </p:sp>
      <p:sp>
        <p:nvSpPr>
          <p:cNvPr id="17" name="Text 14"/>
          <p:cNvSpPr/>
          <p:nvPr/>
        </p:nvSpPr>
        <p:spPr>
          <a:xfrm>
            <a:off x="612648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Operações já integradas a balança, vagão e software</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Confinamentos sem rotina mínima de registro</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Recria a pasto, leite e outras espécies (mantido da v1.0)</a:t>
            </a:r>
            <a:endParaRPr lang="en-US" sz="1050" dirty="0"/>
          </a:p>
        </p:txBody>
      </p:sp>
      <p:sp>
        <p:nvSpPr>
          <p:cNvPr id="18" name="Shape 15"/>
          <p:cNvSpPr/>
          <p:nvPr/>
        </p:nvSpPr>
        <p:spPr>
          <a:xfrm>
            <a:off x="457200" y="4041648"/>
            <a:ext cx="8229600" cy="365760"/>
          </a:xfrm>
          <a:prstGeom prst="rect">
            <a:avLst/>
          </a:prstGeom>
          <a:solidFill>
            <a:srgbClr val="FBE7F1"/>
          </a:solidFill>
          <a:ln/>
        </p:spPr>
        <p:txBody>
          <a:bodyPr/>
          <a:lstStyle/>
          <a:p>
            <a:endParaRPr lang="pt-BR"/>
          </a:p>
        </p:txBody>
      </p:sp>
      <p:sp>
        <p:nvSpPr>
          <p:cNvPr id="19" name="Text 16"/>
          <p:cNvSpPr/>
          <p:nvPr/>
        </p:nvSpPr>
        <p:spPr>
          <a:xfrm>
            <a:off x="594360" y="4041648"/>
            <a:ext cx="7955280" cy="365760"/>
          </a:xfrm>
          <a:prstGeom prst="rect">
            <a:avLst/>
          </a:prstGeom>
          <a:noFill/>
          <a:ln/>
        </p:spPr>
        <p:txBody>
          <a:bodyPr wrap="square" lIns="0" tIns="0" rIns="0" bIns="0" rtlCol="0" anchor="ctr"/>
          <a:lstStyle/>
          <a:p>
            <a:pPr marL="0" indent="0">
              <a:buNone/>
            </a:pPr>
            <a:r>
              <a:rPr lang="en-US" sz="1050" b="1" dirty="0">
                <a:solidFill>
                  <a:srgbClr val="C8106E"/>
                </a:solidFill>
                <a:latin typeface="Calibri" pitchFamily="34" charset="0"/>
                <a:ea typeface="Calibri" pitchFamily="34" charset="-122"/>
                <a:cs typeface="Calibri" pitchFamily="34" charset="-120"/>
              </a:rPr>
              <a:t>Porte mínimo: </a:t>
            </a:r>
            <a:r>
              <a:rPr lang="en-US" sz="1050" dirty="0">
                <a:solidFill>
                  <a:srgbClr val="4A5560"/>
                </a:solidFill>
                <a:latin typeface="Calibri" pitchFamily="34" charset="0"/>
                <a:ea typeface="Calibri" pitchFamily="34" charset="-122"/>
                <a:cs typeface="Calibri" pitchFamily="34" charset="-120"/>
              </a:rPr>
              <a:t>a v1.0 usava 2.000 cabeças. Para a versão manual, a faixa ideal 200 a 2.000 </a:t>
            </a:r>
            <a:r>
              <a:rPr lang="en-US" sz="1050" dirty="0" err="1">
                <a:solidFill>
                  <a:srgbClr val="4A5560"/>
                </a:solidFill>
                <a:latin typeface="Calibri" pitchFamily="34" charset="0"/>
                <a:ea typeface="Calibri" pitchFamily="34" charset="-122"/>
                <a:cs typeface="Calibri" pitchFamily="34" charset="-120"/>
              </a:rPr>
              <a:t>cabeças</a:t>
            </a:r>
            <a:r>
              <a:rPr lang="en-US" sz="1050" dirty="0">
                <a:solidFill>
                  <a:srgbClr val="4A5560"/>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err="1"/>
              <a:t>Objetivos</a:t>
            </a:r>
            <a:r>
              <a:rPr lang="en-US" sz="2400" dirty="0"/>
              <a:t> do </a:t>
            </a:r>
            <a:r>
              <a:rPr lang="en-US" sz="2400" dirty="0" err="1"/>
              <a:t>Projeto</a:t>
            </a:r>
            <a:br>
              <a:rPr lang="en-CA" sz="2400" dirty="0"/>
            </a:br>
            <a:r>
              <a:rPr lang="en-US" sz="1350" b="0" i="1" dirty="0"/>
              <a:t>Com o </a:t>
            </a:r>
            <a:r>
              <a:rPr lang="en-US" sz="1350" b="0" i="1" dirty="0" err="1"/>
              <a:t>desenvolvimento</a:t>
            </a:r>
            <a:r>
              <a:rPr lang="en-US" sz="1350" b="0" i="1" dirty="0"/>
              <a:t> do TN Manager, </a:t>
            </a:r>
            <a:r>
              <a:rPr lang="en-US" sz="1350" b="0" i="1" dirty="0" err="1"/>
              <a:t>vamos</a:t>
            </a:r>
            <a:r>
              <a:rPr lang="en-US" sz="1350" b="0" i="1" dirty="0"/>
              <a:t> </a:t>
            </a:r>
            <a:r>
              <a:rPr lang="en-US" sz="1350" b="0" i="1" dirty="0" err="1"/>
              <a:t>entregar</a:t>
            </a:r>
            <a:r>
              <a:rPr lang="en-US" sz="1350" b="0" i="1" dirty="0"/>
              <a:t> 4 </a:t>
            </a:r>
            <a:r>
              <a:rPr lang="en-US" sz="1350" b="0" i="1" dirty="0" err="1"/>
              <a:t>benefícios</a:t>
            </a:r>
            <a:r>
              <a:rPr lang="en-US" sz="1350" b="0" i="1" dirty="0"/>
              <a:t> </a:t>
            </a:r>
            <a:r>
              <a:rPr lang="en-US" sz="1350" b="0" i="1" dirty="0" err="1"/>
              <a:t>principais</a:t>
            </a:r>
            <a:r>
              <a:rPr lang="en-US" sz="1350" b="0" i="1" dirty="0"/>
              <a:t> </a:t>
            </a:r>
            <a:r>
              <a:rPr lang="en-US" sz="1350" b="0" i="1" dirty="0" err="1"/>
              <a:t>ao</a:t>
            </a:r>
            <a:r>
              <a:rPr lang="en-US" sz="1350" b="0" i="1" dirty="0"/>
              <a:t> </a:t>
            </a:r>
            <a:r>
              <a:rPr lang="en-US" sz="1350" b="0" i="1" dirty="0" err="1"/>
              <a:t>negócio</a:t>
            </a:r>
            <a:r>
              <a:rPr lang="en-US" sz="1350" b="0" i="1" dirty="0"/>
              <a:t> da TNB.</a:t>
            </a:r>
            <a:endParaRPr lang="en-CA" sz="2400" b="0" i="1" dirty="0"/>
          </a:p>
        </p:txBody>
      </p:sp>
      <p:sp>
        <p:nvSpPr>
          <p:cNvPr id="2" name="Line 10">
            <a:extLst>
              <a:ext uri="{FF2B5EF4-FFF2-40B4-BE49-F238E27FC236}">
                <a16:creationId xmlns:a16="http://schemas.microsoft.com/office/drawing/2014/main" id="{1F76DCD9-4EB6-3B83-BAFD-95D6CE4EB64A}"/>
              </a:ext>
            </a:extLst>
          </p:cNvPr>
          <p:cNvSpPr>
            <a:spLocks noChangeShapeType="1"/>
          </p:cNvSpPr>
          <p:nvPr/>
        </p:nvSpPr>
        <p:spPr bwMode="auto">
          <a:xfrm rot="18900000">
            <a:off x="4435830" y="2138883"/>
            <a:ext cx="0" cy="0"/>
          </a:xfrm>
          <a:prstGeom prst="line">
            <a:avLst/>
          </a:prstGeom>
          <a:noFill/>
          <a:ln w="15875" cap="flat">
            <a:solidFill>
              <a:srgbClr val="231F20"/>
            </a:solidFill>
            <a:prstDash val="solid"/>
            <a:miter lim="800000"/>
            <a:headEnd/>
            <a:tailEnd/>
          </a:ln>
          <a:effectLst/>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grpSp>
        <p:nvGrpSpPr>
          <p:cNvPr id="3" name="Group 17">
            <a:extLst>
              <a:ext uri="{FF2B5EF4-FFF2-40B4-BE49-F238E27FC236}">
                <a16:creationId xmlns:a16="http://schemas.microsoft.com/office/drawing/2014/main" id="{1C154973-36B7-8247-5FCF-61ABE8ADD461}"/>
              </a:ext>
            </a:extLst>
          </p:cNvPr>
          <p:cNvGrpSpPr/>
          <p:nvPr/>
        </p:nvGrpSpPr>
        <p:grpSpPr>
          <a:xfrm>
            <a:off x="2713445" y="1165688"/>
            <a:ext cx="3444771" cy="3448386"/>
            <a:chOff x="3657600" y="1181940"/>
            <a:chExt cx="4876800" cy="4881918"/>
          </a:xfrm>
        </p:grpSpPr>
        <p:sp>
          <p:nvSpPr>
            <p:cNvPr id="5" name="Freeform 9">
              <a:extLst>
                <a:ext uri="{FF2B5EF4-FFF2-40B4-BE49-F238E27FC236}">
                  <a16:creationId xmlns:a16="http://schemas.microsoft.com/office/drawing/2014/main" id="{E4B2645B-87BD-3850-112A-9912D20BE8CE}"/>
                </a:ext>
              </a:extLst>
            </p:cNvPr>
            <p:cNvSpPr>
              <a:spLocks/>
            </p:cNvSpPr>
            <p:nvPr/>
          </p:nvSpPr>
          <p:spPr bwMode="auto">
            <a:xfrm rot="18900000">
              <a:off x="4112160" y="1181940"/>
              <a:ext cx="2466836" cy="3409445"/>
            </a:xfrm>
            <a:custGeom>
              <a:avLst/>
              <a:gdLst>
                <a:gd name="T0" fmla="*/ 233 w 467"/>
                <a:gd name="T1" fmla="*/ 0 h 646"/>
                <a:gd name="T2" fmla="*/ 0 w 467"/>
                <a:gd name="T3" fmla="*/ 232 h 646"/>
                <a:gd name="T4" fmla="*/ 10 w 467"/>
                <a:gd name="T5" fmla="*/ 299 h 646"/>
                <a:gd name="T6" fmla="*/ 73 w 467"/>
                <a:gd name="T7" fmla="*/ 400 h 646"/>
                <a:gd name="T8" fmla="*/ 73 w 467"/>
                <a:gd name="T9" fmla="*/ 401 h 646"/>
                <a:gd name="T10" fmla="*/ 119 w 467"/>
                <a:gd name="T11" fmla="*/ 522 h 646"/>
                <a:gd name="T12" fmla="*/ 79 w 467"/>
                <a:gd name="T13" fmla="*/ 636 h 646"/>
                <a:gd name="T14" fmla="*/ 84 w 467"/>
                <a:gd name="T15" fmla="*/ 646 h 646"/>
                <a:gd name="T16" fmla="*/ 169 w 467"/>
                <a:gd name="T17" fmla="*/ 586 h 646"/>
                <a:gd name="T18" fmla="*/ 178 w 467"/>
                <a:gd name="T19" fmla="*/ 522 h 646"/>
                <a:gd name="T20" fmla="*/ 169 w 467"/>
                <a:gd name="T21" fmla="*/ 456 h 646"/>
                <a:gd name="T22" fmla="*/ 98 w 467"/>
                <a:gd name="T23" fmla="*/ 342 h 646"/>
                <a:gd name="T24" fmla="*/ 59 w 467"/>
                <a:gd name="T25" fmla="*/ 232 h 646"/>
                <a:gd name="T26" fmla="*/ 233 w 467"/>
                <a:gd name="T27" fmla="*/ 59 h 646"/>
                <a:gd name="T28" fmla="*/ 408 w 467"/>
                <a:gd name="T29" fmla="*/ 232 h 646"/>
                <a:gd name="T30" fmla="*/ 361 w 467"/>
                <a:gd name="T31" fmla="*/ 351 h 646"/>
                <a:gd name="T32" fmla="*/ 457 w 467"/>
                <a:gd name="T33" fmla="*/ 299 h 646"/>
                <a:gd name="T34" fmla="*/ 467 w 467"/>
                <a:gd name="T35" fmla="*/ 232 h 646"/>
                <a:gd name="T36" fmla="*/ 233 w 467"/>
                <a:gd name="T37"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7" h="646">
                  <a:moveTo>
                    <a:pt x="233" y="0"/>
                  </a:moveTo>
                  <a:cubicBezTo>
                    <a:pt x="105" y="0"/>
                    <a:pt x="0" y="104"/>
                    <a:pt x="0" y="232"/>
                  </a:cubicBezTo>
                  <a:cubicBezTo>
                    <a:pt x="0" y="255"/>
                    <a:pt x="3" y="278"/>
                    <a:pt x="10" y="299"/>
                  </a:cubicBezTo>
                  <a:cubicBezTo>
                    <a:pt x="21" y="338"/>
                    <a:pt x="43" y="373"/>
                    <a:pt x="73" y="400"/>
                  </a:cubicBezTo>
                  <a:cubicBezTo>
                    <a:pt x="73" y="401"/>
                    <a:pt x="73" y="401"/>
                    <a:pt x="73" y="401"/>
                  </a:cubicBezTo>
                  <a:cubicBezTo>
                    <a:pt x="102" y="432"/>
                    <a:pt x="119" y="476"/>
                    <a:pt x="119" y="522"/>
                  </a:cubicBezTo>
                  <a:cubicBezTo>
                    <a:pt x="119" y="565"/>
                    <a:pt x="105" y="605"/>
                    <a:pt x="79" y="636"/>
                  </a:cubicBezTo>
                  <a:cubicBezTo>
                    <a:pt x="84" y="646"/>
                    <a:pt x="84" y="646"/>
                    <a:pt x="84" y="646"/>
                  </a:cubicBezTo>
                  <a:cubicBezTo>
                    <a:pt x="110" y="624"/>
                    <a:pt x="136" y="596"/>
                    <a:pt x="169" y="586"/>
                  </a:cubicBezTo>
                  <a:cubicBezTo>
                    <a:pt x="175" y="566"/>
                    <a:pt x="178" y="544"/>
                    <a:pt x="178" y="522"/>
                  </a:cubicBezTo>
                  <a:cubicBezTo>
                    <a:pt x="178" y="499"/>
                    <a:pt x="175" y="477"/>
                    <a:pt x="169" y="456"/>
                  </a:cubicBezTo>
                  <a:cubicBezTo>
                    <a:pt x="156" y="413"/>
                    <a:pt x="131" y="370"/>
                    <a:pt x="98" y="342"/>
                  </a:cubicBezTo>
                  <a:cubicBezTo>
                    <a:pt x="74" y="312"/>
                    <a:pt x="59" y="274"/>
                    <a:pt x="59" y="232"/>
                  </a:cubicBezTo>
                  <a:cubicBezTo>
                    <a:pt x="59" y="136"/>
                    <a:pt x="137" y="59"/>
                    <a:pt x="233" y="59"/>
                  </a:cubicBezTo>
                  <a:cubicBezTo>
                    <a:pt x="330" y="59"/>
                    <a:pt x="408" y="136"/>
                    <a:pt x="408" y="232"/>
                  </a:cubicBezTo>
                  <a:cubicBezTo>
                    <a:pt x="408" y="278"/>
                    <a:pt x="390" y="320"/>
                    <a:pt x="361" y="351"/>
                  </a:cubicBezTo>
                  <a:cubicBezTo>
                    <a:pt x="361" y="351"/>
                    <a:pt x="422" y="309"/>
                    <a:pt x="457" y="299"/>
                  </a:cubicBezTo>
                  <a:cubicBezTo>
                    <a:pt x="463" y="278"/>
                    <a:pt x="467" y="255"/>
                    <a:pt x="467" y="232"/>
                  </a:cubicBezTo>
                  <a:cubicBezTo>
                    <a:pt x="467" y="104"/>
                    <a:pt x="362" y="0"/>
                    <a:pt x="233" y="0"/>
                  </a:cubicBezTo>
                  <a:close/>
                </a:path>
              </a:pathLst>
            </a:custGeom>
            <a:solidFill>
              <a:srgbClr val="246C97"/>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6" name="Freeform 11">
              <a:extLst>
                <a:ext uri="{FF2B5EF4-FFF2-40B4-BE49-F238E27FC236}">
                  <a16:creationId xmlns:a16="http://schemas.microsoft.com/office/drawing/2014/main" id="{9DED8CB3-40C8-F77B-1ACC-64D9AC6241CE}"/>
                </a:ext>
              </a:extLst>
            </p:cNvPr>
            <p:cNvSpPr>
              <a:spLocks/>
            </p:cNvSpPr>
            <p:nvPr/>
          </p:nvSpPr>
          <p:spPr bwMode="auto">
            <a:xfrm rot="18900000">
              <a:off x="5603572" y="2692294"/>
              <a:ext cx="2466836" cy="3371564"/>
            </a:xfrm>
            <a:custGeom>
              <a:avLst/>
              <a:gdLst>
                <a:gd name="T0" fmla="*/ 458 w 467"/>
                <a:gd name="T1" fmla="*/ 343 h 639"/>
                <a:gd name="T2" fmla="*/ 448 w 467"/>
                <a:gd name="T3" fmla="*/ 340 h 639"/>
                <a:gd name="T4" fmla="*/ 458 w 467"/>
                <a:gd name="T5" fmla="*/ 343 h 639"/>
                <a:gd name="T6" fmla="*/ 399 w 467"/>
                <a:gd name="T7" fmla="*/ 243 h 639"/>
                <a:gd name="T8" fmla="*/ 399 w 467"/>
                <a:gd name="T9" fmla="*/ 243 h 639"/>
                <a:gd name="T10" fmla="*/ 348 w 467"/>
                <a:gd name="T11" fmla="*/ 119 h 639"/>
                <a:gd name="T12" fmla="*/ 394 w 467"/>
                <a:gd name="T13" fmla="*/ 2 h 639"/>
                <a:gd name="T14" fmla="*/ 391 w 467"/>
                <a:gd name="T15" fmla="*/ 0 h 639"/>
                <a:gd name="T16" fmla="*/ 299 w 467"/>
                <a:gd name="T17" fmla="*/ 52 h 639"/>
                <a:gd name="T18" fmla="*/ 289 w 467"/>
                <a:gd name="T19" fmla="*/ 119 h 639"/>
                <a:gd name="T20" fmla="*/ 298 w 467"/>
                <a:gd name="T21" fmla="*/ 183 h 639"/>
                <a:gd name="T22" fmla="*/ 346 w 467"/>
                <a:gd name="T23" fmla="*/ 271 h 639"/>
                <a:gd name="T24" fmla="*/ 346 w 467"/>
                <a:gd name="T25" fmla="*/ 271 h 639"/>
                <a:gd name="T26" fmla="*/ 346 w 467"/>
                <a:gd name="T27" fmla="*/ 272 h 639"/>
                <a:gd name="T28" fmla="*/ 368 w 467"/>
                <a:gd name="T29" fmla="*/ 294 h 639"/>
                <a:gd name="T30" fmla="*/ 408 w 467"/>
                <a:gd name="T31" fmla="*/ 407 h 639"/>
                <a:gd name="T32" fmla="*/ 233 w 467"/>
                <a:gd name="T33" fmla="*/ 580 h 639"/>
                <a:gd name="T34" fmla="*/ 59 w 467"/>
                <a:gd name="T35" fmla="*/ 407 h 639"/>
                <a:gd name="T36" fmla="*/ 110 w 467"/>
                <a:gd name="T37" fmla="*/ 284 h 639"/>
                <a:gd name="T38" fmla="*/ 109 w 467"/>
                <a:gd name="T39" fmla="*/ 282 h 639"/>
                <a:gd name="T40" fmla="*/ 9 w 467"/>
                <a:gd name="T41" fmla="*/ 342 h 639"/>
                <a:gd name="T42" fmla="*/ 0 w 467"/>
                <a:gd name="T43" fmla="*/ 407 h 639"/>
                <a:gd name="T44" fmla="*/ 233 w 467"/>
                <a:gd name="T45" fmla="*/ 639 h 639"/>
                <a:gd name="T46" fmla="*/ 467 w 467"/>
                <a:gd name="T47" fmla="*/ 407 h 639"/>
                <a:gd name="T48" fmla="*/ 458 w 467"/>
                <a:gd name="T49" fmla="*/ 343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7" h="639">
                  <a:moveTo>
                    <a:pt x="458" y="343"/>
                  </a:moveTo>
                  <a:cubicBezTo>
                    <a:pt x="455" y="342"/>
                    <a:pt x="452" y="341"/>
                    <a:pt x="448" y="340"/>
                  </a:cubicBezTo>
                  <a:cubicBezTo>
                    <a:pt x="452" y="341"/>
                    <a:pt x="455" y="342"/>
                    <a:pt x="458" y="343"/>
                  </a:cubicBezTo>
                  <a:cubicBezTo>
                    <a:pt x="447" y="305"/>
                    <a:pt x="426" y="271"/>
                    <a:pt x="399" y="243"/>
                  </a:cubicBezTo>
                  <a:cubicBezTo>
                    <a:pt x="399" y="243"/>
                    <a:pt x="399" y="243"/>
                    <a:pt x="399" y="243"/>
                  </a:cubicBezTo>
                  <a:cubicBezTo>
                    <a:pt x="367" y="212"/>
                    <a:pt x="348" y="168"/>
                    <a:pt x="348" y="119"/>
                  </a:cubicBezTo>
                  <a:cubicBezTo>
                    <a:pt x="348" y="74"/>
                    <a:pt x="365" y="33"/>
                    <a:pt x="394" y="2"/>
                  </a:cubicBezTo>
                  <a:cubicBezTo>
                    <a:pt x="391" y="0"/>
                    <a:pt x="391" y="0"/>
                    <a:pt x="391" y="0"/>
                  </a:cubicBezTo>
                  <a:cubicBezTo>
                    <a:pt x="365" y="24"/>
                    <a:pt x="333" y="42"/>
                    <a:pt x="299" y="52"/>
                  </a:cubicBezTo>
                  <a:cubicBezTo>
                    <a:pt x="292" y="74"/>
                    <a:pt x="289" y="96"/>
                    <a:pt x="289" y="119"/>
                  </a:cubicBezTo>
                  <a:cubicBezTo>
                    <a:pt x="289" y="141"/>
                    <a:pt x="292" y="163"/>
                    <a:pt x="298" y="183"/>
                  </a:cubicBezTo>
                  <a:cubicBezTo>
                    <a:pt x="307" y="216"/>
                    <a:pt x="324" y="246"/>
                    <a:pt x="346" y="271"/>
                  </a:cubicBezTo>
                  <a:cubicBezTo>
                    <a:pt x="346" y="271"/>
                    <a:pt x="346" y="271"/>
                    <a:pt x="346" y="271"/>
                  </a:cubicBezTo>
                  <a:cubicBezTo>
                    <a:pt x="346" y="271"/>
                    <a:pt x="346" y="271"/>
                    <a:pt x="346" y="272"/>
                  </a:cubicBezTo>
                  <a:cubicBezTo>
                    <a:pt x="353" y="279"/>
                    <a:pt x="360" y="287"/>
                    <a:pt x="368" y="294"/>
                  </a:cubicBezTo>
                  <a:cubicBezTo>
                    <a:pt x="393" y="324"/>
                    <a:pt x="408" y="364"/>
                    <a:pt x="408" y="407"/>
                  </a:cubicBezTo>
                  <a:cubicBezTo>
                    <a:pt x="408" y="503"/>
                    <a:pt x="330" y="580"/>
                    <a:pt x="233" y="580"/>
                  </a:cubicBezTo>
                  <a:cubicBezTo>
                    <a:pt x="137" y="580"/>
                    <a:pt x="59" y="503"/>
                    <a:pt x="59" y="407"/>
                  </a:cubicBezTo>
                  <a:cubicBezTo>
                    <a:pt x="59" y="359"/>
                    <a:pt x="78" y="315"/>
                    <a:pt x="110" y="284"/>
                  </a:cubicBezTo>
                  <a:cubicBezTo>
                    <a:pt x="109" y="282"/>
                    <a:pt x="109" y="282"/>
                    <a:pt x="109" y="282"/>
                  </a:cubicBezTo>
                  <a:cubicBezTo>
                    <a:pt x="82" y="310"/>
                    <a:pt x="47" y="331"/>
                    <a:pt x="9" y="342"/>
                  </a:cubicBezTo>
                  <a:cubicBezTo>
                    <a:pt x="3" y="363"/>
                    <a:pt x="0" y="384"/>
                    <a:pt x="0" y="407"/>
                  </a:cubicBezTo>
                  <a:cubicBezTo>
                    <a:pt x="0" y="535"/>
                    <a:pt x="105" y="639"/>
                    <a:pt x="233" y="639"/>
                  </a:cubicBezTo>
                  <a:cubicBezTo>
                    <a:pt x="362" y="639"/>
                    <a:pt x="467" y="535"/>
                    <a:pt x="467" y="407"/>
                  </a:cubicBezTo>
                  <a:cubicBezTo>
                    <a:pt x="467" y="385"/>
                    <a:pt x="464" y="363"/>
                    <a:pt x="458" y="343"/>
                  </a:cubicBezTo>
                  <a:close/>
                </a:path>
              </a:pathLst>
            </a:custGeom>
            <a:solidFill>
              <a:srgbClr val="26B2CE"/>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7" name="Freeform 12">
              <a:extLst>
                <a:ext uri="{FF2B5EF4-FFF2-40B4-BE49-F238E27FC236}">
                  <a16:creationId xmlns:a16="http://schemas.microsoft.com/office/drawing/2014/main" id="{3608DDDE-1DAB-807F-54E3-9F12BB05DB14}"/>
                </a:ext>
              </a:extLst>
            </p:cNvPr>
            <p:cNvSpPr>
              <a:spLocks/>
            </p:cNvSpPr>
            <p:nvPr/>
          </p:nvSpPr>
          <p:spPr bwMode="auto">
            <a:xfrm rot="18900000">
              <a:off x="5169521" y="1642599"/>
              <a:ext cx="3364879" cy="2453465"/>
            </a:xfrm>
            <a:custGeom>
              <a:avLst/>
              <a:gdLst>
                <a:gd name="T0" fmla="*/ 403 w 637"/>
                <a:gd name="T1" fmla="*/ 0 h 465"/>
                <a:gd name="T2" fmla="*/ 338 w 637"/>
                <a:gd name="T3" fmla="*/ 9 h 465"/>
                <a:gd name="T4" fmla="*/ 242 w 637"/>
                <a:gd name="T5" fmla="*/ 61 h 465"/>
                <a:gd name="T6" fmla="*/ 114 w 637"/>
                <a:gd name="T7" fmla="*/ 116 h 465"/>
                <a:gd name="T8" fmla="*/ 0 w 637"/>
                <a:gd name="T9" fmla="*/ 74 h 465"/>
                <a:gd name="T10" fmla="*/ 50 w 637"/>
                <a:gd name="T11" fmla="*/ 166 h 465"/>
                <a:gd name="T12" fmla="*/ 114 w 637"/>
                <a:gd name="T13" fmla="*/ 175 h 465"/>
                <a:gd name="T14" fmla="*/ 180 w 637"/>
                <a:gd name="T15" fmla="*/ 165 h 465"/>
                <a:gd name="T16" fmla="*/ 274 w 637"/>
                <a:gd name="T17" fmla="*/ 116 h 465"/>
                <a:gd name="T18" fmla="*/ 285 w 637"/>
                <a:gd name="T19" fmla="*/ 105 h 465"/>
                <a:gd name="T20" fmla="*/ 403 w 637"/>
                <a:gd name="T21" fmla="*/ 59 h 465"/>
                <a:gd name="T22" fmla="*/ 578 w 637"/>
                <a:gd name="T23" fmla="*/ 232 h 465"/>
                <a:gd name="T24" fmla="*/ 403 w 637"/>
                <a:gd name="T25" fmla="*/ 406 h 465"/>
                <a:gd name="T26" fmla="*/ 281 w 637"/>
                <a:gd name="T27" fmla="*/ 356 h 465"/>
                <a:gd name="T28" fmla="*/ 280 w 637"/>
                <a:gd name="T29" fmla="*/ 356 h 465"/>
                <a:gd name="T30" fmla="*/ 280 w 637"/>
                <a:gd name="T31" fmla="*/ 356 h 465"/>
                <a:gd name="T32" fmla="*/ 339 w 637"/>
                <a:gd name="T33" fmla="*/ 456 h 465"/>
                <a:gd name="T34" fmla="*/ 403 w 637"/>
                <a:gd name="T35" fmla="*/ 465 h 465"/>
                <a:gd name="T36" fmla="*/ 637 w 637"/>
                <a:gd name="T37" fmla="*/ 232 h 465"/>
                <a:gd name="T38" fmla="*/ 403 w 637"/>
                <a:gd name="T39"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7" h="465">
                  <a:moveTo>
                    <a:pt x="403" y="0"/>
                  </a:moveTo>
                  <a:cubicBezTo>
                    <a:pt x="381" y="0"/>
                    <a:pt x="359" y="3"/>
                    <a:pt x="338" y="9"/>
                  </a:cubicBezTo>
                  <a:cubicBezTo>
                    <a:pt x="303" y="19"/>
                    <a:pt x="242" y="61"/>
                    <a:pt x="242" y="61"/>
                  </a:cubicBezTo>
                  <a:cubicBezTo>
                    <a:pt x="210" y="95"/>
                    <a:pt x="165" y="116"/>
                    <a:pt x="114" y="116"/>
                  </a:cubicBezTo>
                  <a:cubicBezTo>
                    <a:pt x="71" y="116"/>
                    <a:pt x="31" y="100"/>
                    <a:pt x="0" y="74"/>
                  </a:cubicBezTo>
                  <a:cubicBezTo>
                    <a:pt x="23" y="100"/>
                    <a:pt x="40" y="133"/>
                    <a:pt x="50" y="166"/>
                  </a:cubicBezTo>
                  <a:cubicBezTo>
                    <a:pt x="70" y="171"/>
                    <a:pt x="92" y="175"/>
                    <a:pt x="114" y="175"/>
                  </a:cubicBezTo>
                  <a:cubicBezTo>
                    <a:pt x="137" y="175"/>
                    <a:pt x="159" y="171"/>
                    <a:pt x="180" y="165"/>
                  </a:cubicBezTo>
                  <a:cubicBezTo>
                    <a:pt x="214" y="155"/>
                    <a:pt x="248" y="139"/>
                    <a:pt x="274" y="116"/>
                  </a:cubicBezTo>
                  <a:cubicBezTo>
                    <a:pt x="278" y="112"/>
                    <a:pt x="282" y="108"/>
                    <a:pt x="285" y="105"/>
                  </a:cubicBezTo>
                  <a:cubicBezTo>
                    <a:pt x="316" y="76"/>
                    <a:pt x="358" y="59"/>
                    <a:pt x="403" y="59"/>
                  </a:cubicBezTo>
                  <a:cubicBezTo>
                    <a:pt x="500" y="59"/>
                    <a:pt x="578" y="136"/>
                    <a:pt x="578" y="232"/>
                  </a:cubicBezTo>
                  <a:cubicBezTo>
                    <a:pt x="578" y="328"/>
                    <a:pt x="500" y="406"/>
                    <a:pt x="403" y="406"/>
                  </a:cubicBezTo>
                  <a:cubicBezTo>
                    <a:pt x="355" y="406"/>
                    <a:pt x="312" y="387"/>
                    <a:pt x="281" y="356"/>
                  </a:cubicBezTo>
                  <a:cubicBezTo>
                    <a:pt x="280" y="356"/>
                    <a:pt x="280" y="356"/>
                    <a:pt x="280" y="356"/>
                  </a:cubicBezTo>
                  <a:cubicBezTo>
                    <a:pt x="280" y="356"/>
                    <a:pt x="280" y="356"/>
                    <a:pt x="280" y="356"/>
                  </a:cubicBezTo>
                  <a:cubicBezTo>
                    <a:pt x="307" y="384"/>
                    <a:pt x="328" y="418"/>
                    <a:pt x="339" y="456"/>
                  </a:cubicBezTo>
                  <a:cubicBezTo>
                    <a:pt x="359" y="462"/>
                    <a:pt x="381" y="465"/>
                    <a:pt x="403" y="465"/>
                  </a:cubicBezTo>
                  <a:cubicBezTo>
                    <a:pt x="532" y="465"/>
                    <a:pt x="637" y="360"/>
                    <a:pt x="637" y="232"/>
                  </a:cubicBezTo>
                  <a:cubicBezTo>
                    <a:pt x="637" y="104"/>
                    <a:pt x="532" y="0"/>
                    <a:pt x="403" y="0"/>
                  </a:cubicBezTo>
                  <a:close/>
                </a:path>
              </a:pathLst>
            </a:custGeom>
            <a:solidFill>
              <a:srgbClr val="71CBD0"/>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9" name="Freeform 13">
              <a:extLst>
                <a:ext uri="{FF2B5EF4-FFF2-40B4-BE49-F238E27FC236}">
                  <a16:creationId xmlns:a16="http://schemas.microsoft.com/office/drawing/2014/main" id="{53A938DD-516C-3B07-0158-3BE54D666378}"/>
                </a:ext>
              </a:extLst>
            </p:cNvPr>
            <p:cNvSpPr>
              <a:spLocks noEditPoints="1"/>
            </p:cNvSpPr>
            <p:nvPr/>
          </p:nvSpPr>
          <p:spPr bwMode="auto">
            <a:xfrm rot="18900000">
              <a:off x="3657600" y="3161588"/>
              <a:ext cx="3338137" cy="2453465"/>
            </a:xfrm>
            <a:custGeom>
              <a:avLst/>
              <a:gdLst>
                <a:gd name="T0" fmla="*/ 586 w 632"/>
                <a:gd name="T1" fmla="*/ 304 h 465"/>
                <a:gd name="T2" fmla="*/ 584 w 632"/>
                <a:gd name="T3" fmla="*/ 297 h 465"/>
                <a:gd name="T4" fmla="*/ 519 w 632"/>
                <a:gd name="T5" fmla="*/ 288 h 465"/>
                <a:gd name="T6" fmla="*/ 453 w 632"/>
                <a:gd name="T7" fmla="*/ 298 h 465"/>
                <a:gd name="T8" fmla="*/ 340 w 632"/>
                <a:gd name="T9" fmla="*/ 373 h 465"/>
                <a:gd name="T10" fmla="*/ 234 w 632"/>
                <a:gd name="T11" fmla="*/ 406 h 465"/>
                <a:gd name="T12" fmla="*/ 59 w 632"/>
                <a:gd name="T13" fmla="*/ 233 h 465"/>
                <a:gd name="T14" fmla="*/ 234 w 632"/>
                <a:gd name="T15" fmla="*/ 59 h 465"/>
                <a:gd name="T16" fmla="*/ 357 w 632"/>
                <a:gd name="T17" fmla="*/ 110 h 465"/>
                <a:gd name="T18" fmla="*/ 357 w 632"/>
                <a:gd name="T19" fmla="*/ 110 h 465"/>
                <a:gd name="T20" fmla="*/ 357 w 632"/>
                <a:gd name="T21" fmla="*/ 110 h 465"/>
                <a:gd name="T22" fmla="*/ 296 w 632"/>
                <a:gd name="T23" fmla="*/ 10 h 465"/>
                <a:gd name="T24" fmla="*/ 295 w 632"/>
                <a:gd name="T25" fmla="*/ 9 h 465"/>
                <a:gd name="T26" fmla="*/ 234 w 632"/>
                <a:gd name="T27" fmla="*/ 0 h 465"/>
                <a:gd name="T28" fmla="*/ 0 w 632"/>
                <a:gd name="T29" fmla="*/ 233 h 465"/>
                <a:gd name="T30" fmla="*/ 234 w 632"/>
                <a:gd name="T31" fmla="*/ 465 h 465"/>
                <a:gd name="T32" fmla="*/ 299 w 632"/>
                <a:gd name="T33" fmla="*/ 456 h 465"/>
                <a:gd name="T34" fmla="*/ 300 w 632"/>
                <a:gd name="T35" fmla="*/ 455 h 465"/>
                <a:gd name="T36" fmla="*/ 396 w 632"/>
                <a:gd name="T37" fmla="*/ 396 h 465"/>
                <a:gd name="T38" fmla="*/ 395 w 632"/>
                <a:gd name="T39" fmla="*/ 396 h 465"/>
                <a:gd name="T40" fmla="*/ 396 w 632"/>
                <a:gd name="T41" fmla="*/ 398 h 465"/>
                <a:gd name="T42" fmla="*/ 519 w 632"/>
                <a:gd name="T43" fmla="*/ 347 h 465"/>
                <a:gd name="T44" fmla="*/ 632 w 632"/>
                <a:gd name="T45" fmla="*/ 385 h 465"/>
                <a:gd name="T46" fmla="*/ 632 w 632"/>
                <a:gd name="T47" fmla="*/ 385 h 465"/>
                <a:gd name="T48" fmla="*/ 586 w 632"/>
                <a:gd name="T49" fmla="*/ 304 h 465"/>
                <a:gd name="T50" fmla="*/ 406 w 632"/>
                <a:gd name="T51" fmla="*/ 385 h 465"/>
                <a:gd name="T52" fmla="*/ 399 w 632"/>
                <a:gd name="T53" fmla="*/ 392 h 465"/>
                <a:gd name="T54" fmla="*/ 406 w 632"/>
                <a:gd name="T55" fmla="*/ 385 h 465"/>
                <a:gd name="T56" fmla="*/ 449 w 632"/>
                <a:gd name="T57" fmla="*/ 312 h 465"/>
                <a:gd name="T58" fmla="*/ 447 w 632"/>
                <a:gd name="T59" fmla="*/ 316 h 465"/>
                <a:gd name="T60" fmla="*/ 449 w 632"/>
                <a:gd name="T61" fmla="*/ 312 h 465"/>
                <a:gd name="T62" fmla="*/ 444 w 632"/>
                <a:gd name="T63" fmla="*/ 325 h 465"/>
                <a:gd name="T64" fmla="*/ 441 w 632"/>
                <a:gd name="T65" fmla="*/ 330 h 465"/>
                <a:gd name="T66" fmla="*/ 444 w 632"/>
                <a:gd name="T67" fmla="*/ 325 h 465"/>
                <a:gd name="T68" fmla="*/ 437 w 632"/>
                <a:gd name="T69" fmla="*/ 338 h 465"/>
                <a:gd name="T70" fmla="*/ 435 w 632"/>
                <a:gd name="T71" fmla="*/ 343 h 465"/>
                <a:gd name="T72" fmla="*/ 437 w 632"/>
                <a:gd name="T73" fmla="*/ 338 h 465"/>
                <a:gd name="T74" fmla="*/ 431 w 632"/>
                <a:gd name="T75" fmla="*/ 351 h 465"/>
                <a:gd name="T76" fmla="*/ 427 w 632"/>
                <a:gd name="T77" fmla="*/ 356 h 465"/>
                <a:gd name="T78" fmla="*/ 431 w 632"/>
                <a:gd name="T79" fmla="*/ 351 h 465"/>
                <a:gd name="T80" fmla="*/ 423 w 632"/>
                <a:gd name="T81" fmla="*/ 363 h 465"/>
                <a:gd name="T82" fmla="*/ 419 w 632"/>
                <a:gd name="T83" fmla="*/ 369 h 465"/>
                <a:gd name="T84" fmla="*/ 423 w 632"/>
                <a:gd name="T85" fmla="*/ 363 h 465"/>
                <a:gd name="T86" fmla="*/ 415 w 632"/>
                <a:gd name="T87" fmla="*/ 374 h 465"/>
                <a:gd name="T88" fmla="*/ 409 w 632"/>
                <a:gd name="T89" fmla="*/ 381 h 465"/>
                <a:gd name="T90" fmla="*/ 415 w 632"/>
                <a:gd name="T91" fmla="*/ 37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465">
                  <a:moveTo>
                    <a:pt x="586" y="304"/>
                  </a:moveTo>
                  <a:cubicBezTo>
                    <a:pt x="585" y="302"/>
                    <a:pt x="584" y="299"/>
                    <a:pt x="584" y="297"/>
                  </a:cubicBezTo>
                  <a:cubicBezTo>
                    <a:pt x="563" y="291"/>
                    <a:pt x="542" y="288"/>
                    <a:pt x="519" y="288"/>
                  </a:cubicBezTo>
                  <a:cubicBezTo>
                    <a:pt x="496" y="288"/>
                    <a:pt x="474" y="292"/>
                    <a:pt x="453" y="298"/>
                  </a:cubicBezTo>
                  <a:cubicBezTo>
                    <a:pt x="408" y="311"/>
                    <a:pt x="369" y="337"/>
                    <a:pt x="340" y="373"/>
                  </a:cubicBezTo>
                  <a:cubicBezTo>
                    <a:pt x="310" y="394"/>
                    <a:pt x="273" y="406"/>
                    <a:pt x="234" y="406"/>
                  </a:cubicBezTo>
                  <a:cubicBezTo>
                    <a:pt x="137" y="406"/>
                    <a:pt x="59" y="329"/>
                    <a:pt x="59" y="233"/>
                  </a:cubicBezTo>
                  <a:cubicBezTo>
                    <a:pt x="59" y="137"/>
                    <a:pt x="137" y="59"/>
                    <a:pt x="234" y="59"/>
                  </a:cubicBezTo>
                  <a:cubicBezTo>
                    <a:pt x="282" y="59"/>
                    <a:pt x="325" y="79"/>
                    <a:pt x="357" y="110"/>
                  </a:cubicBezTo>
                  <a:cubicBezTo>
                    <a:pt x="357" y="110"/>
                    <a:pt x="357" y="110"/>
                    <a:pt x="357" y="110"/>
                  </a:cubicBezTo>
                  <a:cubicBezTo>
                    <a:pt x="357" y="110"/>
                    <a:pt x="357" y="110"/>
                    <a:pt x="357" y="110"/>
                  </a:cubicBezTo>
                  <a:cubicBezTo>
                    <a:pt x="329" y="83"/>
                    <a:pt x="307" y="48"/>
                    <a:pt x="296" y="10"/>
                  </a:cubicBezTo>
                  <a:cubicBezTo>
                    <a:pt x="295" y="9"/>
                    <a:pt x="295" y="9"/>
                    <a:pt x="295" y="9"/>
                  </a:cubicBezTo>
                  <a:cubicBezTo>
                    <a:pt x="276" y="3"/>
                    <a:pt x="255" y="0"/>
                    <a:pt x="234" y="0"/>
                  </a:cubicBezTo>
                  <a:cubicBezTo>
                    <a:pt x="105" y="0"/>
                    <a:pt x="0" y="105"/>
                    <a:pt x="0" y="233"/>
                  </a:cubicBezTo>
                  <a:cubicBezTo>
                    <a:pt x="0" y="361"/>
                    <a:pt x="105" y="465"/>
                    <a:pt x="234" y="465"/>
                  </a:cubicBezTo>
                  <a:cubicBezTo>
                    <a:pt x="256" y="465"/>
                    <a:pt x="279" y="462"/>
                    <a:pt x="299" y="456"/>
                  </a:cubicBezTo>
                  <a:cubicBezTo>
                    <a:pt x="300" y="455"/>
                    <a:pt x="300" y="455"/>
                    <a:pt x="300" y="455"/>
                  </a:cubicBezTo>
                  <a:cubicBezTo>
                    <a:pt x="337" y="443"/>
                    <a:pt x="370" y="423"/>
                    <a:pt x="396" y="396"/>
                  </a:cubicBezTo>
                  <a:cubicBezTo>
                    <a:pt x="396" y="396"/>
                    <a:pt x="396" y="396"/>
                    <a:pt x="395" y="396"/>
                  </a:cubicBezTo>
                  <a:cubicBezTo>
                    <a:pt x="396" y="398"/>
                    <a:pt x="396" y="398"/>
                    <a:pt x="396" y="398"/>
                  </a:cubicBezTo>
                  <a:cubicBezTo>
                    <a:pt x="428" y="367"/>
                    <a:pt x="471" y="347"/>
                    <a:pt x="519" y="347"/>
                  </a:cubicBezTo>
                  <a:cubicBezTo>
                    <a:pt x="561" y="347"/>
                    <a:pt x="601" y="360"/>
                    <a:pt x="632" y="385"/>
                  </a:cubicBezTo>
                  <a:cubicBezTo>
                    <a:pt x="632" y="385"/>
                    <a:pt x="632" y="385"/>
                    <a:pt x="632" y="385"/>
                  </a:cubicBezTo>
                  <a:cubicBezTo>
                    <a:pt x="611" y="361"/>
                    <a:pt x="596" y="334"/>
                    <a:pt x="586" y="304"/>
                  </a:cubicBezTo>
                  <a:close/>
                  <a:moveTo>
                    <a:pt x="406" y="385"/>
                  </a:moveTo>
                  <a:cubicBezTo>
                    <a:pt x="403" y="388"/>
                    <a:pt x="401" y="390"/>
                    <a:pt x="399" y="392"/>
                  </a:cubicBezTo>
                  <a:cubicBezTo>
                    <a:pt x="401" y="390"/>
                    <a:pt x="403" y="388"/>
                    <a:pt x="406" y="385"/>
                  </a:cubicBezTo>
                  <a:close/>
                  <a:moveTo>
                    <a:pt x="449" y="312"/>
                  </a:moveTo>
                  <a:cubicBezTo>
                    <a:pt x="448" y="313"/>
                    <a:pt x="448" y="314"/>
                    <a:pt x="447" y="316"/>
                  </a:cubicBezTo>
                  <a:cubicBezTo>
                    <a:pt x="448" y="314"/>
                    <a:pt x="448" y="313"/>
                    <a:pt x="449" y="312"/>
                  </a:cubicBezTo>
                  <a:close/>
                  <a:moveTo>
                    <a:pt x="444" y="325"/>
                  </a:moveTo>
                  <a:cubicBezTo>
                    <a:pt x="443" y="327"/>
                    <a:pt x="442" y="328"/>
                    <a:pt x="441" y="330"/>
                  </a:cubicBezTo>
                  <a:cubicBezTo>
                    <a:pt x="442" y="328"/>
                    <a:pt x="443" y="327"/>
                    <a:pt x="444" y="325"/>
                  </a:cubicBezTo>
                  <a:close/>
                  <a:moveTo>
                    <a:pt x="437" y="338"/>
                  </a:moveTo>
                  <a:cubicBezTo>
                    <a:pt x="437" y="340"/>
                    <a:pt x="436" y="342"/>
                    <a:pt x="435" y="343"/>
                  </a:cubicBezTo>
                  <a:cubicBezTo>
                    <a:pt x="436" y="342"/>
                    <a:pt x="437" y="340"/>
                    <a:pt x="437" y="338"/>
                  </a:cubicBezTo>
                  <a:close/>
                  <a:moveTo>
                    <a:pt x="431" y="351"/>
                  </a:moveTo>
                  <a:cubicBezTo>
                    <a:pt x="429" y="353"/>
                    <a:pt x="428" y="354"/>
                    <a:pt x="427" y="356"/>
                  </a:cubicBezTo>
                  <a:cubicBezTo>
                    <a:pt x="428" y="354"/>
                    <a:pt x="429" y="353"/>
                    <a:pt x="431" y="351"/>
                  </a:cubicBezTo>
                  <a:close/>
                  <a:moveTo>
                    <a:pt x="423" y="363"/>
                  </a:moveTo>
                  <a:cubicBezTo>
                    <a:pt x="422" y="365"/>
                    <a:pt x="420" y="367"/>
                    <a:pt x="419" y="369"/>
                  </a:cubicBezTo>
                  <a:cubicBezTo>
                    <a:pt x="420" y="367"/>
                    <a:pt x="422" y="365"/>
                    <a:pt x="423" y="363"/>
                  </a:cubicBezTo>
                  <a:close/>
                  <a:moveTo>
                    <a:pt x="415" y="374"/>
                  </a:moveTo>
                  <a:cubicBezTo>
                    <a:pt x="413" y="376"/>
                    <a:pt x="411" y="379"/>
                    <a:pt x="409" y="381"/>
                  </a:cubicBezTo>
                  <a:cubicBezTo>
                    <a:pt x="411" y="379"/>
                    <a:pt x="413" y="376"/>
                    <a:pt x="415" y="374"/>
                  </a:cubicBezTo>
                  <a:close/>
                </a:path>
              </a:pathLst>
            </a:custGeom>
            <a:solidFill>
              <a:srgbClr val="0195BC"/>
            </a:solidFill>
            <a:ln>
              <a:noFill/>
            </a:ln>
            <a:effectLst/>
          </p:spPr>
          <p:txBody>
            <a:bodyPr vert="horz" wrap="square" lIns="68580" tIns="34290" rIns="68580" bIns="34290" numCol="1" anchor="t" anchorCtr="0" compatLnSpc="1">
              <a:prstTxWarp prst="textNoShape">
                <a:avLst/>
              </a:prstTxWarp>
            </a:bodyPr>
            <a:lstStyle/>
            <a:p>
              <a:endParaRPr lang="en-US" kern="0">
                <a:solidFill>
                  <a:srgbClr val="EF314C"/>
                </a:solidFill>
              </a:endParaRPr>
            </a:p>
          </p:txBody>
        </p:sp>
      </p:grpSp>
      <p:sp>
        <p:nvSpPr>
          <p:cNvPr id="13" name="TextBox 20">
            <a:extLst>
              <a:ext uri="{FF2B5EF4-FFF2-40B4-BE49-F238E27FC236}">
                <a16:creationId xmlns:a16="http://schemas.microsoft.com/office/drawing/2014/main" id="{0DE32EE3-1DE7-18F8-8B09-B288B95BF772}"/>
              </a:ext>
            </a:extLst>
          </p:cNvPr>
          <p:cNvSpPr txBox="1"/>
          <p:nvPr/>
        </p:nvSpPr>
        <p:spPr>
          <a:xfrm>
            <a:off x="6374424" y="1889497"/>
            <a:ext cx="2458845" cy="871649"/>
          </a:xfrm>
          <a:prstGeom prst="rect">
            <a:avLst/>
          </a:prstGeom>
          <a:noFill/>
        </p:spPr>
        <p:txBody>
          <a:bodyPr wrap="square" lIns="0" tIns="0" rIns="0" bIns="0" rtlCol="0">
            <a:spAutoFit/>
          </a:bodyPr>
          <a:lstStyle/>
          <a:p>
            <a:pPr>
              <a:lnSpc>
                <a:spcPct val="120000"/>
              </a:lnSpc>
            </a:pPr>
            <a:r>
              <a:rPr lang="en-US" sz="1200" dirty="0">
                <a:solidFill>
                  <a:srgbClr val="262626"/>
                </a:solidFill>
              </a:rPr>
              <a:t>Implantar o aplicativo em quantos clientes quisermos (o limite será a equipe técnica, e não o custo de licenças)</a:t>
            </a:r>
          </a:p>
        </p:txBody>
      </p:sp>
      <p:sp>
        <p:nvSpPr>
          <p:cNvPr id="14" name="TextBox 21">
            <a:extLst>
              <a:ext uri="{FF2B5EF4-FFF2-40B4-BE49-F238E27FC236}">
                <a16:creationId xmlns:a16="http://schemas.microsoft.com/office/drawing/2014/main" id="{C3B57313-899D-7C53-C62A-2F48715CAE51}"/>
              </a:ext>
            </a:extLst>
          </p:cNvPr>
          <p:cNvSpPr txBox="1"/>
          <p:nvPr/>
        </p:nvSpPr>
        <p:spPr>
          <a:xfrm>
            <a:off x="6388712" y="1347861"/>
            <a:ext cx="2592288" cy="461665"/>
          </a:xfrm>
          <a:prstGeom prst="rect">
            <a:avLst/>
          </a:prstGeom>
          <a:noFill/>
        </p:spPr>
        <p:txBody>
          <a:bodyPr wrap="square" lIns="0" tIns="0" rIns="0" bIns="0" rtlCol="0">
            <a:spAutoFit/>
          </a:bodyPr>
          <a:lstStyle/>
          <a:p>
            <a:r>
              <a:rPr lang="en-US" sz="1500" b="1">
                <a:solidFill>
                  <a:srgbClr val="71CBD0"/>
                </a:solidFill>
                <a:latin typeface="+mj-lt"/>
              </a:rPr>
              <a:t>Desenvolver uma solução de baixo custo e alta escalabilidade</a:t>
            </a:r>
          </a:p>
        </p:txBody>
      </p:sp>
      <p:sp>
        <p:nvSpPr>
          <p:cNvPr id="15" name="TextBox 25">
            <a:extLst>
              <a:ext uri="{FF2B5EF4-FFF2-40B4-BE49-F238E27FC236}">
                <a16:creationId xmlns:a16="http://schemas.microsoft.com/office/drawing/2014/main" id="{006762DB-7025-9349-7673-D65734645A85}"/>
              </a:ext>
            </a:extLst>
          </p:cNvPr>
          <p:cNvSpPr txBox="1"/>
          <p:nvPr/>
        </p:nvSpPr>
        <p:spPr>
          <a:xfrm>
            <a:off x="6408204" y="3867545"/>
            <a:ext cx="1978120" cy="650050"/>
          </a:xfrm>
          <a:prstGeom prst="rect">
            <a:avLst/>
          </a:prstGeom>
          <a:noFill/>
        </p:spPr>
        <p:txBody>
          <a:bodyPr wrap="square" lIns="0" tIns="0" rIns="0" bIns="0" rtlCol="0">
            <a:spAutoFit/>
          </a:bodyPr>
          <a:lstStyle/>
          <a:p>
            <a:pPr>
              <a:lnSpc>
                <a:spcPct val="120000"/>
              </a:lnSpc>
            </a:pPr>
            <a:r>
              <a:rPr lang="en-US" sz="1200" dirty="0">
                <a:solidFill>
                  <a:srgbClr val="262626"/>
                </a:solidFill>
              </a:rPr>
              <a:t>Nossos clientes reclamam do suporte fraco prestado </a:t>
            </a:r>
            <a:r>
              <a:rPr lang="en-US" sz="1200" dirty="0" err="1">
                <a:solidFill>
                  <a:srgbClr val="262626"/>
                </a:solidFill>
              </a:rPr>
              <a:t>pelo</a:t>
            </a:r>
            <a:r>
              <a:rPr lang="en-US" sz="1200" dirty="0">
                <a:solidFill>
                  <a:srgbClr val="262626"/>
                </a:solidFill>
              </a:rPr>
              <a:t> TGC e </a:t>
            </a:r>
            <a:r>
              <a:rPr lang="en-US" sz="1200" dirty="0" err="1">
                <a:solidFill>
                  <a:srgbClr val="262626"/>
                </a:solidFill>
              </a:rPr>
              <a:t>concorrentes</a:t>
            </a:r>
            <a:r>
              <a:rPr lang="en-US" sz="1200" dirty="0">
                <a:solidFill>
                  <a:srgbClr val="262626"/>
                </a:solidFill>
              </a:rPr>
              <a:t>.</a:t>
            </a:r>
          </a:p>
        </p:txBody>
      </p:sp>
      <p:sp>
        <p:nvSpPr>
          <p:cNvPr id="16" name="TextBox 26">
            <a:extLst>
              <a:ext uri="{FF2B5EF4-FFF2-40B4-BE49-F238E27FC236}">
                <a16:creationId xmlns:a16="http://schemas.microsoft.com/office/drawing/2014/main" id="{0D20618E-2F69-5DBF-DC5A-BD6C1AF8CCD2}"/>
              </a:ext>
            </a:extLst>
          </p:cNvPr>
          <p:cNvSpPr txBox="1"/>
          <p:nvPr/>
        </p:nvSpPr>
        <p:spPr>
          <a:xfrm>
            <a:off x="6408205" y="3229445"/>
            <a:ext cx="2592288" cy="461665"/>
          </a:xfrm>
          <a:prstGeom prst="rect">
            <a:avLst/>
          </a:prstGeom>
          <a:noFill/>
        </p:spPr>
        <p:txBody>
          <a:bodyPr wrap="square" lIns="0" tIns="0" rIns="0" bIns="0" rtlCol="0">
            <a:spAutoFit/>
          </a:bodyPr>
          <a:lstStyle/>
          <a:p>
            <a:r>
              <a:rPr lang="en-US" sz="1500" b="1" dirty="0">
                <a:solidFill>
                  <a:srgbClr val="26B2CE"/>
                </a:solidFill>
                <a:latin typeface="+mj-lt"/>
              </a:rPr>
              <a:t>Eliminar dependência de fornecedor mediano</a:t>
            </a:r>
          </a:p>
        </p:txBody>
      </p:sp>
      <p:sp>
        <p:nvSpPr>
          <p:cNvPr id="17" name="TextBox 27">
            <a:extLst>
              <a:ext uri="{FF2B5EF4-FFF2-40B4-BE49-F238E27FC236}">
                <a16:creationId xmlns:a16="http://schemas.microsoft.com/office/drawing/2014/main" id="{65AB0A70-C072-8358-3AC8-1C95A7B8F884}"/>
              </a:ext>
            </a:extLst>
          </p:cNvPr>
          <p:cNvSpPr txBox="1"/>
          <p:nvPr/>
        </p:nvSpPr>
        <p:spPr>
          <a:xfrm>
            <a:off x="569978" y="2072733"/>
            <a:ext cx="1978120" cy="428451"/>
          </a:xfrm>
          <a:prstGeom prst="rect">
            <a:avLst/>
          </a:prstGeom>
          <a:noFill/>
        </p:spPr>
        <p:txBody>
          <a:bodyPr wrap="square" lIns="0" tIns="0" rIns="0" bIns="0" rtlCol="0">
            <a:spAutoFit/>
          </a:bodyPr>
          <a:lstStyle/>
          <a:p>
            <a:pPr algn="r">
              <a:lnSpc>
                <a:spcPct val="120000"/>
              </a:lnSpc>
            </a:pPr>
            <a:r>
              <a:rPr lang="en-US" sz="1200">
                <a:solidFill>
                  <a:srgbClr val="262626"/>
                </a:solidFill>
              </a:rPr>
              <a:t>Aumentar a fidelização e evitar a perda de clientes atuais.</a:t>
            </a:r>
          </a:p>
        </p:txBody>
      </p:sp>
      <p:sp>
        <p:nvSpPr>
          <p:cNvPr id="18" name="TextBox 28">
            <a:extLst>
              <a:ext uri="{FF2B5EF4-FFF2-40B4-BE49-F238E27FC236}">
                <a16:creationId xmlns:a16="http://schemas.microsoft.com/office/drawing/2014/main" id="{7EA496D5-2865-7AB8-CF40-A0BCEAD74FB0}"/>
              </a:ext>
            </a:extLst>
          </p:cNvPr>
          <p:cNvSpPr txBox="1"/>
          <p:nvPr/>
        </p:nvSpPr>
        <p:spPr>
          <a:xfrm>
            <a:off x="305526" y="1599642"/>
            <a:ext cx="2236829" cy="461665"/>
          </a:xfrm>
          <a:prstGeom prst="rect">
            <a:avLst/>
          </a:prstGeom>
          <a:noFill/>
        </p:spPr>
        <p:txBody>
          <a:bodyPr wrap="square" lIns="0" tIns="0" rIns="0" bIns="0" rtlCol="0">
            <a:spAutoFit/>
          </a:bodyPr>
          <a:lstStyle/>
          <a:p>
            <a:pPr algn="r"/>
            <a:r>
              <a:rPr lang="en-US" sz="1500" b="1">
                <a:solidFill>
                  <a:srgbClr val="246C97"/>
                </a:solidFill>
                <a:latin typeface="+mj-lt"/>
              </a:rPr>
              <a:t>Defender nossa base atual de clientes</a:t>
            </a:r>
          </a:p>
        </p:txBody>
      </p:sp>
      <p:sp>
        <p:nvSpPr>
          <p:cNvPr id="19" name="TextBox 29">
            <a:extLst>
              <a:ext uri="{FF2B5EF4-FFF2-40B4-BE49-F238E27FC236}">
                <a16:creationId xmlns:a16="http://schemas.microsoft.com/office/drawing/2014/main" id="{87DFAB21-AA01-672C-1D5A-ABD8C49B1B00}"/>
              </a:ext>
            </a:extLst>
          </p:cNvPr>
          <p:cNvSpPr txBox="1"/>
          <p:nvPr/>
        </p:nvSpPr>
        <p:spPr>
          <a:xfrm>
            <a:off x="564235" y="3541781"/>
            <a:ext cx="1978120" cy="1314847"/>
          </a:xfrm>
          <a:prstGeom prst="rect">
            <a:avLst/>
          </a:prstGeom>
          <a:noFill/>
        </p:spPr>
        <p:txBody>
          <a:bodyPr wrap="square" lIns="0" tIns="0" rIns="0" bIns="0" rtlCol="0">
            <a:spAutoFit/>
          </a:bodyPr>
          <a:lstStyle/>
          <a:p>
            <a:pPr algn="r">
              <a:lnSpc>
                <a:spcPct val="120000"/>
              </a:lnSpc>
            </a:pPr>
            <a:r>
              <a:rPr lang="en-US" sz="1200" dirty="0">
                <a:solidFill>
                  <a:srgbClr val="262626"/>
                </a:solidFill>
              </a:rPr>
              <a:t>Já temos produtos premium e serviços técnicos. Com o Feedlot App, conseguiremos entrar nos clientes de confinamento mais importantes do mercado.</a:t>
            </a:r>
          </a:p>
        </p:txBody>
      </p:sp>
      <p:sp>
        <p:nvSpPr>
          <p:cNvPr id="20" name="TextBox 30">
            <a:extLst>
              <a:ext uri="{FF2B5EF4-FFF2-40B4-BE49-F238E27FC236}">
                <a16:creationId xmlns:a16="http://schemas.microsoft.com/office/drawing/2014/main" id="{2C52DD92-2745-AB80-0615-62A45B3FCD48}"/>
              </a:ext>
            </a:extLst>
          </p:cNvPr>
          <p:cNvSpPr txBox="1"/>
          <p:nvPr/>
        </p:nvSpPr>
        <p:spPr>
          <a:xfrm>
            <a:off x="616122" y="3229445"/>
            <a:ext cx="1926233" cy="230832"/>
          </a:xfrm>
          <a:prstGeom prst="rect">
            <a:avLst/>
          </a:prstGeom>
          <a:noFill/>
        </p:spPr>
        <p:txBody>
          <a:bodyPr wrap="none" lIns="0" tIns="0" rIns="0" bIns="0" rtlCol="0">
            <a:spAutoFit/>
          </a:bodyPr>
          <a:lstStyle/>
          <a:p>
            <a:pPr algn="r"/>
            <a:r>
              <a:rPr lang="en-US" sz="1500" b="1">
                <a:solidFill>
                  <a:srgbClr val="0195BC"/>
                </a:solidFill>
                <a:latin typeface="+mj-lt"/>
              </a:rPr>
              <a:t>Prospectar novos clientes</a:t>
            </a:r>
          </a:p>
        </p:txBody>
      </p:sp>
      <p:cxnSp>
        <p:nvCxnSpPr>
          <p:cNvPr id="22" name="Straight Connector 34">
            <a:extLst>
              <a:ext uri="{FF2B5EF4-FFF2-40B4-BE49-F238E27FC236}">
                <a16:creationId xmlns:a16="http://schemas.microsoft.com/office/drawing/2014/main" id="{94BF73D8-0424-58C7-23B6-3CC7C8F0CA34}"/>
              </a:ext>
            </a:extLst>
          </p:cNvPr>
          <p:cNvCxnSpPr>
            <a:cxnSpLocks/>
          </p:cNvCxnSpPr>
          <p:nvPr/>
        </p:nvCxnSpPr>
        <p:spPr>
          <a:xfrm>
            <a:off x="6408205"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37">
            <a:extLst>
              <a:ext uri="{FF2B5EF4-FFF2-40B4-BE49-F238E27FC236}">
                <a16:creationId xmlns:a16="http://schemas.microsoft.com/office/drawing/2014/main" id="{D20B563F-0D01-910A-1D9F-97DCCC1161B8}"/>
              </a:ext>
            </a:extLst>
          </p:cNvPr>
          <p:cNvCxnSpPr>
            <a:cxnSpLocks/>
          </p:cNvCxnSpPr>
          <p:nvPr/>
        </p:nvCxnSpPr>
        <p:spPr>
          <a:xfrm>
            <a:off x="664248"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Shield variant with white and black borders - Free shapes icons">
            <a:extLst>
              <a:ext uri="{FF2B5EF4-FFF2-40B4-BE49-F238E27FC236}">
                <a16:creationId xmlns:a16="http://schemas.microsoft.com/office/drawing/2014/main" id="{C1EA4ECB-8456-58D9-9368-181B11F08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74"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ttack - Free gaming icons">
            <a:extLst>
              <a:ext uri="{FF2B5EF4-FFF2-40B4-BE49-F238E27FC236}">
                <a16:creationId xmlns:a16="http://schemas.microsoft.com/office/drawing/2014/main" id="{49F54663-4F8E-A609-6967-4E8B8F2F3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99" y="3402032"/>
            <a:ext cx="509938" cy="509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alability Icon - Free PNG &amp; SVG 1988846 - Noun Project">
            <a:extLst>
              <a:ext uri="{FF2B5EF4-FFF2-40B4-BE49-F238E27FC236}">
                <a16:creationId xmlns:a16="http://schemas.microsoft.com/office/drawing/2014/main" id="{249122A5-1823-7A1B-0802-DA6E241C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520"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pendencies - Free networking icons">
            <a:extLst>
              <a:ext uri="{FF2B5EF4-FFF2-40B4-BE49-F238E27FC236}">
                <a16:creationId xmlns:a16="http://schemas.microsoft.com/office/drawing/2014/main" id="{8DAD9F1F-F22A-86FD-B87B-5E6534475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1099" y="3340064"/>
            <a:ext cx="629546" cy="62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006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Proposta de valor: canvas para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Lado esquerdo: o que entregamos. Lado direito: o que o confinamento precisa. Hipóteses para 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35</a:t>
            </a:r>
            <a:endParaRPr lang="en-US" sz="900" dirty="0"/>
          </a:p>
        </p:txBody>
      </p:sp>
      <p:sp>
        <p:nvSpPr>
          <p:cNvPr id="6" name="Text 3"/>
          <p:cNvSpPr/>
          <p:nvPr/>
        </p:nvSpPr>
        <p:spPr>
          <a:xfrm>
            <a:off x="457200" y="1097280"/>
            <a:ext cx="3840480" cy="228600"/>
          </a:xfrm>
          <a:prstGeom prst="rect">
            <a:avLst/>
          </a:prstGeom>
          <a:noFill/>
          <a:ln/>
        </p:spPr>
        <p:txBody>
          <a:bodyPr wrap="square" lIns="0" tIns="0" rIns="0" bIns="0" rtlCol="0" anchor="t"/>
          <a:lstStyle/>
          <a:p>
            <a:pPr marL="0" indent="0">
              <a:buNone/>
            </a:pPr>
            <a:r>
              <a:rPr lang="en-US" sz="1000" b="1" kern="0" spc="200" dirty="0">
                <a:solidFill>
                  <a:srgbClr val="1B3A8C"/>
                </a:solidFill>
                <a:latin typeface="Calibri" pitchFamily="34" charset="0"/>
                <a:ea typeface="Calibri" pitchFamily="34" charset="-122"/>
                <a:cs typeface="Calibri" pitchFamily="34" charset="-120"/>
              </a:rPr>
              <a:t>MAPA DE VALOR</a:t>
            </a:r>
            <a:endParaRPr lang="en-US" sz="1000" dirty="0"/>
          </a:p>
        </p:txBody>
      </p:sp>
      <p:sp>
        <p:nvSpPr>
          <p:cNvPr id="7" name="Text 4"/>
          <p:cNvSpPr/>
          <p:nvPr/>
        </p:nvSpPr>
        <p:spPr>
          <a:xfrm>
            <a:off x="4846320" y="1097280"/>
            <a:ext cx="3840480" cy="228600"/>
          </a:xfrm>
          <a:prstGeom prst="rect">
            <a:avLst/>
          </a:prstGeom>
          <a:noFill/>
          <a:ln/>
        </p:spPr>
        <p:txBody>
          <a:bodyPr wrap="square" lIns="0" tIns="0" rIns="0" bIns="0" rtlCol="0" anchor="t"/>
          <a:lstStyle/>
          <a:p>
            <a:pPr marL="0" indent="0">
              <a:buNone/>
            </a:pPr>
            <a:r>
              <a:rPr lang="en-US" sz="1000" b="1" kern="0" spc="200" dirty="0">
                <a:solidFill>
                  <a:srgbClr val="C8106E"/>
                </a:solidFill>
                <a:latin typeface="Calibri" pitchFamily="34" charset="0"/>
                <a:ea typeface="Calibri" pitchFamily="34" charset="-122"/>
                <a:cs typeface="Calibri" pitchFamily="34" charset="-120"/>
              </a:rPr>
              <a:t>PERFIL DO CLIENTE</a:t>
            </a:r>
            <a:endParaRPr lang="en-US" sz="1000" dirty="0"/>
          </a:p>
        </p:txBody>
      </p:sp>
      <p:sp>
        <p:nvSpPr>
          <p:cNvPr id="8" name="Shape 5"/>
          <p:cNvSpPr/>
          <p:nvPr/>
        </p:nvSpPr>
        <p:spPr>
          <a:xfrm>
            <a:off x="457200" y="1371600"/>
            <a:ext cx="1783080" cy="2926080"/>
          </a:xfrm>
          <a:prstGeom prst="rect">
            <a:avLst/>
          </a:prstGeom>
          <a:solidFill>
            <a:srgbClr val="FFFFFF"/>
          </a:solidFill>
          <a:ln w="12700">
            <a:solidFill>
              <a:srgbClr val="1B3A8C"/>
            </a:solidFill>
            <a:prstDash val="solid"/>
          </a:ln>
        </p:spPr>
        <p:txBody>
          <a:bodyPr/>
          <a:lstStyle/>
          <a:p>
            <a:endParaRPr lang="pt-BR"/>
          </a:p>
        </p:txBody>
      </p:sp>
      <p:sp>
        <p:nvSpPr>
          <p:cNvPr id="9" name="Shape 6"/>
          <p:cNvSpPr/>
          <p:nvPr/>
        </p:nvSpPr>
        <p:spPr>
          <a:xfrm>
            <a:off x="457200" y="1371600"/>
            <a:ext cx="1783080" cy="274320"/>
          </a:xfrm>
          <a:prstGeom prst="rect">
            <a:avLst/>
          </a:prstGeom>
          <a:solidFill>
            <a:srgbClr val="1B3A8C"/>
          </a:solidFill>
          <a:ln/>
        </p:spPr>
        <p:txBody>
          <a:bodyPr/>
          <a:lstStyle/>
          <a:p>
            <a:endParaRPr lang="pt-BR"/>
          </a:p>
        </p:txBody>
      </p:sp>
      <p:sp>
        <p:nvSpPr>
          <p:cNvPr id="10" name="Text 7"/>
          <p:cNvSpPr/>
          <p:nvPr/>
        </p:nvSpPr>
        <p:spPr>
          <a:xfrm>
            <a:off x="54864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Produto e serviço</a:t>
            </a:r>
            <a:endParaRPr lang="en-US" sz="1050" dirty="0"/>
          </a:p>
        </p:txBody>
      </p:sp>
      <p:sp>
        <p:nvSpPr>
          <p:cNvPr id="11" name="Text 8"/>
          <p:cNvSpPr/>
          <p:nvPr/>
        </p:nvSpPr>
        <p:spPr>
          <a:xfrm>
            <a:off x="51206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Aplicação web com lançamento manual</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Painel com poucos indicadores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semanal automático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Acompanhamento do técnico TN</a:t>
            </a:r>
            <a:endParaRPr lang="en-US" sz="900" dirty="0"/>
          </a:p>
        </p:txBody>
      </p:sp>
      <p:sp>
        <p:nvSpPr>
          <p:cNvPr id="12" name="Shape 9"/>
          <p:cNvSpPr/>
          <p:nvPr/>
        </p:nvSpPr>
        <p:spPr>
          <a:xfrm>
            <a:off x="2331720" y="1371600"/>
            <a:ext cx="1965960" cy="1417320"/>
          </a:xfrm>
          <a:prstGeom prst="rect">
            <a:avLst/>
          </a:prstGeom>
          <a:solidFill>
            <a:srgbClr val="FFFFFF"/>
          </a:solidFill>
          <a:ln w="12700">
            <a:solidFill>
              <a:srgbClr val="26668F"/>
            </a:solidFill>
            <a:prstDash val="solid"/>
          </a:ln>
        </p:spPr>
        <p:txBody>
          <a:bodyPr/>
          <a:lstStyle/>
          <a:p>
            <a:endParaRPr lang="pt-BR"/>
          </a:p>
        </p:txBody>
      </p:sp>
      <p:sp>
        <p:nvSpPr>
          <p:cNvPr id="13" name="Shape 10"/>
          <p:cNvSpPr/>
          <p:nvPr/>
        </p:nvSpPr>
        <p:spPr>
          <a:xfrm>
            <a:off x="2331720" y="1371600"/>
            <a:ext cx="1965960" cy="274320"/>
          </a:xfrm>
          <a:prstGeom prst="rect">
            <a:avLst/>
          </a:prstGeom>
          <a:solidFill>
            <a:srgbClr val="26668F"/>
          </a:solidFill>
          <a:ln/>
        </p:spPr>
        <p:txBody>
          <a:bodyPr/>
          <a:lstStyle/>
          <a:p>
            <a:endParaRPr lang="pt-BR"/>
          </a:p>
        </p:txBody>
      </p:sp>
      <p:sp>
        <p:nvSpPr>
          <p:cNvPr id="14" name="Text 11"/>
          <p:cNvSpPr/>
          <p:nvPr/>
        </p:nvSpPr>
        <p:spPr>
          <a:xfrm>
            <a:off x="24231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Aliviadores de dor</a:t>
            </a:r>
            <a:endParaRPr lang="en-US" sz="1050" dirty="0"/>
          </a:p>
        </p:txBody>
      </p:sp>
      <p:sp>
        <p:nvSpPr>
          <p:cNvPr id="15" name="Text 12"/>
          <p:cNvSpPr/>
          <p:nvPr/>
        </p:nvSpPr>
        <p:spPr>
          <a:xfrm>
            <a:off x="23865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Formulários padronizados e curtos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custo de licença para o cliente</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Suporte de quem já visita a fazenda</a:t>
            </a:r>
            <a:endParaRPr lang="en-US" sz="900" dirty="0"/>
          </a:p>
        </p:txBody>
      </p:sp>
      <p:sp>
        <p:nvSpPr>
          <p:cNvPr id="16" name="Shape 13"/>
          <p:cNvSpPr/>
          <p:nvPr/>
        </p:nvSpPr>
        <p:spPr>
          <a:xfrm>
            <a:off x="2331720" y="2880360"/>
            <a:ext cx="1965960" cy="1417320"/>
          </a:xfrm>
          <a:prstGeom prst="rect">
            <a:avLst/>
          </a:prstGeom>
          <a:solidFill>
            <a:srgbClr val="FFFFFF"/>
          </a:solidFill>
          <a:ln w="12700">
            <a:solidFill>
              <a:srgbClr val="0096B4"/>
            </a:solidFill>
            <a:prstDash val="solid"/>
          </a:ln>
        </p:spPr>
        <p:txBody>
          <a:bodyPr/>
          <a:lstStyle/>
          <a:p>
            <a:endParaRPr lang="pt-BR"/>
          </a:p>
        </p:txBody>
      </p:sp>
      <p:sp>
        <p:nvSpPr>
          <p:cNvPr id="17" name="Shape 14"/>
          <p:cNvSpPr/>
          <p:nvPr/>
        </p:nvSpPr>
        <p:spPr>
          <a:xfrm>
            <a:off x="2331720" y="2880360"/>
            <a:ext cx="1965960" cy="274320"/>
          </a:xfrm>
          <a:prstGeom prst="rect">
            <a:avLst/>
          </a:prstGeom>
          <a:solidFill>
            <a:srgbClr val="0096B4"/>
          </a:solidFill>
          <a:ln/>
        </p:spPr>
        <p:txBody>
          <a:bodyPr/>
          <a:lstStyle/>
          <a:p>
            <a:endParaRPr lang="pt-BR"/>
          </a:p>
        </p:txBody>
      </p:sp>
      <p:sp>
        <p:nvSpPr>
          <p:cNvPr id="18" name="Text 15"/>
          <p:cNvSpPr/>
          <p:nvPr/>
        </p:nvSpPr>
        <p:spPr>
          <a:xfrm>
            <a:off x="24231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Criadores de ganho</a:t>
            </a:r>
            <a:endParaRPr lang="en-US" sz="1050" dirty="0"/>
          </a:p>
        </p:txBody>
      </p:sp>
      <p:sp>
        <p:nvSpPr>
          <p:cNvPr id="19" name="Text 16"/>
          <p:cNvSpPr/>
          <p:nvPr/>
        </p:nvSpPr>
        <p:spPr>
          <a:xfrm>
            <a:off x="23865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pronto para o dono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Recomendação de ajuste de dieta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Comparativo entre lotes</a:t>
            </a:r>
            <a:endParaRPr lang="en-US" sz="900" dirty="0"/>
          </a:p>
        </p:txBody>
      </p:sp>
      <p:sp>
        <p:nvSpPr>
          <p:cNvPr id="20" name="Shape 17"/>
          <p:cNvSpPr/>
          <p:nvPr/>
        </p:nvSpPr>
        <p:spPr>
          <a:xfrm>
            <a:off x="4846320" y="1371600"/>
            <a:ext cx="1965960" cy="1417320"/>
          </a:xfrm>
          <a:prstGeom prst="rect">
            <a:avLst/>
          </a:prstGeom>
          <a:solidFill>
            <a:srgbClr val="FFFFFF"/>
          </a:solidFill>
          <a:ln w="12700">
            <a:solidFill>
              <a:srgbClr val="C8106E"/>
            </a:solidFill>
            <a:prstDash val="solid"/>
          </a:ln>
        </p:spPr>
        <p:txBody>
          <a:bodyPr/>
          <a:lstStyle/>
          <a:p>
            <a:endParaRPr lang="pt-BR"/>
          </a:p>
        </p:txBody>
      </p:sp>
      <p:sp>
        <p:nvSpPr>
          <p:cNvPr id="21" name="Shape 18"/>
          <p:cNvSpPr/>
          <p:nvPr/>
        </p:nvSpPr>
        <p:spPr>
          <a:xfrm>
            <a:off x="4846320" y="1371600"/>
            <a:ext cx="1965960" cy="274320"/>
          </a:xfrm>
          <a:prstGeom prst="rect">
            <a:avLst/>
          </a:prstGeom>
          <a:solidFill>
            <a:srgbClr val="C8106E"/>
          </a:solidFill>
          <a:ln/>
        </p:spPr>
        <p:txBody>
          <a:bodyPr/>
          <a:lstStyle/>
          <a:p>
            <a:endParaRPr lang="pt-BR"/>
          </a:p>
        </p:txBody>
      </p:sp>
      <p:sp>
        <p:nvSpPr>
          <p:cNvPr id="22" name="Text 19"/>
          <p:cNvSpPr/>
          <p:nvPr/>
        </p:nvSpPr>
        <p:spPr>
          <a:xfrm>
            <a:off x="49377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Dores</a:t>
            </a:r>
            <a:endParaRPr lang="en-US" sz="1050" dirty="0"/>
          </a:p>
        </p:txBody>
      </p:sp>
      <p:sp>
        <p:nvSpPr>
          <p:cNvPr id="23" name="Text 20"/>
          <p:cNvSpPr/>
          <p:nvPr/>
        </p:nvSpPr>
        <p:spPr>
          <a:xfrm>
            <a:off x="49011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Dados espalhados em caderno e planilha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Erro de digitação e retrabalho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Software caro, complexo ou sem suporte</a:t>
            </a:r>
            <a:endParaRPr lang="en-US" sz="900" dirty="0"/>
          </a:p>
        </p:txBody>
      </p:sp>
      <p:sp>
        <p:nvSpPr>
          <p:cNvPr id="24" name="Shape 21"/>
          <p:cNvSpPr/>
          <p:nvPr/>
        </p:nvSpPr>
        <p:spPr>
          <a:xfrm>
            <a:off x="4846320" y="2880360"/>
            <a:ext cx="1965960" cy="1417320"/>
          </a:xfrm>
          <a:prstGeom prst="rect">
            <a:avLst/>
          </a:prstGeom>
          <a:solidFill>
            <a:srgbClr val="FFFFFF"/>
          </a:solidFill>
          <a:ln w="12700">
            <a:solidFill>
              <a:srgbClr val="A30C5A"/>
            </a:solidFill>
            <a:prstDash val="solid"/>
          </a:ln>
        </p:spPr>
        <p:txBody>
          <a:bodyPr/>
          <a:lstStyle/>
          <a:p>
            <a:endParaRPr lang="pt-BR"/>
          </a:p>
        </p:txBody>
      </p:sp>
      <p:sp>
        <p:nvSpPr>
          <p:cNvPr id="25" name="Shape 22"/>
          <p:cNvSpPr/>
          <p:nvPr/>
        </p:nvSpPr>
        <p:spPr>
          <a:xfrm>
            <a:off x="4846320" y="2880360"/>
            <a:ext cx="1965960" cy="274320"/>
          </a:xfrm>
          <a:prstGeom prst="rect">
            <a:avLst/>
          </a:prstGeom>
          <a:solidFill>
            <a:srgbClr val="A30C5A"/>
          </a:solidFill>
          <a:ln/>
        </p:spPr>
        <p:txBody>
          <a:bodyPr/>
          <a:lstStyle/>
          <a:p>
            <a:endParaRPr lang="pt-BR"/>
          </a:p>
        </p:txBody>
      </p:sp>
      <p:sp>
        <p:nvSpPr>
          <p:cNvPr id="26" name="Text 23"/>
          <p:cNvSpPr/>
          <p:nvPr/>
        </p:nvSpPr>
        <p:spPr>
          <a:xfrm>
            <a:off x="49377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Ganhos esperados</a:t>
            </a:r>
            <a:endParaRPr lang="en-US" sz="1050" dirty="0"/>
          </a:p>
        </p:txBody>
      </p:sp>
      <p:sp>
        <p:nvSpPr>
          <p:cNvPr id="27" name="Text 24"/>
          <p:cNvSpPr/>
          <p:nvPr/>
        </p:nvSpPr>
        <p:spPr>
          <a:xfrm>
            <a:off x="49011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Ver o desempenho do lote na semana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Comparar com fazendas parecidas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Um técnico olhando os números junto</a:t>
            </a:r>
            <a:endParaRPr lang="en-US" sz="900" dirty="0"/>
          </a:p>
        </p:txBody>
      </p:sp>
      <p:sp>
        <p:nvSpPr>
          <p:cNvPr id="28" name="Shape 25"/>
          <p:cNvSpPr/>
          <p:nvPr/>
        </p:nvSpPr>
        <p:spPr>
          <a:xfrm>
            <a:off x="6903720" y="1371600"/>
            <a:ext cx="1783080" cy="2926080"/>
          </a:xfrm>
          <a:prstGeom prst="rect">
            <a:avLst/>
          </a:prstGeom>
          <a:solidFill>
            <a:srgbClr val="FFFFFF"/>
          </a:solidFill>
          <a:ln w="12700">
            <a:solidFill>
              <a:srgbClr val="12295F"/>
            </a:solidFill>
            <a:prstDash val="solid"/>
          </a:ln>
        </p:spPr>
        <p:txBody>
          <a:bodyPr/>
          <a:lstStyle/>
          <a:p>
            <a:endParaRPr lang="pt-BR"/>
          </a:p>
        </p:txBody>
      </p:sp>
      <p:sp>
        <p:nvSpPr>
          <p:cNvPr id="29" name="Shape 26"/>
          <p:cNvSpPr/>
          <p:nvPr/>
        </p:nvSpPr>
        <p:spPr>
          <a:xfrm>
            <a:off x="6903720" y="1371600"/>
            <a:ext cx="1783080" cy="274320"/>
          </a:xfrm>
          <a:prstGeom prst="rect">
            <a:avLst/>
          </a:prstGeom>
          <a:solidFill>
            <a:srgbClr val="12295F"/>
          </a:solidFill>
          <a:ln/>
        </p:spPr>
        <p:txBody>
          <a:bodyPr/>
          <a:lstStyle/>
          <a:p>
            <a:endParaRPr lang="pt-BR"/>
          </a:p>
        </p:txBody>
      </p:sp>
      <p:sp>
        <p:nvSpPr>
          <p:cNvPr id="30" name="Text 27"/>
          <p:cNvSpPr/>
          <p:nvPr/>
        </p:nvSpPr>
        <p:spPr>
          <a:xfrm>
            <a:off x="699516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Tarefas do cliente</a:t>
            </a:r>
            <a:endParaRPr lang="en-US" sz="1050" dirty="0"/>
          </a:p>
        </p:txBody>
      </p:sp>
      <p:sp>
        <p:nvSpPr>
          <p:cNvPr id="31" name="Text 28"/>
          <p:cNvSpPr/>
          <p:nvPr/>
        </p:nvSpPr>
        <p:spPr>
          <a:xfrm>
            <a:off x="695858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Ajustar o trato diário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Fechar custo por lote e por arroba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Controlar entradas, saídas e mortes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Prestar contas ao dono ou sócio</a:t>
            </a:r>
            <a:endParaRPr lang="en-US" sz="900" dirty="0"/>
          </a:p>
        </p:txBody>
      </p:sp>
      <p:sp>
        <p:nvSpPr>
          <p:cNvPr id="32" name="Shape 29"/>
          <p:cNvSpPr/>
          <p:nvPr/>
        </p:nvSpPr>
        <p:spPr>
          <a:xfrm>
            <a:off x="4325112" y="2578608"/>
            <a:ext cx="502920" cy="502920"/>
          </a:xfrm>
          <a:prstGeom prst="ellipse">
            <a:avLst/>
          </a:prstGeom>
          <a:solidFill>
            <a:srgbClr val="C5D300"/>
          </a:solidFill>
          <a:ln/>
        </p:spPr>
        <p:txBody>
          <a:bodyPr/>
          <a:lstStyle/>
          <a:p>
            <a:endParaRPr lang="pt-BR"/>
          </a:p>
        </p:txBody>
      </p:sp>
      <p:sp>
        <p:nvSpPr>
          <p:cNvPr id="33" name="Text 30"/>
          <p:cNvSpPr/>
          <p:nvPr/>
        </p:nvSpPr>
        <p:spPr>
          <a:xfrm>
            <a:off x="4325112" y="2578608"/>
            <a:ext cx="502920" cy="502920"/>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FIT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Duas versões, dois papéis na estratégia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TN Manager Web abre a porta e prepara o cliente para migrar à versão completa.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26</a:t>
            </a:r>
            <a:endParaRPr lang="en-US" sz="900" dirty="0"/>
          </a:p>
        </p:txBody>
      </p:sp>
      <p:sp>
        <p:nvSpPr>
          <p:cNvPr id="6" name="Text 3"/>
          <p:cNvSpPr/>
          <p:nvPr/>
        </p:nvSpPr>
        <p:spPr>
          <a:xfrm>
            <a:off x="2148840" y="1143000"/>
            <a:ext cx="3200400" cy="365760"/>
          </a:xfrm>
          <a:prstGeom prst="rect">
            <a:avLst/>
          </a:prstGeom>
          <a:solidFill>
            <a:srgbClr val="26668F"/>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(escopo da v1.0)</a:t>
            </a:r>
            <a:endParaRPr lang="en-US" sz="1300" dirty="0"/>
          </a:p>
        </p:txBody>
      </p:sp>
      <p:sp>
        <p:nvSpPr>
          <p:cNvPr id="7" name="Text 4"/>
          <p:cNvSpPr/>
          <p:nvPr/>
        </p:nvSpPr>
        <p:spPr>
          <a:xfrm>
            <a:off x="5486400" y="1143000"/>
            <a:ext cx="3200400" cy="365760"/>
          </a:xfrm>
          <a:prstGeom prst="rect">
            <a:avLst/>
          </a:prstGeom>
          <a:solidFill>
            <a:srgbClr val="C810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Web (proposta v2.0)</a:t>
            </a:r>
            <a:endParaRPr lang="en-US" sz="1300" dirty="0"/>
          </a:p>
        </p:txBody>
      </p:sp>
      <p:sp>
        <p:nvSpPr>
          <p:cNvPr id="8" name="Shape 5"/>
          <p:cNvSpPr/>
          <p:nvPr/>
        </p:nvSpPr>
        <p:spPr>
          <a:xfrm>
            <a:off x="457200" y="1600200"/>
            <a:ext cx="8229600" cy="420624"/>
          </a:xfrm>
          <a:prstGeom prst="rect">
            <a:avLst/>
          </a:prstGeom>
          <a:solidFill>
            <a:srgbClr val="F4F6F8"/>
          </a:solidFill>
          <a:ln/>
        </p:spPr>
        <p:txBody>
          <a:bodyPr/>
          <a:lstStyle/>
          <a:p>
            <a:endParaRPr lang="pt-BR"/>
          </a:p>
        </p:txBody>
      </p:sp>
      <p:sp>
        <p:nvSpPr>
          <p:cNvPr id="9" name="Text 6"/>
          <p:cNvSpPr/>
          <p:nvPr/>
        </p:nvSpPr>
        <p:spPr>
          <a:xfrm>
            <a:off x="548640" y="1600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Para quem</a:t>
            </a:r>
            <a:endParaRPr lang="en-US" sz="1050" dirty="0"/>
          </a:p>
        </p:txBody>
      </p:sp>
      <p:sp>
        <p:nvSpPr>
          <p:cNvPr id="10" name="Text 7"/>
          <p:cNvSpPr/>
          <p:nvPr/>
        </p:nvSpPr>
        <p:spPr>
          <a:xfrm>
            <a:off x="2240280" y="1600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Grandes confinamentos com balança, vagão e equipe estruturada</a:t>
            </a:r>
            <a:endParaRPr lang="en-US" sz="1000" dirty="0"/>
          </a:p>
        </p:txBody>
      </p:sp>
      <p:sp>
        <p:nvSpPr>
          <p:cNvPr id="11" name="Text 8"/>
          <p:cNvSpPr/>
          <p:nvPr/>
        </p:nvSpPr>
        <p:spPr>
          <a:xfrm>
            <a:off x="5577840" y="1600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Confinamentos com registro manual (hipótese)</a:t>
            </a:r>
            <a:endParaRPr lang="en-US" sz="1000" dirty="0"/>
          </a:p>
        </p:txBody>
      </p:sp>
      <p:sp>
        <p:nvSpPr>
          <p:cNvPr id="12" name="Text 9"/>
          <p:cNvSpPr/>
          <p:nvPr/>
        </p:nvSpPr>
        <p:spPr>
          <a:xfrm>
            <a:off x="548640" y="20574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Entrada de dados</a:t>
            </a:r>
            <a:endParaRPr lang="en-US" sz="1050" dirty="0"/>
          </a:p>
        </p:txBody>
      </p:sp>
      <p:sp>
        <p:nvSpPr>
          <p:cNvPr id="13" name="Text 10"/>
          <p:cNvSpPr/>
          <p:nvPr/>
        </p:nvSpPr>
        <p:spPr>
          <a:xfrm>
            <a:off x="2240280" y="20574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Integração com hardware e coleta automática</a:t>
            </a:r>
            <a:endParaRPr lang="en-US" sz="1000" dirty="0"/>
          </a:p>
        </p:txBody>
      </p:sp>
      <p:sp>
        <p:nvSpPr>
          <p:cNvPr id="14" name="Text 11"/>
          <p:cNvSpPr/>
          <p:nvPr/>
        </p:nvSpPr>
        <p:spPr>
          <a:xfrm>
            <a:off x="5577840" y="2057400"/>
            <a:ext cx="3017520" cy="420624"/>
          </a:xfrm>
          <a:prstGeom prst="rect">
            <a:avLst/>
          </a:prstGeom>
          <a:noFill/>
          <a:ln/>
        </p:spPr>
        <p:txBody>
          <a:bodyPr wrap="square" lIns="0" tIns="0" rIns="0" bIns="0" rtlCol="0" anchor="ctr"/>
          <a:lstStyle/>
          <a:p>
            <a:pPr marL="0" indent="0">
              <a:buNone/>
            </a:pPr>
            <a:r>
              <a:rPr lang="en-US" sz="1000" b="1" dirty="0" err="1">
                <a:solidFill>
                  <a:srgbClr val="1B3A8C"/>
                </a:solidFill>
                <a:latin typeface="Calibri" pitchFamily="34" charset="0"/>
                <a:ea typeface="Calibri" pitchFamily="34" charset="-122"/>
                <a:cs typeface="Calibri" pitchFamily="34" charset="-120"/>
              </a:rPr>
              <a:t>Lançamento</a:t>
            </a:r>
            <a:r>
              <a:rPr lang="en-US" sz="1000" b="1" dirty="0">
                <a:solidFill>
                  <a:srgbClr val="1B3A8C"/>
                </a:solidFill>
                <a:latin typeface="Calibri" pitchFamily="34" charset="0"/>
                <a:ea typeface="Calibri" pitchFamily="34" charset="-122"/>
                <a:cs typeface="Calibri" pitchFamily="34" charset="-120"/>
              </a:rPr>
              <a:t> manual</a:t>
            </a:r>
            <a:endParaRPr lang="en-US" sz="1000" dirty="0"/>
          </a:p>
        </p:txBody>
      </p:sp>
      <p:sp>
        <p:nvSpPr>
          <p:cNvPr id="15" name="Shape 12"/>
          <p:cNvSpPr/>
          <p:nvPr/>
        </p:nvSpPr>
        <p:spPr>
          <a:xfrm>
            <a:off x="457200" y="2514600"/>
            <a:ext cx="8229600" cy="420624"/>
          </a:xfrm>
          <a:prstGeom prst="rect">
            <a:avLst/>
          </a:prstGeom>
          <a:solidFill>
            <a:srgbClr val="F4F6F8"/>
          </a:solidFill>
          <a:ln/>
        </p:spPr>
        <p:txBody>
          <a:bodyPr/>
          <a:lstStyle/>
          <a:p>
            <a:endParaRPr lang="pt-BR"/>
          </a:p>
        </p:txBody>
      </p:sp>
      <p:sp>
        <p:nvSpPr>
          <p:cNvPr id="16" name="Text 13"/>
          <p:cNvSpPr/>
          <p:nvPr/>
        </p:nvSpPr>
        <p:spPr>
          <a:xfrm>
            <a:off x="548640" y="25146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Acesso</a:t>
            </a:r>
            <a:endParaRPr lang="en-US" sz="1050" dirty="0"/>
          </a:p>
        </p:txBody>
      </p:sp>
      <p:sp>
        <p:nvSpPr>
          <p:cNvPr id="17" name="Text 14"/>
          <p:cNvSpPr/>
          <p:nvPr/>
        </p:nvSpPr>
        <p:spPr>
          <a:xfrm>
            <a:off x="2240280" y="25146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Nuvem e terminal offline</a:t>
            </a:r>
            <a:endParaRPr lang="en-US" sz="1000" dirty="0"/>
          </a:p>
        </p:txBody>
      </p:sp>
      <p:sp>
        <p:nvSpPr>
          <p:cNvPr id="18" name="Text 15"/>
          <p:cNvSpPr/>
          <p:nvPr/>
        </p:nvSpPr>
        <p:spPr>
          <a:xfrm>
            <a:off x="5577840" y="25146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Navegador, no computador ou no celular</a:t>
            </a:r>
            <a:endParaRPr lang="en-US" sz="1000" dirty="0"/>
          </a:p>
        </p:txBody>
      </p:sp>
      <p:sp>
        <p:nvSpPr>
          <p:cNvPr id="19" name="Text 16"/>
          <p:cNvSpPr/>
          <p:nvPr/>
        </p:nvSpPr>
        <p:spPr>
          <a:xfrm>
            <a:off x="548640" y="29718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Escopo</a:t>
            </a:r>
            <a:endParaRPr lang="en-US" sz="1050" dirty="0"/>
          </a:p>
        </p:txBody>
      </p:sp>
      <p:sp>
        <p:nvSpPr>
          <p:cNvPr id="20" name="Text 17"/>
          <p:cNvSpPr/>
          <p:nvPr/>
        </p:nvSpPr>
        <p:spPr>
          <a:xfrm>
            <a:off x="2240280" y="29718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Gestão completa, integrações e módulos adicionais</a:t>
            </a:r>
            <a:endParaRPr lang="en-US" sz="1000" dirty="0"/>
          </a:p>
        </p:txBody>
      </p:sp>
      <p:sp>
        <p:nvSpPr>
          <p:cNvPr id="21" name="Text 18"/>
          <p:cNvSpPr/>
          <p:nvPr/>
        </p:nvSpPr>
        <p:spPr>
          <a:xfrm>
            <a:off x="5577840" y="29718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Dashboard e </a:t>
            </a:r>
            <a:r>
              <a:rPr lang="en-US" sz="1000" b="1" dirty="0" err="1">
                <a:solidFill>
                  <a:srgbClr val="1B3A8C"/>
                </a:solidFill>
                <a:latin typeface="Calibri" pitchFamily="34" charset="0"/>
                <a:ea typeface="Calibri" pitchFamily="34" charset="-122"/>
                <a:cs typeface="Calibri" pitchFamily="34" charset="-120"/>
              </a:rPr>
              <a:t>módulos</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essenciais</a:t>
            </a:r>
            <a:endParaRPr lang="en-US" sz="1000" dirty="0"/>
          </a:p>
        </p:txBody>
      </p:sp>
      <p:sp>
        <p:nvSpPr>
          <p:cNvPr id="22" name="Shape 19"/>
          <p:cNvSpPr/>
          <p:nvPr/>
        </p:nvSpPr>
        <p:spPr>
          <a:xfrm>
            <a:off x="457200" y="3429000"/>
            <a:ext cx="8229600" cy="420624"/>
          </a:xfrm>
          <a:prstGeom prst="rect">
            <a:avLst/>
          </a:prstGeom>
          <a:solidFill>
            <a:srgbClr val="F4F6F8"/>
          </a:solidFill>
          <a:ln/>
        </p:spPr>
        <p:txBody>
          <a:bodyPr/>
          <a:lstStyle/>
          <a:p>
            <a:endParaRPr lang="pt-BR"/>
          </a:p>
        </p:txBody>
      </p:sp>
      <p:sp>
        <p:nvSpPr>
          <p:cNvPr id="23" name="Text 20"/>
          <p:cNvSpPr/>
          <p:nvPr/>
        </p:nvSpPr>
        <p:spPr>
          <a:xfrm>
            <a:off x="548640" y="34290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Implantação e suporte</a:t>
            </a:r>
            <a:endParaRPr lang="en-US" sz="1050" dirty="0"/>
          </a:p>
        </p:txBody>
      </p:sp>
      <p:sp>
        <p:nvSpPr>
          <p:cNvPr id="24" name="Text 21"/>
          <p:cNvSpPr/>
          <p:nvPr/>
        </p:nvSpPr>
        <p:spPr>
          <a:xfrm>
            <a:off x="2240280" y="34290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Projeto de implantação com equipe dedicada</a:t>
            </a:r>
            <a:endParaRPr lang="en-US" sz="1000" dirty="0"/>
          </a:p>
        </p:txBody>
      </p:sp>
      <p:sp>
        <p:nvSpPr>
          <p:cNvPr id="25" name="Text 22"/>
          <p:cNvSpPr/>
          <p:nvPr/>
        </p:nvSpPr>
        <p:spPr>
          <a:xfrm>
            <a:off x="5577840" y="34290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Técnico TN que já atende a fazenda</a:t>
            </a:r>
            <a:endParaRPr lang="en-US" sz="1000" dirty="0"/>
          </a:p>
        </p:txBody>
      </p:sp>
      <p:sp>
        <p:nvSpPr>
          <p:cNvPr id="26" name="Text 23"/>
          <p:cNvSpPr/>
          <p:nvPr/>
        </p:nvSpPr>
        <p:spPr>
          <a:xfrm>
            <a:off x="548640" y="3886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Papel na estratégia</a:t>
            </a:r>
            <a:endParaRPr lang="en-US" sz="1050" dirty="0"/>
          </a:p>
        </p:txBody>
      </p:sp>
      <p:sp>
        <p:nvSpPr>
          <p:cNvPr id="27" name="Text 24"/>
          <p:cNvSpPr/>
          <p:nvPr/>
        </p:nvSpPr>
        <p:spPr>
          <a:xfrm>
            <a:off x="2240280" y="3886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Defender contas A+ e B+</a:t>
            </a:r>
            <a:endParaRPr lang="en-US" sz="1000" dirty="0"/>
          </a:p>
        </p:txBody>
      </p:sp>
      <p:sp>
        <p:nvSpPr>
          <p:cNvPr id="28" name="Text 25"/>
          <p:cNvSpPr/>
          <p:nvPr/>
        </p:nvSpPr>
        <p:spPr>
          <a:xfrm>
            <a:off x="5577840" y="3886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Defender </a:t>
            </a:r>
            <a:r>
              <a:rPr lang="en-US" sz="1000" b="1" dirty="0" err="1">
                <a:solidFill>
                  <a:srgbClr val="1B3A8C"/>
                </a:solidFill>
                <a:latin typeface="Calibri" pitchFamily="34" charset="0"/>
                <a:ea typeface="Calibri" pitchFamily="34" charset="-122"/>
                <a:cs typeface="Calibri" pitchFamily="34" charset="-120"/>
              </a:rPr>
              <a:t>contas</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qualquer</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tamanho</a:t>
            </a:r>
            <a:r>
              <a:rPr lang="en-US" sz="1000" b="1" dirty="0">
                <a:solidFill>
                  <a:srgbClr val="1B3A8C"/>
                </a:solidFill>
                <a:latin typeface="Calibri" pitchFamily="34" charset="0"/>
                <a:ea typeface="Calibri" pitchFamily="34" charset="-122"/>
                <a:cs typeface="Calibri" pitchFamily="34" charset="-120"/>
              </a:rPr>
              <a:t> e ferramenta </a:t>
            </a:r>
            <a:r>
              <a:rPr lang="en-US" sz="1000" b="1" dirty="0" err="1">
                <a:solidFill>
                  <a:srgbClr val="1B3A8C"/>
                </a:solidFill>
                <a:latin typeface="Calibri" pitchFamily="34" charset="0"/>
                <a:ea typeface="Calibri" pitchFamily="34" charset="-122"/>
                <a:cs typeface="Calibri" pitchFamily="34" charset="-120"/>
              </a:rPr>
              <a:t>escalável</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prospecção</a:t>
            </a:r>
            <a:r>
              <a:rPr lang="en-US" sz="1000" b="1" dirty="0">
                <a:solidFill>
                  <a:srgbClr val="1B3A8C"/>
                </a:solidFill>
                <a:latin typeface="Calibri" pitchFamily="34" charset="0"/>
                <a:ea typeface="Calibri" pitchFamily="34" charset="-122"/>
                <a:cs typeface="Calibri" pitchFamily="34" charset="-120"/>
              </a:rPr>
              <a:t> (com </a:t>
            </a:r>
            <a:r>
              <a:rPr lang="en-US" sz="1000" b="1" dirty="0" err="1">
                <a:solidFill>
                  <a:srgbClr val="1B3A8C"/>
                </a:solidFill>
                <a:latin typeface="Calibri" pitchFamily="34" charset="0"/>
                <a:ea typeface="Calibri" pitchFamily="34" charset="-122"/>
                <a:cs typeface="Calibri" pitchFamily="34" charset="-120"/>
              </a:rPr>
              <a:t>baixo</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custo</a:t>
            </a:r>
            <a:r>
              <a:rPr lang="en-US" sz="1000" b="1" dirty="0">
                <a:solidFill>
                  <a:srgbClr val="1B3A8C"/>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Produto mínimo: o que entra no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Priorização MoSCoW. Só a primeira coluna é obrigatória para o piloto.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27</a:t>
            </a:r>
            <a:endParaRPr lang="en-US" sz="900" dirty="0"/>
          </a:p>
        </p:txBody>
      </p:sp>
      <p:sp>
        <p:nvSpPr>
          <p:cNvPr id="6" name="Shape 3"/>
          <p:cNvSpPr/>
          <p:nvPr/>
        </p:nvSpPr>
        <p:spPr>
          <a:xfrm>
            <a:off x="457200" y="1188720"/>
            <a:ext cx="1965960" cy="566928"/>
          </a:xfrm>
          <a:prstGeom prst="rect">
            <a:avLst/>
          </a:prstGeom>
          <a:solidFill>
            <a:srgbClr val="C8106E"/>
          </a:solidFill>
          <a:ln/>
        </p:spPr>
        <p:txBody>
          <a:bodyPr/>
          <a:lstStyle/>
          <a:p>
            <a:endParaRPr lang="pt-BR"/>
          </a:p>
        </p:txBody>
      </p:sp>
      <p:sp>
        <p:nvSpPr>
          <p:cNvPr id="7" name="Text 4"/>
          <p:cNvSpPr/>
          <p:nvPr/>
        </p:nvSpPr>
        <p:spPr>
          <a:xfrm>
            <a:off x="566928"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Precisa ter</a:t>
            </a:r>
            <a:endParaRPr lang="en-US" sz="1300" dirty="0"/>
          </a:p>
        </p:txBody>
      </p:sp>
      <p:sp>
        <p:nvSpPr>
          <p:cNvPr id="8" name="Text 5"/>
          <p:cNvSpPr/>
          <p:nvPr/>
        </p:nvSpPr>
        <p:spPr>
          <a:xfrm>
            <a:off x="566928"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0.1, piloto</a:t>
            </a:r>
            <a:endParaRPr lang="en-US" sz="950" dirty="0"/>
          </a:p>
        </p:txBody>
      </p:sp>
      <p:sp>
        <p:nvSpPr>
          <p:cNvPr id="9" name="Shape 6"/>
          <p:cNvSpPr/>
          <p:nvPr/>
        </p:nvSpPr>
        <p:spPr>
          <a:xfrm>
            <a:off x="457200" y="1755648"/>
            <a:ext cx="1965960" cy="2542032"/>
          </a:xfrm>
          <a:prstGeom prst="rect">
            <a:avLst/>
          </a:prstGeom>
          <a:solidFill>
            <a:srgbClr val="FBE7F1"/>
          </a:solidFill>
          <a:ln/>
        </p:spPr>
        <p:txBody>
          <a:bodyPr/>
          <a:lstStyle/>
          <a:p>
            <a:endParaRPr lang="pt-BR"/>
          </a:p>
        </p:txBody>
      </p:sp>
      <p:sp>
        <p:nvSpPr>
          <p:cNvPr id="10" name="Text 7"/>
          <p:cNvSpPr/>
          <p:nvPr/>
        </p:nvSpPr>
        <p:spPr>
          <a:xfrm>
            <a:off x="512064"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fazenda, currais 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Lançamento diário de trato por curral</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Leitura de cocho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Entradas, pesagens, saídas, mortes e enfermaria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Painel: consumo de matéria seca, GMD, dias de cocho e mortalidade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Relatório semanal em PDF</a:t>
            </a:r>
            <a:endParaRPr lang="en-US" sz="950" dirty="0"/>
          </a:p>
        </p:txBody>
      </p:sp>
      <p:sp>
        <p:nvSpPr>
          <p:cNvPr id="11" name="Shape 8"/>
          <p:cNvSpPr/>
          <p:nvPr/>
        </p:nvSpPr>
        <p:spPr>
          <a:xfrm>
            <a:off x="2532888" y="1188720"/>
            <a:ext cx="1965960" cy="566928"/>
          </a:xfrm>
          <a:prstGeom prst="rect">
            <a:avLst/>
          </a:prstGeom>
          <a:solidFill>
            <a:srgbClr val="1B3A8C"/>
          </a:solidFill>
          <a:ln/>
        </p:spPr>
        <p:txBody>
          <a:bodyPr/>
          <a:lstStyle/>
          <a:p>
            <a:endParaRPr lang="pt-BR"/>
          </a:p>
        </p:txBody>
      </p:sp>
      <p:sp>
        <p:nvSpPr>
          <p:cNvPr id="12" name="Text 9"/>
          <p:cNvSpPr/>
          <p:nvPr/>
        </p:nvSpPr>
        <p:spPr>
          <a:xfrm>
            <a:off x="2642616"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Deveria ter</a:t>
            </a:r>
            <a:endParaRPr lang="en-US" sz="1300" dirty="0"/>
          </a:p>
        </p:txBody>
      </p:sp>
      <p:sp>
        <p:nvSpPr>
          <p:cNvPr id="13" name="Text 10"/>
          <p:cNvSpPr/>
          <p:nvPr/>
        </p:nvSpPr>
        <p:spPr>
          <a:xfrm>
            <a:off x="2642616"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0.2</a:t>
            </a:r>
            <a:endParaRPr lang="en-US" sz="950" dirty="0"/>
          </a:p>
        </p:txBody>
      </p:sp>
      <p:sp>
        <p:nvSpPr>
          <p:cNvPr id="14" name="Shape 11"/>
          <p:cNvSpPr/>
          <p:nvPr/>
        </p:nvSpPr>
        <p:spPr>
          <a:xfrm>
            <a:off x="2532888" y="1755648"/>
            <a:ext cx="1965960" cy="2542032"/>
          </a:xfrm>
          <a:prstGeom prst="rect">
            <a:avLst/>
          </a:prstGeom>
          <a:solidFill>
            <a:srgbClr val="F4F6F8"/>
          </a:solidFill>
          <a:ln/>
        </p:spPr>
        <p:txBody>
          <a:bodyPr/>
          <a:lstStyle/>
          <a:p>
            <a:endParaRPr lang="pt-BR"/>
          </a:p>
        </p:txBody>
      </p:sp>
      <p:sp>
        <p:nvSpPr>
          <p:cNvPr id="15" name="Text 12"/>
          <p:cNvSpPr/>
          <p:nvPr/>
        </p:nvSpPr>
        <p:spPr>
          <a:xfrm>
            <a:off x="2587752"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dietas com correção de matéria seca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Custo por lote e por arroba produzida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Alertas simples de consumo fora do previsto</a:t>
            </a:r>
            <a:endParaRPr lang="en-US" sz="950" dirty="0"/>
          </a:p>
        </p:txBody>
      </p:sp>
      <p:sp>
        <p:nvSpPr>
          <p:cNvPr id="16" name="Shape 13"/>
          <p:cNvSpPr/>
          <p:nvPr/>
        </p:nvSpPr>
        <p:spPr>
          <a:xfrm>
            <a:off x="4608576" y="1188720"/>
            <a:ext cx="1965960" cy="566928"/>
          </a:xfrm>
          <a:prstGeom prst="rect">
            <a:avLst/>
          </a:prstGeom>
          <a:solidFill>
            <a:srgbClr val="0096B4"/>
          </a:solidFill>
          <a:ln/>
        </p:spPr>
        <p:txBody>
          <a:bodyPr/>
          <a:lstStyle/>
          <a:p>
            <a:endParaRPr lang="pt-BR"/>
          </a:p>
        </p:txBody>
      </p:sp>
      <p:sp>
        <p:nvSpPr>
          <p:cNvPr id="17" name="Text 14"/>
          <p:cNvSpPr/>
          <p:nvPr/>
        </p:nvSpPr>
        <p:spPr>
          <a:xfrm>
            <a:off x="4718304"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Poderia ter</a:t>
            </a:r>
            <a:endParaRPr lang="en-US" sz="1300" dirty="0"/>
          </a:p>
        </p:txBody>
      </p:sp>
      <p:sp>
        <p:nvSpPr>
          <p:cNvPr id="18" name="Text 15"/>
          <p:cNvSpPr/>
          <p:nvPr/>
        </p:nvSpPr>
        <p:spPr>
          <a:xfrm>
            <a:off x="4718304"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0.3 em diante</a:t>
            </a:r>
            <a:endParaRPr lang="en-US" sz="950" dirty="0"/>
          </a:p>
        </p:txBody>
      </p:sp>
      <p:sp>
        <p:nvSpPr>
          <p:cNvPr id="19" name="Shape 16"/>
          <p:cNvSpPr/>
          <p:nvPr/>
        </p:nvSpPr>
        <p:spPr>
          <a:xfrm>
            <a:off x="4608576" y="1755648"/>
            <a:ext cx="1965960" cy="2542032"/>
          </a:xfrm>
          <a:prstGeom prst="rect">
            <a:avLst/>
          </a:prstGeom>
          <a:solidFill>
            <a:srgbClr val="F4F6F8"/>
          </a:solidFill>
          <a:ln/>
        </p:spPr>
        <p:txBody>
          <a:bodyPr/>
          <a:lstStyle/>
          <a:p>
            <a:endParaRPr lang="pt-BR"/>
          </a:p>
        </p:txBody>
      </p:sp>
      <p:sp>
        <p:nvSpPr>
          <p:cNvPr id="20" name="Text 17"/>
          <p:cNvSpPr/>
          <p:nvPr/>
        </p:nvSpPr>
        <p:spPr>
          <a:xfrm>
            <a:off x="4663440"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Importação de planilha existente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Comparativo entre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Benchmark anônimo entre fazendas</a:t>
            </a:r>
            <a:endParaRPr lang="en-US" sz="950" dirty="0"/>
          </a:p>
        </p:txBody>
      </p:sp>
      <p:sp>
        <p:nvSpPr>
          <p:cNvPr id="21" name="Shape 18"/>
          <p:cNvSpPr/>
          <p:nvPr/>
        </p:nvSpPr>
        <p:spPr>
          <a:xfrm>
            <a:off x="6684264" y="1188720"/>
            <a:ext cx="1965960" cy="566928"/>
          </a:xfrm>
          <a:prstGeom prst="rect">
            <a:avLst/>
          </a:prstGeom>
          <a:solidFill>
            <a:srgbClr val="7A858F"/>
          </a:solidFill>
          <a:ln/>
        </p:spPr>
        <p:txBody>
          <a:bodyPr/>
          <a:lstStyle/>
          <a:p>
            <a:endParaRPr lang="pt-BR"/>
          </a:p>
        </p:txBody>
      </p:sp>
      <p:sp>
        <p:nvSpPr>
          <p:cNvPr id="22" name="Text 19"/>
          <p:cNvSpPr/>
          <p:nvPr/>
        </p:nvSpPr>
        <p:spPr>
          <a:xfrm>
            <a:off x="6793992"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Não terá agora</a:t>
            </a:r>
            <a:endParaRPr lang="en-US" sz="1300" dirty="0"/>
          </a:p>
        </p:txBody>
      </p:sp>
      <p:sp>
        <p:nvSpPr>
          <p:cNvPr id="23" name="Text 20"/>
          <p:cNvSpPr/>
          <p:nvPr/>
        </p:nvSpPr>
        <p:spPr>
          <a:xfrm>
            <a:off x="6793992"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fica para a versão completa</a:t>
            </a:r>
            <a:endParaRPr lang="en-US" sz="950" dirty="0"/>
          </a:p>
        </p:txBody>
      </p:sp>
      <p:sp>
        <p:nvSpPr>
          <p:cNvPr id="24" name="Shape 21"/>
          <p:cNvSpPr/>
          <p:nvPr/>
        </p:nvSpPr>
        <p:spPr>
          <a:xfrm>
            <a:off x="6684264" y="1755648"/>
            <a:ext cx="1965960" cy="2542032"/>
          </a:xfrm>
          <a:prstGeom prst="rect">
            <a:avLst/>
          </a:prstGeom>
          <a:solidFill>
            <a:srgbClr val="F4F6F8"/>
          </a:solidFill>
          <a:ln/>
        </p:spPr>
        <p:txBody>
          <a:bodyPr/>
          <a:lstStyle/>
          <a:p>
            <a:endParaRPr lang="pt-BR"/>
          </a:p>
        </p:txBody>
      </p:sp>
      <p:sp>
        <p:nvSpPr>
          <p:cNvPr id="25" name="Text 22"/>
          <p:cNvSpPr/>
          <p:nvPr/>
        </p:nvSpPr>
        <p:spPr>
          <a:xfrm>
            <a:off x="6739128"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Integração com balança, vagão e hardware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Aplicativo nativo offline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Fidelidade e sustentabilidade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Recria, leite e outras espécies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Plano de pesquisa: três frentes antes de construir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Itens 2.1, 2.1.1 e 2.2 do cronograma, nas semanas 2 e 3.</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28</a:t>
            </a:r>
            <a:endParaRPr lang="en-US" sz="900" dirty="0"/>
          </a:p>
        </p:txBody>
      </p:sp>
      <p:sp>
        <p:nvSpPr>
          <p:cNvPr id="6" name="Shape 3"/>
          <p:cNvSpPr/>
          <p:nvPr/>
        </p:nvSpPr>
        <p:spPr>
          <a:xfrm>
            <a:off x="457200" y="1143000"/>
            <a:ext cx="2606040" cy="658368"/>
          </a:xfrm>
          <a:prstGeom prst="rect">
            <a:avLst/>
          </a:prstGeom>
          <a:solidFill>
            <a:srgbClr val="1B3A8C"/>
          </a:solidFill>
          <a:ln/>
        </p:spPr>
        <p:txBody>
          <a:bodyPr/>
          <a:lstStyle/>
          <a:p>
            <a:endParaRPr lang="pt-BR"/>
          </a:p>
        </p:txBody>
      </p:sp>
      <p:sp>
        <p:nvSpPr>
          <p:cNvPr id="7" name="Shape 4"/>
          <p:cNvSpPr/>
          <p:nvPr/>
        </p:nvSpPr>
        <p:spPr>
          <a:xfrm>
            <a:off x="566928" y="1243584"/>
            <a:ext cx="457200" cy="457200"/>
          </a:xfrm>
          <a:prstGeom prst="ellipse">
            <a:avLst/>
          </a:prstGeom>
          <a:solidFill>
            <a:srgbClr val="FFFFFF">
              <a:alpha val="20000"/>
            </a:srgbClr>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76656" y="1353312"/>
            <a:ext cx="237744" cy="237744"/>
          </a:xfrm>
          <a:prstGeom prst="rect">
            <a:avLst/>
          </a:prstGeom>
        </p:spPr>
      </p:pic>
      <p:sp>
        <p:nvSpPr>
          <p:cNvPr id="9" name="Text 5"/>
          <p:cNvSpPr/>
          <p:nvPr/>
        </p:nvSpPr>
        <p:spPr>
          <a:xfrm>
            <a:off x="111556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Aderência interna</a:t>
            </a:r>
            <a:endParaRPr lang="en-US" sz="1300" dirty="0"/>
          </a:p>
        </p:txBody>
      </p:sp>
      <p:sp>
        <p:nvSpPr>
          <p:cNvPr id="10" name="Text 6"/>
          <p:cNvSpPr/>
          <p:nvPr/>
        </p:nvSpPr>
        <p:spPr>
          <a:xfrm>
            <a:off x="111556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Entrevista com stakeholders</a:t>
            </a:r>
            <a:endParaRPr lang="en-US" sz="950" dirty="0"/>
          </a:p>
        </p:txBody>
      </p:sp>
      <p:sp>
        <p:nvSpPr>
          <p:cNvPr id="11" name="Shape 7"/>
          <p:cNvSpPr/>
          <p:nvPr/>
        </p:nvSpPr>
        <p:spPr>
          <a:xfrm>
            <a:off x="457200" y="1801368"/>
            <a:ext cx="2606040" cy="2542032"/>
          </a:xfrm>
          <a:prstGeom prst="rect">
            <a:avLst/>
          </a:prstGeom>
          <a:solidFill>
            <a:srgbClr val="F4F6F8"/>
          </a:solidFill>
          <a:ln/>
        </p:spPr>
        <p:txBody>
          <a:bodyPr/>
          <a:lstStyle/>
          <a:p>
            <a:endParaRPr lang="pt-BR"/>
          </a:p>
        </p:txBody>
      </p:sp>
      <p:sp>
        <p:nvSpPr>
          <p:cNvPr id="12" name="Text 8"/>
          <p:cNvSpPr/>
          <p:nvPr/>
        </p:nvSpPr>
        <p:spPr>
          <a:xfrm>
            <a:off x="585216" y="1874520"/>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OBJETIVO</a:t>
            </a:r>
            <a:endParaRPr lang="en-US" sz="800" dirty="0"/>
          </a:p>
        </p:txBody>
      </p:sp>
      <p:sp>
        <p:nvSpPr>
          <p:cNvPr id="13" name="Text 9"/>
          <p:cNvSpPr/>
          <p:nvPr/>
        </p:nvSpPr>
        <p:spPr>
          <a:xfrm>
            <a:off x="58521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Medir entendimento e apoio entre quem pode acelerar ou travar o projeto na Trouw</a:t>
            </a:r>
            <a:endParaRPr lang="en-US" sz="950" dirty="0"/>
          </a:p>
        </p:txBody>
      </p:sp>
      <p:sp>
        <p:nvSpPr>
          <p:cNvPr id="14" name="Text 10"/>
          <p:cNvSpPr/>
          <p:nvPr/>
        </p:nvSpPr>
        <p:spPr>
          <a:xfrm>
            <a:off x="585216" y="2487168"/>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PÚBLICO</a:t>
            </a:r>
            <a:endParaRPr lang="en-US" sz="800" dirty="0"/>
          </a:p>
        </p:txBody>
      </p:sp>
      <p:sp>
        <p:nvSpPr>
          <p:cNvPr id="15" name="Text 11"/>
          <p:cNvSpPr/>
          <p:nvPr/>
        </p:nvSpPr>
        <p:spPr>
          <a:xfrm>
            <a:off x="58521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Diretoria Beef, gerência comercial, técnicos, RTVs, TI e marketing</a:t>
            </a:r>
            <a:endParaRPr lang="en-US" sz="950" dirty="0"/>
          </a:p>
        </p:txBody>
      </p:sp>
      <p:sp>
        <p:nvSpPr>
          <p:cNvPr id="16" name="Text 12"/>
          <p:cNvSpPr/>
          <p:nvPr/>
        </p:nvSpPr>
        <p:spPr>
          <a:xfrm>
            <a:off x="585216" y="3099816"/>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MÉTODO</a:t>
            </a:r>
            <a:endParaRPr lang="en-US" sz="800" dirty="0"/>
          </a:p>
        </p:txBody>
      </p:sp>
      <p:sp>
        <p:nvSpPr>
          <p:cNvPr id="17" name="Text 13"/>
          <p:cNvSpPr/>
          <p:nvPr/>
        </p:nvSpPr>
        <p:spPr>
          <a:xfrm>
            <a:off x="58521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semiestruturada de 30 a 45 minutos</a:t>
            </a:r>
            <a:endParaRPr lang="en-US" sz="950" dirty="0"/>
          </a:p>
        </p:txBody>
      </p:sp>
      <p:sp>
        <p:nvSpPr>
          <p:cNvPr id="18" name="Text 14"/>
          <p:cNvSpPr/>
          <p:nvPr/>
        </p:nvSpPr>
        <p:spPr>
          <a:xfrm>
            <a:off x="585216" y="3712464"/>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SAÍDA</a:t>
            </a:r>
            <a:endParaRPr lang="en-US" sz="800" dirty="0"/>
          </a:p>
        </p:txBody>
      </p:sp>
      <p:sp>
        <p:nvSpPr>
          <p:cNvPr id="19" name="Text 15"/>
          <p:cNvSpPr/>
          <p:nvPr/>
        </p:nvSpPr>
        <p:spPr>
          <a:xfrm>
            <a:off x="58521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Mapa de aderência e lista de objeções</a:t>
            </a:r>
            <a:endParaRPr lang="en-US" sz="950" dirty="0"/>
          </a:p>
        </p:txBody>
      </p:sp>
      <p:sp>
        <p:nvSpPr>
          <p:cNvPr id="20" name="Shape 16"/>
          <p:cNvSpPr/>
          <p:nvPr/>
        </p:nvSpPr>
        <p:spPr>
          <a:xfrm>
            <a:off x="3246120" y="1143000"/>
            <a:ext cx="2606040" cy="658368"/>
          </a:xfrm>
          <a:prstGeom prst="rect">
            <a:avLst/>
          </a:prstGeom>
          <a:solidFill>
            <a:srgbClr val="26668F"/>
          </a:solidFill>
          <a:ln/>
        </p:spPr>
        <p:txBody>
          <a:bodyPr/>
          <a:lstStyle/>
          <a:p>
            <a:endParaRPr lang="pt-BR"/>
          </a:p>
        </p:txBody>
      </p:sp>
      <p:sp>
        <p:nvSpPr>
          <p:cNvPr id="21" name="Shape 17"/>
          <p:cNvSpPr/>
          <p:nvPr/>
        </p:nvSpPr>
        <p:spPr>
          <a:xfrm>
            <a:off x="3355848" y="1243584"/>
            <a:ext cx="457200" cy="457200"/>
          </a:xfrm>
          <a:prstGeom prst="ellipse">
            <a:avLst/>
          </a:prstGeom>
          <a:solidFill>
            <a:srgbClr val="FFFFFF">
              <a:alpha val="20000"/>
            </a:srgbClr>
          </a:solidFill>
          <a:ln/>
        </p:spPr>
        <p:txBody>
          <a:bodyPr/>
          <a:lstStyle/>
          <a:p>
            <a:endParaRPr lang="pt-BR"/>
          </a:p>
        </p:txBody>
      </p:sp>
      <p:pic>
        <p:nvPicPr>
          <p:cNvPr id="22" name="Image 2" descr="preencoded.png"/>
          <p:cNvPicPr>
            <a:picLocks noChangeAspect="1"/>
          </p:cNvPicPr>
          <p:nvPr/>
        </p:nvPicPr>
        <p:blipFill>
          <a:blip r:embed="rId5"/>
          <a:stretch>
            <a:fillRect/>
          </a:stretch>
        </p:blipFill>
        <p:spPr>
          <a:xfrm>
            <a:off x="3465576" y="1353312"/>
            <a:ext cx="237744" cy="237744"/>
          </a:xfrm>
          <a:prstGeom prst="rect">
            <a:avLst/>
          </a:prstGeom>
        </p:spPr>
      </p:pic>
      <p:sp>
        <p:nvSpPr>
          <p:cNvPr id="23" name="Text 18"/>
          <p:cNvSpPr/>
          <p:nvPr/>
        </p:nvSpPr>
        <p:spPr>
          <a:xfrm>
            <a:off x="390448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Benchmark externo</a:t>
            </a:r>
            <a:endParaRPr lang="en-US" sz="1300" dirty="0"/>
          </a:p>
        </p:txBody>
      </p:sp>
      <p:sp>
        <p:nvSpPr>
          <p:cNvPr id="24" name="Text 19"/>
          <p:cNvSpPr/>
          <p:nvPr/>
        </p:nvSpPr>
        <p:spPr>
          <a:xfrm>
            <a:off x="390448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Sistemas concorrentes</a:t>
            </a:r>
            <a:endParaRPr lang="en-US" sz="950" dirty="0"/>
          </a:p>
        </p:txBody>
      </p:sp>
      <p:sp>
        <p:nvSpPr>
          <p:cNvPr id="25" name="Shape 20"/>
          <p:cNvSpPr/>
          <p:nvPr/>
        </p:nvSpPr>
        <p:spPr>
          <a:xfrm>
            <a:off x="3246120" y="1801368"/>
            <a:ext cx="2606040" cy="2542032"/>
          </a:xfrm>
          <a:prstGeom prst="rect">
            <a:avLst/>
          </a:prstGeom>
          <a:solidFill>
            <a:srgbClr val="F4F6F8"/>
          </a:solidFill>
          <a:ln/>
        </p:spPr>
        <p:txBody>
          <a:bodyPr/>
          <a:lstStyle/>
          <a:p>
            <a:endParaRPr lang="pt-BR"/>
          </a:p>
        </p:txBody>
      </p:sp>
      <p:sp>
        <p:nvSpPr>
          <p:cNvPr id="26" name="Text 21"/>
          <p:cNvSpPr/>
          <p:nvPr/>
        </p:nvSpPr>
        <p:spPr>
          <a:xfrm>
            <a:off x="3374136" y="1874520"/>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OBJETIVO</a:t>
            </a:r>
            <a:endParaRPr lang="en-US" sz="800" dirty="0"/>
          </a:p>
        </p:txBody>
      </p:sp>
      <p:sp>
        <p:nvSpPr>
          <p:cNvPr id="27" name="Text 22"/>
          <p:cNvSpPr/>
          <p:nvPr/>
        </p:nvSpPr>
        <p:spPr>
          <a:xfrm>
            <a:off x="337413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Pontos fortes e fracos dos sistemas do mercado</a:t>
            </a:r>
            <a:endParaRPr lang="en-US" sz="950" dirty="0"/>
          </a:p>
        </p:txBody>
      </p:sp>
      <p:sp>
        <p:nvSpPr>
          <p:cNvPr id="28" name="Text 23"/>
          <p:cNvSpPr/>
          <p:nvPr/>
        </p:nvSpPr>
        <p:spPr>
          <a:xfrm>
            <a:off x="3374136" y="2487168"/>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PÚBLICO</a:t>
            </a:r>
            <a:endParaRPr lang="en-US" sz="800" dirty="0"/>
          </a:p>
        </p:txBody>
      </p:sp>
      <p:sp>
        <p:nvSpPr>
          <p:cNvPr id="29" name="Text 24"/>
          <p:cNvSpPr/>
          <p:nvPr/>
        </p:nvSpPr>
        <p:spPr>
          <a:xfrm>
            <a:off x="337413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Auditorias que usam vários sistemas e consultores com sistema próprio</a:t>
            </a:r>
            <a:endParaRPr lang="en-US" sz="950" dirty="0"/>
          </a:p>
        </p:txBody>
      </p:sp>
      <p:sp>
        <p:nvSpPr>
          <p:cNvPr id="30" name="Text 25"/>
          <p:cNvSpPr/>
          <p:nvPr/>
        </p:nvSpPr>
        <p:spPr>
          <a:xfrm>
            <a:off x="3374136" y="3099816"/>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MÉTODO</a:t>
            </a:r>
            <a:endParaRPr lang="en-US" sz="800" dirty="0"/>
          </a:p>
        </p:txBody>
      </p:sp>
      <p:sp>
        <p:nvSpPr>
          <p:cNvPr id="31" name="Text 26"/>
          <p:cNvSpPr/>
          <p:nvPr/>
        </p:nvSpPr>
        <p:spPr>
          <a:xfrm>
            <a:off x="337413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com demonstração guiada</a:t>
            </a:r>
            <a:endParaRPr lang="en-US" sz="950" dirty="0"/>
          </a:p>
        </p:txBody>
      </p:sp>
      <p:sp>
        <p:nvSpPr>
          <p:cNvPr id="32" name="Text 27"/>
          <p:cNvSpPr/>
          <p:nvPr/>
        </p:nvSpPr>
        <p:spPr>
          <a:xfrm>
            <a:off x="3374136" y="3712464"/>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SAÍDA</a:t>
            </a:r>
            <a:endParaRPr lang="en-US" sz="800" dirty="0"/>
          </a:p>
        </p:txBody>
      </p:sp>
      <p:sp>
        <p:nvSpPr>
          <p:cNvPr id="33" name="Text 28"/>
          <p:cNvSpPr/>
          <p:nvPr/>
        </p:nvSpPr>
        <p:spPr>
          <a:xfrm>
            <a:off x="337413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Matriz de funcionalidades, dores e soluções já testadas</a:t>
            </a:r>
            <a:endParaRPr lang="en-US" sz="950" dirty="0"/>
          </a:p>
        </p:txBody>
      </p:sp>
      <p:sp>
        <p:nvSpPr>
          <p:cNvPr id="34" name="Shape 29"/>
          <p:cNvSpPr/>
          <p:nvPr/>
        </p:nvSpPr>
        <p:spPr>
          <a:xfrm>
            <a:off x="6035040" y="1143000"/>
            <a:ext cx="2606040" cy="658368"/>
          </a:xfrm>
          <a:prstGeom prst="rect">
            <a:avLst/>
          </a:prstGeom>
          <a:solidFill>
            <a:srgbClr val="C8106E"/>
          </a:solidFill>
          <a:ln/>
        </p:spPr>
        <p:txBody>
          <a:bodyPr/>
          <a:lstStyle/>
          <a:p>
            <a:endParaRPr lang="pt-BR"/>
          </a:p>
        </p:txBody>
      </p:sp>
      <p:sp>
        <p:nvSpPr>
          <p:cNvPr id="35" name="Shape 30"/>
          <p:cNvSpPr/>
          <p:nvPr/>
        </p:nvSpPr>
        <p:spPr>
          <a:xfrm>
            <a:off x="6144768" y="1243584"/>
            <a:ext cx="457200" cy="457200"/>
          </a:xfrm>
          <a:prstGeom prst="ellipse">
            <a:avLst/>
          </a:prstGeom>
          <a:solidFill>
            <a:srgbClr val="FFFFFF">
              <a:alpha val="20000"/>
            </a:srgbClr>
          </a:solidFill>
          <a:ln/>
        </p:spPr>
        <p:txBody>
          <a:bodyPr/>
          <a:lstStyle/>
          <a:p>
            <a:endParaRPr lang="pt-BR"/>
          </a:p>
        </p:txBody>
      </p:sp>
      <p:pic>
        <p:nvPicPr>
          <p:cNvPr id="36" name="Image 3" descr="preencoded.png"/>
          <p:cNvPicPr>
            <a:picLocks noChangeAspect="1"/>
          </p:cNvPicPr>
          <p:nvPr/>
        </p:nvPicPr>
        <p:blipFill>
          <a:blip r:embed="rId6"/>
          <a:stretch>
            <a:fillRect/>
          </a:stretch>
        </p:blipFill>
        <p:spPr>
          <a:xfrm>
            <a:off x="6254496" y="1353312"/>
            <a:ext cx="237744" cy="237744"/>
          </a:xfrm>
          <a:prstGeom prst="rect">
            <a:avLst/>
          </a:prstGeom>
        </p:spPr>
      </p:pic>
      <p:sp>
        <p:nvSpPr>
          <p:cNvPr id="37" name="Text 31"/>
          <p:cNvSpPr/>
          <p:nvPr/>
        </p:nvSpPr>
        <p:spPr>
          <a:xfrm>
            <a:off x="669340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Discovery com clientes</a:t>
            </a:r>
            <a:endParaRPr lang="en-US" sz="1300" dirty="0"/>
          </a:p>
        </p:txBody>
      </p:sp>
      <p:sp>
        <p:nvSpPr>
          <p:cNvPr id="38" name="Text 32"/>
          <p:cNvSpPr/>
          <p:nvPr/>
        </p:nvSpPr>
        <p:spPr>
          <a:xfrm>
            <a:off x="669340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Incluindo detratores</a:t>
            </a:r>
            <a:endParaRPr lang="en-US" sz="950" dirty="0"/>
          </a:p>
        </p:txBody>
      </p:sp>
      <p:sp>
        <p:nvSpPr>
          <p:cNvPr id="39" name="Shape 33"/>
          <p:cNvSpPr/>
          <p:nvPr/>
        </p:nvSpPr>
        <p:spPr>
          <a:xfrm>
            <a:off x="6035040" y="1801368"/>
            <a:ext cx="2606040" cy="2542032"/>
          </a:xfrm>
          <a:prstGeom prst="rect">
            <a:avLst/>
          </a:prstGeom>
          <a:solidFill>
            <a:srgbClr val="F4F6F8"/>
          </a:solidFill>
          <a:ln/>
        </p:spPr>
        <p:txBody>
          <a:bodyPr/>
          <a:lstStyle/>
          <a:p>
            <a:endParaRPr lang="pt-BR"/>
          </a:p>
        </p:txBody>
      </p:sp>
      <p:sp>
        <p:nvSpPr>
          <p:cNvPr id="40" name="Text 34"/>
          <p:cNvSpPr/>
          <p:nvPr/>
        </p:nvSpPr>
        <p:spPr>
          <a:xfrm>
            <a:off x="6163056" y="1874520"/>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OBJETIVO</a:t>
            </a:r>
            <a:endParaRPr lang="en-US" sz="800" dirty="0"/>
          </a:p>
        </p:txBody>
      </p:sp>
      <p:sp>
        <p:nvSpPr>
          <p:cNvPr id="41" name="Text 35"/>
          <p:cNvSpPr/>
          <p:nvPr/>
        </p:nvSpPr>
        <p:spPr>
          <a:xfrm>
            <a:off x="616305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Percepção real de valor e dores antes de construir</a:t>
            </a:r>
            <a:endParaRPr lang="en-US" sz="950" dirty="0"/>
          </a:p>
        </p:txBody>
      </p:sp>
      <p:sp>
        <p:nvSpPr>
          <p:cNvPr id="42" name="Text 36"/>
          <p:cNvSpPr/>
          <p:nvPr/>
        </p:nvSpPr>
        <p:spPr>
          <a:xfrm>
            <a:off x="6163056" y="2487168"/>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PÚBLICO</a:t>
            </a:r>
            <a:endParaRPr lang="en-US" sz="800" dirty="0"/>
          </a:p>
        </p:txBody>
      </p:sp>
      <p:sp>
        <p:nvSpPr>
          <p:cNvPr id="43" name="Text 37"/>
          <p:cNvSpPr/>
          <p:nvPr/>
        </p:nvSpPr>
        <p:spPr>
          <a:xfrm>
            <a:off x="616305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Clientes, ex-clientes e não clientes</a:t>
            </a:r>
            <a:endParaRPr lang="en-US" sz="950" dirty="0"/>
          </a:p>
        </p:txBody>
      </p:sp>
      <p:sp>
        <p:nvSpPr>
          <p:cNvPr id="44" name="Text 38"/>
          <p:cNvSpPr/>
          <p:nvPr/>
        </p:nvSpPr>
        <p:spPr>
          <a:xfrm>
            <a:off x="6163056" y="3099816"/>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MÉTODO</a:t>
            </a:r>
            <a:endParaRPr lang="en-US" sz="800" dirty="0"/>
          </a:p>
        </p:txBody>
      </p:sp>
      <p:sp>
        <p:nvSpPr>
          <p:cNvPr id="45" name="Text 39"/>
          <p:cNvSpPr/>
          <p:nvPr/>
        </p:nvSpPr>
        <p:spPr>
          <a:xfrm>
            <a:off x="616305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Formulário estruturado e entrevista curta</a:t>
            </a:r>
            <a:endParaRPr lang="en-US" sz="950" dirty="0"/>
          </a:p>
        </p:txBody>
      </p:sp>
      <p:sp>
        <p:nvSpPr>
          <p:cNvPr id="46" name="Text 40"/>
          <p:cNvSpPr/>
          <p:nvPr/>
        </p:nvSpPr>
        <p:spPr>
          <a:xfrm>
            <a:off x="6163056" y="3712464"/>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SAÍDA</a:t>
            </a:r>
            <a:endParaRPr lang="en-US" sz="800" dirty="0"/>
          </a:p>
        </p:txBody>
      </p:sp>
      <p:sp>
        <p:nvSpPr>
          <p:cNvPr id="47" name="Text 41"/>
          <p:cNvSpPr/>
          <p:nvPr/>
        </p:nvSpPr>
        <p:spPr>
          <a:xfrm>
            <a:off x="616305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Perfil de cliente validado e ranking de dores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Discovery: no mínimo 30 fazendas, com detratores na amostra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Composição proposta para evitar uma amostra feita só de clientes satisfeitos.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29</a:t>
            </a:r>
            <a:endParaRPr lang="en-US" sz="900" dirty="0"/>
          </a:p>
        </p:txBody>
      </p:sp>
      <p:graphicFrame>
        <p:nvGraphicFramePr>
          <p:cNvPr id="6" name="Chart 0"/>
          <p:cNvGraphicFramePr/>
          <p:nvPr/>
        </p:nvGraphicFramePr>
        <p:xfrm>
          <a:off x="365760" y="1143000"/>
          <a:ext cx="31089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1463040" y="2148840"/>
            <a:ext cx="914400" cy="457200"/>
          </a:xfrm>
          <a:prstGeom prst="rect">
            <a:avLst/>
          </a:prstGeom>
          <a:noFill/>
          <a:ln/>
        </p:spPr>
        <p:txBody>
          <a:bodyPr wrap="square" lIns="0" tIns="0" rIns="0" bIns="0" rtlCol="0" anchor="ctr"/>
          <a:lstStyle/>
          <a:p>
            <a:pPr marL="0" indent="0" algn="ctr">
              <a:buNone/>
            </a:pPr>
            <a:r>
              <a:rPr lang="en-US" sz="3000" b="1" dirty="0">
                <a:solidFill>
                  <a:srgbClr val="1B3A8C"/>
                </a:solidFill>
                <a:latin typeface="Calibri" pitchFamily="34" charset="0"/>
                <a:ea typeface="Calibri" pitchFamily="34" charset="-122"/>
                <a:cs typeface="Calibri" pitchFamily="34" charset="-120"/>
              </a:rPr>
              <a:t>30</a:t>
            </a:r>
            <a:endParaRPr lang="en-US" sz="3000" dirty="0"/>
          </a:p>
        </p:txBody>
      </p:sp>
      <p:sp>
        <p:nvSpPr>
          <p:cNvPr id="8" name="Text 4"/>
          <p:cNvSpPr/>
          <p:nvPr/>
        </p:nvSpPr>
        <p:spPr>
          <a:xfrm>
            <a:off x="1463040" y="2578608"/>
            <a:ext cx="9144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fazendas</a:t>
            </a:r>
            <a:endParaRPr lang="en-US" sz="1000" dirty="0"/>
          </a:p>
        </p:txBody>
      </p:sp>
      <p:sp>
        <p:nvSpPr>
          <p:cNvPr id="9" name="Shape 5"/>
          <p:cNvSpPr/>
          <p:nvPr/>
        </p:nvSpPr>
        <p:spPr>
          <a:xfrm>
            <a:off x="411480" y="4041648"/>
            <a:ext cx="118872" cy="118872"/>
          </a:xfrm>
          <a:prstGeom prst="rect">
            <a:avLst/>
          </a:prstGeom>
          <a:solidFill>
            <a:srgbClr val="1B3A8C"/>
          </a:solidFill>
          <a:ln/>
        </p:spPr>
        <p:txBody>
          <a:bodyPr/>
          <a:lstStyle/>
          <a:p>
            <a:endParaRPr lang="pt-BR"/>
          </a:p>
        </p:txBody>
      </p:sp>
      <p:sp>
        <p:nvSpPr>
          <p:cNvPr id="10" name="Text 6"/>
          <p:cNvSpPr/>
          <p:nvPr/>
        </p:nvSpPr>
        <p:spPr>
          <a:xfrm>
            <a:off x="576072" y="3995928"/>
            <a:ext cx="91440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Clientes ativos</a:t>
            </a:r>
            <a:endParaRPr lang="en-US" sz="850" dirty="0"/>
          </a:p>
        </p:txBody>
      </p:sp>
      <p:sp>
        <p:nvSpPr>
          <p:cNvPr id="11" name="Shape 7"/>
          <p:cNvSpPr/>
          <p:nvPr/>
        </p:nvSpPr>
        <p:spPr>
          <a:xfrm>
            <a:off x="1371600" y="4041648"/>
            <a:ext cx="118872" cy="118872"/>
          </a:xfrm>
          <a:prstGeom prst="rect">
            <a:avLst/>
          </a:prstGeom>
          <a:solidFill>
            <a:srgbClr val="0096B4"/>
          </a:solidFill>
          <a:ln/>
        </p:spPr>
        <p:txBody>
          <a:bodyPr/>
          <a:lstStyle/>
          <a:p>
            <a:endParaRPr lang="pt-BR"/>
          </a:p>
        </p:txBody>
      </p:sp>
      <p:sp>
        <p:nvSpPr>
          <p:cNvPr id="12" name="Text 8"/>
          <p:cNvSpPr/>
          <p:nvPr/>
        </p:nvSpPr>
        <p:spPr>
          <a:xfrm>
            <a:off x="1536192" y="3995928"/>
            <a:ext cx="77724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Não clientes</a:t>
            </a:r>
            <a:endParaRPr lang="en-US" sz="850" dirty="0"/>
          </a:p>
        </p:txBody>
      </p:sp>
      <p:sp>
        <p:nvSpPr>
          <p:cNvPr id="13" name="Shape 9"/>
          <p:cNvSpPr/>
          <p:nvPr/>
        </p:nvSpPr>
        <p:spPr>
          <a:xfrm>
            <a:off x="2286000" y="4041648"/>
            <a:ext cx="118872" cy="118872"/>
          </a:xfrm>
          <a:prstGeom prst="rect">
            <a:avLst/>
          </a:prstGeom>
          <a:solidFill>
            <a:srgbClr val="C8106E"/>
          </a:solidFill>
          <a:ln/>
        </p:spPr>
        <p:txBody>
          <a:bodyPr/>
          <a:lstStyle/>
          <a:p>
            <a:endParaRPr lang="pt-BR"/>
          </a:p>
        </p:txBody>
      </p:sp>
      <p:sp>
        <p:nvSpPr>
          <p:cNvPr id="14" name="Text 10"/>
          <p:cNvSpPr/>
          <p:nvPr/>
        </p:nvSpPr>
        <p:spPr>
          <a:xfrm>
            <a:off x="2450592" y="3995928"/>
            <a:ext cx="128016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Ex-clientes e detratores</a:t>
            </a:r>
            <a:endParaRPr lang="en-US" sz="850" dirty="0"/>
          </a:p>
        </p:txBody>
      </p:sp>
      <p:sp>
        <p:nvSpPr>
          <p:cNvPr id="15" name="Text 11"/>
          <p:cNvSpPr/>
          <p:nvPr/>
        </p:nvSpPr>
        <p:spPr>
          <a:xfrm>
            <a:off x="3840480" y="1143000"/>
            <a:ext cx="484632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Blocos do formulário</a:t>
            </a:r>
            <a:endParaRPr lang="en-US" sz="1300" dirty="0"/>
          </a:p>
        </p:txBody>
      </p:sp>
      <p:sp>
        <p:nvSpPr>
          <p:cNvPr id="16" name="Shape 12"/>
          <p:cNvSpPr/>
          <p:nvPr/>
        </p:nvSpPr>
        <p:spPr>
          <a:xfrm>
            <a:off x="3840480" y="1508760"/>
            <a:ext cx="2331720" cy="786384"/>
          </a:xfrm>
          <a:prstGeom prst="rect">
            <a:avLst/>
          </a:prstGeom>
          <a:solidFill>
            <a:srgbClr val="F4F6F8"/>
          </a:solidFill>
          <a:ln/>
        </p:spPr>
        <p:txBody>
          <a:bodyPr/>
          <a:lstStyle/>
          <a:p>
            <a:endParaRPr lang="pt-BR"/>
          </a:p>
        </p:txBody>
      </p:sp>
      <p:sp>
        <p:nvSpPr>
          <p:cNvPr id="17" name="Text 13"/>
          <p:cNvSpPr/>
          <p:nvPr/>
        </p:nvSpPr>
        <p:spPr>
          <a:xfrm>
            <a:off x="3931920"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1</a:t>
            </a:r>
            <a:endParaRPr lang="en-US" sz="2000" dirty="0"/>
          </a:p>
        </p:txBody>
      </p:sp>
      <p:sp>
        <p:nvSpPr>
          <p:cNvPr id="18" name="Text 14"/>
          <p:cNvSpPr/>
          <p:nvPr/>
        </p:nvSpPr>
        <p:spPr>
          <a:xfrm>
            <a:off x="4279392"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Perfil da operação</a:t>
            </a:r>
            <a:endParaRPr lang="en-US" sz="1050" dirty="0"/>
          </a:p>
        </p:txBody>
      </p:sp>
      <p:sp>
        <p:nvSpPr>
          <p:cNvPr id="19" name="Text 15"/>
          <p:cNvSpPr/>
          <p:nvPr/>
        </p:nvSpPr>
        <p:spPr>
          <a:xfrm>
            <a:off x="4279392"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Porte, ciclo, equipe e quem lança os dados</a:t>
            </a:r>
            <a:endParaRPr lang="en-US" sz="900" dirty="0"/>
          </a:p>
        </p:txBody>
      </p:sp>
      <p:sp>
        <p:nvSpPr>
          <p:cNvPr id="20" name="Shape 16"/>
          <p:cNvSpPr/>
          <p:nvPr/>
        </p:nvSpPr>
        <p:spPr>
          <a:xfrm>
            <a:off x="6291072" y="1508760"/>
            <a:ext cx="2331720" cy="786384"/>
          </a:xfrm>
          <a:prstGeom prst="rect">
            <a:avLst/>
          </a:prstGeom>
          <a:solidFill>
            <a:srgbClr val="F4F6F8"/>
          </a:solidFill>
          <a:ln/>
        </p:spPr>
        <p:txBody>
          <a:bodyPr/>
          <a:lstStyle/>
          <a:p>
            <a:endParaRPr lang="pt-BR"/>
          </a:p>
        </p:txBody>
      </p:sp>
      <p:sp>
        <p:nvSpPr>
          <p:cNvPr id="21" name="Text 17"/>
          <p:cNvSpPr/>
          <p:nvPr/>
        </p:nvSpPr>
        <p:spPr>
          <a:xfrm>
            <a:off x="6382512"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2</a:t>
            </a:r>
            <a:endParaRPr lang="en-US" sz="2000" dirty="0"/>
          </a:p>
        </p:txBody>
      </p:sp>
      <p:sp>
        <p:nvSpPr>
          <p:cNvPr id="22" name="Text 18"/>
          <p:cNvSpPr/>
          <p:nvPr/>
        </p:nvSpPr>
        <p:spPr>
          <a:xfrm>
            <a:off x="6729984"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Como registra hoje</a:t>
            </a:r>
            <a:endParaRPr lang="en-US" sz="1050" dirty="0"/>
          </a:p>
        </p:txBody>
      </p:sp>
      <p:sp>
        <p:nvSpPr>
          <p:cNvPr id="23" name="Text 19"/>
          <p:cNvSpPr/>
          <p:nvPr/>
        </p:nvSpPr>
        <p:spPr>
          <a:xfrm>
            <a:off x="6729984"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Papel, planilha ou software, e quanto tempo gasta</a:t>
            </a:r>
            <a:endParaRPr lang="en-US" sz="900" dirty="0"/>
          </a:p>
        </p:txBody>
      </p:sp>
      <p:sp>
        <p:nvSpPr>
          <p:cNvPr id="24" name="Shape 20"/>
          <p:cNvSpPr/>
          <p:nvPr/>
        </p:nvSpPr>
        <p:spPr>
          <a:xfrm>
            <a:off x="3840480" y="2404872"/>
            <a:ext cx="2331720" cy="786384"/>
          </a:xfrm>
          <a:prstGeom prst="rect">
            <a:avLst/>
          </a:prstGeom>
          <a:solidFill>
            <a:srgbClr val="F4F6F8"/>
          </a:solidFill>
          <a:ln/>
        </p:spPr>
        <p:txBody>
          <a:bodyPr/>
          <a:lstStyle/>
          <a:p>
            <a:endParaRPr lang="pt-BR"/>
          </a:p>
        </p:txBody>
      </p:sp>
      <p:sp>
        <p:nvSpPr>
          <p:cNvPr id="25" name="Text 21"/>
          <p:cNvSpPr/>
          <p:nvPr/>
        </p:nvSpPr>
        <p:spPr>
          <a:xfrm>
            <a:off x="3931920"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3</a:t>
            </a:r>
            <a:endParaRPr lang="en-US" sz="2000" dirty="0"/>
          </a:p>
        </p:txBody>
      </p:sp>
      <p:sp>
        <p:nvSpPr>
          <p:cNvPr id="26" name="Text 22"/>
          <p:cNvSpPr/>
          <p:nvPr/>
        </p:nvSpPr>
        <p:spPr>
          <a:xfrm>
            <a:off x="4279392"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Dores na rotina de dados</a:t>
            </a:r>
            <a:endParaRPr lang="en-US" sz="1050" dirty="0"/>
          </a:p>
        </p:txBody>
      </p:sp>
      <p:sp>
        <p:nvSpPr>
          <p:cNvPr id="27" name="Text 23"/>
          <p:cNvSpPr/>
          <p:nvPr/>
        </p:nvSpPr>
        <p:spPr>
          <a:xfrm>
            <a:off x="4279392"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Ranking das cinco maiores dificuldades</a:t>
            </a:r>
            <a:endParaRPr lang="en-US" sz="900" dirty="0"/>
          </a:p>
        </p:txBody>
      </p:sp>
      <p:sp>
        <p:nvSpPr>
          <p:cNvPr id="28" name="Shape 24"/>
          <p:cNvSpPr/>
          <p:nvPr/>
        </p:nvSpPr>
        <p:spPr>
          <a:xfrm>
            <a:off x="6291072" y="2404872"/>
            <a:ext cx="2331720" cy="786384"/>
          </a:xfrm>
          <a:prstGeom prst="rect">
            <a:avLst/>
          </a:prstGeom>
          <a:solidFill>
            <a:srgbClr val="F4F6F8"/>
          </a:solidFill>
          <a:ln/>
        </p:spPr>
        <p:txBody>
          <a:bodyPr/>
          <a:lstStyle/>
          <a:p>
            <a:endParaRPr lang="pt-BR"/>
          </a:p>
        </p:txBody>
      </p:sp>
      <p:sp>
        <p:nvSpPr>
          <p:cNvPr id="29" name="Text 25"/>
          <p:cNvSpPr/>
          <p:nvPr/>
        </p:nvSpPr>
        <p:spPr>
          <a:xfrm>
            <a:off x="6382512"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4</a:t>
            </a:r>
            <a:endParaRPr lang="en-US" sz="2000" dirty="0"/>
          </a:p>
        </p:txBody>
      </p:sp>
      <p:sp>
        <p:nvSpPr>
          <p:cNvPr id="30" name="Text 26"/>
          <p:cNvSpPr/>
          <p:nvPr/>
        </p:nvSpPr>
        <p:spPr>
          <a:xfrm>
            <a:off x="6729984"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Sistemas já usados</a:t>
            </a:r>
            <a:endParaRPr lang="en-US" sz="1050" dirty="0"/>
          </a:p>
        </p:txBody>
      </p:sp>
      <p:sp>
        <p:nvSpPr>
          <p:cNvPr id="31" name="Text 27"/>
          <p:cNvSpPr/>
          <p:nvPr/>
        </p:nvSpPr>
        <p:spPr>
          <a:xfrm>
            <a:off x="6729984"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O que funcionou e por que parou de usar</a:t>
            </a:r>
            <a:endParaRPr lang="en-US" sz="900" dirty="0"/>
          </a:p>
        </p:txBody>
      </p:sp>
      <p:sp>
        <p:nvSpPr>
          <p:cNvPr id="32" name="Shape 28"/>
          <p:cNvSpPr/>
          <p:nvPr/>
        </p:nvSpPr>
        <p:spPr>
          <a:xfrm>
            <a:off x="3840480" y="3300984"/>
            <a:ext cx="2331720" cy="786384"/>
          </a:xfrm>
          <a:prstGeom prst="rect">
            <a:avLst/>
          </a:prstGeom>
          <a:solidFill>
            <a:srgbClr val="F4F6F8"/>
          </a:solidFill>
          <a:ln/>
        </p:spPr>
        <p:txBody>
          <a:bodyPr/>
          <a:lstStyle/>
          <a:p>
            <a:endParaRPr lang="pt-BR"/>
          </a:p>
        </p:txBody>
      </p:sp>
      <p:sp>
        <p:nvSpPr>
          <p:cNvPr id="33" name="Text 29"/>
          <p:cNvSpPr/>
          <p:nvPr/>
        </p:nvSpPr>
        <p:spPr>
          <a:xfrm>
            <a:off x="3931920"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5</a:t>
            </a:r>
            <a:endParaRPr lang="en-US" sz="2000" dirty="0"/>
          </a:p>
        </p:txBody>
      </p:sp>
      <p:sp>
        <p:nvSpPr>
          <p:cNvPr id="34" name="Text 30"/>
          <p:cNvSpPr/>
          <p:nvPr/>
        </p:nvSpPr>
        <p:spPr>
          <a:xfrm>
            <a:off x="4279392"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Valor percebido</a:t>
            </a:r>
            <a:endParaRPr lang="en-US" sz="1050" dirty="0"/>
          </a:p>
        </p:txBody>
      </p:sp>
      <p:sp>
        <p:nvSpPr>
          <p:cNvPr id="35" name="Text 31"/>
          <p:cNvSpPr/>
          <p:nvPr/>
        </p:nvSpPr>
        <p:spPr>
          <a:xfrm>
            <a:off x="4279392"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Disposição a usar e a recomendar, de 0 a 10</a:t>
            </a:r>
            <a:endParaRPr lang="en-US" sz="900" dirty="0"/>
          </a:p>
        </p:txBody>
      </p:sp>
      <p:sp>
        <p:nvSpPr>
          <p:cNvPr id="36" name="Shape 32"/>
          <p:cNvSpPr/>
          <p:nvPr/>
        </p:nvSpPr>
        <p:spPr>
          <a:xfrm>
            <a:off x="6291072" y="3300984"/>
            <a:ext cx="2331720" cy="786384"/>
          </a:xfrm>
          <a:prstGeom prst="rect">
            <a:avLst/>
          </a:prstGeom>
          <a:solidFill>
            <a:srgbClr val="F4F6F8"/>
          </a:solidFill>
          <a:ln/>
        </p:spPr>
        <p:txBody>
          <a:bodyPr/>
          <a:lstStyle/>
          <a:p>
            <a:endParaRPr lang="pt-BR"/>
          </a:p>
        </p:txBody>
      </p:sp>
      <p:sp>
        <p:nvSpPr>
          <p:cNvPr id="37" name="Text 33"/>
          <p:cNvSpPr/>
          <p:nvPr/>
        </p:nvSpPr>
        <p:spPr>
          <a:xfrm>
            <a:off x="6382512"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6</a:t>
            </a:r>
            <a:endParaRPr lang="en-US" sz="2000" dirty="0"/>
          </a:p>
        </p:txBody>
      </p:sp>
      <p:sp>
        <p:nvSpPr>
          <p:cNvPr id="38" name="Text 34"/>
          <p:cNvSpPr/>
          <p:nvPr/>
        </p:nvSpPr>
        <p:spPr>
          <a:xfrm>
            <a:off x="6729984"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Relação com fornecedores</a:t>
            </a:r>
            <a:endParaRPr lang="en-US" sz="1050" dirty="0"/>
          </a:p>
        </p:txBody>
      </p:sp>
      <p:sp>
        <p:nvSpPr>
          <p:cNvPr id="39" name="Text 35"/>
          <p:cNvSpPr/>
          <p:nvPr/>
        </p:nvSpPr>
        <p:spPr>
          <a:xfrm>
            <a:off x="6729984"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Peso do suporte digital na escolha da nutrição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Escopo e Descrição do Projeto</a:t>
            </a:r>
            <a:br>
              <a:rPr lang="en-CA" sz="2400" dirty="0"/>
            </a:br>
            <a:r>
              <a:rPr lang="en-US" sz="1350" b="0" i="1" dirty="0"/>
              <a:t>O que está incluído neste projeto e, portanto, nos custos de investimento e no cálculo do ROI.</a:t>
            </a:r>
            <a:endParaRPr lang="en-CA" sz="2400" b="0" i="1" dirty="0"/>
          </a:p>
        </p:txBody>
      </p:sp>
      <p:sp>
        <p:nvSpPr>
          <p:cNvPr id="2" name="Rectangle 6">
            <a:extLst>
              <a:ext uri="{FF2B5EF4-FFF2-40B4-BE49-F238E27FC236}">
                <a16:creationId xmlns:a16="http://schemas.microsoft.com/office/drawing/2014/main" id="{71C4FEAC-BFE9-9936-0DEB-32AB6A7DB426}"/>
              </a:ext>
            </a:extLst>
          </p:cNvPr>
          <p:cNvSpPr/>
          <p:nvPr/>
        </p:nvSpPr>
        <p:spPr>
          <a:xfrm>
            <a:off x="0" y="1744232"/>
            <a:ext cx="4425802" cy="2102362"/>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7">
            <a:extLst>
              <a:ext uri="{FF2B5EF4-FFF2-40B4-BE49-F238E27FC236}">
                <a16:creationId xmlns:a16="http://schemas.microsoft.com/office/drawing/2014/main" id="{16B0D241-57FA-8BF8-1F89-AF51AFA631B7}"/>
              </a:ext>
            </a:extLst>
          </p:cNvPr>
          <p:cNvSpPr/>
          <p:nvPr/>
        </p:nvSpPr>
        <p:spPr>
          <a:xfrm>
            <a:off x="4425802" y="1744232"/>
            <a:ext cx="4718198" cy="2097952"/>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6">
            <a:extLst>
              <a:ext uri="{FF2B5EF4-FFF2-40B4-BE49-F238E27FC236}">
                <a16:creationId xmlns:a16="http://schemas.microsoft.com/office/drawing/2014/main" id="{147D7F80-D61F-16B1-585B-8C9096DC2367}"/>
              </a:ext>
            </a:extLst>
          </p:cNvPr>
          <p:cNvGrpSpPr/>
          <p:nvPr/>
        </p:nvGrpSpPr>
        <p:grpSpPr>
          <a:xfrm>
            <a:off x="3005826" y="1545637"/>
            <a:ext cx="2901953" cy="2516981"/>
            <a:chOff x="4162425" y="1835149"/>
            <a:chExt cx="3869270" cy="3355975"/>
          </a:xfrm>
        </p:grpSpPr>
        <p:sp>
          <p:nvSpPr>
            <p:cNvPr id="7" name="Rectangle 14">
              <a:extLst>
                <a:ext uri="{FF2B5EF4-FFF2-40B4-BE49-F238E27FC236}">
                  <a16:creationId xmlns:a16="http://schemas.microsoft.com/office/drawing/2014/main" id="{B2977A67-8290-D44C-F14B-14E20264A50A}"/>
                </a:ext>
              </a:extLst>
            </p:cNvPr>
            <p:cNvSpPr/>
            <p:nvPr/>
          </p:nvSpPr>
          <p:spPr>
            <a:xfrm>
              <a:off x="4162425"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15">
              <a:extLst>
                <a:ext uri="{FF2B5EF4-FFF2-40B4-BE49-F238E27FC236}">
                  <a16:creationId xmlns:a16="http://schemas.microsoft.com/office/drawing/2014/main" id="{01BC83C4-AB27-3565-1219-F8F759FF64D7}"/>
                </a:ext>
              </a:extLst>
            </p:cNvPr>
            <p:cNvSpPr/>
            <p:nvPr/>
          </p:nvSpPr>
          <p:spPr>
            <a:xfrm>
              <a:off x="6096000"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0" name="Title 4">
            <a:extLst>
              <a:ext uri="{FF2B5EF4-FFF2-40B4-BE49-F238E27FC236}">
                <a16:creationId xmlns:a16="http://schemas.microsoft.com/office/drawing/2014/main" id="{50BEDB88-DCFE-42E0-1AC0-84B2901D6CEB}"/>
              </a:ext>
            </a:extLst>
          </p:cNvPr>
          <p:cNvSpPr txBox="1">
            <a:spLocks/>
          </p:cNvSpPr>
          <p:nvPr/>
        </p:nvSpPr>
        <p:spPr>
          <a:xfrm>
            <a:off x="3120524" y="3144276"/>
            <a:ext cx="1222374" cy="2492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No Escopo</a:t>
            </a:r>
          </a:p>
        </p:txBody>
      </p:sp>
      <p:sp>
        <p:nvSpPr>
          <p:cNvPr id="11" name="Oval 11">
            <a:extLst>
              <a:ext uri="{FF2B5EF4-FFF2-40B4-BE49-F238E27FC236}">
                <a16:creationId xmlns:a16="http://schemas.microsoft.com/office/drawing/2014/main" id="{62A7E422-C076-0351-1B6A-4327F95A8625}"/>
              </a:ext>
            </a:extLst>
          </p:cNvPr>
          <p:cNvSpPr/>
          <p:nvPr/>
        </p:nvSpPr>
        <p:spPr>
          <a:xfrm>
            <a:off x="3371746" y="2226413"/>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itle 4">
            <a:extLst>
              <a:ext uri="{FF2B5EF4-FFF2-40B4-BE49-F238E27FC236}">
                <a16:creationId xmlns:a16="http://schemas.microsoft.com/office/drawing/2014/main" id="{F425D2BD-C878-E7D8-DFEB-589DFA5139A8}"/>
              </a:ext>
            </a:extLst>
          </p:cNvPr>
          <p:cNvSpPr txBox="1">
            <a:spLocks/>
          </p:cNvSpPr>
          <p:nvPr/>
        </p:nvSpPr>
        <p:spPr>
          <a:xfrm>
            <a:off x="4570706" y="3146232"/>
            <a:ext cx="1222374"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Fora do Escopo</a:t>
            </a:r>
          </a:p>
        </p:txBody>
      </p:sp>
      <p:sp>
        <p:nvSpPr>
          <p:cNvPr id="13" name="Oval 12">
            <a:extLst>
              <a:ext uri="{FF2B5EF4-FFF2-40B4-BE49-F238E27FC236}">
                <a16:creationId xmlns:a16="http://schemas.microsoft.com/office/drawing/2014/main" id="{4652899E-A96C-1253-CEE1-48D0C2683A61}"/>
              </a:ext>
            </a:extLst>
          </p:cNvPr>
          <p:cNvSpPr/>
          <p:nvPr/>
        </p:nvSpPr>
        <p:spPr>
          <a:xfrm>
            <a:off x="4821928" y="2228369"/>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20">
            <a:extLst>
              <a:ext uri="{FF2B5EF4-FFF2-40B4-BE49-F238E27FC236}">
                <a16:creationId xmlns:a16="http://schemas.microsoft.com/office/drawing/2014/main" id="{41B97859-F92A-F433-4938-019E44FF3A35}"/>
              </a:ext>
            </a:extLst>
          </p:cNvPr>
          <p:cNvSpPr txBox="1"/>
          <p:nvPr/>
        </p:nvSpPr>
        <p:spPr>
          <a:xfrm>
            <a:off x="143509" y="1902377"/>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a:solidFill>
                  <a:schemeClr val="bg1"/>
                </a:solidFill>
              </a:rPr>
              <a:t>Desenvolvimento completo do aplicativo para confinamento</a:t>
            </a:r>
          </a:p>
          <a:p>
            <a:pPr marL="214313" indent="-214313">
              <a:lnSpc>
                <a:spcPct val="120000"/>
              </a:lnSpc>
              <a:buFont typeface="Arial" panose="020B0604020202020204" pitchFamily="34" charset="0"/>
              <a:buChar char="•"/>
            </a:pPr>
            <a:r>
              <a:rPr lang="en-US" sz="1200">
                <a:solidFill>
                  <a:schemeClr val="bg1"/>
                </a:solidFill>
              </a:rPr>
              <a:t>Equipe adicional para implantação e suporte</a:t>
            </a:r>
          </a:p>
          <a:p>
            <a:pPr marL="214313" indent="-214313">
              <a:lnSpc>
                <a:spcPct val="120000"/>
              </a:lnSpc>
              <a:buFont typeface="Arial" panose="020B0604020202020204" pitchFamily="34" charset="0"/>
              <a:buChar char="•"/>
            </a:pPr>
            <a:r>
              <a:rPr lang="en-US" sz="1200">
                <a:solidFill>
                  <a:schemeClr val="bg1"/>
                </a:solidFill>
              </a:rPr>
              <a:t>Campanhas de Marketing / Comunicação</a:t>
            </a:r>
          </a:p>
          <a:p>
            <a:pPr marL="214313" indent="-214313">
              <a:lnSpc>
                <a:spcPct val="120000"/>
              </a:lnSpc>
              <a:buFont typeface="Arial" panose="020B0604020202020204" pitchFamily="34" charset="0"/>
              <a:buChar char="•"/>
            </a:pPr>
            <a:r>
              <a:rPr lang="en-US" sz="1200">
                <a:solidFill>
                  <a:schemeClr val="bg1"/>
                </a:solidFill>
              </a:rPr>
              <a:t>Todas as funcionalidades descritas neste documento</a:t>
            </a:r>
          </a:p>
        </p:txBody>
      </p:sp>
      <p:sp>
        <p:nvSpPr>
          <p:cNvPr id="28" name="TextBox 20">
            <a:extLst>
              <a:ext uri="{FF2B5EF4-FFF2-40B4-BE49-F238E27FC236}">
                <a16:creationId xmlns:a16="http://schemas.microsoft.com/office/drawing/2014/main" id="{09DBE4F7-BAD1-E359-1BAE-091AFDA3F252}"/>
              </a:ext>
            </a:extLst>
          </p:cNvPr>
          <p:cNvSpPr txBox="1"/>
          <p:nvPr/>
        </p:nvSpPr>
        <p:spPr>
          <a:xfrm>
            <a:off x="6143942" y="1877310"/>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dirty="0">
                <a:solidFill>
                  <a:schemeClr val="bg1"/>
                </a:solidFill>
              </a:rPr>
              <a:t>Desenvolvimento para CORTE extensivo, Leite ou outras espécies</a:t>
            </a:r>
          </a:p>
          <a:p>
            <a:pPr marL="214313" indent="-214313">
              <a:lnSpc>
                <a:spcPct val="120000"/>
              </a:lnSpc>
              <a:buFont typeface="Arial" panose="020B0604020202020204" pitchFamily="34" charset="0"/>
              <a:buChar char="•"/>
            </a:pPr>
            <a:endParaRPr lang="en-US" sz="1200" dirty="0">
              <a:solidFill>
                <a:schemeClr val="bg1"/>
              </a:solidFill>
            </a:endParaRPr>
          </a:p>
        </p:txBody>
      </p:sp>
      <p:pic>
        <p:nvPicPr>
          <p:cNvPr id="1026" name="Picture 2" descr="yes - no - tick and cross icon on transparent background. 21013497 PNG">
            <a:extLst>
              <a:ext uri="{FF2B5EF4-FFF2-40B4-BE49-F238E27FC236}">
                <a16:creationId xmlns:a16="http://schemas.microsoft.com/office/drawing/2014/main" id="{D3703575-90C5-264C-9629-F61129EEFC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11"/>
          <a:stretch/>
        </p:blipFill>
        <p:spPr bwMode="auto">
          <a:xfrm>
            <a:off x="3524432" y="2209230"/>
            <a:ext cx="411394" cy="7606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yes - no - tick and cross icon on transparent background. 21013497 PNG">
            <a:extLst>
              <a:ext uri="{FF2B5EF4-FFF2-40B4-BE49-F238E27FC236}">
                <a16:creationId xmlns:a16="http://schemas.microsoft.com/office/drawing/2014/main" id="{DFE1A444-3452-30A8-F9B3-C984DADECE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317"/>
          <a:stretch/>
        </p:blipFill>
        <p:spPr bwMode="auto">
          <a:xfrm>
            <a:off x="4949215" y="2209230"/>
            <a:ext cx="435152" cy="76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86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7FA9E84-6933-866E-9740-F1E0400C3752}"/>
              </a:ext>
            </a:extLst>
          </p:cNvPr>
          <p:cNvSpPr>
            <a:spLocks noGrp="1"/>
          </p:cNvSpPr>
          <p:nvPr>
            <p:ph type="sldNum" sz="quarter" idx="15"/>
          </p:nvPr>
        </p:nvSpPr>
        <p:spPr/>
        <p:txBody>
          <a:bodyPr/>
          <a:lstStyle/>
          <a:p>
            <a:fld id="{82366C92-DFCE-40A6-8CC1-5A4741E3726D}" type="slidenum">
              <a:rPr lang="en-GB" smtClean="0"/>
              <a:pPr/>
              <a:t>19</a:t>
            </a:fld>
            <a:endParaRPr lang="en-GB"/>
          </a:p>
        </p:txBody>
      </p:sp>
      <p:sp>
        <p:nvSpPr>
          <p:cNvPr id="5" name="Título 4">
            <a:extLst>
              <a:ext uri="{FF2B5EF4-FFF2-40B4-BE49-F238E27FC236}">
                <a16:creationId xmlns:a16="http://schemas.microsoft.com/office/drawing/2014/main" id="{C4741695-FE94-C58F-C66F-FA9D5E4EA7E9}"/>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Prospecção de Novos Clientes</a:t>
            </a:r>
            <a:br>
              <a:rPr lang="en-CA" sz="2400" dirty="0"/>
            </a:br>
            <a:r>
              <a:rPr lang="en-US" sz="1350" b="0" i="1" dirty="0"/>
              <a:t>Abordamos 28 prospects com os quais ainda não conseguimos avançar de forma significativa…</a:t>
            </a:r>
            <a:endParaRPr lang="en-CA" sz="2400" b="0" i="1" dirty="0"/>
          </a:p>
        </p:txBody>
      </p:sp>
      <p:pic>
        <p:nvPicPr>
          <p:cNvPr id="2" name="Imagem 1">
            <a:extLst>
              <a:ext uri="{FF2B5EF4-FFF2-40B4-BE49-F238E27FC236}">
                <a16:creationId xmlns:a16="http://schemas.microsoft.com/office/drawing/2014/main" id="{C6A64F14-B6A5-E891-AFCA-0CDA7045E08E}"/>
              </a:ext>
            </a:extLst>
          </p:cNvPr>
          <p:cNvPicPr>
            <a:picLocks noChangeAspect="1"/>
          </p:cNvPicPr>
          <p:nvPr/>
        </p:nvPicPr>
        <p:blipFill>
          <a:blip r:embed="rId2"/>
          <a:stretch>
            <a:fillRect/>
          </a:stretch>
        </p:blipFill>
        <p:spPr>
          <a:xfrm>
            <a:off x="89502" y="774900"/>
            <a:ext cx="5133975" cy="4133850"/>
          </a:xfrm>
          <a:prstGeom prst="rect">
            <a:avLst/>
          </a:prstGeom>
        </p:spPr>
      </p:pic>
      <p:pic>
        <p:nvPicPr>
          <p:cNvPr id="7" name="Imagem 6">
            <a:extLst>
              <a:ext uri="{FF2B5EF4-FFF2-40B4-BE49-F238E27FC236}">
                <a16:creationId xmlns:a16="http://schemas.microsoft.com/office/drawing/2014/main" id="{73B5D19C-A3CA-70AD-7881-9593AA2D11C5}"/>
              </a:ext>
            </a:extLst>
          </p:cNvPr>
          <p:cNvPicPr>
            <a:picLocks noChangeAspect="1"/>
          </p:cNvPicPr>
          <p:nvPr/>
        </p:nvPicPr>
        <p:blipFill>
          <a:blip r:embed="rId3"/>
          <a:stretch>
            <a:fillRect/>
          </a:stretch>
        </p:blipFill>
        <p:spPr>
          <a:xfrm>
            <a:off x="5511433" y="850184"/>
            <a:ext cx="3438442" cy="2066723"/>
          </a:xfrm>
          <a:prstGeom prst="rect">
            <a:avLst/>
          </a:prstGeom>
        </p:spPr>
      </p:pic>
      <p:graphicFrame>
        <p:nvGraphicFramePr>
          <p:cNvPr id="3" name="Tabela 2">
            <a:extLst>
              <a:ext uri="{FF2B5EF4-FFF2-40B4-BE49-F238E27FC236}">
                <a16:creationId xmlns:a16="http://schemas.microsoft.com/office/drawing/2014/main" id="{E5F7C463-C261-7E9F-24A4-0FB810FA7CFE}"/>
              </a:ext>
            </a:extLst>
          </p:cNvPr>
          <p:cNvGraphicFramePr>
            <a:graphicFrameLocks noGrp="1"/>
          </p:cNvGraphicFramePr>
          <p:nvPr/>
        </p:nvGraphicFramePr>
        <p:xfrm>
          <a:off x="5511433" y="3464642"/>
          <a:ext cx="3438441" cy="1141095"/>
        </p:xfrm>
        <a:graphic>
          <a:graphicData uri="http://schemas.openxmlformats.org/drawingml/2006/table">
            <a:tbl>
              <a:tblPr>
                <a:tableStyleId>{69012ECD-51FC-41F1-AA8D-1B2483CD663E}</a:tableStyleId>
              </a:tblPr>
              <a:tblGrid>
                <a:gridCol w="2480755">
                  <a:extLst>
                    <a:ext uri="{9D8B030D-6E8A-4147-A177-3AD203B41FA5}">
                      <a16:colId xmlns:a16="http://schemas.microsoft.com/office/drawing/2014/main" val="604473642"/>
                    </a:ext>
                  </a:extLst>
                </a:gridCol>
                <a:gridCol w="957686">
                  <a:extLst>
                    <a:ext uri="{9D8B030D-6E8A-4147-A177-3AD203B41FA5}">
                      <a16:colId xmlns:a16="http://schemas.microsoft.com/office/drawing/2014/main" val="1869619365"/>
                    </a:ext>
                  </a:extLst>
                </a:gridCol>
              </a:tblGrid>
              <a:tr h="165735">
                <a:tc>
                  <a:txBody>
                    <a:bodyPr/>
                    <a:lstStyle/>
                    <a:p>
                      <a:pPr algn="l" fontAlgn="b"/>
                      <a:r>
                        <a:rPr lang="pt-BR" sz="1100" u="none" strike="noStrike">
                          <a:effectLst/>
                        </a:rPr>
                        <a:t>Cabeças de Gado</a:t>
                      </a:r>
                      <a:endParaRPr lang="pt-BR" sz="1100" b="0" i="0" u="none" strike="noStrike">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400,000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353093704"/>
                  </a:ext>
                </a:extLst>
              </a:tr>
              <a:tr h="165735">
                <a:tc>
                  <a:txBody>
                    <a:bodyPr/>
                    <a:lstStyle/>
                    <a:p>
                      <a:pPr algn="l" fontAlgn="b"/>
                      <a:r>
                        <a:rPr lang="en-US" sz="1100" u="none" strike="noStrike" dirty="0">
                          <a:effectLst/>
                        </a:rPr>
                        <a:t>Consumo Diário / Animal </a:t>
                      </a:r>
                      <a:r>
                        <a:rPr lang="en-US" sz="700" i="1" u="none" strike="noStrike" dirty="0">
                          <a:effectLst/>
                        </a:rPr>
                        <a:t>(</a:t>
                      </a:r>
                      <a:r>
                        <a:rPr lang="en-US" sz="700" i="1" u="none" strike="noStrike" dirty="0" err="1">
                          <a:effectLst/>
                        </a:rPr>
                        <a:t>Bellpeso</a:t>
                      </a:r>
                      <a:r>
                        <a:rPr lang="en-US" sz="700" i="1" u="none" strike="noStrike" dirty="0">
                          <a:effectLst/>
                        </a:rPr>
                        <a:t> Super 2000 </a:t>
                      </a:r>
                      <a:r>
                        <a:rPr lang="en-US" sz="700" i="1" u="none" strike="noStrike" dirty="0" err="1">
                          <a:effectLst/>
                        </a:rPr>
                        <a:t>Avance</a:t>
                      </a:r>
                      <a:r>
                        <a:rPr lang="en-US" sz="700" i="1" u="none" strike="noStrike" dirty="0">
                          <a:effectLst/>
                        </a:rPr>
                        <a:t>)</a:t>
                      </a:r>
                      <a:endParaRPr lang="en-US"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dirty="0">
                          <a:effectLst/>
                        </a:rPr>
                        <a:t>100</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98322057"/>
                  </a:ext>
                </a:extLst>
              </a:tr>
              <a:tr h="165735">
                <a:tc>
                  <a:txBody>
                    <a:bodyPr/>
                    <a:lstStyle/>
                    <a:p>
                      <a:pPr algn="l" fontAlgn="b"/>
                      <a:r>
                        <a:rPr lang="pt-BR" sz="1100" u="none" strike="noStrike" dirty="0">
                          <a:effectLst/>
                        </a:rPr>
                        <a:t>Volume Total </a:t>
                      </a:r>
                      <a:r>
                        <a:rPr lang="pt-BR" sz="700" i="1" u="none" strike="noStrike" dirty="0">
                          <a:effectLst/>
                        </a:rPr>
                        <a:t>(</a:t>
                      </a:r>
                      <a:r>
                        <a:rPr lang="pt-BR" sz="700" i="1" u="none" strike="noStrike" dirty="0" err="1">
                          <a:effectLst/>
                        </a:rPr>
                        <a:t>Bellpeso</a:t>
                      </a:r>
                      <a:r>
                        <a:rPr lang="pt-BR" sz="7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3,600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147563399"/>
                  </a:ext>
                </a:extLst>
              </a:tr>
              <a:tr h="165735">
                <a:tc>
                  <a:txBody>
                    <a:bodyPr/>
                    <a:lstStyle/>
                    <a:p>
                      <a:pPr algn="l" fontAlgn="b"/>
                      <a:r>
                        <a:rPr lang="pt-BR" sz="1100" u="none" strike="noStrike" dirty="0">
                          <a:effectLst/>
                        </a:rPr>
                        <a:t>SP/Ton </a:t>
                      </a:r>
                      <a:r>
                        <a:rPr lang="pt-BR" sz="600" i="1" u="none" strike="noStrike" dirty="0">
                          <a:effectLst/>
                        </a:rPr>
                        <a:t>(</a:t>
                      </a:r>
                      <a:r>
                        <a:rPr lang="pt-BR" sz="600" i="1" u="none" strike="noStrike" dirty="0" err="1">
                          <a:effectLst/>
                        </a:rPr>
                        <a:t>Bellpeso</a:t>
                      </a:r>
                      <a:r>
                        <a:rPr lang="pt-BR" sz="6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1,300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722811295"/>
                  </a:ext>
                </a:extLst>
              </a:tr>
              <a:tr h="165735">
                <a:tc>
                  <a:txBody>
                    <a:bodyPr/>
                    <a:lstStyle/>
                    <a:p>
                      <a:pPr algn="l" fontAlgn="b"/>
                      <a:r>
                        <a:rPr lang="en-US" sz="1100" u="none" strike="noStrike" dirty="0">
                          <a:effectLst/>
                        </a:rPr>
                        <a:t>Sales Profit Potencial (28 Clientes)</a:t>
                      </a:r>
                      <a:endParaRPr lang="en-US" sz="1100" b="0" i="0" u="none" strike="noStrike" dirty="0">
                        <a:solidFill>
                          <a:srgbClr val="000000"/>
                        </a:solidFill>
                        <a:effectLst/>
                        <a:latin typeface="Calibri" panose="020F0502020204030204" pitchFamily="34" charset="0"/>
                      </a:endParaRPr>
                    </a:p>
                  </a:txBody>
                  <a:tcPr marL="5715" marR="5715" marT="5715" marB="0" anchor="b"/>
                </a:tc>
                <a:tc>
                  <a:txBody>
                    <a:bodyPr/>
                    <a:lstStyle/>
                    <a:p>
                      <a:pPr algn="l" fontAlgn="b"/>
                      <a:r>
                        <a:rPr lang="pt-BR" sz="1100" u="none" strike="noStrike" dirty="0">
                          <a:effectLst/>
                        </a:rPr>
                        <a:t> R$  4,680,000.00 </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02195234"/>
                  </a:ext>
                </a:extLst>
              </a:tr>
            </a:tbl>
          </a:graphicData>
        </a:graphic>
      </p:graphicFrame>
    </p:spTree>
    <p:extLst>
      <p:ext uri="{BB962C8B-B14F-4D97-AF65-F5344CB8AC3E}">
        <p14:creationId xmlns:p14="http://schemas.microsoft.com/office/powerpoint/2010/main" val="147438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Critérios de avanço entre fases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Metas propostas para discussão. Nenhuma fase avança só pelo calendário.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30</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9504"/>
        </p:xfrm>
        <a:graphic>
          <a:graphicData uri="http://schemas.openxmlformats.org/drawingml/2006/table">
            <a:tbl>
              <a:tblPr/>
              <a:tblGrid>
                <a:gridCol w="2194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Quando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Critério para avançar (proposta)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extLst>
                  <a:ext uri="{0D108BD9-81ED-4DB2-BD59-A6C34878D82A}">
                    <a16:rowId xmlns:a16="http://schemas.microsoft.com/office/drawing/2014/main" val="10000"/>
                  </a:ext>
                </a:extLst>
              </a:tr>
              <a:tr h="640080">
                <a:tc>
                  <a:txBody>
                    <a:bodyPr/>
                    <a:lstStyle/>
                    <a:p>
                      <a:pPr marL="0" indent="0">
                        <a:buNone/>
                      </a:pPr>
                      <a:r>
                        <a:rPr lang="en-US" sz="1100" b="1" dirty="0">
                          <a:solidFill>
                            <a:srgbClr val="1B3A8C"/>
                          </a:solidFill>
                          <a:latin typeface="Calibri" pitchFamily="34" charset="0"/>
                          <a:ea typeface="Calibri" pitchFamily="34" charset="-122"/>
                          <a:cs typeface="Calibri" pitchFamily="34" charset="-120"/>
                        </a:rPr>
                        <a:t>G0  Escopo do produto mínimo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0</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30 ou mais fazendas respondidas; perfil de cliente e cinco dores principais confirmados; patrocinador interno definido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100" b="1" dirty="0">
                          <a:solidFill>
                            <a:srgbClr val="C8106E"/>
                          </a:solidFill>
                          <a:latin typeface="Calibri" pitchFamily="34" charset="0"/>
                          <a:ea typeface="Calibri" pitchFamily="34" charset="-122"/>
                          <a:cs typeface="Calibri" pitchFamily="34" charset="-120"/>
                        </a:rPr>
                        <a:t>G1  Piloto validado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1</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Lançamento em pelo menos 70% dos dias, por 8 semanas; até 10 minutos por dia; gestor usa o relatório semanal</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100" b="1" dirty="0">
                          <a:solidFill>
                            <a:srgbClr val="26668F"/>
                          </a:solidFill>
                          <a:latin typeface="Calibri" pitchFamily="34" charset="0"/>
                          <a:ea typeface="Calibri" pitchFamily="34" charset="-122"/>
                          <a:cs typeface="Calibri" pitchFamily="34" charset="-120"/>
                        </a:rPr>
                        <a:t>G2  Escala aprovada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2</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80% das fazendas ativas após 90 dias; nota de recomendação média de 8 ou mais; 20 fazendas atendidas pelo Rodrigo com auditoria mensal. Gatilho para contratar analistas (1 para cada 20 fazendas)</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100" b="1" dirty="0">
                          <a:solidFill>
                            <a:srgbClr val="0096B4"/>
                          </a:solidFill>
                          <a:latin typeface="Calibri" pitchFamily="34" charset="0"/>
                          <a:ea typeface="Calibri" pitchFamily="34" charset="-122"/>
                          <a:cs typeface="Calibri" pitchFamily="34" charset="-120"/>
                        </a:rPr>
                        <a:t>G3  Integração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Durante a fase 3</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Pelo menos 5 fazendas pedindo integração com balança ou vagão; custo por fazenda abaixo da licença paga hoje (média de R$ 18,2 mil por ano)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Conclusão</a:t>
            </a:r>
          </a:p>
          <a:p>
            <a:pPr>
              <a:lnSpc>
                <a:spcPct val="100000"/>
              </a:lnSpc>
            </a:pPr>
            <a:r>
              <a:rPr lang="en-US" sz="1350" b="0" i="1" dirty="0"/>
              <a:t>Cinco conclusões sustentam a aprovação deste projeto.</a:t>
            </a:r>
            <a:endParaRPr lang="en-CA" sz="2400" b="0" i="1" dirty="0"/>
          </a:p>
        </p:txBody>
      </p:sp>
      <p:sp>
        <p:nvSpPr>
          <p:cNvPr id="2" name="Retângulo 1">
            <a:extLst>
              <a:ext uri="{FF2B5EF4-FFF2-40B4-BE49-F238E27FC236}">
                <a16:creationId xmlns:a16="http://schemas.microsoft.com/office/drawing/2014/main" id="{A2A25C0B-CDE2-46E4-6226-A99BBA96BC8F}"/>
              </a:ext>
            </a:extLst>
          </p:cNvPr>
          <p:cNvSpPr/>
          <p:nvPr/>
        </p:nvSpPr>
        <p:spPr>
          <a:xfrm>
            <a:off x="296736"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O projeto está alinhado às nossas Prioridades Estratégicas de Crescimento Orgânico (Receita).</a:t>
            </a:r>
          </a:p>
        </p:txBody>
      </p:sp>
      <p:sp>
        <p:nvSpPr>
          <p:cNvPr id="3" name="Retângulo 2">
            <a:extLst>
              <a:ext uri="{FF2B5EF4-FFF2-40B4-BE49-F238E27FC236}">
                <a16:creationId xmlns:a16="http://schemas.microsoft.com/office/drawing/2014/main" id="{12DF898B-8045-D307-C5F6-7E7C24910433}"/>
              </a:ext>
            </a:extLst>
          </p:cNvPr>
          <p:cNvSpPr/>
          <p:nvPr/>
        </p:nvSpPr>
        <p:spPr>
          <a:xfrm>
            <a:off x="2083623"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Aumentar o Market Share de 9,8% para X%, trazendo X </a:t>
            </a:r>
            <a:r>
              <a:rPr lang="en-US" sz="1125" dirty="0" err="1">
                <a:solidFill>
                  <a:schemeClr val="bg2">
                    <a:lumMod val="10000"/>
                  </a:schemeClr>
                </a:solidFill>
              </a:rPr>
              <a:t>milhões de</a:t>
            </a:r>
            <a:r>
              <a:rPr lang="en-US" sz="1125" dirty="0">
                <a:solidFill>
                  <a:schemeClr val="bg2">
                    <a:lumMod val="10000"/>
                  </a:schemeClr>
                </a:solidFill>
              </a:rPr>
              <a:t> R$ adicionais</a:t>
            </a:r>
          </a:p>
        </p:txBody>
      </p:sp>
      <p:sp>
        <p:nvSpPr>
          <p:cNvPr id="5" name="Retângulo 4">
            <a:extLst>
              <a:ext uri="{FF2B5EF4-FFF2-40B4-BE49-F238E27FC236}">
                <a16:creationId xmlns:a16="http://schemas.microsoft.com/office/drawing/2014/main" id="{69BAE7BC-4D8C-21E1-471B-7FC55C53B4E6}"/>
              </a:ext>
            </a:extLst>
          </p:cNvPr>
          <p:cNvSpPr/>
          <p:nvPr/>
        </p:nvSpPr>
        <p:spPr>
          <a:xfrm>
            <a:off x="3850749"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É o movimento certo, considerando as tendências dos clientes e os movimentos dos concorrentes.</a:t>
            </a:r>
          </a:p>
        </p:txBody>
      </p:sp>
      <p:sp>
        <p:nvSpPr>
          <p:cNvPr id="6" name="Retângulo 5">
            <a:extLst>
              <a:ext uri="{FF2B5EF4-FFF2-40B4-BE49-F238E27FC236}">
                <a16:creationId xmlns:a16="http://schemas.microsoft.com/office/drawing/2014/main" id="{613F4F04-4365-B53B-D98F-8826FF3A88F5}"/>
              </a:ext>
            </a:extLst>
          </p:cNvPr>
          <p:cNvSpPr/>
          <p:nvPr/>
        </p:nvSpPr>
        <p:spPr>
          <a:xfrm>
            <a:off x="5594013" y="2106189"/>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 análise SWOT indica que o desenvolvimento interno tem mais vantagens do que desvantagens.</a:t>
            </a:r>
          </a:p>
        </p:txBody>
      </p:sp>
      <p:sp>
        <p:nvSpPr>
          <p:cNvPr id="7" name="Retângulo 6">
            <a:extLst>
              <a:ext uri="{FF2B5EF4-FFF2-40B4-BE49-F238E27FC236}">
                <a16:creationId xmlns:a16="http://schemas.microsoft.com/office/drawing/2014/main" id="{CE875A9F-5557-5B56-ED7B-BD675CA5F89B}"/>
              </a:ext>
            </a:extLst>
          </p:cNvPr>
          <p:cNvSpPr/>
          <p:nvPr/>
        </p:nvSpPr>
        <p:spPr>
          <a:xfrm>
            <a:off x="7272300" y="2105382"/>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Em 5 anos, vamos investir R$ 3 milhões para capturar R$ 15 milhões em Sales Profit adicional.</a:t>
            </a:r>
          </a:p>
        </p:txBody>
      </p:sp>
      <p:sp>
        <p:nvSpPr>
          <p:cNvPr id="9" name="Oval 6">
            <a:extLst>
              <a:ext uri="{FF2B5EF4-FFF2-40B4-BE49-F238E27FC236}">
                <a16:creationId xmlns:a16="http://schemas.microsoft.com/office/drawing/2014/main" id="{82246C32-42C8-BD0E-C682-86C1BC2C007A}"/>
              </a:ext>
            </a:extLst>
          </p:cNvPr>
          <p:cNvSpPr/>
          <p:nvPr/>
        </p:nvSpPr>
        <p:spPr>
          <a:xfrm rot="16200000">
            <a:off x="6787966"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0" name="Oval 18">
            <a:extLst>
              <a:ext uri="{FF2B5EF4-FFF2-40B4-BE49-F238E27FC236}">
                <a16:creationId xmlns:a16="http://schemas.microsoft.com/office/drawing/2014/main" id="{DA5EE5D7-7915-2D80-262A-75EDA6928FB2}"/>
              </a:ext>
            </a:extLst>
          </p:cNvPr>
          <p:cNvSpPr/>
          <p:nvPr/>
        </p:nvSpPr>
        <p:spPr>
          <a:xfrm>
            <a:off x="7360839"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 name="Oval 3">
            <a:extLst>
              <a:ext uri="{FF2B5EF4-FFF2-40B4-BE49-F238E27FC236}">
                <a16:creationId xmlns:a16="http://schemas.microsoft.com/office/drawing/2014/main" id="{DCF6A255-DEBF-46A4-E765-AC00AEECCBA8}"/>
              </a:ext>
            </a:extLst>
          </p:cNvPr>
          <p:cNvSpPr/>
          <p:nvPr/>
        </p:nvSpPr>
        <p:spPr>
          <a:xfrm>
            <a:off x="7422978"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2" name="TextBox 307">
            <a:extLst>
              <a:ext uri="{FF2B5EF4-FFF2-40B4-BE49-F238E27FC236}">
                <a16:creationId xmlns:a16="http://schemas.microsoft.com/office/drawing/2014/main" id="{95FD6FA0-D3E3-D0AA-0D53-8D6F52B36528}"/>
              </a:ext>
            </a:extLst>
          </p:cNvPr>
          <p:cNvSpPr txBox="1"/>
          <p:nvPr/>
        </p:nvSpPr>
        <p:spPr>
          <a:xfrm>
            <a:off x="8213124" y="2189168"/>
            <a:ext cx="379183" cy="415498"/>
          </a:xfrm>
          <a:prstGeom prst="rect">
            <a:avLst/>
          </a:prstGeom>
          <a:noFill/>
        </p:spPr>
        <p:txBody>
          <a:bodyPr wrap="square" rtlCol="0">
            <a:spAutoFit/>
          </a:bodyPr>
          <a:lstStyle/>
          <a:p>
            <a:pPr algn="ctr"/>
            <a:r>
              <a:rPr lang="en-US" altLang="ko-KR" sz="2100" b="1">
                <a:solidFill>
                  <a:schemeClr val="accent3"/>
                </a:solidFill>
              </a:rPr>
              <a:t>5</a:t>
            </a:r>
            <a:endParaRPr lang="ko-KR" altLang="en-US" sz="2100" b="1">
              <a:solidFill>
                <a:schemeClr val="accent3"/>
              </a:solidFill>
            </a:endParaRPr>
          </a:p>
        </p:txBody>
      </p:sp>
      <p:sp>
        <p:nvSpPr>
          <p:cNvPr id="14" name="Oval 6">
            <a:extLst>
              <a:ext uri="{FF2B5EF4-FFF2-40B4-BE49-F238E27FC236}">
                <a16:creationId xmlns:a16="http://schemas.microsoft.com/office/drawing/2014/main" id="{D0426ABC-37BB-357D-8CC5-AD87FA09C2F7}"/>
              </a:ext>
            </a:extLst>
          </p:cNvPr>
          <p:cNvSpPr/>
          <p:nvPr/>
        </p:nvSpPr>
        <p:spPr>
          <a:xfrm rot="16200000">
            <a:off x="511378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5" name="Oval 6">
            <a:extLst>
              <a:ext uri="{FF2B5EF4-FFF2-40B4-BE49-F238E27FC236}">
                <a16:creationId xmlns:a16="http://schemas.microsoft.com/office/drawing/2014/main" id="{B8030DFD-E081-A16A-3534-DE314258713C}"/>
              </a:ext>
            </a:extLst>
          </p:cNvPr>
          <p:cNvSpPr/>
          <p:nvPr/>
        </p:nvSpPr>
        <p:spPr>
          <a:xfrm rot="16200000">
            <a:off x="3331582"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 name="Oval 6">
            <a:extLst>
              <a:ext uri="{FF2B5EF4-FFF2-40B4-BE49-F238E27FC236}">
                <a16:creationId xmlns:a16="http://schemas.microsoft.com/office/drawing/2014/main" id="{77D3E33F-9390-C5D6-5A33-A31DCC037386}"/>
              </a:ext>
            </a:extLst>
          </p:cNvPr>
          <p:cNvSpPr/>
          <p:nvPr/>
        </p:nvSpPr>
        <p:spPr>
          <a:xfrm rot="16200000">
            <a:off x="160339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7" name="Oval 9">
            <a:extLst>
              <a:ext uri="{FF2B5EF4-FFF2-40B4-BE49-F238E27FC236}">
                <a16:creationId xmlns:a16="http://schemas.microsoft.com/office/drawing/2014/main" id="{8CA2FD6A-42C6-F9E0-C448-2FF6A00FFB0B}"/>
              </a:ext>
            </a:extLst>
          </p:cNvPr>
          <p:cNvSpPr/>
          <p:nvPr/>
        </p:nvSpPr>
        <p:spPr>
          <a:xfrm>
            <a:off x="413538"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8" name="Oval 3">
            <a:extLst>
              <a:ext uri="{FF2B5EF4-FFF2-40B4-BE49-F238E27FC236}">
                <a16:creationId xmlns:a16="http://schemas.microsoft.com/office/drawing/2014/main" id="{1AC894EE-6512-91BA-0119-608367E522B9}"/>
              </a:ext>
            </a:extLst>
          </p:cNvPr>
          <p:cNvSpPr/>
          <p:nvPr/>
        </p:nvSpPr>
        <p:spPr>
          <a:xfrm>
            <a:off x="475677"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9" name="Oval 12">
            <a:extLst>
              <a:ext uri="{FF2B5EF4-FFF2-40B4-BE49-F238E27FC236}">
                <a16:creationId xmlns:a16="http://schemas.microsoft.com/office/drawing/2014/main" id="{7EE0F3AA-ED48-9AB9-CB02-A69C133FBDDE}"/>
              </a:ext>
            </a:extLst>
          </p:cNvPr>
          <p:cNvSpPr/>
          <p:nvPr/>
        </p:nvSpPr>
        <p:spPr>
          <a:xfrm>
            <a:off x="217626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0" name="Oval 3">
            <a:extLst>
              <a:ext uri="{FF2B5EF4-FFF2-40B4-BE49-F238E27FC236}">
                <a16:creationId xmlns:a16="http://schemas.microsoft.com/office/drawing/2014/main" id="{ACB96CD0-70C8-E643-F902-F6F4A6A9552B}"/>
              </a:ext>
            </a:extLst>
          </p:cNvPr>
          <p:cNvSpPr/>
          <p:nvPr/>
        </p:nvSpPr>
        <p:spPr>
          <a:xfrm>
            <a:off x="223840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1" name="Oval 15">
            <a:extLst>
              <a:ext uri="{FF2B5EF4-FFF2-40B4-BE49-F238E27FC236}">
                <a16:creationId xmlns:a16="http://schemas.microsoft.com/office/drawing/2014/main" id="{1041ED6B-1CD8-DCF6-AC71-96B184B7ECEA}"/>
              </a:ext>
            </a:extLst>
          </p:cNvPr>
          <p:cNvSpPr/>
          <p:nvPr/>
        </p:nvSpPr>
        <p:spPr>
          <a:xfrm>
            <a:off x="3958461"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2" name="Oval 3">
            <a:extLst>
              <a:ext uri="{FF2B5EF4-FFF2-40B4-BE49-F238E27FC236}">
                <a16:creationId xmlns:a16="http://schemas.microsoft.com/office/drawing/2014/main" id="{74B4D89E-7FFE-349E-512D-7BDE977E894A}"/>
              </a:ext>
            </a:extLst>
          </p:cNvPr>
          <p:cNvSpPr/>
          <p:nvPr/>
        </p:nvSpPr>
        <p:spPr>
          <a:xfrm>
            <a:off x="4020600"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3" name="Oval 18">
            <a:extLst>
              <a:ext uri="{FF2B5EF4-FFF2-40B4-BE49-F238E27FC236}">
                <a16:creationId xmlns:a16="http://schemas.microsoft.com/office/drawing/2014/main" id="{ADABE66C-BEF4-87BF-17FE-0BBEBF459A72}"/>
              </a:ext>
            </a:extLst>
          </p:cNvPr>
          <p:cNvSpPr/>
          <p:nvPr/>
        </p:nvSpPr>
        <p:spPr>
          <a:xfrm>
            <a:off x="568665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 name="Oval 3">
            <a:extLst>
              <a:ext uri="{FF2B5EF4-FFF2-40B4-BE49-F238E27FC236}">
                <a16:creationId xmlns:a16="http://schemas.microsoft.com/office/drawing/2014/main" id="{496816FF-1DCE-C27F-E1BB-A34B20085C34}"/>
              </a:ext>
            </a:extLst>
          </p:cNvPr>
          <p:cNvSpPr/>
          <p:nvPr/>
        </p:nvSpPr>
        <p:spPr>
          <a:xfrm>
            <a:off x="574879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5" name="TextBox 304">
            <a:extLst>
              <a:ext uri="{FF2B5EF4-FFF2-40B4-BE49-F238E27FC236}">
                <a16:creationId xmlns:a16="http://schemas.microsoft.com/office/drawing/2014/main" id="{180A2A0C-B094-EEEF-30D1-6D2F9A74DCC3}"/>
              </a:ext>
            </a:extLst>
          </p:cNvPr>
          <p:cNvSpPr txBox="1"/>
          <p:nvPr/>
        </p:nvSpPr>
        <p:spPr>
          <a:xfrm>
            <a:off x="1246235" y="2189168"/>
            <a:ext cx="379183" cy="415498"/>
          </a:xfrm>
          <a:prstGeom prst="rect">
            <a:avLst/>
          </a:prstGeom>
          <a:noFill/>
        </p:spPr>
        <p:txBody>
          <a:bodyPr wrap="square" rtlCol="0">
            <a:spAutoFit/>
          </a:bodyPr>
          <a:lstStyle/>
          <a:p>
            <a:pPr algn="ctr"/>
            <a:r>
              <a:rPr lang="en-US" altLang="ko-KR" sz="2100" b="1">
                <a:solidFill>
                  <a:schemeClr val="accent3"/>
                </a:solidFill>
              </a:rPr>
              <a:t>1</a:t>
            </a:r>
            <a:endParaRPr lang="ko-KR" altLang="en-US" sz="2100" b="1">
              <a:solidFill>
                <a:schemeClr val="accent3"/>
              </a:solidFill>
            </a:endParaRPr>
          </a:p>
        </p:txBody>
      </p:sp>
      <p:sp>
        <p:nvSpPr>
          <p:cNvPr id="26" name="TextBox 305">
            <a:extLst>
              <a:ext uri="{FF2B5EF4-FFF2-40B4-BE49-F238E27FC236}">
                <a16:creationId xmlns:a16="http://schemas.microsoft.com/office/drawing/2014/main" id="{5D5691D9-14B7-FB6E-59C8-FF2F60520D2F}"/>
              </a:ext>
            </a:extLst>
          </p:cNvPr>
          <p:cNvSpPr txBox="1"/>
          <p:nvPr/>
        </p:nvSpPr>
        <p:spPr>
          <a:xfrm>
            <a:off x="3015489" y="2189168"/>
            <a:ext cx="379183" cy="415498"/>
          </a:xfrm>
          <a:prstGeom prst="rect">
            <a:avLst/>
          </a:prstGeom>
          <a:noFill/>
        </p:spPr>
        <p:txBody>
          <a:bodyPr wrap="square" rtlCol="0">
            <a:spAutoFit/>
          </a:bodyPr>
          <a:lstStyle/>
          <a:p>
            <a:pPr algn="ctr"/>
            <a:r>
              <a:rPr lang="en-US" altLang="ko-KR" sz="2100" b="1">
                <a:solidFill>
                  <a:schemeClr val="accent3"/>
                </a:solidFill>
              </a:rPr>
              <a:t>2</a:t>
            </a:r>
            <a:endParaRPr lang="ko-KR" altLang="en-US" sz="2100" b="1">
              <a:solidFill>
                <a:schemeClr val="accent3"/>
              </a:solidFill>
            </a:endParaRPr>
          </a:p>
        </p:txBody>
      </p:sp>
      <p:sp>
        <p:nvSpPr>
          <p:cNvPr id="27" name="TextBox 306">
            <a:extLst>
              <a:ext uri="{FF2B5EF4-FFF2-40B4-BE49-F238E27FC236}">
                <a16:creationId xmlns:a16="http://schemas.microsoft.com/office/drawing/2014/main" id="{1EEE707E-A837-EDFB-A2B7-0DA1C3E462C1}"/>
              </a:ext>
            </a:extLst>
          </p:cNvPr>
          <p:cNvSpPr txBox="1"/>
          <p:nvPr/>
        </p:nvSpPr>
        <p:spPr>
          <a:xfrm>
            <a:off x="4804216" y="2189168"/>
            <a:ext cx="379183" cy="415498"/>
          </a:xfrm>
          <a:prstGeom prst="rect">
            <a:avLst/>
          </a:prstGeom>
          <a:noFill/>
        </p:spPr>
        <p:txBody>
          <a:bodyPr wrap="square" rtlCol="0">
            <a:spAutoFit/>
          </a:bodyPr>
          <a:lstStyle/>
          <a:p>
            <a:pPr algn="ctr"/>
            <a:r>
              <a:rPr lang="en-US" altLang="ko-KR" sz="2100" b="1" dirty="0">
                <a:solidFill>
                  <a:schemeClr val="accent3"/>
                </a:solidFill>
              </a:rPr>
              <a:t>3</a:t>
            </a:r>
            <a:endParaRPr lang="ko-KR" altLang="en-US" sz="2100" b="1" dirty="0">
              <a:solidFill>
                <a:schemeClr val="accent3"/>
              </a:solidFill>
            </a:endParaRPr>
          </a:p>
        </p:txBody>
      </p:sp>
      <p:sp>
        <p:nvSpPr>
          <p:cNvPr id="28" name="TextBox 307">
            <a:extLst>
              <a:ext uri="{FF2B5EF4-FFF2-40B4-BE49-F238E27FC236}">
                <a16:creationId xmlns:a16="http://schemas.microsoft.com/office/drawing/2014/main" id="{425134F9-9578-43B9-56C0-0745A73EB542}"/>
              </a:ext>
            </a:extLst>
          </p:cNvPr>
          <p:cNvSpPr txBox="1"/>
          <p:nvPr/>
        </p:nvSpPr>
        <p:spPr>
          <a:xfrm>
            <a:off x="6538938" y="2189168"/>
            <a:ext cx="379183" cy="415498"/>
          </a:xfrm>
          <a:prstGeom prst="rect">
            <a:avLst/>
          </a:prstGeom>
          <a:noFill/>
        </p:spPr>
        <p:txBody>
          <a:bodyPr wrap="square" rtlCol="0">
            <a:spAutoFit/>
          </a:bodyPr>
          <a:lstStyle/>
          <a:p>
            <a:pPr algn="ctr"/>
            <a:r>
              <a:rPr lang="en-US" altLang="ko-KR" sz="2100" b="1">
                <a:solidFill>
                  <a:schemeClr val="accent3"/>
                </a:solidFill>
              </a:rPr>
              <a:t>4</a:t>
            </a:r>
            <a:endParaRPr lang="ko-KR" altLang="en-US" sz="2100" b="1">
              <a:solidFill>
                <a:schemeClr val="accent3"/>
              </a:solidFill>
            </a:endParaRPr>
          </a:p>
        </p:txBody>
      </p:sp>
      <p:sp>
        <p:nvSpPr>
          <p:cNvPr id="29" name="TextBox 308">
            <a:extLst>
              <a:ext uri="{FF2B5EF4-FFF2-40B4-BE49-F238E27FC236}">
                <a16:creationId xmlns:a16="http://schemas.microsoft.com/office/drawing/2014/main" id="{EEA57E96-F4A2-2171-260C-8F00DD91D3B7}"/>
              </a:ext>
            </a:extLst>
          </p:cNvPr>
          <p:cNvSpPr txBox="1"/>
          <p:nvPr/>
        </p:nvSpPr>
        <p:spPr>
          <a:xfrm>
            <a:off x="565353" y="1815074"/>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Aderência Estratégica</a:t>
            </a:r>
            <a:endParaRPr lang="ko-KR" altLang="en-US" sz="1200" b="1" dirty="0">
              <a:solidFill>
                <a:schemeClr val="bg1"/>
              </a:solidFill>
              <a:cs typeface="Arial" pitchFamily="34" charset="0"/>
            </a:endParaRPr>
          </a:p>
        </p:txBody>
      </p:sp>
      <p:sp>
        <p:nvSpPr>
          <p:cNvPr id="33" name="TextBox 308">
            <a:extLst>
              <a:ext uri="{FF2B5EF4-FFF2-40B4-BE49-F238E27FC236}">
                <a16:creationId xmlns:a16="http://schemas.microsoft.com/office/drawing/2014/main" id="{FA280527-06BC-9F1F-1DDF-15072CD80472}"/>
              </a:ext>
            </a:extLst>
          </p:cNvPr>
          <p:cNvSpPr txBox="1"/>
          <p:nvPr/>
        </p:nvSpPr>
        <p:spPr>
          <a:xfrm>
            <a:off x="2329396" y="1816787"/>
            <a:ext cx="870473"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Potencial de Mercado</a:t>
            </a:r>
            <a:endParaRPr lang="ko-KR" altLang="en-US" sz="1200" b="1" dirty="0">
              <a:solidFill>
                <a:schemeClr val="bg1"/>
              </a:solidFill>
              <a:cs typeface="Arial" pitchFamily="34" charset="0"/>
            </a:endParaRPr>
          </a:p>
        </p:txBody>
      </p:sp>
      <p:sp>
        <p:nvSpPr>
          <p:cNvPr id="34" name="TextBox 308">
            <a:extLst>
              <a:ext uri="{FF2B5EF4-FFF2-40B4-BE49-F238E27FC236}">
                <a16:creationId xmlns:a16="http://schemas.microsoft.com/office/drawing/2014/main" id="{BE54EA84-BC53-453D-20C7-F23543C6C9ED}"/>
              </a:ext>
            </a:extLst>
          </p:cNvPr>
          <p:cNvSpPr txBox="1"/>
          <p:nvPr/>
        </p:nvSpPr>
        <p:spPr>
          <a:xfrm>
            <a:off x="4108423" y="1826619"/>
            <a:ext cx="956321"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Cenário Competitivo</a:t>
            </a:r>
            <a:endParaRPr lang="ko-KR" altLang="en-US" sz="1200" b="1" dirty="0">
              <a:solidFill>
                <a:schemeClr val="bg1"/>
              </a:solidFill>
              <a:cs typeface="Arial" pitchFamily="34" charset="0"/>
            </a:endParaRPr>
          </a:p>
        </p:txBody>
      </p:sp>
      <p:sp>
        <p:nvSpPr>
          <p:cNvPr id="35" name="TextBox 308">
            <a:extLst>
              <a:ext uri="{FF2B5EF4-FFF2-40B4-BE49-F238E27FC236}">
                <a16:creationId xmlns:a16="http://schemas.microsoft.com/office/drawing/2014/main" id="{0C1E30B5-47EE-12EB-6CC9-53F7AA290B54}"/>
              </a:ext>
            </a:extLst>
          </p:cNvPr>
          <p:cNvSpPr txBox="1"/>
          <p:nvPr/>
        </p:nvSpPr>
        <p:spPr>
          <a:xfrm>
            <a:off x="5858056" y="1799535"/>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Abordagem Correta</a:t>
            </a:r>
            <a:endParaRPr lang="ko-KR" altLang="en-US" sz="1200" b="1" dirty="0">
              <a:solidFill>
                <a:schemeClr val="bg1"/>
              </a:solidFill>
              <a:cs typeface="Arial" pitchFamily="34" charset="0"/>
            </a:endParaRPr>
          </a:p>
        </p:txBody>
      </p:sp>
      <p:sp>
        <p:nvSpPr>
          <p:cNvPr id="36" name="TextBox 308">
            <a:extLst>
              <a:ext uri="{FF2B5EF4-FFF2-40B4-BE49-F238E27FC236}">
                <a16:creationId xmlns:a16="http://schemas.microsoft.com/office/drawing/2014/main" id="{E13F61C0-8521-A2B0-BA13-B107D335DA18}"/>
              </a:ext>
            </a:extLst>
          </p:cNvPr>
          <p:cNvSpPr txBox="1"/>
          <p:nvPr/>
        </p:nvSpPr>
        <p:spPr>
          <a:xfrm>
            <a:off x="7541690" y="1826618"/>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ROI Atrativo</a:t>
            </a:r>
            <a:endParaRPr lang="ko-KR" altLang="en-US" sz="1200" b="1" dirty="0">
              <a:solidFill>
                <a:schemeClr val="bg1"/>
              </a:solidFill>
              <a:cs typeface="Arial" pitchFamily="34" charset="0"/>
            </a:endParaRPr>
          </a:p>
        </p:txBody>
      </p:sp>
    </p:spTree>
    <p:extLst>
      <p:ext uri="{BB962C8B-B14F-4D97-AF65-F5344CB8AC3E}">
        <p14:creationId xmlns:p14="http://schemas.microsoft.com/office/powerpoint/2010/main" val="2216692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Riscos principais e como reduzir cada um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maiores riscos da v2.0 estão na adoção pelo campo.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31</a:t>
            </a:r>
            <a:endParaRPr lang="en-US" sz="900" dirty="0"/>
          </a:p>
        </p:txBody>
      </p:sp>
      <p:sp>
        <p:nvSpPr>
          <p:cNvPr id="6" name="Shape 3"/>
          <p:cNvSpPr/>
          <p:nvPr/>
        </p:nvSpPr>
        <p:spPr>
          <a:xfrm>
            <a:off x="457200" y="1188720"/>
            <a:ext cx="4023360" cy="1463040"/>
          </a:xfrm>
          <a:prstGeom prst="rect">
            <a:avLst/>
          </a:prstGeom>
          <a:solidFill>
            <a:srgbClr val="F4F6F8"/>
          </a:solidFill>
          <a:ln/>
        </p:spPr>
        <p:txBody>
          <a:bodyPr/>
          <a:lstStyle/>
          <a:p>
            <a:endParaRPr lang="pt-BR"/>
          </a:p>
        </p:txBody>
      </p:sp>
      <p:sp>
        <p:nvSpPr>
          <p:cNvPr id="7" name="Shape 4"/>
          <p:cNvSpPr/>
          <p:nvPr/>
        </p:nvSpPr>
        <p:spPr>
          <a:xfrm>
            <a:off x="457200" y="1188720"/>
            <a:ext cx="64008" cy="1463040"/>
          </a:xfrm>
          <a:prstGeom prst="rect">
            <a:avLst/>
          </a:prstGeom>
          <a:solidFill>
            <a:srgbClr val="C8106E"/>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85800" y="1371600"/>
            <a:ext cx="292608" cy="274320"/>
          </a:xfrm>
          <a:prstGeom prst="rect">
            <a:avLst/>
          </a:prstGeom>
        </p:spPr>
      </p:pic>
      <p:sp>
        <p:nvSpPr>
          <p:cNvPr id="9" name="Text 5"/>
          <p:cNvSpPr/>
          <p:nvPr/>
        </p:nvSpPr>
        <p:spPr>
          <a:xfrm>
            <a:off x="109728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Baixa adesão ao lançamento manual</a:t>
            </a:r>
            <a:endParaRPr lang="en-US" sz="1300" dirty="0"/>
          </a:p>
        </p:txBody>
      </p:sp>
      <p:sp>
        <p:nvSpPr>
          <p:cNvPr id="10" name="Text 6"/>
          <p:cNvSpPr/>
          <p:nvPr/>
        </p:nvSpPr>
        <p:spPr>
          <a:xfrm>
            <a:off x="109728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1" name="Text 7"/>
          <p:cNvSpPr/>
          <p:nvPr/>
        </p:nvSpPr>
        <p:spPr>
          <a:xfrm>
            <a:off x="109728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Poucos campos por tela, meta de 10 minutos por dia e o técnico TN como apoio nas primeiras semanas.</a:t>
            </a:r>
            <a:endParaRPr lang="en-US" sz="1150" dirty="0"/>
          </a:p>
        </p:txBody>
      </p:sp>
      <p:sp>
        <p:nvSpPr>
          <p:cNvPr id="12" name="Shape 8"/>
          <p:cNvSpPr/>
          <p:nvPr/>
        </p:nvSpPr>
        <p:spPr>
          <a:xfrm>
            <a:off x="4663440" y="1188720"/>
            <a:ext cx="4023360" cy="1463040"/>
          </a:xfrm>
          <a:prstGeom prst="rect">
            <a:avLst/>
          </a:prstGeom>
          <a:solidFill>
            <a:srgbClr val="F4F6F8"/>
          </a:solidFill>
          <a:ln/>
        </p:spPr>
        <p:txBody>
          <a:bodyPr/>
          <a:lstStyle/>
          <a:p>
            <a:endParaRPr lang="pt-BR"/>
          </a:p>
        </p:txBody>
      </p:sp>
      <p:sp>
        <p:nvSpPr>
          <p:cNvPr id="13" name="Shape 9"/>
          <p:cNvSpPr/>
          <p:nvPr/>
        </p:nvSpPr>
        <p:spPr>
          <a:xfrm>
            <a:off x="4663440" y="1188720"/>
            <a:ext cx="64008" cy="1463040"/>
          </a:xfrm>
          <a:prstGeom prst="rect">
            <a:avLst/>
          </a:prstGeom>
          <a:solidFill>
            <a:srgbClr val="C8106E"/>
          </a:solidFill>
          <a:ln/>
        </p:spPr>
        <p:txBody>
          <a:bodyPr/>
          <a:lstStyle/>
          <a:p>
            <a:endParaRPr lang="pt-BR"/>
          </a:p>
        </p:txBody>
      </p:sp>
      <p:pic>
        <p:nvPicPr>
          <p:cNvPr id="14" name="Image 2" descr="preencoded.png"/>
          <p:cNvPicPr>
            <a:picLocks noChangeAspect="1"/>
          </p:cNvPicPr>
          <p:nvPr/>
        </p:nvPicPr>
        <p:blipFill>
          <a:blip r:embed="rId4"/>
          <a:stretch>
            <a:fillRect/>
          </a:stretch>
        </p:blipFill>
        <p:spPr>
          <a:xfrm>
            <a:off x="4892040" y="1371600"/>
            <a:ext cx="292608" cy="274320"/>
          </a:xfrm>
          <a:prstGeom prst="rect">
            <a:avLst/>
          </a:prstGeom>
        </p:spPr>
      </p:pic>
      <p:sp>
        <p:nvSpPr>
          <p:cNvPr id="15" name="Text 10"/>
          <p:cNvSpPr/>
          <p:nvPr/>
        </p:nvSpPr>
        <p:spPr>
          <a:xfrm>
            <a:off x="530352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Amostra do discovery enviesada</a:t>
            </a:r>
            <a:endParaRPr lang="en-US" sz="1300" dirty="0"/>
          </a:p>
        </p:txBody>
      </p:sp>
      <p:sp>
        <p:nvSpPr>
          <p:cNvPr id="16" name="Text 11"/>
          <p:cNvSpPr/>
          <p:nvPr/>
        </p:nvSpPr>
        <p:spPr>
          <a:xfrm>
            <a:off x="530352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7" name="Text 12"/>
          <p:cNvSpPr/>
          <p:nvPr/>
        </p:nvSpPr>
        <p:spPr>
          <a:xfrm>
            <a:off x="530352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Cota mínima de ex-clientes e não clientes. Resultado só orienta decisão com 30 respostas válidas.</a:t>
            </a:r>
            <a:endParaRPr lang="en-US" sz="1150" dirty="0"/>
          </a:p>
        </p:txBody>
      </p:sp>
      <p:sp>
        <p:nvSpPr>
          <p:cNvPr id="18" name="Shape 13"/>
          <p:cNvSpPr/>
          <p:nvPr/>
        </p:nvSpPr>
        <p:spPr>
          <a:xfrm>
            <a:off x="457200" y="2788920"/>
            <a:ext cx="4023360" cy="1463040"/>
          </a:xfrm>
          <a:prstGeom prst="rect">
            <a:avLst/>
          </a:prstGeom>
          <a:solidFill>
            <a:srgbClr val="F4F6F8"/>
          </a:solidFill>
          <a:ln/>
        </p:spPr>
        <p:txBody>
          <a:bodyPr/>
          <a:lstStyle/>
          <a:p>
            <a:endParaRPr lang="pt-BR"/>
          </a:p>
        </p:txBody>
      </p:sp>
      <p:sp>
        <p:nvSpPr>
          <p:cNvPr id="19" name="Shape 14"/>
          <p:cNvSpPr/>
          <p:nvPr/>
        </p:nvSpPr>
        <p:spPr>
          <a:xfrm>
            <a:off x="457200" y="2788920"/>
            <a:ext cx="64008" cy="1463040"/>
          </a:xfrm>
          <a:prstGeom prst="rect">
            <a:avLst/>
          </a:prstGeom>
          <a:solidFill>
            <a:srgbClr val="C8106E"/>
          </a:solidFill>
          <a:ln/>
        </p:spPr>
        <p:txBody>
          <a:bodyPr/>
          <a:lstStyle/>
          <a:p>
            <a:endParaRPr lang="pt-BR"/>
          </a:p>
        </p:txBody>
      </p:sp>
      <p:pic>
        <p:nvPicPr>
          <p:cNvPr id="20" name="Image 3" descr="preencoded.png"/>
          <p:cNvPicPr>
            <a:picLocks noChangeAspect="1"/>
          </p:cNvPicPr>
          <p:nvPr/>
        </p:nvPicPr>
        <p:blipFill>
          <a:blip r:embed="rId4"/>
          <a:stretch>
            <a:fillRect/>
          </a:stretch>
        </p:blipFill>
        <p:spPr>
          <a:xfrm>
            <a:off x="685800" y="2971800"/>
            <a:ext cx="292608" cy="274320"/>
          </a:xfrm>
          <a:prstGeom prst="rect">
            <a:avLst/>
          </a:prstGeom>
        </p:spPr>
      </p:pic>
      <p:sp>
        <p:nvSpPr>
          <p:cNvPr id="21" name="Text 15"/>
          <p:cNvSpPr/>
          <p:nvPr/>
        </p:nvSpPr>
        <p:spPr>
          <a:xfrm>
            <a:off x="109728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Percepção de versão inferior</a:t>
            </a:r>
            <a:endParaRPr lang="en-US" sz="1300" dirty="0"/>
          </a:p>
        </p:txBody>
      </p:sp>
      <p:sp>
        <p:nvSpPr>
          <p:cNvPr id="22" name="Text 16"/>
          <p:cNvSpPr/>
          <p:nvPr/>
        </p:nvSpPr>
        <p:spPr>
          <a:xfrm>
            <a:off x="109728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3" name="Text 17"/>
          <p:cNvSpPr/>
          <p:nvPr/>
        </p:nvSpPr>
        <p:spPr>
          <a:xfrm>
            <a:off x="109728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Posicionar o TN Manager Web como degrau, com caminho claro de migração para a versão completa.</a:t>
            </a:r>
            <a:endParaRPr lang="en-US" sz="1150" dirty="0"/>
          </a:p>
        </p:txBody>
      </p:sp>
      <p:sp>
        <p:nvSpPr>
          <p:cNvPr id="24" name="Shape 18"/>
          <p:cNvSpPr/>
          <p:nvPr/>
        </p:nvSpPr>
        <p:spPr>
          <a:xfrm>
            <a:off x="4663440" y="2788920"/>
            <a:ext cx="4023360" cy="1463040"/>
          </a:xfrm>
          <a:prstGeom prst="rect">
            <a:avLst/>
          </a:prstGeom>
          <a:solidFill>
            <a:srgbClr val="F4F6F8"/>
          </a:solidFill>
          <a:ln/>
        </p:spPr>
        <p:txBody>
          <a:bodyPr/>
          <a:lstStyle/>
          <a:p>
            <a:endParaRPr lang="pt-BR"/>
          </a:p>
        </p:txBody>
      </p:sp>
      <p:sp>
        <p:nvSpPr>
          <p:cNvPr id="25" name="Shape 19"/>
          <p:cNvSpPr/>
          <p:nvPr/>
        </p:nvSpPr>
        <p:spPr>
          <a:xfrm>
            <a:off x="4663440" y="2788920"/>
            <a:ext cx="64008" cy="1463040"/>
          </a:xfrm>
          <a:prstGeom prst="rect">
            <a:avLst/>
          </a:prstGeom>
          <a:solidFill>
            <a:srgbClr val="C8106E"/>
          </a:solidFill>
          <a:ln/>
        </p:spPr>
        <p:txBody>
          <a:bodyPr/>
          <a:lstStyle/>
          <a:p>
            <a:endParaRPr lang="pt-BR"/>
          </a:p>
        </p:txBody>
      </p:sp>
      <p:pic>
        <p:nvPicPr>
          <p:cNvPr id="26" name="Image 4" descr="preencoded.png"/>
          <p:cNvPicPr>
            <a:picLocks noChangeAspect="1"/>
          </p:cNvPicPr>
          <p:nvPr/>
        </p:nvPicPr>
        <p:blipFill>
          <a:blip r:embed="rId4"/>
          <a:stretch>
            <a:fillRect/>
          </a:stretch>
        </p:blipFill>
        <p:spPr>
          <a:xfrm>
            <a:off x="4892040" y="2971800"/>
            <a:ext cx="292608" cy="274320"/>
          </a:xfrm>
          <a:prstGeom prst="rect">
            <a:avLst/>
          </a:prstGeom>
        </p:spPr>
      </p:pic>
      <p:sp>
        <p:nvSpPr>
          <p:cNvPr id="27" name="Text 20"/>
          <p:cNvSpPr/>
          <p:nvPr/>
        </p:nvSpPr>
        <p:spPr>
          <a:xfrm>
            <a:off x="530352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Capacidade do time técnico TN</a:t>
            </a:r>
            <a:endParaRPr lang="en-US" sz="1300" dirty="0"/>
          </a:p>
        </p:txBody>
      </p:sp>
      <p:sp>
        <p:nvSpPr>
          <p:cNvPr id="28" name="Text 21"/>
          <p:cNvSpPr/>
          <p:nvPr/>
        </p:nvSpPr>
        <p:spPr>
          <a:xfrm>
            <a:off x="530352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9" name="Text 22"/>
          <p:cNvSpPr/>
          <p:nvPr/>
        </p:nvSpPr>
        <p:spPr>
          <a:xfrm>
            <a:off x="530352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Rodrigo atende até 20 fazendas nos 6 primeiros meses, com auditoria mensal; depois, 1 analista dedicado para cada 20 fazendas (G2).</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Aderência interna: mapa inicial de stakeholders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Posições de partida (hipótese). As entrevistas confirmam ou movem cada grupo.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32</a:t>
            </a:r>
            <a:endParaRPr lang="en-US" sz="900" dirty="0"/>
          </a:p>
        </p:txBody>
      </p:sp>
      <p:sp>
        <p:nvSpPr>
          <p:cNvPr id="6" name="Shape 3"/>
          <p:cNvSpPr/>
          <p:nvPr/>
        </p:nvSpPr>
        <p:spPr>
          <a:xfrm>
            <a:off x="850392" y="1170432"/>
            <a:ext cx="2414016" cy="1499616"/>
          </a:xfrm>
          <a:prstGeom prst="rect">
            <a:avLst/>
          </a:prstGeom>
          <a:solidFill>
            <a:srgbClr val="EEF1F8"/>
          </a:solidFill>
          <a:ln/>
        </p:spPr>
        <p:txBody>
          <a:bodyPr/>
          <a:lstStyle/>
          <a:p>
            <a:endParaRPr lang="pt-BR"/>
          </a:p>
        </p:txBody>
      </p:sp>
      <p:sp>
        <p:nvSpPr>
          <p:cNvPr id="7" name="Text 4"/>
          <p:cNvSpPr/>
          <p:nvPr/>
        </p:nvSpPr>
        <p:spPr>
          <a:xfrm>
            <a:off x="93268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SATISFEITO</a:t>
            </a:r>
            <a:endParaRPr lang="en-US" sz="850" dirty="0"/>
          </a:p>
        </p:txBody>
      </p:sp>
      <p:sp>
        <p:nvSpPr>
          <p:cNvPr id="8" name="Shape 5"/>
          <p:cNvSpPr/>
          <p:nvPr/>
        </p:nvSpPr>
        <p:spPr>
          <a:xfrm>
            <a:off x="3319272" y="1170432"/>
            <a:ext cx="2414016" cy="1499616"/>
          </a:xfrm>
          <a:prstGeom prst="rect">
            <a:avLst/>
          </a:prstGeom>
          <a:solidFill>
            <a:srgbClr val="FBE7F1"/>
          </a:solidFill>
          <a:ln/>
        </p:spPr>
        <p:txBody>
          <a:bodyPr/>
          <a:lstStyle/>
          <a:p>
            <a:endParaRPr lang="pt-BR"/>
          </a:p>
        </p:txBody>
      </p:sp>
      <p:sp>
        <p:nvSpPr>
          <p:cNvPr id="9" name="Text 6"/>
          <p:cNvSpPr/>
          <p:nvPr/>
        </p:nvSpPr>
        <p:spPr>
          <a:xfrm>
            <a:off x="340156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GERENCIAR DE PERTO</a:t>
            </a:r>
            <a:endParaRPr lang="en-US" sz="850" dirty="0"/>
          </a:p>
        </p:txBody>
      </p:sp>
      <p:sp>
        <p:nvSpPr>
          <p:cNvPr id="10" name="Shape 7"/>
          <p:cNvSpPr/>
          <p:nvPr/>
        </p:nvSpPr>
        <p:spPr>
          <a:xfrm>
            <a:off x="850392" y="2724912"/>
            <a:ext cx="2414016" cy="1499616"/>
          </a:xfrm>
          <a:prstGeom prst="rect">
            <a:avLst/>
          </a:prstGeom>
          <a:solidFill>
            <a:srgbClr val="F4F6F8"/>
          </a:solidFill>
          <a:ln/>
        </p:spPr>
        <p:txBody>
          <a:bodyPr/>
          <a:lstStyle/>
          <a:p>
            <a:endParaRPr lang="pt-BR"/>
          </a:p>
        </p:txBody>
      </p:sp>
      <p:sp>
        <p:nvSpPr>
          <p:cNvPr id="11" name="Text 8"/>
          <p:cNvSpPr/>
          <p:nvPr/>
        </p:nvSpPr>
        <p:spPr>
          <a:xfrm>
            <a:off x="93268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MONITORAR</a:t>
            </a:r>
            <a:endParaRPr lang="en-US" sz="850" dirty="0"/>
          </a:p>
        </p:txBody>
      </p:sp>
      <p:sp>
        <p:nvSpPr>
          <p:cNvPr id="12" name="Shape 9"/>
          <p:cNvSpPr/>
          <p:nvPr/>
        </p:nvSpPr>
        <p:spPr>
          <a:xfrm>
            <a:off x="3319272" y="2724912"/>
            <a:ext cx="2414016" cy="1499616"/>
          </a:xfrm>
          <a:prstGeom prst="rect">
            <a:avLst/>
          </a:prstGeom>
          <a:solidFill>
            <a:srgbClr val="E8F4F7"/>
          </a:solidFill>
          <a:ln/>
        </p:spPr>
        <p:txBody>
          <a:bodyPr/>
          <a:lstStyle/>
          <a:p>
            <a:endParaRPr lang="pt-BR"/>
          </a:p>
        </p:txBody>
      </p:sp>
      <p:sp>
        <p:nvSpPr>
          <p:cNvPr id="13" name="Text 10"/>
          <p:cNvSpPr/>
          <p:nvPr/>
        </p:nvSpPr>
        <p:spPr>
          <a:xfrm>
            <a:off x="340156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INFORMADO</a:t>
            </a:r>
            <a:endParaRPr lang="en-US" sz="850" dirty="0"/>
          </a:p>
        </p:txBody>
      </p:sp>
      <p:sp>
        <p:nvSpPr>
          <p:cNvPr id="14" name="Shape 11"/>
          <p:cNvSpPr/>
          <p:nvPr/>
        </p:nvSpPr>
        <p:spPr>
          <a:xfrm>
            <a:off x="3694176" y="1548994"/>
            <a:ext cx="182880" cy="182880"/>
          </a:xfrm>
          <a:prstGeom prst="ellipse">
            <a:avLst/>
          </a:prstGeom>
          <a:solidFill>
            <a:srgbClr val="1B3A8C"/>
          </a:solidFill>
          <a:ln/>
        </p:spPr>
        <p:txBody>
          <a:bodyPr/>
          <a:lstStyle/>
          <a:p>
            <a:endParaRPr lang="pt-BR"/>
          </a:p>
        </p:txBody>
      </p:sp>
      <p:sp>
        <p:nvSpPr>
          <p:cNvPr id="15" name="Text 12"/>
          <p:cNvSpPr/>
          <p:nvPr/>
        </p:nvSpPr>
        <p:spPr>
          <a:xfrm>
            <a:off x="3913632" y="1530706"/>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Diretoria Beef</a:t>
            </a:r>
            <a:endParaRPr lang="en-US" sz="950" dirty="0"/>
          </a:p>
        </p:txBody>
      </p:sp>
      <p:sp>
        <p:nvSpPr>
          <p:cNvPr id="16" name="Shape 13"/>
          <p:cNvSpPr/>
          <p:nvPr/>
        </p:nvSpPr>
        <p:spPr>
          <a:xfrm>
            <a:off x="4385462" y="1922069"/>
            <a:ext cx="182880" cy="182880"/>
          </a:xfrm>
          <a:prstGeom prst="ellipse">
            <a:avLst/>
          </a:prstGeom>
          <a:solidFill>
            <a:srgbClr val="C8106E"/>
          </a:solidFill>
          <a:ln/>
        </p:spPr>
        <p:txBody>
          <a:bodyPr/>
          <a:lstStyle/>
          <a:p>
            <a:endParaRPr lang="pt-BR"/>
          </a:p>
        </p:txBody>
      </p:sp>
      <p:sp>
        <p:nvSpPr>
          <p:cNvPr id="17" name="Text 14"/>
          <p:cNvSpPr/>
          <p:nvPr/>
        </p:nvSpPr>
        <p:spPr>
          <a:xfrm>
            <a:off x="4604918" y="190378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Gerência comercial</a:t>
            </a:r>
            <a:endParaRPr lang="en-US" sz="950" dirty="0"/>
          </a:p>
        </p:txBody>
      </p:sp>
      <p:sp>
        <p:nvSpPr>
          <p:cNvPr id="18" name="Shape 15"/>
          <p:cNvSpPr/>
          <p:nvPr/>
        </p:nvSpPr>
        <p:spPr>
          <a:xfrm>
            <a:off x="2015338" y="1673352"/>
            <a:ext cx="182880" cy="182880"/>
          </a:xfrm>
          <a:prstGeom prst="ellipse">
            <a:avLst/>
          </a:prstGeom>
          <a:solidFill>
            <a:srgbClr val="1B3A8C"/>
          </a:solidFill>
          <a:ln/>
        </p:spPr>
        <p:txBody>
          <a:bodyPr/>
          <a:lstStyle/>
          <a:p>
            <a:endParaRPr lang="pt-BR"/>
          </a:p>
        </p:txBody>
      </p:sp>
      <p:sp>
        <p:nvSpPr>
          <p:cNvPr id="19" name="Text 16"/>
          <p:cNvSpPr/>
          <p:nvPr/>
        </p:nvSpPr>
        <p:spPr>
          <a:xfrm>
            <a:off x="2234794" y="165506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Finanças</a:t>
            </a:r>
            <a:endParaRPr lang="en-US" sz="950" dirty="0"/>
          </a:p>
        </p:txBody>
      </p:sp>
      <p:sp>
        <p:nvSpPr>
          <p:cNvPr id="20" name="Shape 17"/>
          <p:cNvSpPr/>
          <p:nvPr/>
        </p:nvSpPr>
        <p:spPr>
          <a:xfrm>
            <a:off x="3447288" y="2232965"/>
            <a:ext cx="182880" cy="182880"/>
          </a:xfrm>
          <a:prstGeom prst="ellipse">
            <a:avLst/>
          </a:prstGeom>
          <a:solidFill>
            <a:srgbClr val="1B3A8C"/>
          </a:solidFill>
          <a:ln/>
        </p:spPr>
        <p:txBody>
          <a:bodyPr/>
          <a:lstStyle/>
          <a:p>
            <a:endParaRPr lang="pt-BR"/>
          </a:p>
        </p:txBody>
      </p:sp>
      <p:sp>
        <p:nvSpPr>
          <p:cNvPr id="21" name="Text 18"/>
          <p:cNvSpPr/>
          <p:nvPr/>
        </p:nvSpPr>
        <p:spPr>
          <a:xfrm>
            <a:off x="3666744" y="221467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TI e Digital</a:t>
            </a:r>
            <a:endParaRPr lang="en-US" sz="950" dirty="0"/>
          </a:p>
        </p:txBody>
      </p:sp>
      <p:sp>
        <p:nvSpPr>
          <p:cNvPr id="22" name="Shape 19"/>
          <p:cNvSpPr/>
          <p:nvPr/>
        </p:nvSpPr>
        <p:spPr>
          <a:xfrm>
            <a:off x="4484218" y="2979115"/>
            <a:ext cx="182880" cy="182880"/>
          </a:xfrm>
          <a:prstGeom prst="ellipse">
            <a:avLst/>
          </a:prstGeom>
          <a:solidFill>
            <a:srgbClr val="C8106E"/>
          </a:solidFill>
          <a:ln/>
        </p:spPr>
        <p:txBody>
          <a:bodyPr/>
          <a:lstStyle/>
          <a:p>
            <a:endParaRPr lang="pt-BR"/>
          </a:p>
        </p:txBody>
      </p:sp>
      <p:sp>
        <p:nvSpPr>
          <p:cNvPr id="23" name="Text 20"/>
          <p:cNvSpPr/>
          <p:nvPr/>
        </p:nvSpPr>
        <p:spPr>
          <a:xfrm>
            <a:off x="4703674" y="296082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Técnicos e RTVs</a:t>
            </a:r>
            <a:endParaRPr lang="en-US" sz="950" dirty="0"/>
          </a:p>
        </p:txBody>
      </p:sp>
      <p:sp>
        <p:nvSpPr>
          <p:cNvPr id="24" name="Shape 21"/>
          <p:cNvSpPr/>
          <p:nvPr/>
        </p:nvSpPr>
        <p:spPr>
          <a:xfrm>
            <a:off x="4187952" y="3227832"/>
            <a:ext cx="182880" cy="182880"/>
          </a:xfrm>
          <a:prstGeom prst="ellipse">
            <a:avLst/>
          </a:prstGeom>
          <a:solidFill>
            <a:srgbClr val="0096B4"/>
          </a:solidFill>
          <a:ln/>
        </p:spPr>
        <p:txBody>
          <a:bodyPr/>
          <a:lstStyle/>
          <a:p>
            <a:endParaRPr lang="pt-BR"/>
          </a:p>
        </p:txBody>
      </p:sp>
      <p:sp>
        <p:nvSpPr>
          <p:cNvPr id="25" name="Text 22"/>
          <p:cNvSpPr/>
          <p:nvPr/>
        </p:nvSpPr>
        <p:spPr>
          <a:xfrm>
            <a:off x="4407408" y="320954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Software house</a:t>
            </a:r>
            <a:endParaRPr lang="en-US" sz="950" dirty="0"/>
          </a:p>
        </p:txBody>
      </p:sp>
      <p:sp>
        <p:nvSpPr>
          <p:cNvPr id="26" name="Shape 23"/>
          <p:cNvSpPr/>
          <p:nvPr/>
        </p:nvSpPr>
        <p:spPr>
          <a:xfrm>
            <a:off x="2509114" y="3476549"/>
            <a:ext cx="182880" cy="182880"/>
          </a:xfrm>
          <a:prstGeom prst="ellipse">
            <a:avLst/>
          </a:prstGeom>
          <a:solidFill>
            <a:srgbClr val="0096B4"/>
          </a:solidFill>
          <a:ln/>
        </p:spPr>
        <p:txBody>
          <a:bodyPr/>
          <a:lstStyle/>
          <a:p>
            <a:endParaRPr lang="pt-BR"/>
          </a:p>
        </p:txBody>
      </p:sp>
      <p:sp>
        <p:nvSpPr>
          <p:cNvPr id="27" name="Text 24"/>
          <p:cNvSpPr/>
          <p:nvPr/>
        </p:nvSpPr>
        <p:spPr>
          <a:xfrm>
            <a:off x="2728570" y="345826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Marketing</a:t>
            </a:r>
            <a:endParaRPr lang="en-US" sz="950" dirty="0"/>
          </a:p>
        </p:txBody>
      </p:sp>
      <p:sp>
        <p:nvSpPr>
          <p:cNvPr id="28" name="Text 25"/>
          <p:cNvSpPr/>
          <p:nvPr/>
        </p:nvSpPr>
        <p:spPr>
          <a:xfrm>
            <a:off x="182880" y="2560320"/>
            <a:ext cx="59436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Influência</a:t>
            </a:r>
            <a:endParaRPr lang="en-US" sz="1000" dirty="0"/>
          </a:p>
        </p:txBody>
      </p:sp>
      <p:sp>
        <p:nvSpPr>
          <p:cNvPr id="29" name="Text 26"/>
          <p:cNvSpPr/>
          <p:nvPr/>
        </p:nvSpPr>
        <p:spPr>
          <a:xfrm>
            <a:off x="822960" y="4306824"/>
            <a:ext cx="493776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Interesse e envolvimento no projeto</a:t>
            </a:r>
            <a:endParaRPr lang="en-US" sz="1000" dirty="0"/>
          </a:p>
        </p:txBody>
      </p:sp>
      <p:sp>
        <p:nvSpPr>
          <p:cNvPr id="30" name="Shape 27"/>
          <p:cNvSpPr/>
          <p:nvPr/>
        </p:nvSpPr>
        <p:spPr>
          <a:xfrm>
            <a:off x="6035040" y="1143000"/>
            <a:ext cx="2651760" cy="3108960"/>
          </a:xfrm>
          <a:prstGeom prst="rect">
            <a:avLst/>
          </a:prstGeom>
          <a:solidFill>
            <a:srgbClr val="1B3A8C"/>
          </a:solidFill>
          <a:ln/>
        </p:spPr>
        <p:txBody>
          <a:bodyPr/>
          <a:lstStyle/>
          <a:p>
            <a:endParaRPr lang="pt-BR"/>
          </a:p>
        </p:txBody>
      </p:sp>
      <p:sp>
        <p:nvSpPr>
          <p:cNvPr id="31" name="Text 28"/>
          <p:cNvSpPr/>
          <p:nvPr/>
        </p:nvSpPr>
        <p:spPr>
          <a:xfrm>
            <a:off x="6199632" y="1261872"/>
            <a:ext cx="237744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O que perguntar</a:t>
            </a:r>
            <a:endParaRPr lang="en-US" sz="1200" dirty="0"/>
          </a:p>
        </p:txBody>
      </p:sp>
      <p:sp>
        <p:nvSpPr>
          <p:cNvPr id="32" name="Text 29"/>
          <p:cNvSpPr/>
          <p:nvPr/>
        </p:nvSpPr>
        <p:spPr>
          <a:xfrm>
            <a:off x="6172200" y="1600200"/>
            <a:ext cx="2423160" cy="256032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você entende que é o TN Manager hoje?</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 problema de negócio ele precisa resolver?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faria você apoiar ou frear o projeto?</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Quem precisa estar convencido para ele avançar?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Como medir sucesso em 12 meses?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629F80C5-4778-80CD-FEEC-246E45CEA5CE}"/>
              </a:ext>
            </a:extLst>
          </p:cNvPr>
          <p:cNvSpPr>
            <a:spLocks noGrp="1"/>
          </p:cNvSpPr>
          <p:nvPr>
            <p:ph type="sldNum" sz="quarter" idx="15"/>
          </p:nvPr>
        </p:nvSpPr>
        <p:spPr>
          <a:xfrm>
            <a:off x="8514160" y="4677984"/>
            <a:ext cx="629840" cy="465516"/>
          </a:xfrm>
        </p:spPr>
        <p:txBody>
          <a:bodyPr/>
          <a:lstStyle/>
          <a:p>
            <a:pPr>
              <a:spcAft>
                <a:spcPts val="450"/>
              </a:spcAft>
            </a:pPr>
            <a:fld id="{82366C92-DFCE-40A6-8CC1-5A4741E3726D}" type="slidenum">
              <a:rPr lang="en-GB" smtClean="0"/>
              <a:pPr>
                <a:spcAft>
                  <a:spcPts val="450"/>
                </a:spcAft>
              </a:pPr>
              <a:t>31</a:t>
            </a:fld>
            <a:endParaRPr lang="en-GB"/>
          </a:p>
        </p:txBody>
      </p:sp>
      <p:sp>
        <p:nvSpPr>
          <p:cNvPr id="7" name="CaixaDeTexto 6">
            <a:extLst>
              <a:ext uri="{FF2B5EF4-FFF2-40B4-BE49-F238E27FC236}">
                <a16:creationId xmlns:a16="http://schemas.microsoft.com/office/drawing/2014/main" id="{027E2689-CE38-45AB-9EF8-2B100F274755}"/>
              </a:ext>
            </a:extLst>
          </p:cNvPr>
          <p:cNvSpPr txBox="1"/>
          <p:nvPr/>
        </p:nvSpPr>
        <p:spPr>
          <a:xfrm>
            <a:off x="629841" y="465517"/>
            <a:ext cx="5670351" cy="753713"/>
          </a:xfrm>
          <a:prstGeom prst="rect">
            <a:avLst/>
          </a:prstGeom>
        </p:spPr>
        <p:txBody>
          <a:bodyPr vert="horz" lIns="0" tIns="0" rIns="0" bIns="0" rtlCol="0" anchor="ctr" anchorCtr="0">
            <a:normAutofit/>
          </a:bodyPr>
          <a:lstStyle/>
          <a:p>
            <a:pPr>
              <a:lnSpc>
                <a:spcPct val="90000"/>
              </a:lnSpc>
              <a:spcBef>
                <a:spcPct val="0"/>
              </a:spcBef>
              <a:spcAft>
                <a:spcPts val="450"/>
              </a:spcAft>
            </a:pPr>
            <a:r>
              <a:rPr lang="en-US" sz="4950" b="1">
                <a:solidFill>
                  <a:schemeClr val="tx2"/>
                </a:solidFill>
              </a:rPr>
              <a:t>Obrigado</a:t>
            </a:r>
          </a:p>
        </p:txBody>
      </p:sp>
      <p:pic>
        <p:nvPicPr>
          <p:cNvPr id="3" name="Picture 2" descr="Confinamento de gado: veja como fazer de maneira eficaz — CompreRural">
            <a:extLst>
              <a:ext uri="{FF2B5EF4-FFF2-40B4-BE49-F238E27FC236}">
                <a16:creationId xmlns:a16="http://schemas.microsoft.com/office/drawing/2014/main" id="{6802C605-735F-7CBF-AF55-9AA80A27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53" r="-1" b="-1"/>
          <a:stretch/>
        </p:blipFill>
        <p:spPr bwMode="auto">
          <a:xfrm flipH="1">
            <a:off x="629841" y="1362104"/>
            <a:ext cx="5670351" cy="3264408"/>
          </a:xfrm>
          <a:prstGeom prst="rect">
            <a:avLst/>
          </a:prstGeom>
          <a:noFill/>
        </p:spPr>
      </p:pic>
    </p:spTree>
    <p:extLst>
      <p:ext uri="{BB962C8B-B14F-4D97-AF65-F5344CB8AC3E}">
        <p14:creationId xmlns:p14="http://schemas.microsoft.com/office/powerpoint/2010/main" val="1632287151"/>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Agenda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que vamos apresentar e decidir hoje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548640" y="1170432"/>
            <a:ext cx="347472" cy="347472"/>
          </a:xfrm>
          <a:prstGeom prst="ellipse">
            <a:avLst/>
          </a:prstGeom>
          <a:solidFill>
            <a:srgbClr val="C8106E"/>
          </a:solidFill>
          <a:ln/>
        </p:spPr>
        <p:txBody>
          <a:bodyPr/>
          <a:p/>
        </p:txBody>
      </p:sp>
      <p:sp>
        <p:nvSpPr>
          <p:cNvPr id="7" name="Text 4"/>
          <p:cNvSpPr/>
          <p:nvPr/>
        </p:nvSpPr>
        <p:spPr>
          <a:xfrm>
            <a:off x="548640" y="11704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051560" y="1143000"/>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Resumo executivo e cliente-alvo</a:t>
            </a:r>
            <a:endParaRPr lang="en-US" sz="1300" dirty="0"/>
          </a:p>
        </p:txBody>
      </p:sp>
      <p:sp>
        <p:nvSpPr>
          <p:cNvPr id="9" name="Text 6"/>
          <p:cNvSpPr/>
          <p:nvPr/>
        </p:nvSpPr>
        <p:spPr>
          <a:xfrm>
            <a:off x="1051560" y="1362456"/>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Confinamentos de 200 a 2.000 cabeças e o que muda da v1.0</a:t>
            </a:r>
            <a:endParaRPr lang="en-US" sz="950" dirty="0"/>
          </a:p>
        </p:txBody>
      </p:sp>
      <p:sp>
        <p:nvSpPr>
          <p:cNvPr id="10" name="Shape 7"/>
          <p:cNvSpPr/>
          <p:nvPr/>
        </p:nvSpPr>
        <p:spPr>
          <a:xfrm>
            <a:off x="1051560" y="1581912"/>
            <a:ext cx="6446520" cy="914"/>
          </a:xfrm>
          <a:prstGeom prst="line">
            <a:avLst/>
          </a:prstGeom>
          <a:noFill/>
          <a:ln w="6350">
            <a:solidFill>
              <a:srgbClr val="ECEFF2"/>
            </a:solidFill>
            <a:prstDash val="solid"/>
          </a:ln>
        </p:spPr>
        <p:txBody>
          <a:bodyPr/>
          <a:p/>
        </p:txBody>
      </p:sp>
      <p:sp>
        <p:nvSpPr>
          <p:cNvPr id="11" name="Shape 8"/>
          <p:cNvSpPr/>
          <p:nvPr/>
        </p:nvSpPr>
        <p:spPr>
          <a:xfrm>
            <a:off x="548640" y="1618488"/>
            <a:ext cx="347472" cy="347472"/>
          </a:xfrm>
          <a:prstGeom prst="ellipse">
            <a:avLst/>
          </a:prstGeom>
          <a:solidFill>
            <a:srgbClr val="C8106E"/>
          </a:solidFill>
          <a:ln/>
        </p:spPr>
        <p:txBody>
          <a:bodyPr/>
          <a:p/>
        </p:txBody>
      </p:sp>
      <p:sp>
        <p:nvSpPr>
          <p:cNvPr id="12" name="Text 9"/>
          <p:cNvSpPr/>
          <p:nvPr/>
        </p:nvSpPr>
        <p:spPr>
          <a:xfrm>
            <a:off x="548640" y="16184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51560" y="1591056"/>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Mercado: estamos no caminho certo?</a:t>
            </a:r>
            <a:endParaRPr lang="en-US" sz="1300" dirty="0"/>
          </a:p>
        </p:txBody>
      </p:sp>
      <p:sp>
        <p:nvSpPr>
          <p:cNvPr id="14" name="Text 11"/>
          <p:cNvSpPr/>
          <p:nvPr/>
        </p:nvSpPr>
        <p:spPr>
          <a:xfrm>
            <a:off x="1051560" y="1810512"/>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Raio-X 2025, Bússola Farm e mapa dos confinadores</a:t>
            </a:r>
            <a:endParaRPr lang="en-US" sz="950" dirty="0"/>
          </a:p>
        </p:txBody>
      </p:sp>
      <p:sp>
        <p:nvSpPr>
          <p:cNvPr id="15" name="Shape 12"/>
          <p:cNvSpPr/>
          <p:nvPr/>
        </p:nvSpPr>
        <p:spPr>
          <a:xfrm>
            <a:off x="1051560" y="2029968"/>
            <a:ext cx="6446520" cy="914"/>
          </a:xfrm>
          <a:prstGeom prst="line">
            <a:avLst/>
          </a:prstGeom>
          <a:noFill/>
          <a:ln w="6350">
            <a:solidFill>
              <a:srgbClr val="ECEFF2"/>
            </a:solidFill>
            <a:prstDash val="solid"/>
          </a:ln>
        </p:spPr>
        <p:txBody>
          <a:bodyPr/>
          <a:p/>
        </p:txBody>
      </p:sp>
      <p:sp>
        <p:nvSpPr>
          <p:cNvPr id="16" name="Shape 13"/>
          <p:cNvSpPr/>
          <p:nvPr/>
        </p:nvSpPr>
        <p:spPr>
          <a:xfrm>
            <a:off x="548640" y="2066544"/>
            <a:ext cx="347472" cy="347472"/>
          </a:xfrm>
          <a:prstGeom prst="ellipse">
            <a:avLst/>
          </a:prstGeom>
          <a:solidFill>
            <a:srgbClr val="1B3A8C"/>
          </a:solidFill>
          <a:ln/>
        </p:spPr>
        <p:txBody>
          <a:bodyPr/>
          <a:p/>
        </p:txBody>
      </p:sp>
      <p:sp>
        <p:nvSpPr>
          <p:cNvPr id="17" name="Text 14"/>
          <p:cNvSpPr/>
          <p:nvPr/>
        </p:nvSpPr>
        <p:spPr>
          <a:xfrm>
            <a:off x="548640" y="20665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1051560" y="2039112"/>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Nosso diferencial e como funciona na prática</a:t>
            </a:r>
            <a:endParaRPr lang="en-US" sz="1300" dirty="0"/>
          </a:p>
        </p:txBody>
      </p:sp>
      <p:sp>
        <p:nvSpPr>
          <p:cNvPr id="19" name="Text 16"/>
          <p:cNvSpPr/>
          <p:nvPr/>
        </p:nvSpPr>
        <p:spPr>
          <a:xfrm>
            <a:off x="1051560" y="2258568"/>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Entrega técnica, rotina, escore de cocho e arquitetura</a:t>
            </a:r>
            <a:endParaRPr lang="en-US" sz="950" dirty="0"/>
          </a:p>
        </p:txBody>
      </p:sp>
      <p:sp>
        <p:nvSpPr>
          <p:cNvPr id="20" name="Shape 17"/>
          <p:cNvSpPr/>
          <p:nvPr/>
        </p:nvSpPr>
        <p:spPr>
          <a:xfrm>
            <a:off x="1051560" y="2478024"/>
            <a:ext cx="6446520" cy="914"/>
          </a:xfrm>
          <a:prstGeom prst="line">
            <a:avLst/>
          </a:prstGeom>
          <a:noFill/>
          <a:ln w="6350">
            <a:solidFill>
              <a:srgbClr val="ECEFF2"/>
            </a:solidFill>
            <a:prstDash val="solid"/>
          </a:ln>
        </p:spPr>
        <p:txBody>
          <a:bodyPr/>
          <a:p/>
        </p:txBody>
      </p:sp>
      <p:sp>
        <p:nvSpPr>
          <p:cNvPr id="21" name="Shape 18"/>
          <p:cNvSpPr/>
          <p:nvPr/>
        </p:nvSpPr>
        <p:spPr>
          <a:xfrm>
            <a:off x="548640" y="2514600"/>
            <a:ext cx="347472" cy="347472"/>
          </a:xfrm>
          <a:prstGeom prst="ellipse">
            <a:avLst/>
          </a:prstGeom>
          <a:solidFill>
            <a:srgbClr val="C8106E"/>
          </a:solidFill>
          <a:ln/>
        </p:spPr>
        <p:txBody>
          <a:bodyPr/>
          <a:p/>
        </p:txBody>
      </p:sp>
      <p:sp>
        <p:nvSpPr>
          <p:cNvPr id="22" name="Text 19"/>
          <p:cNvSpPr/>
          <p:nvPr/>
        </p:nvSpPr>
        <p:spPr>
          <a:xfrm>
            <a:off x="548640" y="25146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1051560" y="2487168"/>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Concorrência e custo-benefício</a:t>
            </a:r>
            <a:endParaRPr lang="en-US" sz="1300" dirty="0"/>
          </a:p>
        </p:txBody>
      </p:sp>
      <p:sp>
        <p:nvSpPr>
          <p:cNvPr id="24" name="Text 21"/>
          <p:cNvSpPr/>
          <p:nvPr/>
        </p:nvSpPr>
        <p:spPr>
          <a:xfrm>
            <a:off x="1051560" y="2706624"/>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Cargill, DSM, Tecnobeef e as 20 licenças pagas hoje</a:t>
            </a:r>
            <a:endParaRPr lang="en-US" sz="950" dirty="0"/>
          </a:p>
        </p:txBody>
      </p:sp>
      <p:sp>
        <p:nvSpPr>
          <p:cNvPr id="25" name="Shape 22"/>
          <p:cNvSpPr/>
          <p:nvPr/>
        </p:nvSpPr>
        <p:spPr>
          <a:xfrm>
            <a:off x="1051560" y="2926080"/>
            <a:ext cx="6446520" cy="914"/>
          </a:xfrm>
          <a:prstGeom prst="line">
            <a:avLst/>
          </a:prstGeom>
          <a:noFill/>
          <a:ln w="6350">
            <a:solidFill>
              <a:srgbClr val="ECEFF2"/>
            </a:solidFill>
            <a:prstDash val="solid"/>
          </a:ln>
        </p:spPr>
        <p:txBody>
          <a:bodyPr/>
          <a:p/>
        </p:txBody>
      </p:sp>
      <p:sp>
        <p:nvSpPr>
          <p:cNvPr id="26" name="Shape 23"/>
          <p:cNvSpPr/>
          <p:nvPr/>
        </p:nvSpPr>
        <p:spPr>
          <a:xfrm>
            <a:off x="548640" y="2962656"/>
            <a:ext cx="347472" cy="347472"/>
          </a:xfrm>
          <a:prstGeom prst="ellipse">
            <a:avLst/>
          </a:prstGeom>
          <a:solidFill>
            <a:srgbClr val="C8106E"/>
          </a:solidFill>
          <a:ln/>
        </p:spPr>
        <p:txBody>
          <a:bodyPr/>
          <a:p/>
        </p:txBody>
      </p:sp>
      <p:sp>
        <p:nvSpPr>
          <p:cNvPr id="27" name="Text 24"/>
          <p:cNvSpPr/>
          <p:nvPr/>
        </p:nvSpPr>
        <p:spPr>
          <a:xfrm>
            <a:off x="548640" y="29626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1051560" y="2935224"/>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SWOT e go-to-market</a:t>
            </a:r>
            <a:endParaRPr lang="en-US" sz="1300" dirty="0"/>
          </a:p>
        </p:txBody>
      </p:sp>
      <p:sp>
        <p:nvSpPr>
          <p:cNvPr id="29" name="Text 26"/>
          <p:cNvSpPr/>
          <p:nvPr/>
        </p:nvSpPr>
        <p:spPr>
          <a:xfrm>
            <a:off x="1051560" y="3154680"/>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Rodrigo com 20 fazendas, depois analistas dedicados</a:t>
            </a:r>
            <a:endParaRPr lang="en-US" sz="950" dirty="0"/>
          </a:p>
        </p:txBody>
      </p:sp>
      <p:sp>
        <p:nvSpPr>
          <p:cNvPr id="30" name="Shape 27"/>
          <p:cNvSpPr/>
          <p:nvPr/>
        </p:nvSpPr>
        <p:spPr>
          <a:xfrm>
            <a:off x="1051560" y="3374136"/>
            <a:ext cx="6446520" cy="914"/>
          </a:xfrm>
          <a:prstGeom prst="line">
            <a:avLst/>
          </a:prstGeom>
          <a:noFill/>
          <a:ln w="6350">
            <a:solidFill>
              <a:srgbClr val="ECEFF2"/>
            </a:solidFill>
            <a:prstDash val="solid"/>
          </a:ln>
        </p:spPr>
        <p:txBody>
          <a:bodyPr/>
          <a:p/>
        </p:txBody>
      </p:sp>
      <p:sp>
        <p:nvSpPr>
          <p:cNvPr id="31" name="Shape 28"/>
          <p:cNvSpPr/>
          <p:nvPr/>
        </p:nvSpPr>
        <p:spPr>
          <a:xfrm>
            <a:off x="548640" y="3410712"/>
            <a:ext cx="347472" cy="347472"/>
          </a:xfrm>
          <a:prstGeom prst="ellipse">
            <a:avLst/>
          </a:prstGeom>
          <a:solidFill>
            <a:srgbClr val="C8106E"/>
          </a:solidFill>
          <a:ln/>
        </p:spPr>
        <p:txBody>
          <a:bodyPr/>
          <a:p/>
        </p:txBody>
      </p:sp>
      <p:sp>
        <p:nvSpPr>
          <p:cNvPr id="32" name="Text 29"/>
          <p:cNvSpPr/>
          <p:nvPr/>
        </p:nvSpPr>
        <p:spPr>
          <a:xfrm>
            <a:off x="548640" y="34107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1051560" y="3383280"/>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Roadmap e cronograma de 4 anos</a:t>
            </a:r>
            <a:endParaRPr lang="en-US" sz="1300" dirty="0"/>
          </a:p>
        </p:txBody>
      </p:sp>
      <p:sp>
        <p:nvSpPr>
          <p:cNvPr id="34" name="Text 31"/>
          <p:cNvSpPr/>
          <p:nvPr/>
        </p:nvSpPr>
        <p:spPr>
          <a:xfrm>
            <a:off x="1051560" y="3602736"/>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15 meses detalhados e visão até 2030</a:t>
            </a:r>
            <a:endParaRPr lang="en-US" sz="950" dirty="0"/>
          </a:p>
        </p:txBody>
      </p:sp>
      <p:sp>
        <p:nvSpPr>
          <p:cNvPr id="35" name="Shape 32"/>
          <p:cNvSpPr/>
          <p:nvPr/>
        </p:nvSpPr>
        <p:spPr>
          <a:xfrm>
            <a:off x="1051560" y="3822192"/>
            <a:ext cx="6446520" cy="914"/>
          </a:xfrm>
          <a:prstGeom prst="line">
            <a:avLst/>
          </a:prstGeom>
          <a:noFill/>
          <a:ln w="6350">
            <a:solidFill>
              <a:srgbClr val="ECEFF2"/>
            </a:solidFill>
            <a:prstDash val="solid"/>
          </a:ln>
        </p:spPr>
        <p:txBody>
          <a:bodyPr/>
          <a:p/>
        </p:txBody>
      </p:sp>
      <p:sp>
        <p:nvSpPr>
          <p:cNvPr id="36" name="Shape 33"/>
          <p:cNvSpPr/>
          <p:nvPr/>
        </p:nvSpPr>
        <p:spPr>
          <a:xfrm>
            <a:off x="548640" y="3858768"/>
            <a:ext cx="347472" cy="347472"/>
          </a:xfrm>
          <a:prstGeom prst="ellipse">
            <a:avLst/>
          </a:prstGeom>
          <a:solidFill>
            <a:srgbClr val="C8106E"/>
          </a:solidFill>
          <a:ln/>
        </p:spPr>
        <p:txBody>
          <a:bodyPr/>
          <a:p/>
        </p:txBody>
      </p:sp>
      <p:sp>
        <p:nvSpPr>
          <p:cNvPr id="37" name="Text 34"/>
          <p:cNvSpPr/>
          <p:nvPr/>
        </p:nvSpPr>
        <p:spPr>
          <a:xfrm>
            <a:off x="548640"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1051560" y="3831336"/>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Decisões e próximos passos</a:t>
            </a:r>
            <a:endParaRPr lang="en-US" sz="1300" dirty="0"/>
          </a:p>
        </p:txBody>
      </p:sp>
      <p:sp>
        <p:nvSpPr>
          <p:cNvPr id="39" name="Text 36"/>
          <p:cNvSpPr/>
          <p:nvPr/>
        </p:nvSpPr>
        <p:spPr>
          <a:xfrm>
            <a:off x="1051560" y="4050792"/>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O que precisamos aprovar hoje</a:t>
            </a:r>
            <a:endParaRPr lang="en-US" sz="9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Nosso diferencial é a entrega técnica, não a ferramenta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Software de gestão virou item de prateleira. O cliente paga pela decisão que sai dos dados.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6" name="Shape 3"/>
          <p:cNvSpPr/>
          <p:nvPr/>
        </p:nvSpPr>
        <p:spPr>
          <a:xfrm>
            <a:off x="457200" y="1188720"/>
            <a:ext cx="3291840" cy="658368"/>
          </a:xfrm>
          <a:prstGeom prst="rect">
            <a:avLst/>
          </a:prstGeom>
          <a:solidFill>
            <a:srgbClr val="D5DAE0"/>
          </a:solidFill>
          <a:ln/>
        </p:spPr>
        <p:txBody>
          <a:bodyPr/>
          <a:p/>
        </p:txBody>
      </p:sp>
      <p:sp>
        <p:nvSpPr>
          <p:cNvPr id="7" name="Text 4"/>
          <p:cNvSpPr/>
          <p:nvPr/>
        </p:nvSpPr>
        <p:spPr>
          <a:xfrm>
            <a:off x="566928" y="1188720"/>
            <a:ext cx="320040" cy="658368"/>
          </a:xfrm>
          <a:prstGeom prst="rect">
            <a:avLst/>
          </a:prstGeom>
          <a:noFill/>
          <a:ln/>
        </p:spPr>
        <p:txBody>
          <a:bodyPr wrap="square" lIns="0" tIns="0" rIns="0" bIns="0" rtlCol="0" anchor="ctr"/>
          <a:lstStyle/>
          <a:p>
            <a:pPr indent="0" marL="0">
              <a:buNone/>
            </a:pPr>
            <a:r>
              <a:rPr lang="en-US" sz="2200" b="1" dirty="0">
                <a:solidFill>
                  <a:srgbClr val="4A5560"/>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960120" y="1261872"/>
            <a:ext cx="2651760" cy="237744"/>
          </a:xfrm>
          <a:prstGeom prst="rect">
            <a:avLst/>
          </a:prstGeom>
          <a:noFill/>
          <a:ln/>
        </p:spPr>
        <p:txBody>
          <a:bodyPr wrap="square" lIns="0" tIns="0" rIns="0" bIns="0" rtlCol="0" anchor="t"/>
          <a:lstStyle/>
          <a:p>
            <a:pPr indent="0" marL="0">
              <a:buNone/>
            </a:pPr>
            <a:r>
              <a:rPr lang="en-US" sz="1250" b="1" dirty="0">
                <a:solidFill>
                  <a:srgbClr val="4A5560"/>
                </a:solidFill>
                <a:latin typeface="Calibri" pitchFamily="34" charset="0"/>
                <a:ea typeface="Calibri" pitchFamily="34" charset="-122"/>
                <a:cs typeface="Calibri" pitchFamily="34" charset="-120"/>
              </a:rPr>
              <a:t>Ferramenta</a:t>
            </a:r>
            <a:endParaRPr lang="en-US" sz="1250" dirty="0"/>
          </a:p>
        </p:txBody>
      </p:sp>
      <p:sp>
        <p:nvSpPr>
          <p:cNvPr id="9" name="Text 6"/>
          <p:cNvSpPr/>
          <p:nvPr/>
        </p:nvSpPr>
        <p:spPr>
          <a:xfrm>
            <a:off x="960120" y="1508760"/>
            <a:ext cx="2651760" cy="310896"/>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Lançamento, painel e relatório. Cargill, DSM, TGC e outros já oferecem.</a:t>
            </a:r>
            <a:endParaRPr lang="en-US" sz="950" dirty="0"/>
          </a:p>
        </p:txBody>
      </p:sp>
      <p:sp>
        <p:nvSpPr>
          <p:cNvPr id="10" name="Shape 7"/>
          <p:cNvSpPr/>
          <p:nvPr/>
        </p:nvSpPr>
        <p:spPr>
          <a:xfrm>
            <a:off x="3840480" y="1408176"/>
            <a:ext cx="1417320" cy="219456"/>
          </a:xfrm>
          <a:prstGeom prst="roundRect">
            <a:avLst>
              <a:gd name="adj" fmla="val 50000"/>
            </a:avLst>
          </a:prstGeom>
          <a:solidFill>
            <a:srgbClr val="7A858F"/>
          </a:solidFill>
          <a:ln/>
        </p:spPr>
        <p:txBody>
          <a:bodyPr/>
          <a:p/>
        </p:txBody>
      </p:sp>
      <p:sp>
        <p:nvSpPr>
          <p:cNvPr id="11" name="Text 8"/>
          <p:cNvSpPr/>
          <p:nvPr/>
        </p:nvSpPr>
        <p:spPr>
          <a:xfrm>
            <a:off x="3840480" y="1408176"/>
            <a:ext cx="141732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Item de prateleira</a:t>
            </a:r>
            <a:endParaRPr lang="en-US" sz="900" dirty="0"/>
          </a:p>
        </p:txBody>
      </p:sp>
      <p:sp>
        <p:nvSpPr>
          <p:cNvPr id="12" name="Shape 9"/>
          <p:cNvSpPr/>
          <p:nvPr/>
        </p:nvSpPr>
        <p:spPr>
          <a:xfrm>
            <a:off x="457200" y="1956816"/>
            <a:ext cx="3566160" cy="658368"/>
          </a:xfrm>
          <a:prstGeom prst="rect">
            <a:avLst/>
          </a:prstGeom>
          <a:solidFill>
            <a:srgbClr val="26668F"/>
          </a:solidFill>
          <a:ln/>
        </p:spPr>
        <p:txBody>
          <a:bodyPr/>
          <a:p/>
        </p:txBody>
      </p:sp>
      <p:sp>
        <p:nvSpPr>
          <p:cNvPr id="13" name="Text 10"/>
          <p:cNvSpPr/>
          <p:nvPr/>
        </p:nvSpPr>
        <p:spPr>
          <a:xfrm>
            <a:off x="566928" y="1956816"/>
            <a:ext cx="32004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960120" y="2029968"/>
            <a:ext cx="292608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Dados confiáveis</a:t>
            </a:r>
            <a:endParaRPr lang="en-US" sz="1250" dirty="0"/>
          </a:p>
        </p:txBody>
      </p:sp>
      <p:sp>
        <p:nvSpPr>
          <p:cNvPr id="15" name="Text 12"/>
          <p:cNvSpPr/>
          <p:nvPr/>
        </p:nvSpPr>
        <p:spPr>
          <a:xfrm>
            <a:off x="960120" y="2276856"/>
            <a:ext cx="2926080" cy="310896"/>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Lançamento diário conferido por auditoria mensal da rotina.</a:t>
            </a:r>
            <a:endParaRPr lang="en-US" sz="950" dirty="0"/>
          </a:p>
        </p:txBody>
      </p:sp>
      <p:sp>
        <p:nvSpPr>
          <p:cNvPr id="16" name="Shape 13"/>
          <p:cNvSpPr/>
          <p:nvPr/>
        </p:nvSpPr>
        <p:spPr>
          <a:xfrm>
            <a:off x="457200" y="2724912"/>
            <a:ext cx="3840480" cy="658368"/>
          </a:xfrm>
          <a:prstGeom prst="rect">
            <a:avLst/>
          </a:prstGeom>
          <a:solidFill>
            <a:srgbClr val="1B3A8C"/>
          </a:solidFill>
          <a:ln/>
        </p:spPr>
        <p:txBody>
          <a:bodyPr/>
          <a:p/>
        </p:txBody>
      </p:sp>
      <p:sp>
        <p:nvSpPr>
          <p:cNvPr id="17" name="Text 14"/>
          <p:cNvSpPr/>
          <p:nvPr/>
        </p:nvSpPr>
        <p:spPr>
          <a:xfrm>
            <a:off x="566928" y="2724912"/>
            <a:ext cx="32004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5"/>
          <p:cNvSpPr/>
          <p:nvPr/>
        </p:nvSpPr>
        <p:spPr>
          <a:xfrm>
            <a:off x="960120" y="2798064"/>
            <a:ext cx="320040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Análise técnica TN</a:t>
            </a:r>
            <a:endParaRPr lang="en-US" sz="1250" dirty="0"/>
          </a:p>
        </p:txBody>
      </p:sp>
      <p:sp>
        <p:nvSpPr>
          <p:cNvPr id="19" name="Text 16"/>
          <p:cNvSpPr/>
          <p:nvPr/>
        </p:nvSpPr>
        <p:spPr>
          <a:xfrm>
            <a:off x="960120" y="3044952"/>
            <a:ext cx="3200400" cy="310896"/>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O analista lê os números toda semana e compara com fazendas parecidas (benchmark).</a:t>
            </a:r>
            <a:endParaRPr lang="en-US" sz="950" dirty="0"/>
          </a:p>
        </p:txBody>
      </p:sp>
      <p:sp>
        <p:nvSpPr>
          <p:cNvPr id="20" name="Shape 17"/>
          <p:cNvSpPr/>
          <p:nvPr/>
        </p:nvSpPr>
        <p:spPr>
          <a:xfrm>
            <a:off x="457200" y="3493008"/>
            <a:ext cx="4114800" cy="658368"/>
          </a:xfrm>
          <a:prstGeom prst="rect">
            <a:avLst/>
          </a:prstGeom>
          <a:solidFill>
            <a:srgbClr val="C8106E"/>
          </a:solidFill>
          <a:ln/>
        </p:spPr>
        <p:txBody>
          <a:bodyPr/>
          <a:p/>
        </p:txBody>
      </p:sp>
      <p:sp>
        <p:nvSpPr>
          <p:cNvPr id="21" name="Text 18"/>
          <p:cNvSpPr/>
          <p:nvPr/>
        </p:nvSpPr>
        <p:spPr>
          <a:xfrm>
            <a:off x="566928" y="3493008"/>
            <a:ext cx="32004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19"/>
          <p:cNvSpPr/>
          <p:nvPr/>
        </p:nvSpPr>
        <p:spPr>
          <a:xfrm>
            <a:off x="960120" y="3566160"/>
            <a:ext cx="347472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Decisão na fazenda</a:t>
            </a:r>
            <a:endParaRPr lang="en-US" sz="1250" dirty="0"/>
          </a:p>
        </p:txBody>
      </p:sp>
      <p:sp>
        <p:nvSpPr>
          <p:cNvPr id="23" name="Text 20"/>
          <p:cNvSpPr/>
          <p:nvPr/>
        </p:nvSpPr>
        <p:spPr>
          <a:xfrm>
            <a:off x="960120" y="3813048"/>
            <a:ext cx="3474720" cy="310896"/>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Ajuste de dieta, trato, lotação, compra e venda de animais.</a:t>
            </a:r>
            <a:endParaRPr lang="en-US" sz="950" dirty="0"/>
          </a:p>
        </p:txBody>
      </p:sp>
      <p:sp>
        <p:nvSpPr>
          <p:cNvPr id="24" name="Shape 21"/>
          <p:cNvSpPr/>
          <p:nvPr/>
        </p:nvSpPr>
        <p:spPr>
          <a:xfrm>
            <a:off x="4663440" y="3712464"/>
            <a:ext cx="1417320" cy="219456"/>
          </a:xfrm>
          <a:prstGeom prst="roundRect">
            <a:avLst>
              <a:gd name="adj" fmla="val 50000"/>
            </a:avLst>
          </a:prstGeom>
          <a:solidFill>
            <a:srgbClr val="C8106E"/>
          </a:solidFill>
          <a:ln/>
        </p:spPr>
        <p:txBody>
          <a:bodyPr/>
          <a:p/>
        </p:txBody>
      </p:sp>
      <p:sp>
        <p:nvSpPr>
          <p:cNvPr id="25" name="Text 22"/>
          <p:cNvSpPr/>
          <p:nvPr/>
        </p:nvSpPr>
        <p:spPr>
          <a:xfrm>
            <a:off x="4663440" y="3712464"/>
            <a:ext cx="141732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Onde está o nosso valor</a:t>
            </a:r>
            <a:endParaRPr lang="en-US" sz="900" dirty="0"/>
          </a:p>
        </p:txBody>
      </p:sp>
      <p:sp>
        <p:nvSpPr>
          <p:cNvPr id="26" name="Shape 23"/>
          <p:cNvSpPr/>
          <p:nvPr/>
        </p:nvSpPr>
        <p:spPr>
          <a:xfrm>
            <a:off x="6263640" y="1188720"/>
            <a:ext cx="2423160" cy="2962656"/>
          </a:xfrm>
          <a:prstGeom prst="rect">
            <a:avLst/>
          </a:prstGeom>
          <a:solidFill>
            <a:srgbClr val="F4F6F8"/>
          </a:solidFill>
          <a:ln/>
        </p:spPr>
        <p:txBody>
          <a:bodyPr/>
          <a:p/>
        </p:txBody>
      </p:sp>
      <p:sp>
        <p:nvSpPr>
          <p:cNvPr id="27" name="Shape 24"/>
          <p:cNvSpPr/>
          <p:nvPr/>
        </p:nvSpPr>
        <p:spPr>
          <a:xfrm>
            <a:off x="6263640" y="1188720"/>
            <a:ext cx="54864" cy="2962656"/>
          </a:xfrm>
          <a:prstGeom prst="rect">
            <a:avLst/>
          </a:prstGeom>
          <a:solidFill>
            <a:srgbClr val="C8106E"/>
          </a:solidFill>
          <a:ln/>
        </p:spPr>
        <p:txBody>
          <a:bodyPr/>
          <a:p/>
        </p:txBody>
      </p:sp>
      <p:sp>
        <p:nvSpPr>
          <p:cNvPr id="28" name="Text 25"/>
          <p:cNvSpPr/>
          <p:nvPr/>
        </p:nvSpPr>
        <p:spPr>
          <a:xfrm>
            <a:off x="6428232" y="1280160"/>
            <a:ext cx="2194560" cy="274320"/>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Como explicar</a:t>
            </a:r>
            <a:endParaRPr lang="en-US" sz="1200" dirty="0"/>
          </a:p>
        </p:txBody>
      </p:sp>
      <p:sp>
        <p:nvSpPr>
          <p:cNvPr id="29" name="Text 26"/>
          <p:cNvSpPr/>
          <p:nvPr/>
        </p:nvSpPr>
        <p:spPr>
          <a:xfrm>
            <a:off x="6400800" y="1627632"/>
            <a:ext cx="2212848" cy="246888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é o meio. O produto é o acompanhamento técnico</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Medimos sucesso pelo resultado do cliente (ganho de peso, custo da arroba), não por acessos ao sistema</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Benchmark entre fazendas só existe com a base de clientes da TN</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pode mudar de fornecedor; o método de análise fica com a TN</a:t>
            </a:r>
            <a:endParaRPr lang="en-US" sz="9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Como o produto funciona na rotina da fazenda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fazenda registra (passos 1 a 3). A TN transforma em decisão (passos 4 e 5), toda semana.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6" name="Shape 3"/>
          <p:cNvSpPr/>
          <p:nvPr/>
        </p:nvSpPr>
        <p:spPr>
          <a:xfrm>
            <a:off x="5010912" y="1078992"/>
            <a:ext cx="3721608" cy="2240280"/>
          </a:xfrm>
          <a:prstGeom prst="rect">
            <a:avLst/>
          </a:prstGeom>
          <a:solidFill>
            <a:srgbClr val="FBE7F1"/>
          </a:solidFill>
          <a:ln/>
        </p:spPr>
        <p:txBody>
          <a:bodyPr/>
          <a:p/>
        </p:txBody>
      </p:sp>
      <p:sp>
        <p:nvSpPr>
          <p:cNvPr id="7" name="Text 4"/>
          <p:cNvSpPr/>
          <p:nvPr/>
        </p:nvSpPr>
        <p:spPr>
          <a:xfrm>
            <a:off x="5120640" y="1133856"/>
            <a:ext cx="3474720" cy="201168"/>
          </a:xfrm>
          <a:prstGeom prst="rect">
            <a:avLst/>
          </a:prstGeom>
          <a:noFill/>
          <a:ln/>
        </p:spPr>
        <p:txBody>
          <a:bodyPr wrap="square" lIns="0" tIns="0" rIns="0" bIns="0" rtlCol="0" anchor="t"/>
          <a:lstStyle/>
          <a:p>
            <a:pPr indent="0" marL="0">
              <a:buNone/>
            </a:pPr>
            <a:r>
              <a:rPr lang="en-US" sz="900" b="1" spc="200" kern="0" dirty="0">
                <a:solidFill>
                  <a:srgbClr val="C8106E"/>
                </a:solidFill>
                <a:latin typeface="Calibri" pitchFamily="34" charset="0"/>
                <a:ea typeface="Calibri" pitchFamily="34" charset="-122"/>
                <a:cs typeface="Calibri" pitchFamily="34" charset="-120"/>
              </a:rPr>
              <a:t>ENTREGA TÉCNICA TN</a:t>
            </a:r>
            <a:endParaRPr lang="en-US" sz="900" dirty="0"/>
          </a:p>
        </p:txBody>
      </p:sp>
      <p:sp>
        <p:nvSpPr>
          <p:cNvPr id="8" name="Text 5"/>
          <p:cNvSpPr/>
          <p:nvPr/>
        </p:nvSpPr>
        <p:spPr>
          <a:xfrm>
            <a:off x="457200" y="1133856"/>
            <a:ext cx="3474720" cy="201168"/>
          </a:xfrm>
          <a:prstGeom prst="rect">
            <a:avLst/>
          </a:prstGeom>
          <a:noFill/>
          <a:ln/>
        </p:spPr>
        <p:txBody>
          <a:bodyPr wrap="square" lIns="0" tIns="0" rIns="0" bIns="0" rtlCol="0" anchor="t"/>
          <a:lstStyle/>
          <a:p>
            <a:pPr indent="0" marL="0">
              <a:buNone/>
            </a:pPr>
            <a:r>
              <a:rPr lang="en-US" sz="900" b="1" spc="200" kern="0" dirty="0">
                <a:solidFill>
                  <a:srgbClr val="7A858F"/>
                </a:solidFill>
                <a:latin typeface="Calibri" pitchFamily="34" charset="0"/>
                <a:ea typeface="Calibri" pitchFamily="34" charset="-122"/>
                <a:cs typeface="Calibri" pitchFamily="34" charset="-120"/>
              </a:rPr>
              <a:t>A FAZENDA REGISTRA</a:t>
            </a:r>
            <a:endParaRPr lang="en-US" sz="900" dirty="0"/>
          </a:p>
        </p:txBody>
      </p:sp>
      <p:sp>
        <p:nvSpPr>
          <p:cNvPr id="9" name="Shape 6"/>
          <p:cNvSpPr/>
          <p:nvPr/>
        </p:nvSpPr>
        <p:spPr>
          <a:xfrm>
            <a:off x="868680" y="1499616"/>
            <a:ext cx="548640" cy="548640"/>
          </a:xfrm>
          <a:prstGeom prst="ellipse">
            <a:avLst/>
          </a:prstGeom>
          <a:solidFill>
            <a:srgbClr val="7A858F"/>
          </a:solidFill>
          <a:ln/>
        </p:spPr>
        <p:txBody>
          <a:bodyPr/>
          <a:p/>
        </p:txBody>
      </p:sp>
      <p:sp>
        <p:nvSpPr>
          <p:cNvPr id="10" name="Text 7"/>
          <p:cNvSpPr/>
          <p:nvPr/>
        </p:nvSpPr>
        <p:spPr>
          <a:xfrm>
            <a:off x="868680" y="1499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p:nvPr/>
        </p:nvSpPr>
        <p:spPr>
          <a:xfrm>
            <a:off x="365760" y="2212848"/>
            <a:ext cx="1554480" cy="237744"/>
          </a:xfrm>
          <a:prstGeom prst="rect">
            <a:avLst/>
          </a:prstGeom>
          <a:noFill/>
          <a:ln/>
        </p:spPr>
        <p:txBody>
          <a:bodyPr wrap="square" lIns="0" tIns="0" rIns="0" bIns="0" rtlCol="0" anchor="t"/>
          <a:lstStyle/>
          <a:p>
            <a:pPr algn="ctr" indent="0" marL="0">
              <a:buNone/>
            </a:pPr>
            <a:r>
              <a:rPr lang="en-US" sz="1150" b="1" dirty="0">
                <a:solidFill>
                  <a:srgbClr val="7A858F"/>
                </a:solidFill>
                <a:latin typeface="Calibri" pitchFamily="34" charset="0"/>
                <a:ea typeface="Calibri" pitchFamily="34" charset="-122"/>
                <a:cs typeface="Calibri" pitchFamily="34" charset="-120"/>
              </a:rPr>
              <a:t>Cadastrar</a:t>
            </a:r>
            <a:endParaRPr lang="en-US" sz="1150" dirty="0"/>
          </a:p>
        </p:txBody>
      </p:sp>
      <p:sp>
        <p:nvSpPr>
          <p:cNvPr id="12" name="Text 9"/>
          <p:cNvSpPr/>
          <p:nvPr/>
        </p:nvSpPr>
        <p:spPr>
          <a:xfrm>
            <a:off x="365760"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uma vez</a:t>
            </a:r>
            <a:endParaRPr lang="en-US" sz="900" dirty="0"/>
          </a:p>
        </p:txBody>
      </p:sp>
      <p:sp>
        <p:nvSpPr>
          <p:cNvPr id="13" name="Text 10"/>
          <p:cNvSpPr/>
          <p:nvPr/>
        </p:nvSpPr>
        <p:spPr>
          <a:xfrm>
            <a:off x="365760"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Fazenda, currais, lotes e dieta</a:t>
            </a:r>
            <a:endParaRPr lang="en-US" sz="900" dirty="0"/>
          </a:p>
        </p:txBody>
      </p:sp>
      <p:pic>
        <p:nvPicPr>
          <p:cNvPr id="14" name="Image 1" descr="preencoded.png">    </p:cNvPr>
          <p:cNvPicPr>
            <a:picLocks noChangeAspect="1"/>
          </p:cNvPicPr>
          <p:nvPr/>
        </p:nvPicPr>
        <p:blipFill>
          <a:blip r:embed="rId3"/>
          <a:stretch>
            <a:fillRect/>
          </a:stretch>
        </p:blipFill>
        <p:spPr>
          <a:xfrm>
            <a:off x="1764792" y="1691640"/>
            <a:ext cx="182880" cy="182880"/>
          </a:xfrm>
          <a:prstGeom prst="rect">
            <a:avLst/>
          </a:prstGeom>
        </p:spPr>
      </p:pic>
      <p:sp>
        <p:nvSpPr>
          <p:cNvPr id="15" name="Shape 11"/>
          <p:cNvSpPr/>
          <p:nvPr/>
        </p:nvSpPr>
        <p:spPr>
          <a:xfrm>
            <a:off x="2587752" y="1499616"/>
            <a:ext cx="548640" cy="548640"/>
          </a:xfrm>
          <a:prstGeom prst="ellipse">
            <a:avLst/>
          </a:prstGeom>
          <a:solidFill>
            <a:srgbClr val="7A858F"/>
          </a:solidFill>
          <a:ln/>
        </p:spPr>
        <p:txBody>
          <a:bodyPr/>
          <a:p/>
        </p:txBody>
      </p:sp>
      <p:sp>
        <p:nvSpPr>
          <p:cNvPr id="16" name="Text 12"/>
          <p:cNvSpPr/>
          <p:nvPr/>
        </p:nvSpPr>
        <p:spPr>
          <a:xfrm>
            <a:off x="2587752" y="1499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2084832" y="2212848"/>
            <a:ext cx="1554480" cy="237744"/>
          </a:xfrm>
          <a:prstGeom prst="rect">
            <a:avLst/>
          </a:prstGeom>
          <a:noFill/>
          <a:ln/>
        </p:spPr>
        <p:txBody>
          <a:bodyPr wrap="square" lIns="0" tIns="0" rIns="0" bIns="0" rtlCol="0" anchor="t"/>
          <a:lstStyle/>
          <a:p>
            <a:pPr algn="ctr" indent="0" marL="0">
              <a:buNone/>
            </a:pPr>
            <a:r>
              <a:rPr lang="en-US" sz="1150" b="1" dirty="0">
                <a:solidFill>
                  <a:srgbClr val="7A858F"/>
                </a:solidFill>
                <a:latin typeface="Calibri" pitchFamily="34" charset="0"/>
                <a:ea typeface="Calibri" pitchFamily="34" charset="-122"/>
                <a:cs typeface="Calibri" pitchFamily="34" charset="-120"/>
              </a:rPr>
              <a:t>Registrar</a:t>
            </a:r>
            <a:endParaRPr lang="en-US" sz="1150" dirty="0"/>
          </a:p>
        </p:txBody>
      </p:sp>
      <p:sp>
        <p:nvSpPr>
          <p:cNvPr id="18" name="Text 14"/>
          <p:cNvSpPr/>
          <p:nvPr/>
        </p:nvSpPr>
        <p:spPr>
          <a:xfrm>
            <a:off x="2084832"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todo dia</a:t>
            </a:r>
            <a:endParaRPr lang="en-US" sz="900" dirty="0"/>
          </a:p>
        </p:txBody>
      </p:sp>
      <p:sp>
        <p:nvSpPr>
          <p:cNvPr id="19" name="Text 15"/>
          <p:cNvSpPr/>
          <p:nvPr/>
        </p:nvSpPr>
        <p:spPr>
          <a:xfrm>
            <a:off x="2084832"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Trato fornecido e leitura de cocho</a:t>
            </a:r>
            <a:endParaRPr lang="en-US" sz="900" dirty="0"/>
          </a:p>
        </p:txBody>
      </p:sp>
      <p:pic>
        <p:nvPicPr>
          <p:cNvPr id="20" name="Image 2" descr="preencoded.png">    </p:cNvPr>
          <p:cNvPicPr>
            <a:picLocks noChangeAspect="1"/>
          </p:cNvPicPr>
          <p:nvPr/>
        </p:nvPicPr>
        <p:blipFill>
          <a:blip r:embed="rId3"/>
          <a:stretch>
            <a:fillRect/>
          </a:stretch>
        </p:blipFill>
        <p:spPr>
          <a:xfrm>
            <a:off x="3483864" y="1691640"/>
            <a:ext cx="182880" cy="182880"/>
          </a:xfrm>
          <a:prstGeom prst="rect">
            <a:avLst/>
          </a:prstGeom>
        </p:spPr>
      </p:pic>
      <p:sp>
        <p:nvSpPr>
          <p:cNvPr id="21" name="Shape 16"/>
          <p:cNvSpPr/>
          <p:nvPr/>
        </p:nvSpPr>
        <p:spPr>
          <a:xfrm>
            <a:off x="4306824" y="1499616"/>
            <a:ext cx="548640" cy="548640"/>
          </a:xfrm>
          <a:prstGeom prst="ellipse">
            <a:avLst/>
          </a:prstGeom>
          <a:solidFill>
            <a:srgbClr val="7A858F"/>
          </a:solidFill>
          <a:ln/>
        </p:spPr>
        <p:txBody>
          <a:bodyPr/>
          <a:p/>
        </p:txBody>
      </p:sp>
      <p:sp>
        <p:nvSpPr>
          <p:cNvPr id="22" name="Text 17"/>
          <p:cNvSpPr/>
          <p:nvPr/>
        </p:nvSpPr>
        <p:spPr>
          <a:xfrm>
            <a:off x="4306824" y="1499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18"/>
          <p:cNvSpPr/>
          <p:nvPr/>
        </p:nvSpPr>
        <p:spPr>
          <a:xfrm>
            <a:off x="3803904" y="2212848"/>
            <a:ext cx="1554480" cy="237744"/>
          </a:xfrm>
          <a:prstGeom prst="rect">
            <a:avLst/>
          </a:prstGeom>
          <a:noFill/>
          <a:ln/>
        </p:spPr>
        <p:txBody>
          <a:bodyPr wrap="square" lIns="0" tIns="0" rIns="0" bIns="0" rtlCol="0" anchor="t"/>
          <a:lstStyle/>
          <a:p>
            <a:pPr algn="ctr" indent="0" marL="0">
              <a:buNone/>
            </a:pPr>
            <a:r>
              <a:rPr lang="en-US" sz="1150" b="1" dirty="0">
                <a:solidFill>
                  <a:srgbClr val="7A858F"/>
                </a:solidFill>
                <a:latin typeface="Calibri" pitchFamily="34" charset="0"/>
                <a:ea typeface="Calibri" pitchFamily="34" charset="-122"/>
                <a:cs typeface="Calibri" pitchFamily="34" charset="-120"/>
              </a:rPr>
              <a:t>Movimentar</a:t>
            </a:r>
            <a:endParaRPr lang="en-US" sz="1150" dirty="0"/>
          </a:p>
        </p:txBody>
      </p:sp>
      <p:sp>
        <p:nvSpPr>
          <p:cNvPr id="24" name="Text 19"/>
          <p:cNvSpPr/>
          <p:nvPr/>
        </p:nvSpPr>
        <p:spPr>
          <a:xfrm>
            <a:off x="3803904"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quando ocorre</a:t>
            </a:r>
            <a:endParaRPr lang="en-US" sz="900" dirty="0"/>
          </a:p>
        </p:txBody>
      </p:sp>
      <p:sp>
        <p:nvSpPr>
          <p:cNvPr id="25" name="Text 20"/>
          <p:cNvSpPr/>
          <p:nvPr/>
        </p:nvSpPr>
        <p:spPr>
          <a:xfrm>
            <a:off x="3803904"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Entradas, pesagens, saídas e mortes</a:t>
            </a:r>
            <a:endParaRPr lang="en-US" sz="900" dirty="0"/>
          </a:p>
        </p:txBody>
      </p:sp>
      <p:pic>
        <p:nvPicPr>
          <p:cNvPr id="26" name="Image 3" descr="preencoded.png">    </p:cNvPr>
          <p:cNvPicPr>
            <a:picLocks noChangeAspect="1"/>
          </p:cNvPicPr>
          <p:nvPr/>
        </p:nvPicPr>
        <p:blipFill>
          <a:blip r:embed="rId3"/>
          <a:stretch>
            <a:fillRect/>
          </a:stretch>
        </p:blipFill>
        <p:spPr>
          <a:xfrm>
            <a:off x="5312664" y="1691640"/>
            <a:ext cx="182880" cy="182880"/>
          </a:xfrm>
          <a:prstGeom prst="rect">
            <a:avLst/>
          </a:prstGeom>
        </p:spPr>
      </p:pic>
      <p:sp>
        <p:nvSpPr>
          <p:cNvPr id="27" name="Shape 21"/>
          <p:cNvSpPr/>
          <p:nvPr/>
        </p:nvSpPr>
        <p:spPr>
          <a:xfrm>
            <a:off x="6053328" y="1417320"/>
            <a:ext cx="713232" cy="713232"/>
          </a:xfrm>
          <a:prstGeom prst="ellipse">
            <a:avLst/>
          </a:prstGeom>
          <a:solidFill>
            <a:srgbClr val="1B3A8C"/>
          </a:solidFill>
          <a:ln/>
        </p:spPr>
        <p:txBody>
          <a:bodyPr/>
          <a:p/>
        </p:txBody>
      </p:sp>
      <p:sp>
        <p:nvSpPr>
          <p:cNvPr id="28" name="Text 22"/>
          <p:cNvSpPr/>
          <p:nvPr/>
        </p:nvSpPr>
        <p:spPr>
          <a:xfrm>
            <a:off x="6053328" y="141732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9" name="Text 23"/>
          <p:cNvSpPr/>
          <p:nvPr/>
        </p:nvSpPr>
        <p:spPr>
          <a:xfrm>
            <a:off x="5632704" y="2212848"/>
            <a:ext cx="1554480" cy="237744"/>
          </a:xfrm>
          <a:prstGeom prst="rect">
            <a:avLst/>
          </a:prstGeom>
          <a:noFill/>
          <a:ln/>
        </p:spPr>
        <p:txBody>
          <a:bodyPr wrap="square" lIns="0" tIns="0" rIns="0" bIns="0" rtlCol="0" anchor="t"/>
          <a:lstStyle/>
          <a:p>
            <a:pPr algn="ctr" indent="0" marL="0">
              <a:buNone/>
            </a:pPr>
            <a:r>
              <a:rPr lang="en-US" sz="1300" b="1" dirty="0">
                <a:solidFill>
                  <a:srgbClr val="1B3A8C"/>
                </a:solidFill>
                <a:latin typeface="Calibri" pitchFamily="34" charset="0"/>
                <a:ea typeface="Calibri" pitchFamily="34" charset="-122"/>
                <a:cs typeface="Calibri" pitchFamily="34" charset="-120"/>
              </a:rPr>
              <a:t>Analisar</a:t>
            </a:r>
            <a:endParaRPr lang="en-US" sz="1300" dirty="0"/>
          </a:p>
        </p:txBody>
      </p:sp>
      <p:sp>
        <p:nvSpPr>
          <p:cNvPr id="30" name="Text 24"/>
          <p:cNvSpPr/>
          <p:nvPr/>
        </p:nvSpPr>
        <p:spPr>
          <a:xfrm>
            <a:off x="5632704"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toda semana</a:t>
            </a:r>
            <a:endParaRPr lang="en-US" sz="900" dirty="0"/>
          </a:p>
        </p:txBody>
      </p:sp>
      <p:sp>
        <p:nvSpPr>
          <p:cNvPr id="31" name="Text 25"/>
          <p:cNvSpPr/>
          <p:nvPr/>
        </p:nvSpPr>
        <p:spPr>
          <a:xfrm>
            <a:off x="5632704"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Painel e relatório prontos. O analista compara com o benchmark</a:t>
            </a:r>
            <a:endParaRPr lang="en-US" sz="900" dirty="0"/>
          </a:p>
        </p:txBody>
      </p:sp>
      <p:pic>
        <p:nvPicPr>
          <p:cNvPr id="32" name="Image 4" descr="preencoded.png">    </p:cNvPr>
          <p:cNvPicPr>
            <a:picLocks noChangeAspect="1"/>
          </p:cNvPicPr>
          <p:nvPr/>
        </p:nvPicPr>
        <p:blipFill>
          <a:blip r:embed="rId3"/>
          <a:stretch>
            <a:fillRect/>
          </a:stretch>
        </p:blipFill>
        <p:spPr>
          <a:xfrm>
            <a:off x="7031736" y="1691640"/>
            <a:ext cx="182880" cy="182880"/>
          </a:xfrm>
          <a:prstGeom prst="rect">
            <a:avLst/>
          </a:prstGeom>
        </p:spPr>
      </p:pic>
      <p:sp>
        <p:nvSpPr>
          <p:cNvPr id="33" name="Shape 26"/>
          <p:cNvSpPr/>
          <p:nvPr/>
        </p:nvSpPr>
        <p:spPr>
          <a:xfrm>
            <a:off x="7772400" y="1417320"/>
            <a:ext cx="713232" cy="713232"/>
          </a:xfrm>
          <a:prstGeom prst="ellipse">
            <a:avLst/>
          </a:prstGeom>
          <a:solidFill>
            <a:srgbClr val="C8106E"/>
          </a:solidFill>
          <a:ln/>
        </p:spPr>
        <p:txBody>
          <a:bodyPr/>
          <a:p/>
        </p:txBody>
      </p:sp>
      <p:sp>
        <p:nvSpPr>
          <p:cNvPr id="34" name="Text 27"/>
          <p:cNvSpPr/>
          <p:nvPr/>
        </p:nvSpPr>
        <p:spPr>
          <a:xfrm>
            <a:off x="7772400" y="141732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5" name="Text 28"/>
          <p:cNvSpPr/>
          <p:nvPr/>
        </p:nvSpPr>
        <p:spPr>
          <a:xfrm>
            <a:off x="7351776" y="2212848"/>
            <a:ext cx="1554480" cy="237744"/>
          </a:xfrm>
          <a:prstGeom prst="rect">
            <a:avLst/>
          </a:prstGeom>
          <a:noFill/>
          <a:ln/>
        </p:spPr>
        <p:txBody>
          <a:bodyPr wrap="square" lIns="0" tIns="0" rIns="0" bIns="0" rtlCol="0" anchor="t"/>
          <a:lstStyle/>
          <a:p>
            <a:pPr algn="ctr" indent="0" marL="0">
              <a:buNone/>
            </a:pPr>
            <a:r>
              <a:rPr lang="en-US" sz="1300" b="1" dirty="0">
                <a:solidFill>
                  <a:srgbClr val="C8106E"/>
                </a:solidFill>
                <a:latin typeface="Calibri" pitchFamily="34" charset="0"/>
                <a:ea typeface="Calibri" pitchFamily="34" charset="-122"/>
                <a:cs typeface="Calibri" pitchFamily="34" charset="-120"/>
              </a:rPr>
              <a:t>Ajustar</a:t>
            </a:r>
            <a:endParaRPr lang="en-US" sz="1300" dirty="0"/>
          </a:p>
        </p:txBody>
      </p:sp>
      <p:sp>
        <p:nvSpPr>
          <p:cNvPr id="36" name="Text 29"/>
          <p:cNvSpPr/>
          <p:nvPr/>
        </p:nvSpPr>
        <p:spPr>
          <a:xfrm>
            <a:off x="7351776"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com o técnico TN</a:t>
            </a:r>
            <a:endParaRPr lang="en-US" sz="900" dirty="0"/>
          </a:p>
        </p:txBody>
      </p:sp>
      <p:sp>
        <p:nvSpPr>
          <p:cNvPr id="37" name="Text 30"/>
          <p:cNvSpPr/>
          <p:nvPr/>
        </p:nvSpPr>
        <p:spPr>
          <a:xfrm>
            <a:off x="7351776"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Recomendação de dieta, trato e manejo; revisão no mês</a:t>
            </a:r>
            <a:endParaRPr lang="en-US" sz="900" dirty="0"/>
          </a:p>
        </p:txBody>
      </p:sp>
      <p:sp>
        <p:nvSpPr>
          <p:cNvPr id="38" name="Shape 31"/>
          <p:cNvSpPr/>
          <p:nvPr/>
        </p:nvSpPr>
        <p:spPr>
          <a:xfrm>
            <a:off x="2651760" y="3401568"/>
            <a:ext cx="5669280" cy="914"/>
          </a:xfrm>
          <a:prstGeom prst="line">
            <a:avLst/>
          </a:prstGeom>
          <a:noFill/>
          <a:ln w="15875">
            <a:solidFill>
              <a:srgbClr val="C8106E"/>
            </a:solidFill>
            <a:prstDash val="dash"/>
          </a:ln>
        </p:spPr>
        <p:txBody>
          <a:bodyPr/>
          <a:p/>
        </p:txBody>
      </p:sp>
      <p:sp>
        <p:nvSpPr>
          <p:cNvPr id="39" name="Shape 32"/>
          <p:cNvSpPr/>
          <p:nvPr/>
        </p:nvSpPr>
        <p:spPr>
          <a:xfrm>
            <a:off x="2651760" y="3218688"/>
            <a:ext cx="914" cy="182880"/>
          </a:xfrm>
          <a:prstGeom prst="line">
            <a:avLst/>
          </a:prstGeom>
          <a:noFill/>
          <a:ln w="15875">
            <a:solidFill>
              <a:srgbClr val="C8106E"/>
            </a:solidFill>
            <a:prstDash val="dash"/>
          </a:ln>
        </p:spPr>
        <p:txBody>
          <a:bodyPr/>
          <a:p/>
        </p:txBody>
      </p:sp>
      <p:sp>
        <p:nvSpPr>
          <p:cNvPr id="40" name="Shape 33"/>
          <p:cNvSpPr/>
          <p:nvPr/>
        </p:nvSpPr>
        <p:spPr>
          <a:xfrm>
            <a:off x="8321040" y="3218688"/>
            <a:ext cx="914" cy="182880"/>
          </a:xfrm>
          <a:prstGeom prst="line">
            <a:avLst/>
          </a:prstGeom>
          <a:noFill/>
          <a:ln w="15875">
            <a:solidFill>
              <a:srgbClr val="C8106E"/>
            </a:solidFill>
            <a:prstDash val="dash"/>
          </a:ln>
        </p:spPr>
        <p:txBody>
          <a:bodyPr/>
          <a:p/>
        </p:txBody>
      </p:sp>
      <p:sp>
        <p:nvSpPr>
          <p:cNvPr id="41" name="Text 34"/>
          <p:cNvSpPr/>
          <p:nvPr/>
        </p:nvSpPr>
        <p:spPr>
          <a:xfrm>
            <a:off x="3749040" y="3310128"/>
            <a:ext cx="3474720" cy="182880"/>
          </a:xfrm>
          <a:prstGeom prst="rect">
            <a:avLst/>
          </a:prstGeom>
          <a:solidFill>
            <a:srgbClr val="FFFFFF"/>
          </a:solidFill>
          <a:ln/>
        </p:spPr>
        <p:txBody>
          <a:bodyPr wrap="square" lIns="0" tIns="0" rIns="0" bIns="0" rtlCol="0" anchor="t"/>
          <a:lstStyle/>
          <a:p>
            <a:pPr algn="ctr" indent="0" marL="0">
              <a:buNone/>
            </a:pPr>
            <a:r>
              <a:rPr lang="en-US" sz="900" i="1" dirty="0">
                <a:solidFill>
                  <a:srgbClr val="C8106E"/>
                </a:solidFill>
                <a:latin typeface="Calibri" pitchFamily="34" charset="0"/>
                <a:ea typeface="Calibri" pitchFamily="34" charset="-122"/>
                <a:cs typeface="Calibri" pitchFamily="34" charset="-120"/>
              </a:rPr>
              <a:t>Ciclo semanal: o ajuste volta para o trato do dia seguinte</a:t>
            </a:r>
            <a:endParaRPr lang="en-US" sz="900" dirty="0"/>
          </a:p>
        </p:txBody>
      </p:sp>
      <p:sp>
        <p:nvSpPr>
          <p:cNvPr id="42" name="Text 35"/>
          <p:cNvSpPr/>
          <p:nvPr/>
        </p:nvSpPr>
        <p:spPr>
          <a:xfrm>
            <a:off x="457200" y="3611880"/>
            <a:ext cx="2743200" cy="228600"/>
          </a:xfrm>
          <a:prstGeom prst="rect">
            <a:avLst/>
          </a:prstGeom>
          <a:noFill/>
          <a:ln/>
        </p:spPr>
        <p:txBody>
          <a:bodyPr wrap="square" lIns="0" tIns="0" rIns="0" bIns="0" rtlCol="0" anchor="t"/>
          <a:lstStyle/>
          <a:p>
            <a:pPr indent="0" marL="0">
              <a:buNone/>
            </a:pPr>
            <a:r>
              <a:rPr lang="en-US" sz="1100" b="1" dirty="0">
                <a:solidFill>
                  <a:srgbClr val="1B3A8C"/>
                </a:solidFill>
                <a:latin typeface="Calibri" pitchFamily="34" charset="0"/>
                <a:ea typeface="Calibri" pitchFamily="34" charset="-122"/>
                <a:cs typeface="Calibri" pitchFamily="34" charset="-120"/>
              </a:rPr>
              <a:t>Quem faz os passos 4 e 5</a:t>
            </a:r>
            <a:endParaRPr lang="en-US" sz="1100" dirty="0"/>
          </a:p>
        </p:txBody>
      </p:sp>
      <p:sp>
        <p:nvSpPr>
          <p:cNvPr id="43" name="Shape 36"/>
          <p:cNvSpPr/>
          <p:nvPr/>
        </p:nvSpPr>
        <p:spPr>
          <a:xfrm>
            <a:off x="457200" y="3877056"/>
            <a:ext cx="2377440" cy="512064"/>
          </a:xfrm>
          <a:prstGeom prst="rect">
            <a:avLst/>
          </a:prstGeom>
          <a:solidFill>
            <a:srgbClr val="F4F6F8"/>
          </a:solidFill>
          <a:ln/>
        </p:spPr>
        <p:txBody>
          <a:bodyPr/>
          <a:p/>
        </p:txBody>
      </p:sp>
      <p:sp>
        <p:nvSpPr>
          <p:cNvPr id="44" name="Shape 37"/>
          <p:cNvSpPr/>
          <p:nvPr/>
        </p:nvSpPr>
        <p:spPr>
          <a:xfrm>
            <a:off x="457200" y="3877056"/>
            <a:ext cx="54864" cy="512064"/>
          </a:xfrm>
          <a:prstGeom prst="rect">
            <a:avLst/>
          </a:prstGeom>
          <a:solidFill>
            <a:srgbClr val="26668F"/>
          </a:solidFill>
          <a:ln/>
        </p:spPr>
        <p:txBody>
          <a:bodyPr/>
          <a:p/>
        </p:txBody>
      </p:sp>
      <p:sp>
        <p:nvSpPr>
          <p:cNvPr id="45" name="Text 38"/>
          <p:cNvSpPr/>
          <p:nvPr/>
        </p:nvSpPr>
        <p:spPr>
          <a:xfrm>
            <a:off x="594360" y="3904488"/>
            <a:ext cx="2194560"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Meses 1 e 2</a:t>
            </a:r>
            <a:endParaRPr lang="en-US" sz="950" dirty="0"/>
          </a:p>
        </p:txBody>
      </p:sp>
      <p:sp>
        <p:nvSpPr>
          <p:cNvPr id="46" name="Text 39"/>
          <p:cNvSpPr/>
          <p:nvPr/>
        </p:nvSpPr>
        <p:spPr>
          <a:xfrm>
            <a:off x="594360" y="4087368"/>
            <a:ext cx="2194560" cy="25603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Piloto: Rodrigo e técnico de campo em 3 a 5 fazendas</a:t>
            </a:r>
            <a:endParaRPr lang="en-US" sz="850" dirty="0"/>
          </a:p>
        </p:txBody>
      </p:sp>
      <p:sp>
        <p:nvSpPr>
          <p:cNvPr id="47" name="Shape 40"/>
          <p:cNvSpPr/>
          <p:nvPr/>
        </p:nvSpPr>
        <p:spPr>
          <a:xfrm>
            <a:off x="2971800" y="3877056"/>
            <a:ext cx="2377440" cy="512064"/>
          </a:xfrm>
          <a:prstGeom prst="rect">
            <a:avLst/>
          </a:prstGeom>
          <a:solidFill>
            <a:srgbClr val="F4F6F8"/>
          </a:solidFill>
          <a:ln/>
        </p:spPr>
        <p:txBody>
          <a:bodyPr/>
          <a:p/>
        </p:txBody>
      </p:sp>
      <p:sp>
        <p:nvSpPr>
          <p:cNvPr id="48" name="Shape 41"/>
          <p:cNvSpPr/>
          <p:nvPr/>
        </p:nvSpPr>
        <p:spPr>
          <a:xfrm>
            <a:off x="2971800" y="3877056"/>
            <a:ext cx="54864" cy="512064"/>
          </a:xfrm>
          <a:prstGeom prst="rect">
            <a:avLst/>
          </a:prstGeom>
          <a:solidFill>
            <a:srgbClr val="1B3A8C"/>
          </a:solidFill>
          <a:ln/>
        </p:spPr>
        <p:txBody>
          <a:bodyPr/>
          <a:p/>
        </p:txBody>
      </p:sp>
      <p:sp>
        <p:nvSpPr>
          <p:cNvPr id="49" name="Text 42"/>
          <p:cNvSpPr/>
          <p:nvPr/>
        </p:nvSpPr>
        <p:spPr>
          <a:xfrm>
            <a:off x="3108960" y="3904488"/>
            <a:ext cx="2194560"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Meses 3 a 6</a:t>
            </a:r>
            <a:endParaRPr lang="en-US" sz="950" dirty="0"/>
          </a:p>
        </p:txBody>
      </p:sp>
      <p:sp>
        <p:nvSpPr>
          <p:cNvPr id="50" name="Text 43"/>
          <p:cNvSpPr/>
          <p:nvPr/>
        </p:nvSpPr>
        <p:spPr>
          <a:xfrm>
            <a:off x="3108960" y="4087368"/>
            <a:ext cx="2194560" cy="25603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Rodrigo analisa até 20 fazendas, com auditoria mensal</a:t>
            </a:r>
            <a:endParaRPr lang="en-US" sz="850" dirty="0"/>
          </a:p>
        </p:txBody>
      </p:sp>
      <p:sp>
        <p:nvSpPr>
          <p:cNvPr id="51" name="Shape 44"/>
          <p:cNvSpPr/>
          <p:nvPr/>
        </p:nvSpPr>
        <p:spPr>
          <a:xfrm>
            <a:off x="5486400" y="3877056"/>
            <a:ext cx="2377440" cy="512064"/>
          </a:xfrm>
          <a:prstGeom prst="rect">
            <a:avLst/>
          </a:prstGeom>
          <a:solidFill>
            <a:srgbClr val="F4F6F8"/>
          </a:solidFill>
          <a:ln/>
        </p:spPr>
        <p:txBody>
          <a:bodyPr/>
          <a:p/>
        </p:txBody>
      </p:sp>
      <p:sp>
        <p:nvSpPr>
          <p:cNvPr id="52" name="Shape 45"/>
          <p:cNvSpPr/>
          <p:nvPr/>
        </p:nvSpPr>
        <p:spPr>
          <a:xfrm>
            <a:off x="5486400" y="3877056"/>
            <a:ext cx="54864" cy="512064"/>
          </a:xfrm>
          <a:prstGeom prst="rect">
            <a:avLst/>
          </a:prstGeom>
          <a:solidFill>
            <a:srgbClr val="C8106E"/>
          </a:solidFill>
          <a:ln/>
        </p:spPr>
        <p:txBody>
          <a:bodyPr/>
          <a:p/>
        </p:txBody>
      </p:sp>
      <p:sp>
        <p:nvSpPr>
          <p:cNvPr id="53" name="Text 46"/>
          <p:cNvSpPr/>
          <p:nvPr/>
        </p:nvSpPr>
        <p:spPr>
          <a:xfrm>
            <a:off x="5623560" y="3904488"/>
            <a:ext cx="2194560"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A partir do mês 7</a:t>
            </a:r>
            <a:endParaRPr lang="en-US" sz="950" dirty="0"/>
          </a:p>
        </p:txBody>
      </p:sp>
      <p:sp>
        <p:nvSpPr>
          <p:cNvPr id="54" name="Text 47"/>
          <p:cNvSpPr/>
          <p:nvPr/>
        </p:nvSpPr>
        <p:spPr>
          <a:xfrm>
            <a:off x="5623560" y="4087368"/>
            <a:ext cx="2194560" cy="25603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Analistas dedicados: 1 para cada 20 fazendas</a:t>
            </a:r>
            <a:endParaRPr lang="en-US" sz="8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Na prática: o dia a dia e a arquitetura do sistema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Como o dado sai do curral, chega à TN e volta como recomendação.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1097280"/>
            <a:ext cx="329184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Um dia na fazenda</a:t>
            </a:r>
            <a:endParaRPr lang="en-US" sz="1200" dirty="0"/>
          </a:p>
        </p:txBody>
      </p:sp>
      <p:sp>
        <p:nvSpPr>
          <p:cNvPr id="7" name="Shape 4"/>
          <p:cNvSpPr/>
          <p:nvPr/>
        </p:nvSpPr>
        <p:spPr>
          <a:xfrm>
            <a:off x="475488" y="1435608"/>
            <a:ext cx="146304" cy="146304"/>
          </a:xfrm>
          <a:prstGeom prst="ellipse">
            <a:avLst/>
          </a:prstGeom>
          <a:solidFill>
            <a:srgbClr val="1B3A8C"/>
          </a:solidFill>
          <a:ln/>
        </p:spPr>
        <p:txBody>
          <a:bodyPr/>
          <a:p/>
        </p:txBody>
      </p:sp>
      <p:sp>
        <p:nvSpPr>
          <p:cNvPr id="8" name="Shape 5"/>
          <p:cNvSpPr/>
          <p:nvPr/>
        </p:nvSpPr>
        <p:spPr>
          <a:xfrm>
            <a:off x="548640" y="1581912"/>
            <a:ext cx="914" cy="402336"/>
          </a:xfrm>
          <a:prstGeom prst="line">
            <a:avLst/>
          </a:prstGeom>
          <a:noFill/>
          <a:ln w="12700">
            <a:solidFill>
              <a:srgbClr val="D9DEE3"/>
            </a:solidFill>
            <a:prstDash val="solid"/>
          </a:ln>
        </p:spPr>
        <p:txBody>
          <a:bodyPr/>
          <a:p/>
        </p:txBody>
      </p:sp>
      <p:sp>
        <p:nvSpPr>
          <p:cNvPr id="9" name="Text 6"/>
          <p:cNvSpPr/>
          <p:nvPr/>
        </p:nvSpPr>
        <p:spPr>
          <a:xfrm>
            <a:off x="731520" y="138988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Início da manhã</a:t>
            </a:r>
            <a:endParaRPr lang="en-US" sz="1000" dirty="0"/>
          </a:p>
        </p:txBody>
      </p:sp>
      <p:sp>
        <p:nvSpPr>
          <p:cNvPr id="10" name="Text 7"/>
          <p:cNvSpPr/>
          <p:nvPr/>
        </p:nvSpPr>
        <p:spPr>
          <a:xfrm>
            <a:off x="731520" y="157276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Leitura de cocho antes do 1º trato: o tratador dá a nota de cada baia (escala adotada pela TN)</a:t>
            </a:r>
            <a:endParaRPr lang="en-US" sz="900" dirty="0"/>
          </a:p>
        </p:txBody>
      </p:sp>
      <p:sp>
        <p:nvSpPr>
          <p:cNvPr id="11" name="Shape 8"/>
          <p:cNvSpPr/>
          <p:nvPr/>
        </p:nvSpPr>
        <p:spPr>
          <a:xfrm>
            <a:off x="475488" y="1984248"/>
            <a:ext cx="146304" cy="146304"/>
          </a:xfrm>
          <a:prstGeom prst="ellipse">
            <a:avLst/>
          </a:prstGeom>
          <a:solidFill>
            <a:srgbClr val="1B3A8C"/>
          </a:solidFill>
          <a:ln/>
        </p:spPr>
        <p:txBody>
          <a:bodyPr/>
          <a:p/>
        </p:txBody>
      </p:sp>
      <p:sp>
        <p:nvSpPr>
          <p:cNvPr id="12" name="Shape 9"/>
          <p:cNvSpPr/>
          <p:nvPr/>
        </p:nvSpPr>
        <p:spPr>
          <a:xfrm>
            <a:off x="548640" y="2130552"/>
            <a:ext cx="914" cy="402336"/>
          </a:xfrm>
          <a:prstGeom prst="line">
            <a:avLst/>
          </a:prstGeom>
          <a:noFill/>
          <a:ln w="12700">
            <a:solidFill>
              <a:srgbClr val="D9DEE3"/>
            </a:solidFill>
            <a:prstDash val="solid"/>
          </a:ln>
        </p:spPr>
        <p:txBody>
          <a:bodyPr/>
          <a:p/>
        </p:txBody>
      </p:sp>
      <p:sp>
        <p:nvSpPr>
          <p:cNvPr id="13" name="Text 10"/>
          <p:cNvSpPr/>
          <p:nvPr/>
        </p:nvSpPr>
        <p:spPr>
          <a:xfrm>
            <a:off x="731520" y="193852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Durante o dia</a:t>
            </a:r>
            <a:endParaRPr lang="en-US" sz="1000" dirty="0"/>
          </a:p>
        </p:txBody>
      </p:sp>
      <p:sp>
        <p:nvSpPr>
          <p:cNvPr id="14" name="Text 11"/>
          <p:cNvSpPr/>
          <p:nvPr/>
        </p:nvSpPr>
        <p:spPr>
          <a:xfrm>
            <a:off x="731520" y="212140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Trato fornecido por baia, anotado na hora</a:t>
            </a:r>
            <a:endParaRPr lang="en-US" sz="900" dirty="0"/>
          </a:p>
        </p:txBody>
      </p:sp>
      <p:sp>
        <p:nvSpPr>
          <p:cNvPr id="15" name="Shape 12"/>
          <p:cNvSpPr/>
          <p:nvPr/>
        </p:nvSpPr>
        <p:spPr>
          <a:xfrm>
            <a:off x="475488" y="2532888"/>
            <a:ext cx="146304" cy="146304"/>
          </a:xfrm>
          <a:prstGeom prst="ellipse">
            <a:avLst/>
          </a:prstGeom>
          <a:solidFill>
            <a:srgbClr val="1B3A8C"/>
          </a:solidFill>
          <a:ln/>
        </p:spPr>
        <p:txBody>
          <a:bodyPr/>
          <a:p/>
        </p:txBody>
      </p:sp>
      <p:sp>
        <p:nvSpPr>
          <p:cNvPr id="16" name="Shape 13"/>
          <p:cNvSpPr/>
          <p:nvPr/>
        </p:nvSpPr>
        <p:spPr>
          <a:xfrm>
            <a:off x="548640" y="2679192"/>
            <a:ext cx="914" cy="402336"/>
          </a:xfrm>
          <a:prstGeom prst="line">
            <a:avLst/>
          </a:prstGeom>
          <a:noFill/>
          <a:ln w="12700">
            <a:solidFill>
              <a:srgbClr val="D9DEE3"/>
            </a:solidFill>
            <a:prstDash val="solid"/>
          </a:ln>
        </p:spPr>
        <p:txBody>
          <a:bodyPr/>
          <a:p/>
        </p:txBody>
      </p:sp>
      <p:sp>
        <p:nvSpPr>
          <p:cNvPr id="17" name="Text 14"/>
          <p:cNvSpPr/>
          <p:nvPr/>
        </p:nvSpPr>
        <p:spPr>
          <a:xfrm>
            <a:off x="731520" y="248716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Quando ocorre</a:t>
            </a:r>
            <a:endParaRPr lang="en-US" sz="1000" dirty="0"/>
          </a:p>
        </p:txBody>
      </p:sp>
      <p:sp>
        <p:nvSpPr>
          <p:cNvPr id="18" name="Text 15"/>
          <p:cNvSpPr/>
          <p:nvPr/>
        </p:nvSpPr>
        <p:spPr>
          <a:xfrm>
            <a:off x="731520" y="267004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Entradas, pesagens, saídas, mortes e troca de baia</a:t>
            </a:r>
            <a:endParaRPr lang="en-US" sz="900" dirty="0"/>
          </a:p>
        </p:txBody>
      </p:sp>
      <p:sp>
        <p:nvSpPr>
          <p:cNvPr id="19" name="Shape 16"/>
          <p:cNvSpPr/>
          <p:nvPr/>
        </p:nvSpPr>
        <p:spPr>
          <a:xfrm>
            <a:off x="475488" y="3081528"/>
            <a:ext cx="146304" cy="146304"/>
          </a:xfrm>
          <a:prstGeom prst="ellipse">
            <a:avLst/>
          </a:prstGeom>
          <a:solidFill>
            <a:srgbClr val="1B3A8C"/>
          </a:solidFill>
          <a:ln/>
        </p:spPr>
        <p:txBody>
          <a:bodyPr/>
          <a:p/>
        </p:txBody>
      </p:sp>
      <p:sp>
        <p:nvSpPr>
          <p:cNvPr id="20" name="Shape 17"/>
          <p:cNvSpPr/>
          <p:nvPr/>
        </p:nvSpPr>
        <p:spPr>
          <a:xfrm>
            <a:off x="548640" y="3227832"/>
            <a:ext cx="914" cy="402336"/>
          </a:xfrm>
          <a:prstGeom prst="line">
            <a:avLst/>
          </a:prstGeom>
          <a:noFill/>
          <a:ln w="12700">
            <a:solidFill>
              <a:srgbClr val="D9DEE3"/>
            </a:solidFill>
            <a:prstDash val="solid"/>
          </a:ln>
        </p:spPr>
        <p:txBody>
          <a:bodyPr/>
          <a:p/>
        </p:txBody>
      </p:sp>
      <p:sp>
        <p:nvSpPr>
          <p:cNvPr id="21" name="Text 18"/>
          <p:cNvSpPr/>
          <p:nvPr/>
        </p:nvSpPr>
        <p:spPr>
          <a:xfrm>
            <a:off x="731520" y="303580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Fim do dia</a:t>
            </a:r>
            <a:endParaRPr lang="en-US" sz="1000" dirty="0"/>
          </a:p>
        </p:txBody>
      </p:sp>
      <p:sp>
        <p:nvSpPr>
          <p:cNvPr id="22" name="Text 19"/>
          <p:cNvSpPr/>
          <p:nvPr/>
        </p:nvSpPr>
        <p:spPr>
          <a:xfrm>
            <a:off x="731520" y="321868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Escritório confere e envia. Meta: até 10 minutos</a:t>
            </a:r>
            <a:endParaRPr lang="en-US" sz="900" dirty="0"/>
          </a:p>
        </p:txBody>
      </p:sp>
      <p:sp>
        <p:nvSpPr>
          <p:cNvPr id="23" name="Shape 20"/>
          <p:cNvSpPr/>
          <p:nvPr/>
        </p:nvSpPr>
        <p:spPr>
          <a:xfrm>
            <a:off x="475488" y="3630168"/>
            <a:ext cx="146304" cy="146304"/>
          </a:xfrm>
          <a:prstGeom prst="ellipse">
            <a:avLst/>
          </a:prstGeom>
          <a:solidFill>
            <a:srgbClr val="C8106E"/>
          </a:solidFill>
          <a:ln/>
        </p:spPr>
        <p:txBody>
          <a:bodyPr/>
          <a:p/>
        </p:txBody>
      </p:sp>
      <p:sp>
        <p:nvSpPr>
          <p:cNvPr id="24" name="Text 21"/>
          <p:cNvSpPr/>
          <p:nvPr/>
        </p:nvSpPr>
        <p:spPr>
          <a:xfrm>
            <a:off x="731520" y="3584448"/>
            <a:ext cx="2926080" cy="182880"/>
          </a:xfrm>
          <a:prstGeom prst="rect">
            <a:avLst/>
          </a:prstGeom>
          <a:noFill/>
          <a:ln/>
        </p:spPr>
        <p:txBody>
          <a:bodyPr wrap="square" lIns="0" tIns="0" rIns="0" bIns="0" rtlCol="0" anchor="t"/>
          <a:lstStyle/>
          <a:p>
            <a:pPr indent="0" marL="0">
              <a:buNone/>
            </a:pPr>
            <a:r>
              <a:rPr lang="en-US" sz="1000" b="1" dirty="0">
                <a:solidFill>
                  <a:srgbClr val="C8106E"/>
                </a:solidFill>
                <a:latin typeface="Calibri" pitchFamily="34" charset="0"/>
                <a:ea typeface="Calibri" pitchFamily="34" charset="-122"/>
                <a:cs typeface="Calibri" pitchFamily="34" charset="-120"/>
              </a:rPr>
              <a:t>Toda semana</a:t>
            </a:r>
            <a:endParaRPr lang="en-US" sz="1000" dirty="0"/>
          </a:p>
        </p:txBody>
      </p:sp>
      <p:sp>
        <p:nvSpPr>
          <p:cNvPr id="25" name="Text 22"/>
          <p:cNvSpPr/>
          <p:nvPr/>
        </p:nvSpPr>
        <p:spPr>
          <a:xfrm>
            <a:off x="731520" y="376732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Relatório automático e análise do analista TN</a:t>
            </a:r>
            <a:endParaRPr lang="en-US" sz="900" dirty="0"/>
          </a:p>
        </p:txBody>
      </p:sp>
      <p:sp>
        <p:nvSpPr>
          <p:cNvPr id="26" name="Text 23"/>
          <p:cNvSpPr/>
          <p:nvPr/>
        </p:nvSpPr>
        <p:spPr>
          <a:xfrm>
            <a:off x="4023360" y="1097280"/>
            <a:ext cx="457200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Arquitetura proposta</a:t>
            </a:r>
            <a:endParaRPr lang="en-US" sz="1200" dirty="0"/>
          </a:p>
        </p:txBody>
      </p:sp>
      <p:sp>
        <p:nvSpPr>
          <p:cNvPr id="27" name="Shape 24"/>
          <p:cNvSpPr/>
          <p:nvPr/>
        </p:nvSpPr>
        <p:spPr>
          <a:xfrm>
            <a:off x="4023360" y="1417320"/>
            <a:ext cx="1691640" cy="603504"/>
          </a:xfrm>
          <a:prstGeom prst="rect">
            <a:avLst/>
          </a:prstGeom>
          <a:solidFill>
            <a:srgbClr val="26668F"/>
          </a:solidFill>
          <a:ln/>
        </p:spPr>
        <p:txBody>
          <a:bodyPr/>
          <a:p/>
        </p:txBody>
      </p:sp>
      <p:pic>
        <p:nvPicPr>
          <p:cNvPr id="28" name="Image 1" descr="preencoded.png">    </p:cNvPr>
          <p:cNvPicPr>
            <a:picLocks noChangeAspect="1"/>
          </p:cNvPicPr>
          <p:nvPr/>
        </p:nvPicPr>
        <p:blipFill>
          <a:blip r:embed="rId3"/>
          <a:stretch>
            <a:fillRect/>
          </a:stretch>
        </p:blipFill>
        <p:spPr>
          <a:xfrm>
            <a:off x="4114800" y="1527048"/>
            <a:ext cx="274320" cy="274320"/>
          </a:xfrm>
          <a:prstGeom prst="rect">
            <a:avLst/>
          </a:prstGeom>
        </p:spPr>
      </p:pic>
      <p:sp>
        <p:nvSpPr>
          <p:cNvPr id="29" name="Text 25"/>
          <p:cNvSpPr/>
          <p:nvPr/>
        </p:nvSpPr>
        <p:spPr>
          <a:xfrm>
            <a:off x="4462272" y="1472184"/>
            <a:ext cx="118872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Celular no curral</a:t>
            </a:r>
            <a:endParaRPr lang="en-US" sz="950" dirty="0"/>
          </a:p>
        </p:txBody>
      </p:sp>
      <p:sp>
        <p:nvSpPr>
          <p:cNvPr id="30" name="Text 26"/>
          <p:cNvSpPr/>
          <p:nvPr/>
        </p:nvSpPr>
        <p:spPr>
          <a:xfrm>
            <a:off x="4462272" y="1664208"/>
            <a:ext cx="118872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Navegador; sem sinal, guarda e envia depois</a:t>
            </a:r>
            <a:endParaRPr lang="en-US" sz="800" dirty="0"/>
          </a:p>
        </p:txBody>
      </p:sp>
      <p:sp>
        <p:nvSpPr>
          <p:cNvPr id="31" name="Shape 27"/>
          <p:cNvSpPr/>
          <p:nvPr/>
        </p:nvSpPr>
        <p:spPr>
          <a:xfrm>
            <a:off x="4023360" y="2121408"/>
            <a:ext cx="1691640" cy="603504"/>
          </a:xfrm>
          <a:prstGeom prst="rect">
            <a:avLst/>
          </a:prstGeom>
          <a:solidFill>
            <a:srgbClr val="26668F"/>
          </a:solidFill>
          <a:ln/>
        </p:spPr>
        <p:txBody>
          <a:bodyPr/>
          <a:p/>
        </p:txBody>
      </p:sp>
      <p:pic>
        <p:nvPicPr>
          <p:cNvPr id="32" name="Image 2" descr="preencoded.png">    </p:cNvPr>
          <p:cNvPicPr>
            <a:picLocks noChangeAspect="1"/>
          </p:cNvPicPr>
          <p:nvPr/>
        </p:nvPicPr>
        <p:blipFill>
          <a:blip r:embed="rId4"/>
          <a:stretch>
            <a:fillRect/>
          </a:stretch>
        </p:blipFill>
        <p:spPr>
          <a:xfrm>
            <a:off x="4114800" y="2231136"/>
            <a:ext cx="274320" cy="274320"/>
          </a:xfrm>
          <a:prstGeom prst="rect">
            <a:avLst/>
          </a:prstGeom>
        </p:spPr>
      </p:pic>
      <p:sp>
        <p:nvSpPr>
          <p:cNvPr id="33" name="Text 28"/>
          <p:cNvSpPr/>
          <p:nvPr/>
        </p:nvSpPr>
        <p:spPr>
          <a:xfrm>
            <a:off x="4462272" y="2176272"/>
            <a:ext cx="118872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Ficha de papel</a:t>
            </a:r>
            <a:endParaRPr lang="en-US" sz="950" dirty="0"/>
          </a:p>
        </p:txBody>
      </p:sp>
      <p:sp>
        <p:nvSpPr>
          <p:cNvPr id="34" name="Text 29"/>
          <p:cNvSpPr/>
          <p:nvPr/>
        </p:nvSpPr>
        <p:spPr>
          <a:xfrm>
            <a:off x="4462272" y="2368296"/>
            <a:ext cx="118872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Digitada no computador da sede</a:t>
            </a:r>
            <a:endParaRPr lang="en-US" sz="800" dirty="0"/>
          </a:p>
        </p:txBody>
      </p:sp>
      <p:sp>
        <p:nvSpPr>
          <p:cNvPr id="35" name="Shape 30"/>
          <p:cNvSpPr/>
          <p:nvPr/>
        </p:nvSpPr>
        <p:spPr>
          <a:xfrm>
            <a:off x="5989320" y="1417320"/>
            <a:ext cx="1188720" cy="1307592"/>
          </a:xfrm>
          <a:prstGeom prst="rect">
            <a:avLst/>
          </a:prstGeom>
          <a:solidFill>
            <a:srgbClr val="1B3A8C"/>
          </a:solidFill>
          <a:ln/>
        </p:spPr>
        <p:txBody>
          <a:bodyPr/>
          <a:p/>
        </p:txBody>
      </p:sp>
      <p:pic>
        <p:nvPicPr>
          <p:cNvPr id="36" name="Image 3" descr="preencoded.png">    </p:cNvPr>
          <p:cNvPicPr>
            <a:picLocks noChangeAspect="1"/>
          </p:cNvPicPr>
          <p:nvPr/>
        </p:nvPicPr>
        <p:blipFill>
          <a:blip r:embed="rId5"/>
          <a:stretch>
            <a:fillRect/>
          </a:stretch>
        </p:blipFill>
        <p:spPr>
          <a:xfrm>
            <a:off x="6080760" y="1527048"/>
            <a:ext cx="274320" cy="274320"/>
          </a:xfrm>
          <a:prstGeom prst="rect">
            <a:avLst/>
          </a:prstGeom>
        </p:spPr>
      </p:pic>
      <p:sp>
        <p:nvSpPr>
          <p:cNvPr id="37" name="Text 31"/>
          <p:cNvSpPr/>
          <p:nvPr/>
        </p:nvSpPr>
        <p:spPr>
          <a:xfrm>
            <a:off x="6428232" y="1472184"/>
            <a:ext cx="68580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Nuvem</a:t>
            </a:r>
            <a:endParaRPr lang="en-US" sz="950" dirty="0"/>
          </a:p>
        </p:txBody>
      </p:sp>
      <p:sp>
        <p:nvSpPr>
          <p:cNvPr id="38" name="Text 32"/>
          <p:cNvSpPr/>
          <p:nvPr/>
        </p:nvSpPr>
        <p:spPr>
          <a:xfrm>
            <a:off x="6428232" y="1664208"/>
            <a:ext cx="685800" cy="1033272"/>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Banco de dados e cálculos: consumo, GMD, dias de cocho</a:t>
            </a:r>
            <a:endParaRPr lang="en-US" sz="800" dirty="0"/>
          </a:p>
        </p:txBody>
      </p:sp>
      <p:sp>
        <p:nvSpPr>
          <p:cNvPr id="39" name="Shape 33"/>
          <p:cNvSpPr/>
          <p:nvPr/>
        </p:nvSpPr>
        <p:spPr>
          <a:xfrm>
            <a:off x="7452360" y="1417320"/>
            <a:ext cx="1280160" cy="603504"/>
          </a:xfrm>
          <a:prstGeom prst="rect">
            <a:avLst/>
          </a:prstGeom>
          <a:solidFill>
            <a:srgbClr val="1B3A8C"/>
          </a:solidFill>
          <a:ln/>
        </p:spPr>
        <p:txBody>
          <a:bodyPr/>
          <a:p/>
        </p:txBody>
      </p:sp>
      <p:pic>
        <p:nvPicPr>
          <p:cNvPr id="40" name="Image 4" descr="preencoded.png">    </p:cNvPr>
          <p:cNvPicPr>
            <a:picLocks noChangeAspect="1"/>
          </p:cNvPicPr>
          <p:nvPr/>
        </p:nvPicPr>
        <p:blipFill>
          <a:blip r:embed="rId6"/>
          <a:stretch>
            <a:fillRect/>
          </a:stretch>
        </p:blipFill>
        <p:spPr>
          <a:xfrm>
            <a:off x="7543800" y="1527048"/>
            <a:ext cx="274320" cy="274320"/>
          </a:xfrm>
          <a:prstGeom prst="rect">
            <a:avLst/>
          </a:prstGeom>
        </p:spPr>
      </p:pic>
      <p:sp>
        <p:nvSpPr>
          <p:cNvPr id="41" name="Text 34"/>
          <p:cNvSpPr/>
          <p:nvPr/>
        </p:nvSpPr>
        <p:spPr>
          <a:xfrm>
            <a:off x="7891272" y="1472184"/>
            <a:ext cx="77724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Painel</a:t>
            </a:r>
            <a:endParaRPr lang="en-US" sz="950" dirty="0"/>
          </a:p>
        </p:txBody>
      </p:sp>
      <p:sp>
        <p:nvSpPr>
          <p:cNvPr id="42" name="Text 35"/>
          <p:cNvSpPr/>
          <p:nvPr/>
        </p:nvSpPr>
        <p:spPr>
          <a:xfrm>
            <a:off x="7891272" y="1664208"/>
            <a:ext cx="77724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Relatório semanal automático</a:t>
            </a:r>
            <a:endParaRPr lang="en-US" sz="800" dirty="0"/>
          </a:p>
        </p:txBody>
      </p:sp>
      <p:sp>
        <p:nvSpPr>
          <p:cNvPr id="43" name="Shape 36"/>
          <p:cNvSpPr/>
          <p:nvPr/>
        </p:nvSpPr>
        <p:spPr>
          <a:xfrm>
            <a:off x="7452360" y="2121408"/>
            <a:ext cx="1280160" cy="603504"/>
          </a:xfrm>
          <a:prstGeom prst="rect">
            <a:avLst/>
          </a:prstGeom>
          <a:solidFill>
            <a:srgbClr val="C8106E"/>
          </a:solidFill>
          <a:ln/>
        </p:spPr>
        <p:txBody>
          <a:bodyPr/>
          <a:p/>
        </p:txBody>
      </p:sp>
      <p:pic>
        <p:nvPicPr>
          <p:cNvPr id="44" name="Image 5" descr="preencoded.png">    </p:cNvPr>
          <p:cNvPicPr>
            <a:picLocks noChangeAspect="1"/>
          </p:cNvPicPr>
          <p:nvPr/>
        </p:nvPicPr>
        <p:blipFill>
          <a:blip r:embed="rId7"/>
          <a:stretch>
            <a:fillRect/>
          </a:stretch>
        </p:blipFill>
        <p:spPr>
          <a:xfrm>
            <a:off x="7543800" y="2231136"/>
            <a:ext cx="274320" cy="274320"/>
          </a:xfrm>
          <a:prstGeom prst="rect">
            <a:avLst/>
          </a:prstGeom>
        </p:spPr>
      </p:pic>
      <p:sp>
        <p:nvSpPr>
          <p:cNvPr id="45" name="Text 37"/>
          <p:cNvSpPr/>
          <p:nvPr/>
        </p:nvSpPr>
        <p:spPr>
          <a:xfrm>
            <a:off x="7891272" y="2176272"/>
            <a:ext cx="77724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Analista TN</a:t>
            </a:r>
            <a:endParaRPr lang="en-US" sz="950" dirty="0"/>
          </a:p>
        </p:txBody>
      </p:sp>
      <p:sp>
        <p:nvSpPr>
          <p:cNvPr id="46" name="Text 38"/>
          <p:cNvSpPr/>
          <p:nvPr/>
        </p:nvSpPr>
        <p:spPr>
          <a:xfrm>
            <a:off x="7891272" y="2368296"/>
            <a:ext cx="77724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Lê, compara e recomenda</a:t>
            </a:r>
            <a:endParaRPr lang="en-US" sz="800" dirty="0"/>
          </a:p>
        </p:txBody>
      </p:sp>
      <p:pic>
        <p:nvPicPr>
          <p:cNvPr id="47" name="Image 6" descr="preencoded.png">    </p:cNvPr>
          <p:cNvPicPr>
            <a:picLocks noChangeAspect="1"/>
          </p:cNvPicPr>
          <p:nvPr/>
        </p:nvPicPr>
        <p:blipFill>
          <a:blip r:embed="rId8"/>
          <a:stretch>
            <a:fillRect/>
          </a:stretch>
        </p:blipFill>
        <p:spPr>
          <a:xfrm>
            <a:off x="5760720" y="1627632"/>
            <a:ext cx="182880" cy="182880"/>
          </a:xfrm>
          <a:prstGeom prst="rect">
            <a:avLst/>
          </a:prstGeom>
        </p:spPr>
      </p:pic>
      <p:pic>
        <p:nvPicPr>
          <p:cNvPr id="48" name="Image 7" descr="preencoded.png">    </p:cNvPr>
          <p:cNvPicPr>
            <a:picLocks noChangeAspect="1"/>
          </p:cNvPicPr>
          <p:nvPr/>
        </p:nvPicPr>
        <p:blipFill>
          <a:blip r:embed="rId8"/>
          <a:stretch>
            <a:fillRect/>
          </a:stretch>
        </p:blipFill>
        <p:spPr>
          <a:xfrm>
            <a:off x="5760720" y="2331720"/>
            <a:ext cx="182880" cy="182880"/>
          </a:xfrm>
          <a:prstGeom prst="rect">
            <a:avLst/>
          </a:prstGeom>
        </p:spPr>
      </p:pic>
      <p:pic>
        <p:nvPicPr>
          <p:cNvPr id="49" name="Image 8" descr="preencoded.png">    </p:cNvPr>
          <p:cNvPicPr>
            <a:picLocks noChangeAspect="1"/>
          </p:cNvPicPr>
          <p:nvPr/>
        </p:nvPicPr>
        <p:blipFill>
          <a:blip r:embed="rId8"/>
          <a:stretch>
            <a:fillRect/>
          </a:stretch>
        </p:blipFill>
        <p:spPr>
          <a:xfrm>
            <a:off x="7223760" y="1627632"/>
            <a:ext cx="182880" cy="182880"/>
          </a:xfrm>
          <a:prstGeom prst="rect">
            <a:avLst/>
          </a:prstGeom>
        </p:spPr>
      </p:pic>
      <p:sp>
        <p:nvSpPr>
          <p:cNvPr id="50" name="Shape 39"/>
          <p:cNvSpPr/>
          <p:nvPr/>
        </p:nvSpPr>
        <p:spPr>
          <a:xfrm>
            <a:off x="8092440" y="2020824"/>
            <a:ext cx="914" cy="100584"/>
          </a:xfrm>
          <a:prstGeom prst="line">
            <a:avLst/>
          </a:prstGeom>
          <a:noFill/>
          <a:ln w="15875">
            <a:solidFill>
              <a:srgbClr val="7A858F"/>
            </a:solidFill>
            <a:prstDash val="solid"/>
          </a:ln>
        </p:spPr>
        <p:txBody>
          <a:bodyPr/>
          <a:p/>
        </p:txBody>
      </p:sp>
      <p:sp>
        <p:nvSpPr>
          <p:cNvPr id="51" name="Shape 40"/>
          <p:cNvSpPr/>
          <p:nvPr/>
        </p:nvSpPr>
        <p:spPr>
          <a:xfrm>
            <a:off x="8092440" y="2724912"/>
            <a:ext cx="914" cy="164592"/>
          </a:xfrm>
          <a:prstGeom prst="line">
            <a:avLst/>
          </a:prstGeom>
          <a:noFill/>
          <a:ln w="15875">
            <a:solidFill>
              <a:srgbClr val="C8106E"/>
            </a:solidFill>
            <a:prstDash val="solid"/>
          </a:ln>
        </p:spPr>
        <p:txBody>
          <a:bodyPr/>
          <a:p/>
        </p:txBody>
      </p:sp>
      <p:sp>
        <p:nvSpPr>
          <p:cNvPr id="52" name="Shape 41"/>
          <p:cNvSpPr/>
          <p:nvPr/>
        </p:nvSpPr>
        <p:spPr>
          <a:xfrm>
            <a:off x="4846320" y="2889504"/>
            <a:ext cx="3246120" cy="914"/>
          </a:xfrm>
          <a:prstGeom prst="line">
            <a:avLst/>
          </a:prstGeom>
          <a:noFill/>
          <a:ln w="15875">
            <a:solidFill>
              <a:srgbClr val="C8106E"/>
            </a:solidFill>
            <a:prstDash val="solid"/>
          </a:ln>
        </p:spPr>
        <p:txBody>
          <a:bodyPr/>
          <a:p/>
        </p:txBody>
      </p:sp>
      <p:sp>
        <p:nvSpPr>
          <p:cNvPr id="53" name="Shape 42"/>
          <p:cNvSpPr/>
          <p:nvPr/>
        </p:nvSpPr>
        <p:spPr>
          <a:xfrm>
            <a:off x="4846320" y="2724912"/>
            <a:ext cx="914" cy="164592"/>
          </a:xfrm>
          <a:prstGeom prst="line">
            <a:avLst/>
          </a:prstGeom>
          <a:noFill/>
          <a:ln w="15875">
            <a:solidFill>
              <a:srgbClr val="C8106E"/>
            </a:solidFill>
            <a:prstDash val="solid"/>
          </a:ln>
        </p:spPr>
        <p:txBody>
          <a:bodyPr/>
          <a:p/>
        </p:txBody>
      </p:sp>
      <p:sp>
        <p:nvSpPr>
          <p:cNvPr id="54" name="Text 43"/>
          <p:cNvSpPr/>
          <p:nvPr/>
        </p:nvSpPr>
        <p:spPr>
          <a:xfrm>
            <a:off x="4937760" y="2916936"/>
            <a:ext cx="3108960" cy="182880"/>
          </a:xfrm>
          <a:prstGeom prst="rect">
            <a:avLst/>
          </a:prstGeom>
          <a:noFill/>
          <a:ln/>
        </p:spPr>
        <p:txBody>
          <a:bodyPr wrap="square" lIns="0" tIns="0" rIns="0" bIns="0" rtlCol="0" anchor="t"/>
          <a:lstStyle/>
          <a:p>
            <a:pPr algn="ctr" indent="0" marL="0">
              <a:buNone/>
            </a:pPr>
            <a:r>
              <a:rPr lang="en-US" sz="850" i="1" dirty="0">
                <a:solidFill>
                  <a:srgbClr val="C8106E"/>
                </a:solidFill>
                <a:latin typeface="Calibri" pitchFamily="34" charset="0"/>
                <a:ea typeface="Calibri" pitchFamily="34" charset="-122"/>
                <a:cs typeface="Calibri" pitchFamily="34" charset="-120"/>
              </a:rPr>
              <a:t>Recomendação volta ao gestor: WhatsApp, ligação ou visita</a:t>
            </a:r>
            <a:endParaRPr lang="en-US" sz="850" dirty="0"/>
          </a:p>
        </p:txBody>
      </p:sp>
      <p:sp>
        <p:nvSpPr>
          <p:cNvPr id="55" name="Shape 44"/>
          <p:cNvSpPr/>
          <p:nvPr/>
        </p:nvSpPr>
        <p:spPr>
          <a:xfrm>
            <a:off x="4023360" y="3218688"/>
            <a:ext cx="4709160" cy="1097280"/>
          </a:xfrm>
          <a:prstGeom prst="rect">
            <a:avLst/>
          </a:prstGeom>
          <a:solidFill>
            <a:srgbClr val="F4F6F8"/>
          </a:solidFill>
          <a:ln/>
        </p:spPr>
        <p:txBody>
          <a:bodyPr/>
          <a:p/>
        </p:txBody>
      </p:sp>
      <p:pic>
        <p:nvPicPr>
          <p:cNvPr id="56" name="Image 9" descr="preencoded.png">    </p:cNvPr>
          <p:cNvPicPr>
            <a:picLocks noChangeAspect="1"/>
          </p:cNvPicPr>
          <p:nvPr/>
        </p:nvPicPr>
        <p:blipFill>
          <a:blip r:embed="rId9"/>
          <a:stretch>
            <a:fillRect/>
          </a:stretch>
        </p:blipFill>
        <p:spPr>
          <a:xfrm>
            <a:off x="4133088" y="3310128"/>
            <a:ext cx="274320" cy="274320"/>
          </a:xfrm>
          <a:prstGeom prst="rect">
            <a:avLst/>
          </a:prstGeom>
        </p:spPr>
      </p:pic>
      <p:sp>
        <p:nvSpPr>
          <p:cNvPr id="57" name="Text 45"/>
          <p:cNvSpPr/>
          <p:nvPr/>
        </p:nvSpPr>
        <p:spPr>
          <a:xfrm>
            <a:off x="4498848" y="3291840"/>
            <a:ext cx="4114800" cy="219456"/>
          </a:xfrm>
          <a:prstGeom prst="rect">
            <a:avLst/>
          </a:prstGeom>
          <a:noFill/>
          <a:ln/>
        </p:spPr>
        <p:txBody>
          <a:bodyPr wrap="square" lIns="0" tIns="0" rIns="0" bIns="0" rtlCol="0" anchor="t"/>
          <a:lstStyle/>
          <a:p>
            <a:pPr indent="0" marL="0">
              <a:buNone/>
            </a:pPr>
            <a:r>
              <a:rPr lang="en-US" sz="1100" b="1" dirty="0">
                <a:solidFill>
                  <a:srgbClr val="1B3A8C"/>
                </a:solidFill>
                <a:latin typeface="Calibri" pitchFamily="34" charset="0"/>
                <a:ea typeface="Calibri" pitchFamily="34" charset="-122"/>
                <a:cs typeface="Calibri" pitchFamily="34" charset="-120"/>
              </a:rPr>
              <a:t>Precisa de internet?</a:t>
            </a:r>
            <a:endParaRPr lang="en-US" sz="1100" dirty="0"/>
          </a:p>
        </p:txBody>
      </p:sp>
      <p:sp>
        <p:nvSpPr>
          <p:cNvPr id="58" name="Text 46"/>
          <p:cNvSpPr/>
          <p:nvPr/>
        </p:nvSpPr>
        <p:spPr>
          <a:xfrm>
            <a:off x="4160520" y="3566160"/>
            <a:ext cx="4480560" cy="731520"/>
          </a:xfrm>
          <a:prstGeom prst="rect">
            <a:avLst/>
          </a:prstGeom>
          <a:noFill/>
          <a:ln/>
        </p:spPr>
        <p:txBody>
          <a:bodyPr wrap="square" lIns="0" tIns="0" rIns="0" bIns="0" rtlCol="0" anchor="t"/>
          <a:lstStyle/>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No curral, não: ficha de papel ou celular que guarda o lançamento e envia ao ter sinal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Na sede, sim: uma conexão por dia basta para enviar dados e ver o painel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Celular sem sinal e app nativo offline: validar com a Dreamer na imersão técnica (16 a 27/11)</a:t>
            </a:r>
            <a:endParaRPr lang="en-US" sz="8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competitiva: Cargill, DSM e Tecnobeef</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Os concorrentes vendem ferramenta junto da nutrição. Nosso espaço é a análise para o confinamento médio.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Cargill e Nutron (CattleView); estudo UFV com 6 confinamentos; DSM-firmenich (aquisição da Prodap); site e LinkedIn da Tecnobeef; avaliação interna TN (2023).</a:t>
            </a:r>
            <a:endParaRPr lang="en-US" sz="800" dirty="0"/>
          </a:p>
        </p:txBody>
      </p:sp>
      <p:sp>
        <p:nvSpPr>
          <p:cNvPr id="7" name="Shape 4"/>
          <p:cNvSpPr/>
          <p:nvPr/>
        </p:nvSpPr>
        <p:spPr>
          <a:xfrm>
            <a:off x="1645920" y="1097280"/>
            <a:ext cx="2020824" cy="292608"/>
          </a:xfrm>
          <a:prstGeom prst="rect">
            <a:avLst/>
          </a:prstGeom>
          <a:solidFill>
            <a:srgbClr val="1B3A8C"/>
          </a:solidFill>
          <a:ln/>
        </p:spPr>
        <p:txBody>
          <a:bodyPr/>
          <a:p/>
        </p:txBody>
      </p:sp>
      <p:sp>
        <p:nvSpPr>
          <p:cNvPr id="8" name="Text 5"/>
          <p:cNvSpPr/>
          <p:nvPr/>
        </p:nvSpPr>
        <p:spPr>
          <a:xfrm>
            <a:off x="1737360" y="1097280"/>
            <a:ext cx="1837944"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Oferta digital</a:t>
            </a:r>
            <a:endParaRPr lang="en-US" sz="1000" dirty="0"/>
          </a:p>
        </p:txBody>
      </p:sp>
      <p:sp>
        <p:nvSpPr>
          <p:cNvPr id="9" name="Shape 6"/>
          <p:cNvSpPr/>
          <p:nvPr/>
        </p:nvSpPr>
        <p:spPr>
          <a:xfrm>
            <a:off x="3703320" y="1097280"/>
            <a:ext cx="2432304" cy="292608"/>
          </a:xfrm>
          <a:prstGeom prst="rect">
            <a:avLst/>
          </a:prstGeom>
          <a:solidFill>
            <a:srgbClr val="1B3A8C"/>
          </a:solidFill>
          <a:ln/>
        </p:spPr>
        <p:txBody>
          <a:bodyPr/>
          <a:p/>
        </p:txBody>
      </p:sp>
      <p:sp>
        <p:nvSpPr>
          <p:cNvPr id="10" name="Text 7"/>
          <p:cNvSpPr/>
          <p:nvPr/>
        </p:nvSpPr>
        <p:spPr>
          <a:xfrm>
            <a:off x="3794760" y="1097280"/>
            <a:ext cx="2249424"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 que é bom</a:t>
            </a:r>
            <a:endParaRPr lang="en-US" sz="1000" dirty="0"/>
          </a:p>
        </p:txBody>
      </p:sp>
      <p:sp>
        <p:nvSpPr>
          <p:cNvPr id="11" name="Shape 8"/>
          <p:cNvSpPr/>
          <p:nvPr/>
        </p:nvSpPr>
        <p:spPr>
          <a:xfrm>
            <a:off x="6172200" y="1097280"/>
            <a:ext cx="2478024" cy="292608"/>
          </a:xfrm>
          <a:prstGeom prst="rect">
            <a:avLst/>
          </a:prstGeom>
          <a:solidFill>
            <a:srgbClr val="1B3A8C"/>
          </a:solidFill>
          <a:ln/>
        </p:spPr>
        <p:txBody>
          <a:bodyPr/>
          <a:p/>
        </p:txBody>
      </p:sp>
      <p:sp>
        <p:nvSpPr>
          <p:cNvPr id="12" name="Text 9"/>
          <p:cNvSpPr/>
          <p:nvPr/>
        </p:nvSpPr>
        <p:spPr>
          <a:xfrm>
            <a:off x="6263640" y="1097280"/>
            <a:ext cx="2295144"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 que é ruim</a:t>
            </a:r>
            <a:endParaRPr lang="en-US" sz="1000" dirty="0"/>
          </a:p>
        </p:txBody>
      </p:sp>
      <p:sp>
        <p:nvSpPr>
          <p:cNvPr id="13" name="Shape 10"/>
          <p:cNvSpPr/>
          <p:nvPr/>
        </p:nvSpPr>
        <p:spPr>
          <a:xfrm>
            <a:off x="457200" y="1426464"/>
            <a:ext cx="8229600" cy="621792"/>
          </a:xfrm>
          <a:prstGeom prst="rect">
            <a:avLst/>
          </a:prstGeom>
          <a:solidFill>
            <a:srgbClr val="F4F6F8"/>
          </a:solidFill>
          <a:ln/>
        </p:spPr>
        <p:txBody>
          <a:bodyPr/>
          <a:p/>
        </p:txBody>
      </p:sp>
      <p:sp>
        <p:nvSpPr>
          <p:cNvPr id="14" name="Text 11"/>
          <p:cNvSpPr/>
          <p:nvPr/>
        </p:nvSpPr>
        <p:spPr>
          <a:xfrm>
            <a:off x="548640" y="1426464"/>
            <a:ext cx="1051560" cy="621792"/>
          </a:xfrm>
          <a:prstGeom prst="rect">
            <a:avLst/>
          </a:prstGeom>
          <a:noFill/>
          <a:ln/>
        </p:spPr>
        <p:txBody>
          <a:bodyPr wrap="square" lIns="0" tIns="0" rIns="0" bIns="0" rtlCol="0" anchor="ctr"/>
          <a:lstStyle/>
          <a:p>
            <a:pPr indent="0" marL="0">
              <a:buNone/>
            </a:pPr>
            <a:r>
              <a:rPr lang="en-US" sz="1100" b="1" dirty="0">
                <a:solidFill>
                  <a:srgbClr val="1B3A8C"/>
                </a:solidFill>
                <a:latin typeface="Calibri" pitchFamily="34" charset="0"/>
                <a:ea typeface="Calibri" pitchFamily="34" charset="-122"/>
                <a:cs typeface="Calibri" pitchFamily="34" charset="-120"/>
              </a:rPr>
              <a:t>Cargill</a:t>
            </a:r>
            <a:endParaRPr lang="en-US" sz="1100" dirty="0"/>
          </a:p>
        </p:txBody>
      </p:sp>
      <p:sp>
        <p:nvSpPr>
          <p:cNvPr id="15" name="Text 12"/>
          <p:cNvSpPr/>
          <p:nvPr/>
        </p:nvSpPr>
        <p:spPr>
          <a:xfrm>
            <a:off x="1700784" y="1472184"/>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CattleView: câmeras, drones e IA para contar animais, ler cocho e acompanhar bem-estar; atendimento da Nutron</a:t>
            </a:r>
            <a:endParaRPr lang="en-US" sz="850" dirty="0"/>
          </a:p>
        </p:txBody>
      </p:sp>
      <p:sp>
        <p:nvSpPr>
          <p:cNvPr id="16" name="Text 13"/>
          <p:cNvSpPr/>
          <p:nvPr/>
        </p:nvSpPr>
        <p:spPr>
          <a:xfrm>
            <a:off x="3758184" y="1472184"/>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Tecnologia de ponta e marketing forte da ferramenta; presença física nos grandes confinamentos</a:t>
            </a:r>
            <a:endParaRPr lang="en-US" sz="850" dirty="0"/>
          </a:p>
        </p:txBody>
      </p:sp>
      <p:sp>
        <p:nvSpPr>
          <p:cNvPr id="17" name="Text 14"/>
          <p:cNvSpPr/>
          <p:nvPr/>
        </p:nvSpPr>
        <p:spPr>
          <a:xfrm>
            <a:off x="6227064" y="1472184"/>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Pensado para o grande confinamento com estrutura e sinal; leitura de sobra ainda em ajuste (estudo UFV); consultoria não é o ponto forte</a:t>
            </a:r>
            <a:endParaRPr lang="en-US" sz="850" dirty="0"/>
          </a:p>
        </p:txBody>
      </p:sp>
      <p:sp>
        <p:nvSpPr>
          <p:cNvPr id="18" name="Shape 15"/>
          <p:cNvSpPr/>
          <p:nvPr/>
        </p:nvSpPr>
        <p:spPr>
          <a:xfrm>
            <a:off x="457200" y="2093976"/>
            <a:ext cx="8229600" cy="621792"/>
          </a:xfrm>
          <a:prstGeom prst="rect">
            <a:avLst/>
          </a:prstGeom>
          <a:solidFill>
            <a:srgbClr val="F4F6F8"/>
          </a:solidFill>
          <a:ln/>
        </p:spPr>
        <p:txBody>
          <a:bodyPr/>
          <a:p/>
        </p:txBody>
      </p:sp>
      <p:sp>
        <p:nvSpPr>
          <p:cNvPr id="19" name="Text 16"/>
          <p:cNvSpPr/>
          <p:nvPr/>
        </p:nvSpPr>
        <p:spPr>
          <a:xfrm>
            <a:off x="548640" y="2093976"/>
            <a:ext cx="1051560" cy="621792"/>
          </a:xfrm>
          <a:prstGeom prst="rect">
            <a:avLst/>
          </a:prstGeom>
          <a:noFill/>
          <a:ln/>
        </p:spPr>
        <p:txBody>
          <a:bodyPr wrap="square" lIns="0" tIns="0" rIns="0" bIns="0" rtlCol="0" anchor="ctr"/>
          <a:lstStyle/>
          <a:p>
            <a:pPr indent="0" marL="0">
              <a:buNone/>
            </a:pPr>
            <a:r>
              <a:rPr lang="en-US" sz="1100" b="1" dirty="0">
                <a:solidFill>
                  <a:srgbClr val="1B3A8C"/>
                </a:solidFill>
                <a:latin typeface="Calibri" pitchFamily="34" charset="0"/>
                <a:ea typeface="Calibri" pitchFamily="34" charset="-122"/>
                <a:cs typeface="Calibri" pitchFamily="34" charset="-120"/>
              </a:rPr>
              <a:t>DSM (Prodap)</a:t>
            </a:r>
            <a:endParaRPr lang="en-US" sz="1100" dirty="0"/>
          </a:p>
        </p:txBody>
      </p:sp>
      <p:sp>
        <p:nvSpPr>
          <p:cNvPr id="20" name="Text 17"/>
          <p:cNvSpPr/>
          <p:nvPr/>
        </p:nvSpPr>
        <p:spPr>
          <a:xfrm>
            <a:off x="1700784" y="2139696"/>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Prodap Views: gestão do confinamento e da fazenda, com consultoria remota ou presencial (mais de 5 mil fazendas)</a:t>
            </a:r>
            <a:endParaRPr lang="en-US" sz="850" dirty="0"/>
          </a:p>
        </p:txBody>
      </p:sp>
      <p:sp>
        <p:nvSpPr>
          <p:cNvPr id="21" name="Text 18"/>
          <p:cNvSpPr/>
          <p:nvPr/>
        </p:nvSpPr>
        <p:spPr>
          <a:xfrm>
            <a:off x="3758184" y="2139696"/>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Já une tecnologia, consultoria e nutrição sob medida; maior equipe de campo no Brasil</a:t>
            </a:r>
            <a:endParaRPr lang="en-US" sz="850" dirty="0"/>
          </a:p>
        </p:txBody>
      </p:sp>
      <p:sp>
        <p:nvSpPr>
          <p:cNvPr id="22" name="Text 19"/>
          <p:cNvSpPr/>
          <p:nvPr/>
        </p:nvSpPr>
        <p:spPr>
          <a:xfrm>
            <a:off x="6227064" y="2139696"/>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Reestruturação após a aquisição; poucos consultores de alto nível; presença nas grandes contas abaixo da Cargill</a:t>
            </a:r>
            <a:endParaRPr lang="en-US" sz="850" dirty="0"/>
          </a:p>
        </p:txBody>
      </p:sp>
      <p:sp>
        <p:nvSpPr>
          <p:cNvPr id="23" name="Shape 20"/>
          <p:cNvSpPr/>
          <p:nvPr/>
        </p:nvSpPr>
        <p:spPr>
          <a:xfrm>
            <a:off x="457200" y="2761488"/>
            <a:ext cx="8229600" cy="621792"/>
          </a:xfrm>
          <a:prstGeom prst="rect">
            <a:avLst/>
          </a:prstGeom>
          <a:solidFill>
            <a:srgbClr val="F4F6F8"/>
          </a:solidFill>
          <a:ln/>
        </p:spPr>
        <p:txBody>
          <a:bodyPr/>
          <a:p/>
        </p:txBody>
      </p:sp>
      <p:sp>
        <p:nvSpPr>
          <p:cNvPr id="24" name="Text 21"/>
          <p:cNvSpPr/>
          <p:nvPr/>
        </p:nvSpPr>
        <p:spPr>
          <a:xfrm>
            <a:off x="548640" y="2761488"/>
            <a:ext cx="1051560" cy="621792"/>
          </a:xfrm>
          <a:prstGeom prst="rect">
            <a:avLst/>
          </a:prstGeom>
          <a:noFill/>
          <a:ln/>
        </p:spPr>
        <p:txBody>
          <a:bodyPr wrap="square" lIns="0" tIns="0" rIns="0" bIns="0" rtlCol="0" anchor="ctr"/>
          <a:lstStyle/>
          <a:p>
            <a:pPr indent="0" marL="0">
              <a:buNone/>
            </a:pPr>
            <a:r>
              <a:rPr lang="en-US" sz="1100" b="1" dirty="0">
                <a:solidFill>
                  <a:srgbClr val="1B3A8C"/>
                </a:solidFill>
                <a:latin typeface="Calibri" pitchFamily="34" charset="0"/>
                <a:ea typeface="Calibri" pitchFamily="34" charset="-122"/>
                <a:cs typeface="Calibri" pitchFamily="34" charset="-120"/>
              </a:rPr>
              <a:t>Tecnobeef</a:t>
            </a:r>
            <a:endParaRPr lang="en-US" sz="1100" dirty="0"/>
          </a:p>
        </p:txBody>
      </p:sp>
      <p:sp>
        <p:nvSpPr>
          <p:cNvPr id="25" name="Text 22"/>
          <p:cNvSpPr/>
          <p:nvPr/>
        </p:nvSpPr>
        <p:spPr>
          <a:xfrm>
            <a:off x="1700784" y="2807208"/>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Nutrição e suplementação sob medida; ferramenta digital própria não identificada</a:t>
            </a:r>
            <a:endParaRPr lang="en-US" sz="850" dirty="0"/>
          </a:p>
        </p:txBody>
      </p:sp>
      <p:sp>
        <p:nvSpPr>
          <p:cNvPr id="26" name="Text 23"/>
          <p:cNvSpPr/>
          <p:nvPr/>
        </p:nvSpPr>
        <p:spPr>
          <a:xfrm>
            <a:off x="3758184" y="2807208"/>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Nasceu dentro de um grupo confinador (Campanelli, cerca de 110 mil cabeças): credibilidade prática</a:t>
            </a:r>
            <a:endParaRPr lang="en-US" sz="850" dirty="0"/>
          </a:p>
        </p:txBody>
      </p:sp>
      <p:sp>
        <p:nvSpPr>
          <p:cNvPr id="27" name="Text 24"/>
          <p:cNvSpPr/>
          <p:nvPr/>
        </p:nvSpPr>
        <p:spPr>
          <a:xfrm>
            <a:off x="6227064" y="2807208"/>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Atuação mais regional; sem oferta digital pública. Confirmar no benchmark</a:t>
            </a:r>
            <a:endParaRPr lang="en-US" sz="850" dirty="0"/>
          </a:p>
        </p:txBody>
      </p:sp>
      <p:sp>
        <p:nvSpPr>
          <p:cNvPr id="28" name="Shape 25"/>
          <p:cNvSpPr/>
          <p:nvPr/>
        </p:nvSpPr>
        <p:spPr>
          <a:xfrm>
            <a:off x="457200" y="3429000"/>
            <a:ext cx="8229600" cy="621792"/>
          </a:xfrm>
          <a:prstGeom prst="rect">
            <a:avLst/>
          </a:prstGeom>
          <a:solidFill>
            <a:srgbClr val="FBE7F1"/>
          </a:solidFill>
          <a:ln/>
        </p:spPr>
        <p:txBody>
          <a:bodyPr/>
          <a:p/>
        </p:txBody>
      </p:sp>
      <p:sp>
        <p:nvSpPr>
          <p:cNvPr id="29" name="Text 26"/>
          <p:cNvSpPr/>
          <p:nvPr/>
        </p:nvSpPr>
        <p:spPr>
          <a:xfrm>
            <a:off x="548640" y="3429000"/>
            <a:ext cx="1051560" cy="621792"/>
          </a:xfrm>
          <a:prstGeom prst="rect">
            <a:avLst/>
          </a:prstGeom>
          <a:noFill/>
          <a:ln/>
        </p:spPr>
        <p:txBody>
          <a:bodyPr wrap="square" lIns="0" tIns="0" rIns="0" bIns="0" rtlCol="0" anchor="ctr"/>
          <a:lstStyle/>
          <a:p>
            <a:pPr indent="0" marL="0">
              <a:buNone/>
            </a:pPr>
            <a:r>
              <a:rPr lang="en-US" sz="1100" b="1" dirty="0">
                <a:solidFill>
                  <a:srgbClr val="C8106E"/>
                </a:solidFill>
                <a:latin typeface="Calibri" pitchFamily="34" charset="0"/>
                <a:ea typeface="Calibri" pitchFamily="34" charset="-122"/>
                <a:cs typeface="Calibri" pitchFamily="34" charset="-120"/>
              </a:rPr>
              <a:t>Trouw Nutrition</a:t>
            </a:r>
            <a:endParaRPr lang="en-US" sz="1100" dirty="0"/>
          </a:p>
        </p:txBody>
      </p:sp>
      <p:sp>
        <p:nvSpPr>
          <p:cNvPr id="30" name="Text 27"/>
          <p:cNvSpPr/>
          <p:nvPr/>
        </p:nvSpPr>
        <p:spPr>
          <a:xfrm>
            <a:off x="1700784" y="3474720"/>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Hoje: 20 licenças pagas de terceiros (TGC/Ponta e PecCode). Amanhã: TN Manager Web</a:t>
            </a:r>
            <a:endParaRPr lang="en-US" sz="850" dirty="0"/>
          </a:p>
        </p:txBody>
      </p:sp>
      <p:sp>
        <p:nvSpPr>
          <p:cNvPr id="31" name="Text 28"/>
          <p:cNvSpPr/>
          <p:nvPr/>
        </p:nvSpPr>
        <p:spPr>
          <a:xfrm>
            <a:off x="3758184" y="3474720"/>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Equipe de campo reconhecida e produtos premium</a:t>
            </a:r>
            <a:endParaRPr lang="en-US" sz="850" dirty="0"/>
          </a:p>
        </p:txBody>
      </p:sp>
      <p:sp>
        <p:nvSpPr>
          <p:cNvPr id="32" name="Text 29"/>
          <p:cNvSpPr/>
          <p:nvPr/>
        </p:nvSpPr>
        <p:spPr>
          <a:xfrm>
            <a:off x="6227064" y="3474720"/>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Dependemos de fornecedor; o pós-venda da Ponta decepcionou clientes; pouca presença digital</a:t>
            </a:r>
            <a:endParaRPr lang="en-US" sz="850" dirty="0"/>
          </a:p>
        </p:txBody>
      </p:sp>
      <p:sp>
        <p:nvSpPr>
          <p:cNvPr id="33" name="Shape 30"/>
          <p:cNvSpPr/>
          <p:nvPr/>
        </p:nvSpPr>
        <p:spPr>
          <a:xfrm>
            <a:off x="457200" y="4114800"/>
            <a:ext cx="4023360" cy="310896"/>
          </a:xfrm>
          <a:prstGeom prst="rect">
            <a:avLst/>
          </a:prstGeom>
          <a:solidFill>
            <a:srgbClr val="1B3A8C"/>
          </a:solidFill>
          <a:ln/>
        </p:spPr>
        <p:txBody>
          <a:bodyPr/>
          <a:p/>
        </p:txBody>
      </p:sp>
      <p:sp>
        <p:nvSpPr>
          <p:cNvPr id="34" name="Text 31"/>
          <p:cNvSpPr/>
          <p:nvPr/>
        </p:nvSpPr>
        <p:spPr>
          <a:xfrm>
            <a:off x="548640" y="4114800"/>
            <a:ext cx="3886200" cy="310896"/>
          </a:xfrm>
          <a:prstGeom prst="rect">
            <a:avLst/>
          </a:prstGeom>
          <a:noFill/>
          <a:ln/>
        </p:spPr>
        <p:txBody>
          <a:bodyPr wrap="square" lIns="0" tIns="0" rIns="0" bIns="0" rtlCol="0" anchor="ctr"/>
          <a:lstStyle/>
          <a:p>
            <a:pPr indent="0" marL="0">
              <a:buNone/>
            </a:pPr>
            <a:r>
              <a:rPr lang="en-US" sz="850" b="1" dirty="0">
                <a:solidFill>
                  <a:srgbClr val="C5D300"/>
                </a:solidFill>
                <a:latin typeface="Calibri" pitchFamily="34" charset="0"/>
                <a:ea typeface="Calibri" pitchFamily="34" charset="-122"/>
                <a:cs typeface="Calibri" pitchFamily="34" charset="-120"/>
              </a:rPr>
              <a:t>Leitura: </a:t>
            </a:r>
            <a:pPr indent="0" marL="0">
              <a:buNone/>
            </a:pPr>
            <a:r>
              <a:rPr lang="en-US" sz="850" dirty="0">
                <a:solidFill>
                  <a:srgbClr val="FFFFFF"/>
                </a:solidFill>
                <a:latin typeface="Calibri" pitchFamily="34" charset="0"/>
                <a:ea typeface="Calibri" pitchFamily="34" charset="-122"/>
                <a:cs typeface="Calibri" pitchFamily="34" charset="-120"/>
              </a:rPr>
              <a:t>ferramenta todos têm; análise semanal para 200 a 2.000 cabeças, ninguém faz de perto.</a:t>
            </a:r>
            <a:endParaRPr lang="en-US" sz="85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Custo-benefício e cobrança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Hoje pagamos licença de terceiros para 20 fazendas. O TN Manager Web troca custo de licença por serviço.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457200" y="1078992"/>
            <a:ext cx="365760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O que pagamos hoje</a:t>
            </a:r>
            <a:endParaRPr lang="en-US" sz="1200" dirty="0"/>
          </a:p>
        </p:txBody>
      </p:sp>
      <p:sp>
        <p:nvSpPr>
          <p:cNvPr id="7" name="Shape 4"/>
          <p:cNvSpPr/>
          <p:nvPr/>
        </p:nvSpPr>
        <p:spPr>
          <a:xfrm>
            <a:off x="457200" y="1353312"/>
            <a:ext cx="1115568" cy="274320"/>
          </a:xfrm>
          <a:prstGeom prst="rect">
            <a:avLst/>
          </a:prstGeom>
          <a:solidFill>
            <a:srgbClr val="1B3A8C"/>
          </a:solidFill>
          <a:ln/>
        </p:spPr>
        <p:txBody>
          <a:bodyPr/>
          <a:p/>
        </p:txBody>
      </p:sp>
      <p:sp>
        <p:nvSpPr>
          <p:cNvPr id="8" name="Text 5"/>
          <p:cNvSpPr/>
          <p:nvPr/>
        </p:nvSpPr>
        <p:spPr>
          <a:xfrm>
            <a:off x="548640" y="1353312"/>
            <a:ext cx="93268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Fornecedor</a:t>
            </a:r>
            <a:endParaRPr lang="en-US" sz="900" dirty="0"/>
          </a:p>
        </p:txBody>
      </p:sp>
      <p:sp>
        <p:nvSpPr>
          <p:cNvPr id="9" name="Shape 6"/>
          <p:cNvSpPr/>
          <p:nvPr/>
        </p:nvSpPr>
        <p:spPr>
          <a:xfrm>
            <a:off x="1600200" y="1353312"/>
            <a:ext cx="704088" cy="274320"/>
          </a:xfrm>
          <a:prstGeom prst="rect">
            <a:avLst/>
          </a:prstGeom>
          <a:solidFill>
            <a:srgbClr val="1B3A8C"/>
          </a:solidFill>
          <a:ln/>
        </p:spPr>
        <p:txBody>
          <a:bodyPr/>
          <a:p/>
        </p:txBody>
      </p:sp>
      <p:sp>
        <p:nvSpPr>
          <p:cNvPr id="10" name="Text 7"/>
          <p:cNvSpPr/>
          <p:nvPr/>
        </p:nvSpPr>
        <p:spPr>
          <a:xfrm>
            <a:off x="1691640" y="1353312"/>
            <a:ext cx="52120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Licenças</a:t>
            </a:r>
            <a:endParaRPr lang="en-US" sz="900" dirty="0"/>
          </a:p>
        </p:txBody>
      </p:sp>
      <p:sp>
        <p:nvSpPr>
          <p:cNvPr id="11" name="Shape 8"/>
          <p:cNvSpPr/>
          <p:nvPr/>
        </p:nvSpPr>
        <p:spPr>
          <a:xfrm>
            <a:off x="2331720" y="1353312"/>
            <a:ext cx="1207008" cy="274320"/>
          </a:xfrm>
          <a:prstGeom prst="rect">
            <a:avLst/>
          </a:prstGeom>
          <a:solidFill>
            <a:srgbClr val="1B3A8C"/>
          </a:solidFill>
          <a:ln/>
        </p:spPr>
        <p:txBody>
          <a:bodyPr/>
          <a:p/>
        </p:txBody>
      </p:sp>
      <p:sp>
        <p:nvSpPr>
          <p:cNvPr id="12" name="Text 9"/>
          <p:cNvSpPr/>
          <p:nvPr/>
        </p:nvSpPr>
        <p:spPr>
          <a:xfrm>
            <a:off x="2423160" y="1353312"/>
            <a:ext cx="102412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Por licença/ano</a:t>
            </a:r>
            <a:endParaRPr lang="en-US" sz="900" dirty="0"/>
          </a:p>
        </p:txBody>
      </p:sp>
      <p:sp>
        <p:nvSpPr>
          <p:cNvPr id="13" name="Shape 10"/>
          <p:cNvSpPr/>
          <p:nvPr/>
        </p:nvSpPr>
        <p:spPr>
          <a:xfrm>
            <a:off x="3566160" y="1353312"/>
            <a:ext cx="1069848" cy="274320"/>
          </a:xfrm>
          <a:prstGeom prst="rect">
            <a:avLst/>
          </a:prstGeom>
          <a:solidFill>
            <a:srgbClr val="1B3A8C"/>
          </a:solidFill>
          <a:ln/>
        </p:spPr>
        <p:txBody>
          <a:bodyPr/>
          <a:p/>
        </p:txBody>
      </p:sp>
      <p:sp>
        <p:nvSpPr>
          <p:cNvPr id="14" name="Text 11"/>
          <p:cNvSpPr/>
          <p:nvPr/>
        </p:nvSpPr>
        <p:spPr>
          <a:xfrm>
            <a:off x="3657600" y="1353312"/>
            <a:ext cx="88696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Total/ano</a:t>
            </a:r>
            <a:endParaRPr lang="en-US" sz="900" dirty="0"/>
          </a:p>
        </p:txBody>
      </p:sp>
      <p:sp>
        <p:nvSpPr>
          <p:cNvPr id="15" name="Shape 12"/>
          <p:cNvSpPr/>
          <p:nvPr/>
        </p:nvSpPr>
        <p:spPr>
          <a:xfrm>
            <a:off x="457200" y="1645920"/>
            <a:ext cx="4178808" cy="274320"/>
          </a:xfrm>
          <a:prstGeom prst="rect">
            <a:avLst/>
          </a:prstGeom>
          <a:solidFill>
            <a:srgbClr val="F4F6F8"/>
          </a:solidFill>
          <a:ln/>
        </p:spPr>
        <p:txBody>
          <a:bodyPr/>
          <a:p/>
        </p:txBody>
      </p:sp>
      <p:sp>
        <p:nvSpPr>
          <p:cNvPr id="16" name="Text 13"/>
          <p:cNvSpPr/>
          <p:nvPr/>
        </p:nvSpPr>
        <p:spPr>
          <a:xfrm>
            <a:off x="530352" y="1645920"/>
            <a:ext cx="1033272"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TGC (Ponta)</a:t>
            </a:r>
            <a:endParaRPr lang="en-US" sz="950" dirty="0"/>
          </a:p>
        </p:txBody>
      </p:sp>
      <p:sp>
        <p:nvSpPr>
          <p:cNvPr id="17" name="Text 14"/>
          <p:cNvSpPr/>
          <p:nvPr/>
        </p:nvSpPr>
        <p:spPr>
          <a:xfrm>
            <a:off x="1673352" y="1645920"/>
            <a:ext cx="62179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6</a:t>
            </a:r>
            <a:endParaRPr lang="en-US" sz="950" dirty="0"/>
          </a:p>
        </p:txBody>
      </p:sp>
      <p:sp>
        <p:nvSpPr>
          <p:cNvPr id="18" name="Text 15"/>
          <p:cNvSpPr/>
          <p:nvPr/>
        </p:nvSpPr>
        <p:spPr>
          <a:xfrm>
            <a:off x="2404872" y="1645920"/>
            <a:ext cx="112471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R$ 10 a 40 mil</a:t>
            </a:r>
            <a:endParaRPr lang="en-US" sz="950" dirty="0"/>
          </a:p>
        </p:txBody>
      </p:sp>
      <p:sp>
        <p:nvSpPr>
          <p:cNvPr id="19" name="Text 16"/>
          <p:cNvSpPr/>
          <p:nvPr/>
        </p:nvSpPr>
        <p:spPr>
          <a:xfrm>
            <a:off x="3639312" y="1645920"/>
            <a:ext cx="98755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R$ 60 a 240 mil</a:t>
            </a:r>
            <a:endParaRPr lang="en-US" sz="950" dirty="0"/>
          </a:p>
        </p:txBody>
      </p:sp>
      <p:sp>
        <p:nvSpPr>
          <p:cNvPr id="20" name="Shape 17"/>
          <p:cNvSpPr/>
          <p:nvPr/>
        </p:nvSpPr>
        <p:spPr>
          <a:xfrm>
            <a:off x="457200" y="1956816"/>
            <a:ext cx="4178808" cy="274320"/>
          </a:xfrm>
          <a:prstGeom prst="rect">
            <a:avLst/>
          </a:prstGeom>
          <a:solidFill>
            <a:srgbClr val="F4F6F8"/>
          </a:solidFill>
          <a:ln/>
        </p:spPr>
        <p:txBody>
          <a:bodyPr/>
          <a:p/>
        </p:txBody>
      </p:sp>
      <p:sp>
        <p:nvSpPr>
          <p:cNvPr id="21" name="Text 18"/>
          <p:cNvSpPr/>
          <p:nvPr/>
        </p:nvSpPr>
        <p:spPr>
          <a:xfrm>
            <a:off x="530352" y="1956816"/>
            <a:ext cx="1033272"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PecCode</a:t>
            </a:r>
            <a:endParaRPr lang="en-US" sz="950" dirty="0"/>
          </a:p>
        </p:txBody>
      </p:sp>
      <p:sp>
        <p:nvSpPr>
          <p:cNvPr id="22" name="Text 19"/>
          <p:cNvSpPr/>
          <p:nvPr/>
        </p:nvSpPr>
        <p:spPr>
          <a:xfrm>
            <a:off x="1673352" y="1956816"/>
            <a:ext cx="62179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14</a:t>
            </a:r>
            <a:endParaRPr lang="en-US" sz="950" dirty="0"/>
          </a:p>
        </p:txBody>
      </p:sp>
      <p:sp>
        <p:nvSpPr>
          <p:cNvPr id="23" name="Text 20"/>
          <p:cNvSpPr/>
          <p:nvPr/>
        </p:nvSpPr>
        <p:spPr>
          <a:xfrm>
            <a:off x="2404872" y="1956816"/>
            <a:ext cx="112471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R$ 8 a 12,8 mil</a:t>
            </a:r>
            <a:endParaRPr lang="en-US" sz="950" dirty="0"/>
          </a:p>
        </p:txBody>
      </p:sp>
      <p:sp>
        <p:nvSpPr>
          <p:cNvPr id="24" name="Text 21"/>
          <p:cNvSpPr/>
          <p:nvPr/>
        </p:nvSpPr>
        <p:spPr>
          <a:xfrm>
            <a:off x="3639312" y="1956816"/>
            <a:ext cx="98755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R$ 112 a 179 mil</a:t>
            </a:r>
            <a:endParaRPr lang="en-US" sz="950" dirty="0"/>
          </a:p>
        </p:txBody>
      </p:sp>
      <p:sp>
        <p:nvSpPr>
          <p:cNvPr id="25" name="Shape 22"/>
          <p:cNvSpPr/>
          <p:nvPr/>
        </p:nvSpPr>
        <p:spPr>
          <a:xfrm>
            <a:off x="457200" y="2267712"/>
            <a:ext cx="4178808" cy="274320"/>
          </a:xfrm>
          <a:prstGeom prst="rect">
            <a:avLst/>
          </a:prstGeom>
          <a:solidFill>
            <a:srgbClr val="FBE7F1"/>
          </a:solidFill>
          <a:ln/>
        </p:spPr>
        <p:txBody>
          <a:bodyPr/>
          <a:p/>
        </p:txBody>
      </p:sp>
      <p:sp>
        <p:nvSpPr>
          <p:cNvPr id="26" name="Text 23"/>
          <p:cNvSpPr/>
          <p:nvPr/>
        </p:nvSpPr>
        <p:spPr>
          <a:xfrm>
            <a:off x="530352" y="2267712"/>
            <a:ext cx="1033272" cy="274320"/>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Total</a:t>
            </a:r>
            <a:endParaRPr lang="en-US" sz="950" dirty="0"/>
          </a:p>
        </p:txBody>
      </p:sp>
      <p:sp>
        <p:nvSpPr>
          <p:cNvPr id="27" name="Text 24"/>
          <p:cNvSpPr/>
          <p:nvPr/>
        </p:nvSpPr>
        <p:spPr>
          <a:xfrm>
            <a:off x="1673352" y="2267712"/>
            <a:ext cx="621792" cy="274320"/>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20</a:t>
            </a:r>
            <a:endParaRPr lang="en-US" sz="950" dirty="0"/>
          </a:p>
        </p:txBody>
      </p:sp>
      <p:sp>
        <p:nvSpPr>
          <p:cNvPr id="28" name="Text 25"/>
          <p:cNvSpPr/>
          <p:nvPr/>
        </p:nvSpPr>
        <p:spPr>
          <a:xfrm>
            <a:off x="2404872" y="2267712"/>
            <a:ext cx="1124712" cy="274320"/>
          </a:xfrm>
          <a:prstGeom prst="rect">
            <a:avLst/>
          </a:prstGeom>
          <a:noFill/>
          <a:ln/>
        </p:spPr>
        <p:txBody>
          <a:bodyPr wrap="square" lIns="0" tIns="0" rIns="0" bIns="0" rtlCol="0" anchor="ctr"/>
          <a:lstStyle/>
          <a:p>
            <a:pPr indent="0" marL="0">
              <a:buNone/>
            </a:pPr>
            <a:endParaRPr lang="en-US" sz="950" dirty="0"/>
          </a:p>
        </p:txBody>
      </p:sp>
      <p:sp>
        <p:nvSpPr>
          <p:cNvPr id="29" name="Text 26"/>
          <p:cNvSpPr/>
          <p:nvPr/>
        </p:nvSpPr>
        <p:spPr>
          <a:xfrm>
            <a:off x="3639312" y="2267712"/>
            <a:ext cx="987552" cy="274320"/>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R$ 172 a 419 mil</a:t>
            </a:r>
            <a:endParaRPr lang="en-US" sz="950" dirty="0"/>
          </a:p>
        </p:txBody>
      </p:sp>
      <p:sp>
        <p:nvSpPr>
          <p:cNvPr id="30" name="Shape 27"/>
          <p:cNvSpPr/>
          <p:nvPr/>
        </p:nvSpPr>
        <p:spPr>
          <a:xfrm>
            <a:off x="457200" y="2670048"/>
            <a:ext cx="987552" cy="713232"/>
          </a:xfrm>
          <a:prstGeom prst="rect">
            <a:avLst/>
          </a:prstGeom>
          <a:solidFill>
            <a:srgbClr val="F4F6F8"/>
          </a:solidFill>
          <a:ln/>
        </p:spPr>
        <p:txBody>
          <a:bodyPr/>
          <a:p/>
        </p:txBody>
      </p:sp>
      <p:sp>
        <p:nvSpPr>
          <p:cNvPr id="31" name="Shape 28"/>
          <p:cNvSpPr/>
          <p:nvPr/>
        </p:nvSpPr>
        <p:spPr>
          <a:xfrm>
            <a:off x="457200" y="2670048"/>
            <a:ext cx="987552" cy="45720"/>
          </a:xfrm>
          <a:prstGeom prst="rect">
            <a:avLst/>
          </a:prstGeom>
          <a:solidFill>
            <a:srgbClr val="1B3A8C"/>
          </a:solidFill>
          <a:ln/>
        </p:spPr>
        <p:txBody>
          <a:bodyPr/>
          <a:p/>
        </p:txBody>
      </p:sp>
      <p:sp>
        <p:nvSpPr>
          <p:cNvPr id="32" name="Text 29"/>
          <p:cNvSpPr/>
          <p:nvPr/>
        </p:nvSpPr>
        <p:spPr>
          <a:xfrm>
            <a:off x="512064" y="2761488"/>
            <a:ext cx="914400" cy="292608"/>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R$ 364 mil</a:t>
            </a:r>
            <a:endParaRPr lang="en-US" sz="1300" dirty="0"/>
          </a:p>
        </p:txBody>
      </p:sp>
      <p:sp>
        <p:nvSpPr>
          <p:cNvPr id="33" name="Text 30"/>
          <p:cNvSpPr/>
          <p:nvPr/>
        </p:nvSpPr>
        <p:spPr>
          <a:xfrm>
            <a:off x="512064"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orçados</a:t>
            </a:r>
            <a:endParaRPr lang="en-US" sz="850" dirty="0"/>
          </a:p>
        </p:txBody>
      </p:sp>
      <p:sp>
        <p:nvSpPr>
          <p:cNvPr id="34" name="Shape 31"/>
          <p:cNvSpPr/>
          <p:nvPr/>
        </p:nvSpPr>
        <p:spPr>
          <a:xfrm>
            <a:off x="1513332" y="2670048"/>
            <a:ext cx="987552" cy="713232"/>
          </a:xfrm>
          <a:prstGeom prst="rect">
            <a:avLst/>
          </a:prstGeom>
          <a:solidFill>
            <a:srgbClr val="F4F6F8"/>
          </a:solidFill>
          <a:ln/>
        </p:spPr>
        <p:txBody>
          <a:bodyPr/>
          <a:p/>
        </p:txBody>
      </p:sp>
      <p:sp>
        <p:nvSpPr>
          <p:cNvPr id="35" name="Shape 32"/>
          <p:cNvSpPr/>
          <p:nvPr/>
        </p:nvSpPr>
        <p:spPr>
          <a:xfrm>
            <a:off x="1513332" y="2670048"/>
            <a:ext cx="987552" cy="45720"/>
          </a:xfrm>
          <a:prstGeom prst="rect">
            <a:avLst/>
          </a:prstGeom>
          <a:solidFill>
            <a:srgbClr val="26668F"/>
          </a:solidFill>
          <a:ln/>
        </p:spPr>
        <p:txBody>
          <a:bodyPr/>
          <a:p/>
        </p:txBody>
      </p:sp>
      <p:sp>
        <p:nvSpPr>
          <p:cNvPr id="36" name="Text 33"/>
          <p:cNvSpPr/>
          <p:nvPr/>
        </p:nvSpPr>
        <p:spPr>
          <a:xfrm>
            <a:off x="1568196" y="2761488"/>
            <a:ext cx="914400" cy="292608"/>
          </a:xfrm>
          <a:prstGeom prst="rect">
            <a:avLst/>
          </a:prstGeom>
          <a:noFill/>
          <a:ln/>
        </p:spPr>
        <p:txBody>
          <a:bodyPr wrap="square" lIns="0" tIns="0" rIns="0" bIns="0" rtlCol="0" anchor="t"/>
          <a:lstStyle/>
          <a:p>
            <a:pPr indent="0" marL="0">
              <a:buNone/>
            </a:pPr>
            <a:r>
              <a:rPr lang="en-US" sz="1300" b="1" dirty="0">
                <a:solidFill>
                  <a:srgbClr val="26668F"/>
                </a:solidFill>
                <a:latin typeface="Calibri" pitchFamily="34" charset="0"/>
                <a:ea typeface="Calibri" pitchFamily="34" charset="-122"/>
                <a:cs typeface="Calibri" pitchFamily="34" charset="-120"/>
              </a:rPr>
              <a:t>R$ 64 mil</a:t>
            </a:r>
            <a:endParaRPr lang="en-US" sz="1300" dirty="0"/>
          </a:p>
        </p:txBody>
      </p:sp>
      <p:sp>
        <p:nvSpPr>
          <p:cNvPr id="37" name="Text 34"/>
          <p:cNvSpPr/>
          <p:nvPr/>
        </p:nvSpPr>
        <p:spPr>
          <a:xfrm>
            <a:off x="1568196"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pagos até agora</a:t>
            </a:r>
            <a:endParaRPr lang="en-US" sz="850" dirty="0"/>
          </a:p>
        </p:txBody>
      </p:sp>
      <p:sp>
        <p:nvSpPr>
          <p:cNvPr id="38" name="Shape 35"/>
          <p:cNvSpPr/>
          <p:nvPr/>
        </p:nvSpPr>
        <p:spPr>
          <a:xfrm>
            <a:off x="2569464" y="2670048"/>
            <a:ext cx="987552" cy="713232"/>
          </a:xfrm>
          <a:prstGeom prst="rect">
            <a:avLst/>
          </a:prstGeom>
          <a:solidFill>
            <a:srgbClr val="F4F6F8"/>
          </a:solidFill>
          <a:ln/>
        </p:spPr>
        <p:txBody>
          <a:bodyPr/>
          <a:p/>
        </p:txBody>
      </p:sp>
      <p:sp>
        <p:nvSpPr>
          <p:cNvPr id="39" name="Shape 36"/>
          <p:cNvSpPr/>
          <p:nvPr/>
        </p:nvSpPr>
        <p:spPr>
          <a:xfrm>
            <a:off x="2569464" y="2670048"/>
            <a:ext cx="987552" cy="45720"/>
          </a:xfrm>
          <a:prstGeom prst="rect">
            <a:avLst/>
          </a:prstGeom>
          <a:solidFill>
            <a:srgbClr val="C8106E"/>
          </a:solidFill>
          <a:ln/>
        </p:spPr>
        <p:txBody>
          <a:bodyPr/>
          <a:p/>
        </p:txBody>
      </p:sp>
      <p:sp>
        <p:nvSpPr>
          <p:cNvPr id="40" name="Text 37"/>
          <p:cNvSpPr/>
          <p:nvPr/>
        </p:nvSpPr>
        <p:spPr>
          <a:xfrm>
            <a:off x="2624328" y="2761488"/>
            <a:ext cx="914400" cy="292608"/>
          </a:xfrm>
          <a:prstGeom prst="rect">
            <a:avLst/>
          </a:prstGeom>
          <a:noFill/>
          <a:ln/>
        </p:spPr>
        <p:txBody>
          <a:bodyPr wrap="square" lIns="0" tIns="0" rIns="0" bIns="0" rtlCol="0" anchor="t"/>
          <a:lstStyle/>
          <a:p>
            <a:pPr indent="0" marL="0">
              <a:buNone/>
            </a:pPr>
            <a:r>
              <a:rPr lang="en-US" sz="1300" b="1" dirty="0">
                <a:solidFill>
                  <a:srgbClr val="C8106E"/>
                </a:solidFill>
                <a:latin typeface="Calibri" pitchFamily="34" charset="0"/>
                <a:ea typeface="Calibri" pitchFamily="34" charset="-122"/>
                <a:cs typeface="Calibri" pitchFamily="34" charset="-120"/>
              </a:rPr>
              <a:t>R$ 300 mil</a:t>
            </a:r>
            <a:endParaRPr lang="en-US" sz="1300" dirty="0"/>
          </a:p>
        </p:txBody>
      </p:sp>
      <p:sp>
        <p:nvSpPr>
          <p:cNvPr id="41" name="Text 38"/>
          <p:cNvSpPr/>
          <p:nvPr/>
        </p:nvSpPr>
        <p:spPr>
          <a:xfrm>
            <a:off x="2624328"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ainda a pagar</a:t>
            </a:r>
            <a:endParaRPr lang="en-US" sz="850" dirty="0"/>
          </a:p>
        </p:txBody>
      </p:sp>
      <p:sp>
        <p:nvSpPr>
          <p:cNvPr id="42" name="Shape 39"/>
          <p:cNvSpPr/>
          <p:nvPr/>
        </p:nvSpPr>
        <p:spPr>
          <a:xfrm>
            <a:off x="3625596" y="2670048"/>
            <a:ext cx="987552" cy="713232"/>
          </a:xfrm>
          <a:prstGeom prst="rect">
            <a:avLst/>
          </a:prstGeom>
          <a:solidFill>
            <a:srgbClr val="F4F6F8"/>
          </a:solidFill>
          <a:ln/>
        </p:spPr>
        <p:txBody>
          <a:bodyPr/>
          <a:p/>
        </p:txBody>
      </p:sp>
      <p:sp>
        <p:nvSpPr>
          <p:cNvPr id="43" name="Shape 40"/>
          <p:cNvSpPr/>
          <p:nvPr/>
        </p:nvSpPr>
        <p:spPr>
          <a:xfrm>
            <a:off x="3625596" y="2670048"/>
            <a:ext cx="987552" cy="45720"/>
          </a:xfrm>
          <a:prstGeom prst="rect">
            <a:avLst/>
          </a:prstGeom>
          <a:solidFill>
            <a:srgbClr val="1B3A8C"/>
          </a:solidFill>
          <a:ln/>
        </p:spPr>
        <p:txBody>
          <a:bodyPr/>
          <a:p/>
        </p:txBody>
      </p:sp>
      <p:sp>
        <p:nvSpPr>
          <p:cNvPr id="44" name="Text 41"/>
          <p:cNvSpPr/>
          <p:nvPr/>
        </p:nvSpPr>
        <p:spPr>
          <a:xfrm>
            <a:off x="3680460" y="2761488"/>
            <a:ext cx="914400" cy="292608"/>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R$ 18,2 mil</a:t>
            </a:r>
            <a:endParaRPr lang="en-US" sz="1300" dirty="0"/>
          </a:p>
        </p:txBody>
      </p:sp>
      <p:sp>
        <p:nvSpPr>
          <p:cNvPr id="45" name="Text 42"/>
          <p:cNvSpPr/>
          <p:nvPr/>
        </p:nvSpPr>
        <p:spPr>
          <a:xfrm>
            <a:off x="3680460"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média por fazenda/ano</a:t>
            </a:r>
            <a:endParaRPr lang="en-US" sz="850" dirty="0"/>
          </a:p>
        </p:txBody>
      </p:sp>
      <p:sp>
        <p:nvSpPr>
          <p:cNvPr id="46" name="Text 43"/>
          <p:cNvSpPr/>
          <p:nvPr/>
        </p:nvSpPr>
        <p:spPr>
          <a:xfrm>
            <a:off x="457200" y="3493008"/>
            <a:ext cx="4178808" cy="502920"/>
          </a:xfrm>
          <a:prstGeom prst="rect">
            <a:avLst/>
          </a:prstGeom>
          <a:noFill/>
          <a:ln/>
        </p:spPr>
        <p:txBody>
          <a:bodyPr wrap="square" lIns="0" tIns="0" rIns="0" bIns="0" rtlCol="0" anchor="t"/>
          <a:lstStyle/>
          <a:p>
            <a:pPr indent="0" marL="0">
              <a:buNone/>
            </a:pPr>
            <a:r>
              <a:rPr lang="en-US" sz="900" i="1" dirty="0">
                <a:solidFill>
                  <a:srgbClr val="1B3A8C"/>
                </a:solidFill>
                <a:latin typeface="Calibri" pitchFamily="34" charset="0"/>
                <a:ea typeface="Calibri" pitchFamily="34" charset="-122"/>
                <a:cs typeface="Calibri" pitchFamily="34" charset="-120"/>
              </a:rPr>
              <a:t>A licença média por fazenda supera o resultado que muitos confinamentos pequenos geram para a TN. Por isso a licença de terceiros não escala para esse público.</a:t>
            </a:r>
            <a:endParaRPr lang="en-US" sz="900" dirty="0"/>
          </a:p>
        </p:txBody>
      </p:sp>
      <p:sp>
        <p:nvSpPr>
          <p:cNvPr id="47" name="Shape 44"/>
          <p:cNvSpPr/>
          <p:nvPr/>
        </p:nvSpPr>
        <p:spPr>
          <a:xfrm>
            <a:off x="4937760" y="1078992"/>
            <a:ext cx="3749040" cy="310896"/>
          </a:xfrm>
          <a:prstGeom prst="rect">
            <a:avLst/>
          </a:prstGeom>
          <a:solidFill>
            <a:srgbClr val="1B3A8C"/>
          </a:solidFill>
          <a:ln/>
        </p:spPr>
        <p:txBody>
          <a:bodyPr/>
          <a:p/>
        </p:txBody>
      </p:sp>
      <p:sp>
        <p:nvSpPr>
          <p:cNvPr id="48" name="Text 45"/>
          <p:cNvSpPr/>
          <p:nvPr/>
        </p:nvSpPr>
        <p:spPr>
          <a:xfrm>
            <a:off x="5029200" y="1078992"/>
            <a:ext cx="356616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muda com o TN Manager Web</a:t>
            </a:r>
            <a:endParaRPr lang="en-US" sz="1050" dirty="0"/>
          </a:p>
        </p:txBody>
      </p:sp>
      <p:sp>
        <p:nvSpPr>
          <p:cNvPr id="49" name="Shape 46"/>
          <p:cNvSpPr/>
          <p:nvPr/>
        </p:nvSpPr>
        <p:spPr>
          <a:xfrm>
            <a:off x="4937760" y="1389888"/>
            <a:ext cx="3749040" cy="987552"/>
          </a:xfrm>
          <a:prstGeom prst="rect">
            <a:avLst/>
          </a:prstGeom>
          <a:solidFill>
            <a:srgbClr val="F4F6F8"/>
          </a:solidFill>
          <a:ln/>
        </p:spPr>
        <p:txBody>
          <a:bodyPr/>
          <a:p/>
        </p:txBody>
      </p:sp>
      <p:sp>
        <p:nvSpPr>
          <p:cNvPr id="50" name="Text 47"/>
          <p:cNvSpPr/>
          <p:nvPr/>
        </p:nvSpPr>
        <p:spPr>
          <a:xfrm>
            <a:off x="5029200" y="1444752"/>
            <a:ext cx="3584448" cy="91440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Tudo que for web passa a ser TN Manager Web</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Cada fazenda que migra deixa de custar de R$ 8 mil a R$ 40 mil por ano em licença; todas juntas, até R$ 364 mil</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O projeto se paga quando o custo anual do TN Manager Web ficar abaixo das licenças que substitui (orçamento da Dreamer em nov/2026)</a:t>
            </a:r>
            <a:endParaRPr lang="en-US" sz="900" dirty="0"/>
          </a:p>
        </p:txBody>
      </p:sp>
      <p:sp>
        <p:nvSpPr>
          <p:cNvPr id="51" name="Shape 48"/>
          <p:cNvSpPr/>
          <p:nvPr/>
        </p:nvSpPr>
        <p:spPr>
          <a:xfrm>
            <a:off x="4937760" y="2450592"/>
            <a:ext cx="3749040" cy="566928"/>
          </a:xfrm>
          <a:prstGeom prst="rect">
            <a:avLst/>
          </a:prstGeom>
          <a:solidFill>
            <a:srgbClr val="E3F3F7"/>
          </a:solidFill>
          <a:ln/>
        </p:spPr>
        <p:txBody>
          <a:bodyPr/>
          <a:p/>
        </p:txBody>
      </p:sp>
      <p:sp>
        <p:nvSpPr>
          <p:cNvPr id="52" name="Shape 49"/>
          <p:cNvSpPr/>
          <p:nvPr/>
        </p:nvSpPr>
        <p:spPr>
          <a:xfrm>
            <a:off x="4937760" y="2450592"/>
            <a:ext cx="54864" cy="566928"/>
          </a:xfrm>
          <a:prstGeom prst="rect">
            <a:avLst/>
          </a:prstGeom>
          <a:solidFill>
            <a:srgbClr val="0096B4"/>
          </a:solidFill>
          <a:ln/>
        </p:spPr>
        <p:txBody>
          <a:bodyPr/>
          <a:p/>
        </p:txBody>
      </p:sp>
      <p:sp>
        <p:nvSpPr>
          <p:cNvPr id="53" name="Text 50"/>
          <p:cNvSpPr/>
          <p:nvPr/>
        </p:nvSpPr>
        <p:spPr>
          <a:xfrm>
            <a:off x="5074920" y="2450592"/>
            <a:ext cx="3566160" cy="566928"/>
          </a:xfrm>
          <a:prstGeom prst="rect">
            <a:avLst/>
          </a:prstGeom>
          <a:noFill/>
          <a:ln/>
        </p:spPr>
        <p:txBody>
          <a:bodyPr wrap="square" lIns="0" tIns="0" rIns="0" bIns="0" rtlCol="0" anchor="ctr"/>
          <a:lstStyle/>
          <a:p>
            <a:pPr indent="0" marL="0">
              <a:buNone/>
            </a:pPr>
            <a:r>
              <a:rPr lang="en-US" sz="900" b="1" dirty="0">
                <a:solidFill>
                  <a:srgbClr val="26668F"/>
                </a:solidFill>
                <a:latin typeface="Calibri" pitchFamily="34" charset="0"/>
                <a:ea typeface="Calibri" pitchFamily="34" charset="-122"/>
                <a:cs typeface="Calibri" pitchFamily="34" charset="-120"/>
              </a:rPr>
              <a:t>PecCode como parceira em automação: </a:t>
            </a:r>
            <a:pPr indent="0" marL="0">
              <a:buNone/>
            </a:pPr>
            <a:r>
              <a:rPr lang="en-US" sz="900" dirty="0">
                <a:solidFill>
                  <a:srgbClr val="4A5560"/>
                </a:solidFill>
                <a:latin typeface="Calibri" pitchFamily="34" charset="0"/>
                <a:ea typeface="Calibri" pitchFamily="34" charset="-122"/>
                <a:cs typeface="Calibri" pitchFamily="34" charset="-120"/>
              </a:rPr>
              <a:t>se a fazenda quiser automação (balança, vagão, integração), indicamos a PecCode, porque ainda não temos. O web fica com o TN Manager.</a:t>
            </a:r>
            <a:endParaRPr lang="en-US" sz="900" dirty="0"/>
          </a:p>
        </p:txBody>
      </p:sp>
      <p:sp>
        <p:nvSpPr>
          <p:cNvPr id="54" name="Shape 51"/>
          <p:cNvSpPr/>
          <p:nvPr/>
        </p:nvSpPr>
        <p:spPr>
          <a:xfrm>
            <a:off x="4937760" y="3090672"/>
            <a:ext cx="3749040" cy="292608"/>
          </a:xfrm>
          <a:prstGeom prst="rect">
            <a:avLst/>
          </a:prstGeom>
          <a:solidFill>
            <a:srgbClr val="C8106E"/>
          </a:solidFill>
          <a:ln/>
        </p:spPr>
        <p:txBody>
          <a:bodyPr/>
          <a:p/>
        </p:txBody>
      </p:sp>
      <p:sp>
        <p:nvSpPr>
          <p:cNvPr id="55" name="Text 52"/>
          <p:cNvSpPr/>
          <p:nvPr/>
        </p:nvSpPr>
        <p:spPr>
          <a:xfrm>
            <a:off x="5029200" y="3090672"/>
            <a:ext cx="356616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Cobrança do cliente (proposta)</a:t>
            </a:r>
            <a:endParaRPr lang="en-US" sz="1050" dirty="0"/>
          </a:p>
        </p:txBody>
      </p:sp>
      <p:sp>
        <p:nvSpPr>
          <p:cNvPr id="56" name="Shape 53"/>
          <p:cNvSpPr/>
          <p:nvPr/>
        </p:nvSpPr>
        <p:spPr>
          <a:xfrm>
            <a:off x="4937760" y="3383280"/>
            <a:ext cx="3749040" cy="932688"/>
          </a:xfrm>
          <a:prstGeom prst="rect">
            <a:avLst/>
          </a:prstGeom>
          <a:solidFill>
            <a:srgbClr val="FBE7F1"/>
          </a:solidFill>
          <a:ln/>
        </p:spPr>
        <p:txBody>
          <a:bodyPr/>
          <a:p/>
        </p:txBody>
      </p:sp>
      <p:sp>
        <p:nvSpPr>
          <p:cNvPr id="57" name="Text 54"/>
          <p:cNvSpPr/>
          <p:nvPr/>
        </p:nvSpPr>
        <p:spPr>
          <a:xfrm>
            <a:off x="5029200" y="3429000"/>
            <a:ext cx="3584448" cy="8686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licença para o cliente</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Custo embutido no pacote de nutrição e serviço técnico, como previsto na v1.0</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Quem não compra nutrição TN: mensalidade de serviço técnico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Modelo final na etapa de monetização (jan/2027)</a:t>
            </a:r>
            <a:endParaRPr lang="en-US" sz="9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SWOT: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Atualizada da v1.0 (2023) para a v2.0. Itens marcados em magenta são novos na v2.0.</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6" name="Shape 3"/>
          <p:cNvSpPr/>
          <p:nvPr/>
        </p:nvSpPr>
        <p:spPr>
          <a:xfrm>
            <a:off x="457200" y="1097280"/>
            <a:ext cx="4069080" cy="1554480"/>
          </a:xfrm>
          <a:prstGeom prst="rect">
            <a:avLst/>
          </a:prstGeom>
          <a:solidFill>
            <a:srgbClr val="F4F6F8"/>
          </a:solidFill>
          <a:ln/>
        </p:spPr>
        <p:txBody>
          <a:bodyPr/>
          <a:p/>
        </p:txBody>
      </p:sp>
      <p:sp>
        <p:nvSpPr>
          <p:cNvPr id="7" name="Shape 4"/>
          <p:cNvSpPr/>
          <p:nvPr/>
        </p:nvSpPr>
        <p:spPr>
          <a:xfrm>
            <a:off x="457200" y="1097280"/>
            <a:ext cx="54864" cy="1554480"/>
          </a:xfrm>
          <a:prstGeom prst="rect">
            <a:avLst/>
          </a:prstGeom>
          <a:solidFill>
            <a:srgbClr val="1B3A8C"/>
          </a:solidFill>
          <a:ln/>
        </p:spPr>
        <p:txBody>
          <a:bodyPr/>
          <a:p/>
        </p:txBody>
      </p:sp>
      <p:sp>
        <p:nvSpPr>
          <p:cNvPr id="8" name="Shape 5"/>
          <p:cNvSpPr/>
          <p:nvPr/>
        </p:nvSpPr>
        <p:spPr>
          <a:xfrm>
            <a:off x="594360" y="1188720"/>
            <a:ext cx="329184" cy="329184"/>
          </a:xfrm>
          <a:prstGeom prst="ellipse">
            <a:avLst/>
          </a:prstGeom>
          <a:solidFill>
            <a:srgbClr val="1B3A8C"/>
          </a:solidFill>
          <a:ln/>
        </p:spPr>
        <p:txBody>
          <a:bodyPr/>
          <a:p/>
        </p:txBody>
      </p:sp>
      <p:sp>
        <p:nvSpPr>
          <p:cNvPr id="9" name="Text 6"/>
          <p:cNvSpPr/>
          <p:nvPr/>
        </p:nvSpPr>
        <p:spPr>
          <a:xfrm>
            <a:off x="59436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0" name="Text 7"/>
          <p:cNvSpPr/>
          <p:nvPr/>
        </p:nvSpPr>
        <p:spPr>
          <a:xfrm>
            <a:off x="1005840" y="1207008"/>
            <a:ext cx="2743200" cy="292608"/>
          </a:xfrm>
          <a:prstGeom prst="rect">
            <a:avLst/>
          </a:prstGeom>
          <a:noFill/>
          <a:ln/>
        </p:spPr>
        <p:txBody>
          <a:bodyPr wrap="square" lIns="0" tIns="0" rIns="0" bIns="0" rtlCol="0" anchor="ctr"/>
          <a:lstStyle/>
          <a:p>
            <a:pPr indent="0" marL="0">
              <a:buNone/>
            </a:pPr>
            <a:r>
              <a:rPr lang="en-US" sz="1250" b="1" dirty="0">
                <a:solidFill>
                  <a:srgbClr val="1B3A8C"/>
                </a:solidFill>
                <a:latin typeface="Calibri" pitchFamily="34" charset="0"/>
                <a:ea typeface="Calibri" pitchFamily="34" charset="-122"/>
                <a:cs typeface="Calibri" pitchFamily="34" charset="-120"/>
              </a:rPr>
              <a:t>Forças</a:t>
            </a:r>
            <a:endParaRPr lang="en-US" sz="1250" dirty="0"/>
          </a:p>
        </p:txBody>
      </p:sp>
      <p:sp>
        <p:nvSpPr>
          <p:cNvPr id="11" name="Text 8"/>
          <p:cNvSpPr/>
          <p:nvPr/>
        </p:nvSpPr>
        <p:spPr>
          <a:xfrm>
            <a:off x="62179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Ganho de tempo: relatório pronto toda semana, sem planilha</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Benchmarking entre fazendas da carteira TN</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Dados próprios, sem depender de fornecedor</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Sem custo de licença para o cliente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Marca forte, produtos premium e equipe técnica</a:t>
            </a:r>
            <a:endParaRPr lang="en-US" sz="900" dirty="0"/>
          </a:p>
        </p:txBody>
      </p:sp>
      <p:sp>
        <p:nvSpPr>
          <p:cNvPr id="12" name="Shape 9"/>
          <p:cNvSpPr/>
          <p:nvPr/>
        </p:nvSpPr>
        <p:spPr>
          <a:xfrm>
            <a:off x="4617720" y="1097280"/>
            <a:ext cx="4069080" cy="1554480"/>
          </a:xfrm>
          <a:prstGeom prst="rect">
            <a:avLst/>
          </a:prstGeom>
          <a:solidFill>
            <a:srgbClr val="F4F6F8"/>
          </a:solidFill>
          <a:ln/>
        </p:spPr>
        <p:txBody>
          <a:bodyPr/>
          <a:p/>
        </p:txBody>
      </p:sp>
      <p:sp>
        <p:nvSpPr>
          <p:cNvPr id="13" name="Shape 10"/>
          <p:cNvSpPr/>
          <p:nvPr/>
        </p:nvSpPr>
        <p:spPr>
          <a:xfrm>
            <a:off x="4617720" y="1097280"/>
            <a:ext cx="54864" cy="1554480"/>
          </a:xfrm>
          <a:prstGeom prst="rect">
            <a:avLst/>
          </a:prstGeom>
          <a:solidFill>
            <a:srgbClr val="7A858F"/>
          </a:solidFill>
          <a:ln/>
        </p:spPr>
        <p:txBody>
          <a:bodyPr/>
          <a:p/>
        </p:txBody>
      </p:sp>
      <p:sp>
        <p:nvSpPr>
          <p:cNvPr id="14" name="Shape 11"/>
          <p:cNvSpPr/>
          <p:nvPr/>
        </p:nvSpPr>
        <p:spPr>
          <a:xfrm>
            <a:off x="4754880" y="1188720"/>
            <a:ext cx="329184" cy="329184"/>
          </a:xfrm>
          <a:prstGeom prst="ellipse">
            <a:avLst/>
          </a:prstGeom>
          <a:solidFill>
            <a:srgbClr val="7A858F"/>
          </a:solidFill>
          <a:ln/>
        </p:spPr>
        <p:txBody>
          <a:bodyPr/>
          <a:p/>
        </p:txBody>
      </p:sp>
      <p:sp>
        <p:nvSpPr>
          <p:cNvPr id="15" name="Text 12"/>
          <p:cNvSpPr/>
          <p:nvPr/>
        </p:nvSpPr>
        <p:spPr>
          <a:xfrm>
            <a:off x="475488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6" name="Text 13"/>
          <p:cNvSpPr/>
          <p:nvPr/>
        </p:nvSpPr>
        <p:spPr>
          <a:xfrm>
            <a:off x="5166360" y="1207008"/>
            <a:ext cx="2743200" cy="292608"/>
          </a:xfrm>
          <a:prstGeom prst="rect">
            <a:avLst/>
          </a:prstGeom>
          <a:noFill/>
          <a:ln/>
        </p:spPr>
        <p:txBody>
          <a:bodyPr wrap="square" lIns="0" tIns="0" rIns="0" bIns="0" rtlCol="0" anchor="ctr"/>
          <a:lstStyle/>
          <a:p>
            <a:pPr indent="0" marL="0">
              <a:buNone/>
            </a:pPr>
            <a:r>
              <a:rPr lang="en-US" sz="1250" b="1" dirty="0">
                <a:solidFill>
                  <a:srgbClr val="7A858F"/>
                </a:solidFill>
                <a:latin typeface="Calibri" pitchFamily="34" charset="0"/>
                <a:ea typeface="Calibri" pitchFamily="34" charset="-122"/>
                <a:cs typeface="Calibri" pitchFamily="34" charset="-120"/>
              </a:rPr>
              <a:t>Fraquezas</a:t>
            </a:r>
            <a:endParaRPr lang="en-US" sz="1250" dirty="0"/>
          </a:p>
        </p:txBody>
      </p:sp>
      <p:sp>
        <p:nvSpPr>
          <p:cNvPr id="17" name="Text 14"/>
          <p:cNvSpPr/>
          <p:nvPr/>
        </p:nvSpPr>
        <p:spPr>
          <a:xfrm>
            <a:off x="478231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Depende da disciplina de lançamento manual</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Time de análise pequeno no início (só Rodrigo)</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Ainda sem casos de sucesso próprios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Modelo de cobrança ainda a definir</a:t>
            </a:r>
            <a:endParaRPr lang="en-US" sz="900" dirty="0"/>
          </a:p>
        </p:txBody>
      </p:sp>
      <p:sp>
        <p:nvSpPr>
          <p:cNvPr id="18" name="Shape 15"/>
          <p:cNvSpPr/>
          <p:nvPr/>
        </p:nvSpPr>
        <p:spPr>
          <a:xfrm>
            <a:off x="457200" y="2743200"/>
            <a:ext cx="4069080" cy="1554480"/>
          </a:xfrm>
          <a:prstGeom prst="rect">
            <a:avLst/>
          </a:prstGeom>
          <a:solidFill>
            <a:srgbClr val="F4F6F8"/>
          </a:solidFill>
          <a:ln/>
        </p:spPr>
        <p:txBody>
          <a:bodyPr/>
          <a:p/>
        </p:txBody>
      </p:sp>
      <p:sp>
        <p:nvSpPr>
          <p:cNvPr id="19" name="Shape 16"/>
          <p:cNvSpPr/>
          <p:nvPr/>
        </p:nvSpPr>
        <p:spPr>
          <a:xfrm>
            <a:off x="457200" y="2743200"/>
            <a:ext cx="54864" cy="1554480"/>
          </a:xfrm>
          <a:prstGeom prst="rect">
            <a:avLst/>
          </a:prstGeom>
          <a:solidFill>
            <a:srgbClr val="26668F"/>
          </a:solidFill>
          <a:ln/>
        </p:spPr>
        <p:txBody>
          <a:bodyPr/>
          <a:p/>
        </p:txBody>
      </p:sp>
      <p:sp>
        <p:nvSpPr>
          <p:cNvPr id="20" name="Shape 17"/>
          <p:cNvSpPr/>
          <p:nvPr/>
        </p:nvSpPr>
        <p:spPr>
          <a:xfrm>
            <a:off x="594360" y="2834640"/>
            <a:ext cx="329184" cy="329184"/>
          </a:xfrm>
          <a:prstGeom prst="ellipse">
            <a:avLst/>
          </a:prstGeom>
          <a:solidFill>
            <a:srgbClr val="26668F"/>
          </a:solidFill>
          <a:ln/>
        </p:spPr>
        <p:txBody>
          <a:bodyPr/>
          <a:p/>
        </p:txBody>
      </p:sp>
      <p:sp>
        <p:nvSpPr>
          <p:cNvPr id="21" name="Text 18"/>
          <p:cNvSpPr/>
          <p:nvPr/>
        </p:nvSpPr>
        <p:spPr>
          <a:xfrm>
            <a:off x="59436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22" name="Text 19"/>
          <p:cNvSpPr/>
          <p:nvPr/>
        </p:nvSpPr>
        <p:spPr>
          <a:xfrm>
            <a:off x="1005840" y="2852928"/>
            <a:ext cx="2743200" cy="292608"/>
          </a:xfrm>
          <a:prstGeom prst="rect">
            <a:avLst/>
          </a:prstGeom>
          <a:noFill/>
          <a:ln/>
        </p:spPr>
        <p:txBody>
          <a:bodyPr wrap="square" lIns="0" tIns="0" rIns="0" bIns="0" rtlCol="0" anchor="ctr"/>
          <a:lstStyle/>
          <a:p>
            <a:pPr indent="0" marL="0">
              <a:buNone/>
            </a:pPr>
            <a:r>
              <a:rPr lang="en-US" sz="1250" b="1" dirty="0">
                <a:solidFill>
                  <a:srgbClr val="26668F"/>
                </a:solidFill>
                <a:latin typeface="Calibri" pitchFamily="34" charset="0"/>
                <a:ea typeface="Calibri" pitchFamily="34" charset="-122"/>
                <a:cs typeface="Calibri" pitchFamily="34" charset="-120"/>
              </a:rPr>
              <a:t>Oportunidades</a:t>
            </a:r>
            <a:endParaRPr lang="en-US" sz="1250" dirty="0"/>
          </a:p>
        </p:txBody>
      </p:sp>
      <p:sp>
        <p:nvSpPr>
          <p:cNvPr id="23" name="Text 20"/>
          <p:cNvSpPr/>
          <p:nvPr/>
        </p:nvSpPr>
        <p:spPr>
          <a:xfrm>
            <a:off x="62179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11.194 confinamentos de até 1.500 cabeças (Bússola Farm), pouco atendidos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Cortar até R$ 364 mil por ano em licenças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Recuperar ex-clientes e abrir não clientes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Recomendação nutricional baseada em dados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Clube de membros e programa de sustentabilidade</a:t>
            </a:r>
            <a:endParaRPr lang="en-US" sz="900" dirty="0"/>
          </a:p>
        </p:txBody>
      </p:sp>
      <p:sp>
        <p:nvSpPr>
          <p:cNvPr id="24" name="Shape 21"/>
          <p:cNvSpPr/>
          <p:nvPr/>
        </p:nvSpPr>
        <p:spPr>
          <a:xfrm>
            <a:off x="4617720" y="2743200"/>
            <a:ext cx="4069080" cy="1554480"/>
          </a:xfrm>
          <a:prstGeom prst="rect">
            <a:avLst/>
          </a:prstGeom>
          <a:solidFill>
            <a:srgbClr val="F4F6F8"/>
          </a:solidFill>
          <a:ln/>
        </p:spPr>
        <p:txBody>
          <a:bodyPr/>
          <a:p/>
        </p:txBody>
      </p:sp>
      <p:sp>
        <p:nvSpPr>
          <p:cNvPr id="25" name="Shape 22"/>
          <p:cNvSpPr/>
          <p:nvPr/>
        </p:nvSpPr>
        <p:spPr>
          <a:xfrm>
            <a:off x="4617720" y="2743200"/>
            <a:ext cx="54864" cy="1554480"/>
          </a:xfrm>
          <a:prstGeom prst="rect">
            <a:avLst/>
          </a:prstGeom>
          <a:solidFill>
            <a:srgbClr val="C8106E"/>
          </a:solidFill>
          <a:ln/>
        </p:spPr>
        <p:txBody>
          <a:bodyPr/>
          <a:p/>
        </p:txBody>
      </p:sp>
      <p:sp>
        <p:nvSpPr>
          <p:cNvPr id="26" name="Shape 23"/>
          <p:cNvSpPr/>
          <p:nvPr/>
        </p:nvSpPr>
        <p:spPr>
          <a:xfrm>
            <a:off x="4754880" y="2834640"/>
            <a:ext cx="329184" cy="329184"/>
          </a:xfrm>
          <a:prstGeom prst="ellipse">
            <a:avLst/>
          </a:prstGeom>
          <a:solidFill>
            <a:srgbClr val="C8106E"/>
          </a:solidFill>
          <a:ln/>
        </p:spPr>
        <p:txBody>
          <a:bodyPr/>
          <a:p/>
        </p:txBody>
      </p:sp>
      <p:sp>
        <p:nvSpPr>
          <p:cNvPr id="27" name="Text 24"/>
          <p:cNvSpPr/>
          <p:nvPr/>
        </p:nvSpPr>
        <p:spPr>
          <a:xfrm>
            <a:off x="475488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8" name="Text 25"/>
          <p:cNvSpPr/>
          <p:nvPr/>
        </p:nvSpPr>
        <p:spPr>
          <a:xfrm>
            <a:off x="5166360" y="2852928"/>
            <a:ext cx="2743200" cy="292608"/>
          </a:xfrm>
          <a:prstGeom prst="rect">
            <a:avLst/>
          </a:prstGeom>
          <a:noFill/>
          <a:ln/>
        </p:spPr>
        <p:txBody>
          <a:bodyPr wrap="square" lIns="0" tIns="0" rIns="0" bIns="0" rtlCol="0" anchor="ctr"/>
          <a:lstStyle/>
          <a:p>
            <a:pPr indent="0" marL="0">
              <a:buNone/>
            </a:pPr>
            <a:r>
              <a:rPr lang="en-US" sz="1250" b="1" dirty="0">
                <a:solidFill>
                  <a:srgbClr val="C8106E"/>
                </a:solidFill>
                <a:latin typeface="Calibri" pitchFamily="34" charset="0"/>
                <a:ea typeface="Calibri" pitchFamily="34" charset="-122"/>
                <a:cs typeface="Calibri" pitchFamily="34" charset="-120"/>
              </a:rPr>
              <a:t>Ameaças</a:t>
            </a:r>
            <a:endParaRPr lang="en-US" sz="1250" dirty="0"/>
          </a:p>
        </p:txBody>
      </p:sp>
      <p:sp>
        <p:nvSpPr>
          <p:cNvPr id="29" name="Text 26"/>
          <p:cNvSpPr/>
          <p:nvPr/>
        </p:nvSpPr>
        <p:spPr>
          <a:xfrm>
            <a:off x="478231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Cargill e DSM já vendem ferramenta junto da nutrição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Baixa adesão ao lançamento manual</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Dependência da software house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Não conseguir embutir o custo no preço do produto</a:t>
            </a:r>
            <a:endParaRPr lang="en-US" sz="9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Go-to-market: começar com 20 fazendas e escalar com analistas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Rodrigo valida o modelo de atendimento antes de contratar. O gatilho para crescer é resultado, não data.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457200" y="1115568"/>
            <a:ext cx="2606040" cy="1463040"/>
          </a:xfrm>
          <a:prstGeom prst="rect">
            <a:avLst/>
          </a:prstGeom>
          <a:solidFill>
            <a:srgbClr val="F4F6F8"/>
          </a:solidFill>
          <a:ln/>
        </p:spPr>
        <p:txBody>
          <a:bodyPr/>
          <a:p/>
        </p:txBody>
      </p:sp>
      <p:sp>
        <p:nvSpPr>
          <p:cNvPr id="7" name="Shape 4"/>
          <p:cNvSpPr/>
          <p:nvPr/>
        </p:nvSpPr>
        <p:spPr>
          <a:xfrm>
            <a:off x="457200" y="1115568"/>
            <a:ext cx="2606040" cy="54864"/>
          </a:xfrm>
          <a:prstGeom prst="rect">
            <a:avLst/>
          </a:prstGeom>
          <a:solidFill>
            <a:srgbClr val="26668F"/>
          </a:solidFill>
          <a:ln/>
        </p:spPr>
        <p:txBody>
          <a:bodyPr/>
          <a:p/>
        </p:txBody>
      </p:sp>
      <p:sp>
        <p:nvSpPr>
          <p:cNvPr id="8" name="Text 5"/>
          <p:cNvSpPr/>
          <p:nvPr/>
        </p:nvSpPr>
        <p:spPr>
          <a:xfrm>
            <a:off x="585216" y="1243584"/>
            <a:ext cx="2423160" cy="182880"/>
          </a:xfrm>
          <a:prstGeom prst="rect">
            <a:avLst/>
          </a:prstGeom>
          <a:noFill/>
          <a:ln/>
        </p:spPr>
        <p:txBody>
          <a:bodyPr wrap="square" lIns="0" tIns="0" rIns="0" bIns="0" rtlCol="0" anchor="t"/>
          <a:lstStyle/>
          <a:p>
            <a:pPr indent="0" marL="0">
              <a:buNone/>
            </a:pPr>
            <a:r>
              <a:rPr lang="en-US" sz="850" b="1" spc="150" kern="0" dirty="0">
                <a:solidFill>
                  <a:srgbClr val="26668F"/>
                </a:solidFill>
                <a:latin typeface="Calibri" pitchFamily="34" charset="0"/>
                <a:ea typeface="Calibri" pitchFamily="34" charset="-122"/>
                <a:cs typeface="Calibri" pitchFamily="34" charset="-120"/>
              </a:rPr>
              <a:t>MESES 1 E 2</a:t>
            </a:r>
            <a:endParaRPr lang="en-US" sz="850" dirty="0"/>
          </a:p>
        </p:txBody>
      </p:sp>
      <p:sp>
        <p:nvSpPr>
          <p:cNvPr id="9" name="Text 6"/>
          <p:cNvSpPr/>
          <p:nvPr/>
        </p:nvSpPr>
        <p:spPr>
          <a:xfrm>
            <a:off x="585216"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Piloto</a:t>
            </a:r>
            <a:endParaRPr lang="en-US" sz="1400" dirty="0"/>
          </a:p>
        </p:txBody>
      </p:sp>
      <p:sp>
        <p:nvSpPr>
          <p:cNvPr id="10" name="Shape 7"/>
          <p:cNvSpPr/>
          <p:nvPr/>
        </p:nvSpPr>
        <p:spPr>
          <a:xfrm>
            <a:off x="585216" y="1737360"/>
            <a:ext cx="1600200" cy="219456"/>
          </a:xfrm>
          <a:prstGeom prst="roundRect">
            <a:avLst>
              <a:gd name="adj" fmla="val 50000"/>
            </a:avLst>
          </a:prstGeom>
          <a:solidFill>
            <a:srgbClr val="26668F"/>
          </a:solidFill>
          <a:ln/>
        </p:spPr>
        <p:txBody>
          <a:bodyPr/>
          <a:p/>
        </p:txBody>
      </p:sp>
      <p:sp>
        <p:nvSpPr>
          <p:cNvPr id="11" name="Text 8"/>
          <p:cNvSpPr/>
          <p:nvPr/>
        </p:nvSpPr>
        <p:spPr>
          <a:xfrm>
            <a:off x="585216"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a 5 fazendas</a:t>
            </a:r>
            <a:endParaRPr lang="en-US" sz="900" dirty="0"/>
          </a:p>
        </p:txBody>
      </p:sp>
      <p:sp>
        <p:nvSpPr>
          <p:cNvPr id="12" name="Text 9"/>
          <p:cNvSpPr/>
          <p:nvPr/>
        </p:nvSpPr>
        <p:spPr>
          <a:xfrm>
            <a:off x="585216"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e técnico de campo acompanham de perto; ajustes rápidos no produto com a Dreamer</a:t>
            </a:r>
            <a:endParaRPr lang="en-US" sz="900" dirty="0"/>
          </a:p>
        </p:txBody>
      </p:sp>
      <p:pic>
        <p:nvPicPr>
          <p:cNvPr id="13" name="Image 1" descr="preencoded.png">    </p:cNvPr>
          <p:cNvPicPr>
            <a:picLocks noChangeAspect="1"/>
          </p:cNvPicPr>
          <p:nvPr/>
        </p:nvPicPr>
        <p:blipFill>
          <a:blip r:embed="rId3"/>
          <a:stretch>
            <a:fillRect/>
          </a:stretch>
        </p:blipFill>
        <p:spPr>
          <a:xfrm>
            <a:off x="3090672" y="1755648"/>
            <a:ext cx="164592" cy="164592"/>
          </a:xfrm>
          <a:prstGeom prst="rect">
            <a:avLst/>
          </a:prstGeom>
        </p:spPr>
      </p:pic>
      <p:sp>
        <p:nvSpPr>
          <p:cNvPr id="14" name="Shape 10"/>
          <p:cNvSpPr/>
          <p:nvPr/>
        </p:nvSpPr>
        <p:spPr>
          <a:xfrm>
            <a:off x="3273552" y="1115568"/>
            <a:ext cx="2606040" cy="1463040"/>
          </a:xfrm>
          <a:prstGeom prst="rect">
            <a:avLst/>
          </a:prstGeom>
          <a:solidFill>
            <a:srgbClr val="F4F6F8"/>
          </a:solidFill>
          <a:ln/>
        </p:spPr>
        <p:txBody>
          <a:bodyPr/>
          <a:p/>
        </p:txBody>
      </p:sp>
      <p:sp>
        <p:nvSpPr>
          <p:cNvPr id="15" name="Shape 11"/>
          <p:cNvSpPr/>
          <p:nvPr/>
        </p:nvSpPr>
        <p:spPr>
          <a:xfrm>
            <a:off x="3273552" y="1115568"/>
            <a:ext cx="2606040" cy="54864"/>
          </a:xfrm>
          <a:prstGeom prst="rect">
            <a:avLst/>
          </a:prstGeom>
          <a:solidFill>
            <a:srgbClr val="1B3A8C"/>
          </a:solidFill>
          <a:ln/>
        </p:spPr>
        <p:txBody>
          <a:bodyPr/>
          <a:p/>
        </p:txBody>
      </p:sp>
      <p:sp>
        <p:nvSpPr>
          <p:cNvPr id="16" name="Text 12"/>
          <p:cNvSpPr/>
          <p:nvPr/>
        </p:nvSpPr>
        <p:spPr>
          <a:xfrm>
            <a:off x="3401568" y="1243584"/>
            <a:ext cx="2423160" cy="182880"/>
          </a:xfrm>
          <a:prstGeom prst="rect">
            <a:avLst/>
          </a:prstGeom>
          <a:noFill/>
          <a:ln/>
        </p:spPr>
        <p:txBody>
          <a:bodyPr wrap="square" lIns="0" tIns="0" rIns="0" bIns="0" rtlCol="0" anchor="t"/>
          <a:lstStyle/>
          <a:p>
            <a:pPr indent="0" marL="0">
              <a:buNone/>
            </a:pPr>
            <a:r>
              <a:rPr lang="en-US" sz="850" b="1" spc="150" kern="0" dirty="0">
                <a:solidFill>
                  <a:srgbClr val="1B3A8C"/>
                </a:solidFill>
                <a:latin typeface="Calibri" pitchFamily="34" charset="0"/>
                <a:ea typeface="Calibri" pitchFamily="34" charset="-122"/>
                <a:cs typeface="Calibri" pitchFamily="34" charset="-120"/>
              </a:rPr>
              <a:t>MESES 3 A 6</a:t>
            </a:r>
            <a:endParaRPr lang="en-US" sz="850" dirty="0"/>
          </a:p>
        </p:txBody>
      </p:sp>
      <p:sp>
        <p:nvSpPr>
          <p:cNvPr id="17" name="Text 13"/>
          <p:cNvSpPr/>
          <p:nvPr/>
        </p:nvSpPr>
        <p:spPr>
          <a:xfrm>
            <a:off x="3401568"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Rodrigo analisa</a:t>
            </a:r>
            <a:endParaRPr lang="en-US" sz="1400" dirty="0"/>
          </a:p>
        </p:txBody>
      </p:sp>
      <p:sp>
        <p:nvSpPr>
          <p:cNvPr id="18" name="Shape 14"/>
          <p:cNvSpPr/>
          <p:nvPr/>
        </p:nvSpPr>
        <p:spPr>
          <a:xfrm>
            <a:off x="3401568" y="1737360"/>
            <a:ext cx="1600200" cy="219456"/>
          </a:xfrm>
          <a:prstGeom prst="roundRect">
            <a:avLst>
              <a:gd name="adj" fmla="val 50000"/>
            </a:avLst>
          </a:prstGeom>
          <a:solidFill>
            <a:srgbClr val="1B3A8C"/>
          </a:solidFill>
          <a:ln/>
        </p:spPr>
        <p:txBody>
          <a:bodyPr/>
          <a:p/>
        </p:txBody>
      </p:sp>
      <p:sp>
        <p:nvSpPr>
          <p:cNvPr id="19" name="Text 15"/>
          <p:cNvSpPr/>
          <p:nvPr/>
        </p:nvSpPr>
        <p:spPr>
          <a:xfrm>
            <a:off x="3401568"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até 20 fazendas</a:t>
            </a:r>
            <a:endParaRPr lang="en-US" sz="900" dirty="0"/>
          </a:p>
        </p:txBody>
      </p:sp>
      <p:sp>
        <p:nvSpPr>
          <p:cNvPr id="20" name="Text 16"/>
          <p:cNvSpPr/>
          <p:nvPr/>
        </p:nvSpPr>
        <p:spPr>
          <a:xfrm>
            <a:off x="3401568"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Análise semanal remota, relatório comentado e auditoria mensal de dados e rotina</a:t>
            </a:r>
            <a:endParaRPr lang="en-US" sz="900" dirty="0"/>
          </a:p>
        </p:txBody>
      </p:sp>
      <p:pic>
        <p:nvPicPr>
          <p:cNvPr id="21" name="Image 2" descr="preencoded.png">    </p:cNvPr>
          <p:cNvPicPr>
            <a:picLocks noChangeAspect="1"/>
          </p:cNvPicPr>
          <p:nvPr/>
        </p:nvPicPr>
        <p:blipFill>
          <a:blip r:embed="rId3"/>
          <a:stretch>
            <a:fillRect/>
          </a:stretch>
        </p:blipFill>
        <p:spPr>
          <a:xfrm>
            <a:off x="5907024" y="1755648"/>
            <a:ext cx="164592" cy="164592"/>
          </a:xfrm>
          <a:prstGeom prst="rect">
            <a:avLst/>
          </a:prstGeom>
        </p:spPr>
      </p:pic>
      <p:sp>
        <p:nvSpPr>
          <p:cNvPr id="22" name="Shape 17"/>
          <p:cNvSpPr/>
          <p:nvPr/>
        </p:nvSpPr>
        <p:spPr>
          <a:xfrm>
            <a:off x="6089904" y="1115568"/>
            <a:ext cx="2606040" cy="1463040"/>
          </a:xfrm>
          <a:prstGeom prst="rect">
            <a:avLst/>
          </a:prstGeom>
          <a:solidFill>
            <a:srgbClr val="F4F6F8"/>
          </a:solidFill>
          <a:ln/>
        </p:spPr>
        <p:txBody>
          <a:bodyPr/>
          <a:p/>
        </p:txBody>
      </p:sp>
      <p:sp>
        <p:nvSpPr>
          <p:cNvPr id="23" name="Shape 18"/>
          <p:cNvSpPr/>
          <p:nvPr/>
        </p:nvSpPr>
        <p:spPr>
          <a:xfrm>
            <a:off x="6089904" y="1115568"/>
            <a:ext cx="2606040" cy="54864"/>
          </a:xfrm>
          <a:prstGeom prst="rect">
            <a:avLst/>
          </a:prstGeom>
          <a:solidFill>
            <a:srgbClr val="C8106E"/>
          </a:solidFill>
          <a:ln/>
        </p:spPr>
        <p:txBody>
          <a:bodyPr/>
          <a:p/>
        </p:txBody>
      </p:sp>
      <p:sp>
        <p:nvSpPr>
          <p:cNvPr id="24" name="Text 19"/>
          <p:cNvSpPr/>
          <p:nvPr/>
        </p:nvSpPr>
        <p:spPr>
          <a:xfrm>
            <a:off x="6217920" y="1243584"/>
            <a:ext cx="2423160" cy="182880"/>
          </a:xfrm>
          <a:prstGeom prst="rect">
            <a:avLst/>
          </a:prstGeom>
          <a:noFill/>
          <a:ln/>
        </p:spPr>
        <p:txBody>
          <a:bodyPr wrap="square" lIns="0" tIns="0" rIns="0" bIns="0" rtlCol="0" anchor="t"/>
          <a:lstStyle/>
          <a:p>
            <a:pPr indent="0" marL="0">
              <a:buNone/>
            </a:pPr>
            <a:r>
              <a:rPr lang="en-US" sz="850" b="1" spc="150" kern="0" dirty="0">
                <a:solidFill>
                  <a:srgbClr val="C8106E"/>
                </a:solidFill>
                <a:latin typeface="Calibri" pitchFamily="34" charset="0"/>
                <a:ea typeface="Calibri" pitchFamily="34" charset="-122"/>
                <a:cs typeface="Calibri" pitchFamily="34" charset="-120"/>
              </a:rPr>
              <a:t>A PARTIR DO MÊS 7</a:t>
            </a:r>
            <a:endParaRPr lang="en-US" sz="850" dirty="0"/>
          </a:p>
        </p:txBody>
      </p:sp>
      <p:sp>
        <p:nvSpPr>
          <p:cNvPr id="25" name="Text 20"/>
          <p:cNvSpPr/>
          <p:nvPr/>
        </p:nvSpPr>
        <p:spPr>
          <a:xfrm>
            <a:off x="6217920"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Analistas dedicados</a:t>
            </a:r>
            <a:endParaRPr lang="en-US" sz="1400" dirty="0"/>
          </a:p>
        </p:txBody>
      </p:sp>
      <p:sp>
        <p:nvSpPr>
          <p:cNvPr id="26" name="Shape 21"/>
          <p:cNvSpPr/>
          <p:nvPr/>
        </p:nvSpPr>
        <p:spPr>
          <a:xfrm>
            <a:off x="6217920" y="1737360"/>
            <a:ext cx="1600200" cy="219456"/>
          </a:xfrm>
          <a:prstGeom prst="roundRect">
            <a:avLst>
              <a:gd name="adj" fmla="val 50000"/>
            </a:avLst>
          </a:prstGeom>
          <a:solidFill>
            <a:srgbClr val="C8106E"/>
          </a:solidFill>
          <a:ln/>
        </p:spPr>
        <p:txBody>
          <a:bodyPr/>
          <a:p/>
        </p:txBody>
      </p:sp>
      <p:sp>
        <p:nvSpPr>
          <p:cNvPr id="27" name="Text 22"/>
          <p:cNvSpPr/>
          <p:nvPr/>
        </p:nvSpPr>
        <p:spPr>
          <a:xfrm>
            <a:off x="6217920"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para cada 20 fazendas</a:t>
            </a:r>
            <a:endParaRPr lang="en-US" sz="900" dirty="0"/>
          </a:p>
        </p:txBody>
      </p:sp>
      <p:sp>
        <p:nvSpPr>
          <p:cNvPr id="28" name="Text 23"/>
          <p:cNvSpPr/>
          <p:nvPr/>
        </p:nvSpPr>
        <p:spPr>
          <a:xfrm>
            <a:off x="6217920"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coordena, padroniza a análise e cuida do benchmark</a:t>
            </a:r>
            <a:endParaRPr lang="en-US" sz="900" dirty="0"/>
          </a:p>
        </p:txBody>
      </p:sp>
      <p:sp>
        <p:nvSpPr>
          <p:cNvPr id="29" name="Shape 24"/>
          <p:cNvSpPr/>
          <p:nvPr/>
        </p:nvSpPr>
        <p:spPr>
          <a:xfrm>
            <a:off x="457200" y="2724912"/>
            <a:ext cx="8229600" cy="283464"/>
          </a:xfrm>
          <a:prstGeom prst="rect">
            <a:avLst/>
          </a:prstGeom>
          <a:solidFill>
            <a:srgbClr val="F4F6F8"/>
          </a:solidFill>
          <a:ln/>
        </p:spPr>
        <p:txBody>
          <a:bodyPr/>
          <a:p/>
        </p:txBody>
      </p:sp>
      <p:sp>
        <p:nvSpPr>
          <p:cNvPr id="30" name="Text 25"/>
          <p:cNvSpPr/>
          <p:nvPr/>
        </p:nvSpPr>
        <p:spPr>
          <a:xfrm>
            <a:off x="548640" y="272491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Primeiras fazendas</a:t>
            </a:r>
            <a:endParaRPr lang="en-US" sz="950" dirty="0"/>
          </a:p>
        </p:txBody>
      </p:sp>
      <p:sp>
        <p:nvSpPr>
          <p:cNvPr id="31" name="Text 26"/>
          <p:cNvSpPr/>
          <p:nvPr/>
        </p:nvSpPr>
        <p:spPr>
          <a:xfrm>
            <a:off x="2286000" y="272491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Carteira com licença paga que cabe na faixa de 200 a 2.000 cabeças, depois indicação dos técnicos e RTVs</a:t>
            </a:r>
            <a:endParaRPr lang="en-US" sz="900" dirty="0"/>
          </a:p>
        </p:txBody>
      </p:sp>
      <p:sp>
        <p:nvSpPr>
          <p:cNvPr id="32" name="Shape 27"/>
          <p:cNvSpPr/>
          <p:nvPr/>
        </p:nvSpPr>
        <p:spPr>
          <a:xfrm>
            <a:off x="457200" y="3044952"/>
            <a:ext cx="8229600" cy="283464"/>
          </a:xfrm>
          <a:prstGeom prst="rect">
            <a:avLst/>
          </a:prstGeom>
          <a:solidFill>
            <a:srgbClr val="FFFFFF"/>
          </a:solidFill>
          <a:ln/>
        </p:spPr>
        <p:txBody>
          <a:bodyPr/>
          <a:p/>
        </p:txBody>
      </p:sp>
      <p:sp>
        <p:nvSpPr>
          <p:cNvPr id="33" name="Text 28"/>
          <p:cNvSpPr/>
          <p:nvPr/>
        </p:nvSpPr>
        <p:spPr>
          <a:xfrm>
            <a:off x="548640" y="304495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O que o cliente recebe</a:t>
            </a:r>
            <a:endParaRPr lang="en-US" sz="950" dirty="0"/>
          </a:p>
        </p:txBody>
      </p:sp>
      <p:sp>
        <p:nvSpPr>
          <p:cNvPr id="34" name="Text 29"/>
          <p:cNvSpPr/>
          <p:nvPr/>
        </p:nvSpPr>
        <p:spPr>
          <a:xfrm>
            <a:off x="2286000" y="304495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Ferramenta, relatório semanal comentado, visita do técnico e auditoria mensal da rotina</a:t>
            </a:r>
            <a:endParaRPr lang="en-US" sz="900" dirty="0"/>
          </a:p>
        </p:txBody>
      </p:sp>
      <p:sp>
        <p:nvSpPr>
          <p:cNvPr id="35" name="Shape 30"/>
          <p:cNvSpPr/>
          <p:nvPr/>
        </p:nvSpPr>
        <p:spPr>
          <a:xfrm>
            <a:off x="457200" y="3364992"/>
            <a:ext cx="8229600" cy="283464"/>
          </a:xfrm>
          <a:prstGeom prst="rect">
            <a:avLst/>
          </a:prstGeom>
          <a:solidFill>
            <a:srgbClr val="F4F6F8"/>
          </a:solidFill>
          <a:ln/>
        </p:spPr>
        <p:txBody>
          <a:bodyPr/>
          <a:p/>
        </p:txBody>
      </p:sp>
      <p:sp>
        <p:nvSpPr>
          <p:cNvPr id="36" name="Text 31"/>
          <p:cNvSpPr/>
          <p:nvPr/>
        </p:nvSpPr>
        <p:spPr>
          <a:xfrm>
            <a:off x="548640" y="336499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Auditoria mensal</a:t>
            </a:r>
            <a:endParaRPr lang="en-US" sz="950" dirty="0"/>
          </a:p>
        </p:txBody>
      </p:sp>
      <p:sp>
        <p:nvSpPr>
          <p:cNvPr id="37" name="Text 32"/>
          <p:cNvSpPr/>
          <p:nvPr/>
        </p:nvSpPr>
        <p:spPr>
          <a:xfrm>
            <a:off x="2286000" y="336499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Confere se o lançado bate com a realidade: estoque de ração, contagem de animais e leitura de cocho</a:t>
            </a:r>
            <a:endParaRPr lang="en-US" sz="900" dirty="0"/>
          </a:p>
        </p:txBody>
      </p:sp>
      <p:sp>
        <p:nvSpPr>
          <p:cNvPr id="38" name="Shape 33"/>
          <p:cNvSpPr/>
          <p:nvPr/>
        </p:nvSpPr>
        <p:spPr>
          <a:xfrm>
            <a:off x="457200" y="3685032"/>
            <a:ext cx="8229600" cy="283464"/>
          </a:xfrm>
          <a:prstGeom prst="rect">
            <a:avLst/>
          </a:prstGeom>
          <a:solidFill>
            <a:srgbClr val="FFFFFF"/>
          </a:solidFill>
          <a:ln/>
        </p:spPr>
        <p:txBody>
          <a:bodyPr/>
          <a:p/>
        </p:txBody>
      </p:sp>
      <p:sp>
        <p:nvSpPr>
          <p:cNvPr id="39" name="Text 34"/>
          <p:cNvSpPr/>
          <p:nvPr/>
        </p:nvSpPr>
        <p:spPr>
          <a:xfrm>
            <a:off x="548640" y="368503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Gatilho para analistas</a:t>
            </a:r>
            <a:endParaRPr lang="en-US" sz="950" dirty="0"/>
          </a:p>
        </p:txBody>
      </p:sp>
      <p:sp>
        <p:nvSpPr>
          <p:cNvPr id="40" name="Text 35"/>
          <p:cNvSpPr/>
          <p:nvPr/>
        </p:nvSpPr>
        <p:spPr>
          <a:xfrm>
            <a:off x="2286000" y="368503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20 fazendas ativas e G2 aprovado (adesão, uso e nota de recomendação)</a:t>
            </a:r>
            <a:endParaRPr lang="en-US" sz="900" dirty="0"/>
          </a:p>
        </p:txBody>
      </p:sp>
      <p:sp>
        <p:nvSpPr>
          <p:cNvPr id="41" name="Shape 36"/>
          <p:cNvSpPr/>
          <p:nvPr/>
        </p:nvSpPr>
        <p:spPr>
          <a:xfrm>
            <a:off x="457200" y="4005072"/>
            <a:ext cx="8229600" cy="283464"/>
          </a:xfrm>
          <a:prstGeom prst="rect">
            <a:avLst/>
          </a:prstGeom>
          <a:solidFill>
            <a:srgbClr val="F4F6F8"/>
          </a:solidFill>
          <a:ln/>
        </p:spPr>
        <p:txBody>
          <a:bodyPr/>
          <a:p/>
        </p:txBody>
      </p:sp>
      <p:sp>
        <p:nvSpPr>
          <p:cNvPr id="42" name="Text 37"/>
          <p:cNvSpPr/>
          <p:nvPr/>
        </p:nvSpPr>
        <p:spPr>
          <a:xfrm>
            <a:off x="548640" y="400507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Preço</a:t>
            </a:r>
            <a:endParaRPr lang="en-US" sz="950" dirty="0"/>
          </a:p>
        </p:txBody>
      </p:sp>
      <p:sp>
        <p:nvSpPr>
          <p:cNvPr id="43" name="Text 38"/>
          <p:cNvSpPr/>
          <p:nvPr/>
        </p:nvSpPr>
        <p:spPr>
          <a:xfrm>
            <a:off x="2286000" y="400507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Sem licença; custo no pacote de nutrição e serviço (modelo final em jan/2027)</a:t>
            </a:r>
            <a:endParaRPr lang="en-US" sz="9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Roadmap: do papel para a fazenda em 15 meses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Datas do cronograma aprovado até fev/2027; depois, datas indicativas que dependem de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3017520" y="1097280"/>
            <a:ext cx="109728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2026</a:t>
            </a:r>
            <a:endParaRPr lang="en-US" sz="850" dirty="0"/>
          </a:p>
        </p:txBody>
      </p:sp>
      <p:sp>
        <p:nvSpPr>
          <p:cNvPr id="7" name="Text 4"/>
          <p:cNvSpPr/>
          <p:nvPr/>
        </p:nvSpPr>
        <p:spPr>
          <a:xfrm>
            <a:off x="4114800" y="1097280"/>
            <a:ext cx="438912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2027</a:t>
            </a:r>
            <a:endParaRPr lang="en-US" sz="850" dirty="0"/>
          </a:p>
        </p:txBody>
      </p:sp>
      <p:sp>
        <p:nvSpPr>
          <p:cNvPr id="8" name="Text 5"/>
          <p:cNvSpPr/>
          <p:nvPr/>
        </p:nvSpPr>
        <p:spPr>
          <a:xfrm>
            <a:off x="30175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9" name="Text 6"/>
          <p:cNvSpPr/>
          <p:nvPr/>
        </p:nvSpPr>
        <p:spPr>
          <a:xfrm>
            <a:off x="33832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10" name="Shape 7"/>
          <p:cNvSpPr/>
          <p:nvPr/>
        </p:nvSpPr>
        <p:spPr>
          <a:xfrm>
            <a:off x="3383280" y="1444752"/>
            <a:ext cx="914" cy="2578608"/>
          </a:xfrm>
          <a:prstGeom prst="line">
            <a:avLst/>
          </a:prstGeom>
          <a:noFill/>
          <a:ln w="6350">
            <a:solidFill>
              <a:srgbClr val="ECEFF2"/>
            </a:solidFill>
            <a:prstDash val="solid"/>
          </a:ln>
        </p:spPr>
        <p:txBody>
          <a:bodyPr/>
          <a:p/>
        </p:txBody>
      </p:sp>
      <p:sp>
        <p:nvSpPr>
          <p:cNvPr id="11" name="Text 8"/>
          <p:cNvSpPr/>
          <p:nvPr/>
        </p:nvSpPr>
        <p:spPr>
          <a:xfrm>
            <a:off x="37490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12" name="Shape 9"/>
          <p:cNvSpPr/>
          <p:nvPr/>
        </p:nvSpPr>
        <p:spPr>
          <a:xfrm>
            <a:off x="3749040" y="1444752"/>
            <a:ext cx="914" cy="2578608"/>
          </a:xfrm>
          <a:prstGeom prst="line">
            <a:avLst/>
          </a:prstGeom>
          <a:noFill/>
          <a:ln w="6350">
            <a:solidFill>
              <a:srgbClr val="ECEFF2"/>
            </a:solidFill>
            <a:prstDash val="solid"/>
          </a:ln>
        </p:spPr>
        <p:txBody>
          <a:bodyPr/>
          <a:p/>
        </p:txBody>
      </p:sp>
      <p:sp>
        <p:nvSpPr>
          <p:cNvPr id="13" name="Text 10"/>
          <p:cNvSpPr/>
          <p:nvPr/>
        </p:nvSpPr>
        <p:spPr>
          <a:xfrm>
            <a:off x="41148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jan</a:t>
            </a:r>
            <a:endParaRPr lang="en-US" sz="800" dirty="0"/>
          </a:p>
        </p:txBody>
      </p:sp>
      <p:sp>
        <p:nvSpPr>
          <p:cNvPr id="14" name="Shape 11"/>
          <p:cNvSpPr/>
          <p:nvPr/>
        </p:nvSpPr>
        <p:spPr>
          <a:xfrm>
            <a:off x="4114800" y="1444752"/>
            <a:ext cx="914" cy="2578608"/>
          </a:xfrm>
          <a:prstGeom prst="line">
            <a:avLst/>
          </a:prstGeom>
          <a:noFill/>
          <a:ln w="6350">
            <a:solidFill>
              <a:srgbClr val="ECEFF2"/>
            </a:solidFill>
            <a:prstDash val="solid"/>
          </a:ln>
        </p:spPr>
        <p:txBody>
          <a:bodyPr/>
          <a:p/>
        </p:txBody>
      </p:sp>
      <p:sp>
        <p:nvSpPr>
          <p:cNvPr id="15" name="Text 12"/>
          <p:cNvSpPr/>
          <p:nvPr/>
        </p:nvSpPr>
        <p:spPr>
          <a:xfrm>
            <a:off x="44805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fev</a:t>
            </a:r>
            <a:endParaRPr lang="en-US" sz="800" dirty="0"/>
          </a:p>
        </p:txBody>
      </p:sp>
      <p:sp>
        <p:nvSpPr>
          <p:cNvPr id="16" name="Shape 13"/>
          <p:cNvSpPr/>
          <p:nvPr/>
        </p:nvSpPr>
        <p:spPr>
          <a:xfrm>
            <a:off x="4480560" y="1444752"/>
            <a:ext cx="914" cy="2578608"/>
          </a:xfrm>
          <a:prstGeom prst="line">
            <a:avLst/>
          </a:prstGeom>
          <a:noFill/>
          <a:ln w="6350">
            <a:solidFill>
              <a:srgbClr val="ECEFF2"/>
            </a:solidFill>
            <a:prstDash val="solid"/>
          </a:ln>
        </p:spPr>
        <p:txBody>
          <a:bodyPr/>
          <a:p/>
        </p:txBody>
      </p:sp>
      <p:sp>
        <p:nvSpPr>
          <p:cNvPr id="17" name="Text 14"/>
          <p:cNvSpPr/>
          <p:nvPr/>
        </p:nvSpPr>
        <p:spPr>
          <a:xfrm>
            <a:off x="48463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mar</a:t>
            </a:r>
            <a:endParaRPr lang="en-US" sz="800" dirty="0"/>
          </a:p>
        </p:txBody>
      </p:sp>
      <p:sp>
        <p:nvSpPr>
          <p:cNvPr id="18" name="Shape 15"/>
          <p:cNvSpPr/>
          <p:nvPr/>
        </p:nvSpPr>
        <p:spPr>
          <a:xfrm>
            <a:off x="4846320" y="1444752"/>
            <a:ext cx="914" cy="2578608"/>
          </a:xfrm>
          <a:prstGeom prst="line">
            <a:avLst/>
          </a:prstGeom>
          <a:noFill/>
          <a:ln w="6350">
            <a:solidFill>
              <a:srgbClr val="ECEFF2"/>
            </a:solidFill>
            <a:prstDash val="solid"/>
          </a:ln>
        </p:spPr>
        <p:txBody>
          <a:bodyPr/>
          <a:p/>
        </p:txBody>
      </p:sp>
      <p:sp>
        <p:nvSpPr>
          <p:cNvPr id="19" name="Text 16"/>
          <p:cNvSpPr/>
          <p:nvPr/>
        </p:nvSpPr>
        <p:spPr>
          <a:xfrm>
            <a:off x="52120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abr</a:t>
            </a:r>
            <a:endParaRPr lang="en-US" sz="800" dirty="0"/>
          </a:p>
        </p:txBody>
      </p:sp>
      <p:sp>
        <p:nvSpPr>
          <p:cNvPr id="20" name="Shape 17"/>
          <p:cNvSpPr/>
          <p:nvPr/>
        </p:nvSpPr>
        <p:spPr>
          <a:xfrm>
            <a:off x="5212080" y="1444752"/>
            <a:ext cx="914" cy="2578608"/>
          </a:xfrm>
          <a:prstGeom prst="line">
            <a:avLst/>
          </a:prstGeom>
          <a:noFill/>
          <a:ln w="6350">
            <a:solidFill>
              <a:srgbClr val="ECEFF2"/>
            </a:solidFill>
            <a:prstDash val="solid"/>
          </a:ln>
        </p:spPr>
        <p:txBody>
          <a:bodyPr/>
          <a:p/>
        </p:txBody>
      </p:sp>
      <p:sp>
        <p:nvSpPr>
          <p:cNvPr id="21" name="Text 18"/>
          <p:cNvSpPr/>
          <p:nvPr/>
        </p:nvSpPr>
        <p:spPr>
          <a:xfrm>
            <a:off x="55778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mai</a:t>
            </a:r>
            <a:endParaRPr lang="en-US" sz="800" dirty="0"/>
          </a:p>
        </p:txBody>
      </p:sp>
      <p:sp>
        <p:nvSpPr>
          <p:cNvPr id="22" name="Shape 19"/>
          <p:cNvSpPr/>
          <p:nvPr/>
        </p:nvSpPr>
        <p:spPr>
          <a:xfrm>
            <a:off x="5577840" y="1444752"/>
            <a:ext cx="914" cy="2578608"/>
          </a:xfrm>
          <a:prstGeom prst="line">
            <a:avLst/>
          </a:prstGeom>
          <a:noFill/>
          <a:ln w="6350">
            <a:solidFill>
              <a:srgbClr val="ECEFF2"/>
            </a:solidFill>
            <a:prstDash val="solid"/>
          </a:ln>
        </p:spPr>
        <p:txBody>
          <a:bodyPr/>
          <a:p/>
        </p:txBody>
      </p:sp>
      <p:sp>
        <p:nvSpPr>
          <p:cNvPr id="23" name="Text 20"/>
          <p:cNvSpPr/>
          <p:nvPr/>
        </p:nvSpPr>
        <p:spPr>
          <a:xfrm>
            <a:off x="59436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jun</a:t>
            </a:r>
            <a:endParaRPr lang="en-US" sz="800" dirty="0"/>
          </a:p>
        </p:txBody>
      </p:sp>
      <p:sp>
        <p:nvSpPr>
          <p:cNvPr id="24" name="Shape 21"/>
          <p:cNvSpPr/>
          <p:nvPr/>
        </p:nvSpPr>
        <p:spPr>
          <a:xfrm>
            <a:off x="5943600" y="1444752"/>
            <a:ext cx="914" cy="2578608"/>
          </a:xfrm>
          <a:prstGeom prst="line">
            <a:avLst/>
          </a:prstGeom>
          <a:noFill/>
          <a:ln w="6350">
            <a:solidFill>
              <a:srgbClr val="ECEFF2"/>
            </a:solidFill>
            <a:prstDash val="solid"/>
          </a:ln>
        </p:spPr>
        <p:txBody>
          <a:bodyPr/>
          <a:p/>
        </p:txBody>
      </p:sp>
      <p:sp>
        <p:nvSpPr>
          <p:cNvPr id="25" name="Text 22"/>
          <p:cNvSpPr/>
          <p:nvPr/>
        </p:nvSpPr>
        <p:spPr>
          <a:xfrm>
            <a:off x="63093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jul</a:t>
            </a:r>
            <a:endParaRPr lang="en-US" sz="800" dirty="0"/>
          </a:p>
        </p:txBody>
      </p:sp>
      <p:sp>
        <p:nvSpPr>
          <p:cNvPr id="26" name="Shape 23"/>
          <p:cNvSpPr/>
          <p:nvPr/>
        </p:nvSpPr>
        <p:spPr>
          <a:xfrm>
            <a:off x="6309360" y="1444752"/>
            <a:ext cx="914" cy="2578608"/>
          </a:xfrm>
          <a:prstGeom prst="line">
            <a:avLst/>
          </a:prstGeom>
          <a:noFill/>
          <a:ln w="6350">
            <a:solidFill>
              <a:srgbClr val="ECEFF2"/>
            </a:solidFill>
            <a:prstDash val="solid"/>
          </a:ln>
        </p:spPr>
        <p:txBody>
          <a:bodyPr/>
          <a:p/>
        </p:txBody>
      </p:sp>
      <p:sp>
        <p:nvSpPr>
          <p:cNvPr id="27" name="Text 24"/>
          <p:cNvSpPr/>
          <p:nvPr/>
        </p:nvSpPr>
        <p:spPr>
          <a:xfrm>
            <a:off x="66751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ago</a:t>
            </a:r>
            <a:endParaRPr lang="en-US" sz="800" dirty="0"/>
          </a:p>
        </p:txBody>
      </p:sp>
      <p:sp>
        <p:nvSpPr>
          <p:cNvPr id="28" name="Shape 25"/>
          <p:cNvSpPr/>
          <p:nvPr/>
        </p:nvSpPr>
        <p:spPr>
          <a:xfrm>
            <a:off x="6675120" y="1444752"/>
            <a:ext cx="914" cy="2578608"/>
          </a:xfrm>
          <a:prstGeom prst="line">
            <a:avLst/>
          </a:prstGeom>
          <a:noFill/>
          <a:ln w="6350">
            <a:solidFill>
              <a:srgbClr val="ECEFF2"/>
            </a:solidFill>
            <a:prstDash val="solid"/>
          </a:ln>
        </p:spPr>
        <p:txBody>
          <a:bodyPr/>
          <a:p/>
        </p:txBody>
      </p:sp>
      <p:sp>
        <p:nvSpPr>
          <p:cNvPr id="29" name="Text 26"/>
          <p:cNvSpPr/>
          <p:nvPr/>
        </p:nvSpPr>
        <p:spPr>
          <a:xfrm>
            <a:off x="70408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set</a:t>
            </a:r>
            <a:endParaRPr lang="en-US" sz="800" dirty="0"/>
          </a:p>
        </p:txBody>
      </p:sp>
      <p:sp>
        <p:nvSpPr>
          <p:cNvPr id="30" name="Shape 27"/>
          <p:cNvSpPr/>
          <p:nvPr/>
        </p:nvSpPr>
        <p:spPr>
          <a:xfrm>
            <a:off x="7040880" y="1444752"/>
            <a:ext cx="914" cy="2578608"/>
          </a:xfrm>
          <a:prstGeom prst="line">
            <a:avLst/>
          </a:prstGeom>
          <a:noFill/>
          <a:ln w="6350">
            <a:solidFill>
              <a:srgbClr val="ECEFF2"/>
            </a:solidFill>
            <a:prstDash val="solid"/>
          </a:ln>
        </p:spPr>
        <p:txBody>
          <a:bodyPr/>
          <a:p/>
        </p:txBody>
      </p:sp>
      <p:sp>
        <p:nvSpPr>
          <p:cNvPr id="31" name="Text 28"/>
          <p:cNvSpPr/>
          <p:nvPr/>
        </p:nvSpPr>
        <p:spPr>
          <a:xfrm>
            <a:off x="74066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32" name="Shape 29"/>
          <p:cNvSpPr/>
          <p:nvPr/>
        </p:nvSpPr>
        <p:spPr>
          <a:xfrm>
            <a:off x="7406640" y="1444752"/>
            <a:ext cx="914" cy="2578608"/>
          </a:xfrm>
          <a:prstGeom prst="line">
            <a:avLst/>
          </a:prstGeom>
          <a:noFill/>
          <a:ln w="6350">
            <a:solidFill>
              <a:srgbClr val="ECEFF2"/>
            </a:solidFill>
            <a:prstDash val="solid"/>
          </a:ln>
        </p:spPr>
        <p:txBody>
          <a:bodyPr/>
          <a:p/>
        </p:txBody>
      </p:sp>
      <p:sp>
        <p:nvSpPr>
          <p:cNvPr id="33" name="Text 30"/>
          <p:cNvSpPr/>
          <p:nvPr/>
        </p:nvSpPr>
        <p:spPr>
          <a:xfrm>
            <a:off x="77724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34" name="Shape 31"/>
          <p:cNvSpPr/>
          <p:nvPr/>
        </p:nvSpPr>
        <p:spPr>
          <a:xfrm>
            <a:off x="7772400" y="1444752"/>
            <a:ext cx="914" cy="2578608"/>
          </a:xfrm>
          <a:prstGeom prst="line">
            <a:avLst/>
          </a:prstGeom>
          <a:noFill/>
          <a:ln w="6350">
            <a:solidFill>
              <a:srgbClr val="ECEFF2"/>
            </a:solidFill>
            <a:prstDash val="solid"/>
          </a:ln>
        </p:spPr>
        <p:txBody>
          <a:bodyPr/>
          <a:p/>
        </p:txBody>
      </p:sp>
      <p:sp>
        <p:nvSpPr>
          <p:cNvPr id="35" name="Text 32"/>
          <p:cNvSpPr/>
          <p:nvPr/>
        </p:nvSpPr>
        <p:spPr>
          <a:xfrm>
            <a:off x="81381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36" name="Shape 33"/>
          <p:cNvSpPr/>
          <p:nvPr/>
        </p:nvSpPr>
        <p:spPr>
          <a:xfrm>
            <a:off x="8138160" y="1444752"/>
            <a:ext cx="914" cy="2578608"/>
          </a:xfrm>
          <a:prstGeom prst="line">
            <a:avLst/>
          </a:prstGeom>
          <a:noFill/>
          <a:ln w="6350">
            <a:solidFill>
              <a:srgbClr val="ECEFF2"/>
            </a:solidFill>
            <a:prstDash val="solid"/>
          </a:ln>
        </p:spPr>
        <p:txBody>
          <a:bodyPr/>
          <a:p/>
        </p:txBody>
      </p:sp>
      <p:sp>
        <p:nvSpPr>
          <p:cNvPr id="37" name="Shape 34"/>
          <p:cNvSpPr/>
          <p:nvPr/>
        </p:nvSpPr>
        <p:spPr>
          <a:xfrm>
            <a:off x="4114800" y="1115568"/>
            <a:ext cx="914" cy="2907792"/>
          </a:xfrm>
          <a:prstGeom prst="line">
            <a:avLst/>
          </a:prstGeom>
          <a:noFill/>
          <a:ln w="9525">
            <a:solidFill>
              <a:srgbClr val="D9DEE3"/>
            </a:solidFill>
            <a:prstDash val="solid"/>
          </a:ln>
        </p:spPr>
        <p:txBody>
          <a:bodyPr/>
          <a:p/>
        </p:txBody>
      </p:sp>
      <p:sp>
        <p:nvSpPr>
          <p:cNvPr id="38" name="Text 35"/>
          <p:cNvSpPr/>
          <p:nvPr/>
        </p:nvSpPr>
        <p:spPr>
          <a:xfrm>
            <a:off x="457200" y="14996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Business case e benchmark</a:t>
            </a:r>
            <a:endParaRPr lang="en-US" sz="900" dirty="0"/>
          </a:p>
        </p:txBody>
      </p:sp>
      <p:sp>
        <p:nvSpPr>
          <p:cNvPr id="39" name="Text 36"/>
          <p:cNvSpPr/>
          <p:nvPr/>
        </p:nvSpPr>
        <p:spPr>
          <a:xfrm>
            <a:off x="2286000" y="14996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40" name="Shape 37"/>
          <p:cNvSpPr/>
          <p:nvPr/>
        </p:nvSpPr>
        <p:spPr>
          <a:xfrm>
            <a:off x="3017520" y="1527048"/>
            <a:ext cx="365760" cy="182880"/>
          </a:xfrm>
          <a:prstGeom prst="roundRect">
            <a:avLst>
              <a:gd name="adj" fmla="val 25000"/>
            </a:avLst>
          </a:prstGeom>
          <a:solidFill>
            <a:srgbClr val="26668F"/>
          </a:solidFill>
          <a:ln/>
        </p:spPr>
        <p:txBody>
          <a:bodyPr/>
          <a:p/>
        </p:txBody>
      </p:sp>
      <p:sp>
        <p:nvSpPr>
          <p:cNvPr id="41" name="Text 38"/>
          <p:cNvSpPr/>
          <p:nvPr/>
        </p:nvSpPr>
        <p:spPr>
          <a:xfrm>
            <a:off x="3419856" y="1527048"/>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até 23/10</a:t>
            </a:r>
            <a:endParaRPr lang="en-US" sz="750" dirty="0"/>
          </a:p>
        </p:txBody>
      </p:sp>
      <p:sp>
        <p:nvSpPr>
          <p:cNvPr id="42" name="Text 39"/>
          <p:cNvSpPr/>
          <p:nvPr/>
        </p:nvSpPr>
        <p:spPr>
          <a:xfrm>
            <a:off x="457200" y="177393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Pesquisa com 30 fazendas</a:t>
            </a:r>
            <a:endParaRPr lang="en-US" sz="900" dirty="0"/>
          </a:p>
        </p:txBody>
      </p:sp>
      <p:sp>
        <p:nvSpPr>
          <p:cNvPr id="43" name="Text 40"/>
          <p:cNvSpPr/>
          <p:nvPr/>
        </p:nvSpPr>
        <p:spPr>
          <a:xfrm>
            <a:off x="2286000" y="177393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Kátia Sato</a:t>
            </a:r>
            <a:endParaRPr lang="en-US" sz="750" dirty="0"/>
          </a:p>
        </p:txBody>
      </p:sp>
      <p:sp>
        <p:nvSpPr>
          <p:cNvPr id="44" name="Shape 41"/>
          <p:cNvSpPr/>
          <p:nvPr/>
        </p:nvSpPr>
        <p:spPr>
          <a:xfrm>
            <a:off x="3236976" y="1801368"/>
            <a:ext cx="804672" cy="182880"/>
          </a:xfrm>
          <a:prstGeom prst="roundRect">
            <a:avLst>
              <a:gd name="adj" fmla="val 25000"/>
            </a:avLst>
          </a:prstGeom>
          <a:solidFill>
            <a:srgbClr val="26668F"/>
          </a:solidFill>
          <a:ln/>
        </p:spPr>
        <p:txBody>
          <a:bodyPr/>
          <a:p/>
        </p:txBody>
      </p:sp>
      <p:sp>
        <p:nvSpPr>
          <p:cNvPr id="45" name="Text 42"/>
          <p:cNvSpPr/>
          <p:nvPr/>
        </p:nvSpPr>
        <p:spPr>
          <a:xfrm>
            <a:off x="3236976" y="1801368"/>
            <a:ext cx="804672"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19/10 a 04/12</a:t>
            </a:r>
            <a:endParaRPr lang="en-US" sz="750" dirty="0"/>
          </a:p>
        </p:txBody>
      </p:sp>
      <p:sp>
        <p:nvSpPr>
          <p:cNvPr id="46" name="Text 43"/>
          <p:cNvSpPr/>
          <p:nvPr/>
        </p:nvSpPr>
        <p:spPr>
          <a:xfrm>
            <a:off x="457200" y="20482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Imersão técnica Dreamer</a:t>
            </a:r>
            <a:endParaRPr lang="en-US" sz="900" dirty="0"/>
          </a:p>
        </p:txBody>
      </p:sp>
      <p:sp>
        <p:nvSpPr>
          <p:cNvPr id="47" name="Text 44"/>
          <p:cNvSpPr/>
          <p:nvPr/>
        </p:nvSpPr>
        <p:spPr>
          <a:xfrm>
            <a:off x="2286000" y="20482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Dreamer</a:t>
            </a:r>
            <a:endParaRPr lang="en-US" sz="750" dirty="0"/>
          </a:p>
        </p:txBody>
      </p:sp>
      <p:sp>
        <p:nvSpPr>
          <p:cNvPr id="48" name="Shape 45"/>
          <p:cNvSpPr/>
          <p:nvPr/>
        </p:nvSpPr>
        <p:spPr>
          <a:xfrm>
            <a:off x="3566160" y="2075688"/>
            <a:ext cx="182880" cy="182880"/>
          </a:xfrm>
          <a:prstGeom prst="roundRect">
            <a:avLst>
              <a:gd name="adj" fmla="val 25000"/>
            </a:avLst>
          </a:prstGeom>
          <a:solidFill>
            <a:srgbClr val="26668F"/>
          </a:solidFill>
          <a:ln/>
        </p:spPr>
        <p:txBody>
          <a:bodyPr/>
          <a:p/>
        </p:txBody>
      </p:sp>
      <p:sp>
        <p:nvSpPr>
          <p:cNvPr id="49" name="Text 46"/>
          <p:cNvSpPr/>
          <p:nvPr/>
        </p:nvSpPr>
        <p:spPr>
          <a:xfrm>
            <a:off x="3785616" y="2075688"/>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16 a 27/11</a:t>
            </a:r>
            <a:endParaRPr lang="en-US" sz="750" dirty="0"/>
          </a:p>
        </p:txBody>
      </p:sp>
      <p:sp>
        <p:nvSpPr>
          <p:cNvPr id="50" name="Text 47"/>
          <p:cNvSpPr/>
          <p:nvPr/>
        </p:nvSpPr>
        <p:spPr>
          <a:xfrm>
            <a:off x="457200" y="232257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Diagnóstico e PRDs</a:t>
            </a:r>
            <a:endParaRPr lang="en-US" sz="900" dirty="0"/>
          </a:p>
        </p:txBody>
      </p:sp>
      <p:sp>
        <p:nvSpPr>
          <p:cNvPr id="51" name="Text 48"/>
          <p:cNvSpPr/>
          <p:nvPr/>
        </p:nvSpPr>
        <p:spPr>
          <a:xfrm>
            <a:off x="2286000" y="232257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52" name="Shape 49"/>
          <p:cNvSpPr/>
          <p:nvPr/>
        </p:nvSpPr>
        <p:spPr>
          <a:xfrm>
            <a:off x="3822192" y="2350008"/>
            <a:ext cx="219456" cy="182880"/>
          </a:xfrm>
          <a:prstGeom prst="roundRect">
            <a:avLst>
              <a:gd name="adj" fmla="val 25000"/>
            </a:avLst>
          </a:prstGeom>
          <a:solidFill>
            <a:srgbClr val="1B3A8C"/>
          </a:solidFill>
          <a:ln/>
        </p:spPr>
        <p:txBody>
          <a:bodyPr/>
          <a:p/>
        </p:txBody>
      </p:sp>
      <p:sp>
        <p:nvSpPr>
          <p:cNvPr id="53" name="Text 50"/>
          <p:cNvSpPr/>
          <p:nvPr/>
        </p:nvSpPr>
        <p:spPr>
          <a:xfrm>
            <a:off x="4078224" y="2350008"/>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07 a 18/12</a:t>
            </a:r>
            <a:endParaRPr lang="en-US" sz="750" dirty="0"/>
          </a:p>
        </p:txBody>
      </p:sp>
      <p:sp>
        <p:nvSpPr>
          <p:cNvPr id="54" name="Text 51"/>
          <p:cNvSpPr/>
          <p:nvPr/>
        </p:nvSpPr>
        <p:spPr>
          <a:xfrm>
            <a:off x="457200" y="259689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Roadmap, GTM e monetização</a:t>
            </a:r>
            <a:endParaRPr lang="en-US" sz="900" dirty="0"/>
          </a:p>
        </p:txBody>
      </p:sp>
      <p:sp>
        <p:nvSpPr>
          <p:cNvPr id="55" name="Text 52"/>
          <p:cNvSpPr/>
          <p:nvPr/>
        </p:nvSpPr>
        <p:spPr>
          <a:xfrm>
            <a:off x="2286000" y="259689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diretoria</a:t>
            </a:r>
            <a:endParaRPr lang="en-US" sz="750" dirty="0"/>
          </a:p>
        </p:txBody>
      </p:sp>
      <p:sp>
        <p:nvSpPr>
          <p:cNvPr id="56" name="Shape 53"/>
          <p:cNvSpPr/>
          <p:nvPr/>
        </p:nvSpPr>
        <p:spPr>
          <a:xfrm>
            <a:off x="4151376" y="2624328"/>
            <a:ext cx="365760" cy="182880"/>
          </a:xfrm>
          <a:prstGeom prst="roundRect">
            <a:avLst>
              <a:gd name="adj" fmla="val 25000"/>
            </a:avLst>
          </a:prstGeom>
          <a:solidFill>
            <a:srgbClr val="1B3A8C"/>
          </a:solidFill>
          <a:ln/>
        </p:spPr>
        <p:txBody>
          <a:bodyPr/>
          <a:p/>
        </p:txBody>
      </p:sp>
      <p:sp>
        <p:nvSpPr>
          <p:cNvPr id="57" name="Text 54"/>
          <p:cNvSpPr/>
          <p:nvPr/>
        </p:nvSpPr>
        <p:spPr>
          <a:xfrm>
            <a:off x="4553712" y="2624328"/>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jan</a:t>
            </a:r>
            <a:endParaRPr lang="en-US" sz="750" dirty="0"/>
          </a:p>
        </p:txBody>
      </p:sp>
      <p:sp>
        <p:nvSpPr>
          <p:cNvPr id="58" name="Text 55"/>
          <p:cNvSpPr/>
          <p:nvPr/>
        </p:nvSpPr>
        <p:spPr>
          <a:xfrm>
            <a:off x="457200" y="28712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Desenvolver o produto mínimo</a:t>
            </a:r>
            <a:endParaRPr lang="en-US" sz="900" dirty="0"/>
          </a:p>
        </p:txBody>
      </p:sp>
      <p:sp>
        <p:nvSpPr>
          <p:cNvPr id="59" name="Text 56"/>
          <p:cNvSpPr/>
          <p:nvPr/>
        </p:nvSpPr>
        <p:spPr>
          <a:xfrm>
            <a:off x="2286000" y="28712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Dreamer</a:t>
            </a:r>
            <a:endParaRPr lang="en-US" sz="750" dirty="0"/>
          </a:p>
        </p:txBody>
      </p:sp>
      <p:sp>
        <p:nvSpPr>
          <p:cNvPr id="60" name="Shape 57"/>
          <p:cNvSpPr/>
          <p:nvPr/>
        </p:nvSpPr>
        <p:spPr>
          <a:xfrm>
            <a:off x="4553712" y="2898648"/>
            <a:ext cx="1097280" cy="182880"/>
          </a:xfrm>
          <a:prstGeom prst="roundRect">
            <a:avLst>
              <a:gd name="adj" fmla="val 25000"/>
            </a:avLst>
          </a:prstGeom>
          <a:solidFill>
            <a:srgbClr val="1B3A8C"/>
          </a:solidFill>
          <a:ln/>
        </p:spPr>
        <p:txBody>
          <a:bodyPr/>
          <a:p/>
        </p:txBody>
      </p:sp>
      <p:sp>
        <p:nvSpPr>
          <p:cNvPr id="61" name="Text 58"/>
          <p:cNvSpPr/>
          <p:nvPr/>
        </p:nvSpPr>
        <p:spPr>
          <a:xfrm>
            <a:off x="4553712" y="2898648"/>
            <a:ext cx="10972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fev a abr</a:t>
            </a:r>
            <a:endParaRPr lang="en-US" sz="750" dirty="0"/>
          </a:p>
        </p:txBody>
      </p:sp>
      <p:sp>
        <p:nvSpPr>
          <p:cNvPr id="62" name="Text 59"/>
          <p:cNvSpPr/>
          <p:nvPr/>
        </p:nvSpPr>
        <p:spPr>
          <a:xfrm>
            <a:off x="457200" y="314553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Piloto em 3 a 5 fazendas</a:t>
            </a:r>
            <a:endParaRPr lang="en-US" sz="900" dirty="0"/>
          </a:p>
        </p:txBody>
      </p:sp>
      <p:sp>
        <p:nvSpPr>
          <p:cNvPr id="63" name="Text 60"/>
          <p:cNvSpPr/>
          <p:nvPr/>
        </p:nvSpPr>
        <p:spPr>
          <a:xfrm>
            <a:off x="2286000" y="314553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técnicos</a:t>
            </a:r>
            <a:endParaRPr lang="en-US" sz="750" dirty="0"/>
          </a:p>
        </p:txBody>
      </p:sp>
      <p:sp>
        <p:nvSpPr>
          <p:cNvPr id="64" name="Shape 61"/>
          <p:cNvSpPr/>
          <p:nvPr/>
        </p:nvSpPr>
        <p:spPr>
          <a:xfrm>
            <a:off x="5577840" y="3172968"/>
            <a:ext cx="731520" cy="182880"/>
          </a:xfrm>
          <a:prstGeom prst="roundRect">
            <a:avLst>
              <a:gd name="adj" fmla="val 25000"/>
            </a:avLst>
          </a:prstGeom>
          <a:solidFill>
            <a:srgbClr val="C8106E"/>
          </a:solidFill>
          <a:ln/>
        </p:spPr>
        <p:txBody>
          <a:bodyPr/>
          <a:p/>
        </p:txBody>
      </p:sp>
      <p:sp>
        <p:nvSpPr>
          <p:cNvPr id="65" name="Text 62"/>
          <p:cNvSpPr/>
          <p:nvPr/>
        </p:nvSpPr>
        <p:spPr>
          <a:xfrm>
            <a:off x="5577840" y="317296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mai a jun</a:t>
            </a:r>
            <a:endParaRPr lang="en-US" sz="750" dirty="0"/>
          </a:p>
        </p:txBody>
      </p:sp>
      <p:sp>
        <p:nvSpPr>
          <p:cNvPr id="66" name="Text 63"/>
          <p:cNvSpPr/>
          <p:nvPr/>
        </p:nvSpPr>
        <p:spPr>
          <a:xfrm>
            <a:off x="457200" y="34198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Rodrigo atende até 20 fazendas</a:t>
            </a:r>
            <a:endParaRPr lang="en-US" sz="900" dirty="0"/>
          </a:p>
        </p:txBody>
      </p:sp>
      <p:sp>
        <p:nvSpPr>
          <p:cNvPr id="67" name="Text 64"/>
          <p:cNvSpPr/>
          <p:nvPr/>
        </p:nvSpPr>
        <p:spPr>
          <a:xfrm>
            <a:off x="2286000" y="34198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68" name="Shape 65"/>
          <p:cNvSpPr/>
          <p:nvPr/>
        </p:nvSpPr>
        <p:spPr>
          <a:xfrm>
            <a:off x="6309360" y="3447288"/>
            <a:ext cx="1463040" cy="182880"/>
          </a:xfrm>
          <a:prstGeom prst="roundRect">
            <a:avLst>
              <a:gd name="adj" fmla="val 25000"/>
            </a:avLst>
          </a:prstGeom>
          <a:solidFill>
            <a:srgbClr val="C8106E"/>
          </a:solidFill>
          <a:ln/>
        </p:spPr>
        <p:txBody>
          <a:bodyPr/>
          <a:p/>
        </p:txBody>
      </p:sp>
      <p:sp>
        <p:nvSpPr>
          <p:cNvPr id="69" name="Text 66"/>
          <p:cNvSpPr/>
          <p:nvPr/>
        </p:nvSpPr>
        <p:spPr>
          <a:xfrm>
            <a:off x="6309360" y="3447288"/>
            <a:ext cx="146304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jul a out</a:t>
            </a:r>
            <a:endParaRPr lang="en-US" sz="750" dirty="0"/>
          </a:p>
        </p:txBody>
      </p:sp>
      <p:sp>
        <p:nvSpPr>
          <p:cNvPr id="70" name="Text 67"/>
          <p:cNvSpPr/>
          <p:nvPr/>
        </p:nvSpPr>
        <p:spPr>
          <a:xfrm>
            <a:off x="457200" y="369417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Analistas dedicados</a:t>
            </a:r>
            <a:endParaRPr lang="en-US" sz="900" dirty="0"/>
          </a:p>
        </p:txBody>
      </p:sp>
      <p:sp>
        <p:nvSpPr>
          <p:cNvPr id="71" name="Text 68"/>
          <p:cNvSpPr/>
          <p:nvPr/>
        </p:nvSpPr>
        <p:spPr>
          <a:xfrm>
            <a:off x="2286000" y="369417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Diretoria aprova</a:t>
            </a:r>
            <a:endParaRPr lang="en-US" sz="750" dirty="0"/>
          </a:p>
        </p:txBody>
      </p:sp>
      <p:sp>
        <p:nvSpPr>
          <p:cNvPr id="72" name="Shape 69"/>
          <p:cNvSpPr/>
          <p:nvPr/>
        </p:nvSpPr>
        <p:spPr>
          <a:xfrm>
            <a:off x="7772400" y="3721608"/>
            <a:ext cx="731520" cy="182880"/>
          </a:xfrm>
          <a:prstGeom prst="roundRect">
            <a:avLst>
              <a:gd name="adj" fmla="val 25000"/>
            </a:avLst>
          </a:prstGeom>
          <a:solidFill>
            <a:srgbClr val="C8106E"/>
          </a:solidFill>
          <a:ln/>
        </p:spPr>
        <p:txBody>
          <a:bodyPr/>
          <a:p/>
        </p:txBody>
      </p:sp>
      <p:sp>
        <p:nvSpPr>
          <p:cNvPr id="73" name="Text 70"/>
          <p:cNvSpPr/>
          <p:nvPr/>
        </p:nvSpPr>
        <p:spPr>
          <a:xfrm>
            <a:off x="7772400" y="372160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nov em diante</a:t>
            </a:r>
            <a:endParaRPr lang="en-US" sz="750" dirty="0"/>
          </a:p>
        </p:txBody>
      </p:sp>
      <p:sp>
        <p:nvSpPr>
          <p:cNvPr id="74" name="Text 71"/>
          <p:cNvSpPr/>
          <p:nvPr/>
        </p:nvSpPr>
        <p:spPr>
          <a:xfrm>
            <a:off x="457200" y="3986784"/>
            <a:ext cx="1828800" cy="237744"/>
          </a:xfrm>
          <a:prstGeom prst="rect">
            <a:avLst/>
          </a:prstGeom>
          <a:noFill/>
          <a:ln/>
        </p:spPr>
        <p:txBody>
          <a:bodyPr wrap="square" lIns="0" tIns="0" rIns="0" bIns="0" rtlCol="0" anchor="ctr"/>
          <a:lstStyle/>
          <a:p>
            <a:pPr indent="0" marL="0">
              <a:buNone/>
            </a:pPr>
            <a:r>
              <a:rPr lang="en-US" sz="900" b="1" dirty="0">
                <a:solidFill>
                  <a:srgbClr val="C8106E"/>
                </a:solidFill>
                <a:latin typeface="Calibri" pitchFamily="34" charset="0"/>
                <a:ea typeface="Calibri" pitchFamily="34" charset="-122"/>
                <a:cs typeface="Calibri" pitchFamily="34" charset="-120"/>
              </a:rPr>
              <a:t>Decisões</a:t>
            </a:r>
            <a:endParaRPr lang="en-US" sz="900" dirty="0"/>
          </a:p>
        </p:txBody>
      </p:sp>
      <p:sp>
        <p:nvSpPr>
          <p:cNvPr id="75" name="Shape 72"/>
          <p:cNvSpPr/>
          <p:nvPr/>
        </p:nvSpPr>
        <p:spPr>
          <a:xfrm>
            <a:off x="3950208" y="4023360"/>
            <a:ext cx="182880" cy="182880"/>
          </a:xfrm>
          <a:prstGeom prst="diamond">
            <a:avLst/>
          </a:prstGeom>
          <a:solidFill>
            <a:srgbClr val="C5D300"/>
          </a:solidFill>
          <a:ln/>
        </p:spPr>
        <p:txBody>
          <a:bodyPr/>
          <a:p/>
        </p:txBody>
      </p:sp>
      <p:sp>
        <p:nvSpPr>
          <p:cNvPr id="76" name="Text 73"/>
          <p:cNvSpPr/>
          <p:nvPr/>
        </p:nvSpPr>
        <p:spPr>
          <a:xfrm>
            <a:off x="3035808" y="4215384"/>
            <a:ext cx="1097280" cy="164592"/>
          </a:xfrm>
          <a:prstGeom prst="rect">
            <a:avLst/>
          </a:prstGeom>
          <a:noFill/>
          <a:ln/>
        </p:spPr>
        <p:txBody>
          <a:bodyPr wrap="square" lIns="0" tIns="0" rIns="0" bIns="0" rtlCol="0" anchor="t"/>
          <a:lstStyle/>
          <a:p>
            <a:pPr algn="r" indent="0" marL="0">
              <a:buNone/>
            </a:pPr>
            <a:r>
              <a:rPr lang="en-US" sz="750" b="1" dirty="0">
                <a:solidFill>
                  <a:srgbClr val="1B3A8C"/>
                </a:solidFill>
                <a:latin typeface="Calibri" pitchFamily="34" charset="0"/>
                <a:ea typeface="Calibri" pitchFamily="34" charset="-122"/>
                <a:cs typeface="Calibri" pitchFamily="34" charset="-120"/>
              </a:rPr>
              <a:t>G0: escopo</a:t>
            </a:r>
            <a:endParaRPr lang="en-US" sz="750" dirty="0"/>
          </a:p>
        </p:txBody>
      </p:sp>
      <p:sp>
        <p:nvSpPr>
          <p:cNvPr id="77" name="Shape 74"/>
          <p:cNvSpPr/>
          <p:nvPr/>
        </p:nvSpPr>
        <p:spPr>
          <a:xfrm>
            <a:off x="4425696" y="4023360"/>
            <a:ext cx="182880" cy="182880"/>
          </a:xfrm>
          <a:prstGeom prst="diamond">
            <a:avLst/>
          </a:prstGeom>
          <a:solidFill>
            <a:srgbClr val="C5D300"/>
          </a:solidFill>
          <a:ln/>
        </p:spPr>
        <p:txBody>
          <a:bodyPr/>
          <a:p/>
        </p:txBody>
      </p:sp>
      <p:sp>
        <p:nvSpPr>
          <p:cNvPr id="78" name="Text 75"/>
          <p:cNvSpPr/>
          <p:nvPr/>
        </p:nvSpPr>
        <p:spPr>
          <a:xfrm>
            <a:off x="4425696" y="4215384"/>
            <a:ext cx="1097280" cy="164592"/>
          </a:xfrm>
          <a:prstGeom prst="rect">
            <a:avLst/>
          </a:prstGeom>
          <a:noFill/>
          <a:ln/>
        </p:spPr>
        <p:txBody>
          <a:bodyPr wrap="square" lIns="0" tIns="0" rIns="0" bIns="0" rtlCol="0" anchor="t"/>
          <a:lstStyle/>
          <a:p>
            <a:pPr algn="l" indent="0" marL="0">
              <a:buNone/>
            </a:pPr>
            <a:r>
              <a:rPr lang="en-US" sz="750" b="1" dirty="0">
                <a:solidFill>
                  <a:srgbClr val="1B3A8C"/>
                </a:solidFill>
                <a:latin typeface="Calibri" pitchFamily="34" charset="0"/>
                <a:ea typeface="Calibri" pitchFamily="34" charset="-122"/>
                <a:cs typeface="Calibri" pitchFamily="34" charset="-120"/>
              </a:rPr>
              <a:t>Aprovação: investimento</a:t>
            </a:r>
            <a:endParaRPr lang="en-US" sz="750" dirty="0"/>
          </a:p>
        </p:txBody>
      </p:sp>
      <p:sp>
        <p:nvSpPr>
          <p:cNvPr id="79" name="Shape 76"/>
          <p:cNvSpPr/>
          <p:nvPr/>
        </p:nvSpPr>
        <p:spPr>
          <a:xfrm>
            <a:off x="6217920" y="4023360"/>
            <a:ext cx="182880" cy="182880"/>
          </a:xfrm>
          <a:prstGeom prst="diamond">
            <a:avLst/>
          </a:prstGeom>
          <a:solidFill>
            <a:srgbClr val="C5D300"/>
          </a:solidFill>
          <a:ln/>
        </p:spPr>
        <p:txBody>
          <a:bodyPr/>
          <a:p/>
        </p:txBody>
      </p:sp>
      <p:sp>
        <p:nvSpPr>
          <p:cNvPr id="80" name="Text 77"/>
          <p:cNvSpPr/>
          <p:nvPr/>
        </p:nvSpPr>
        <p:spPr>
          <a:xfrm>
            <a:off x="576072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G1: piloto</a:t>
            </a:r>
            <a:endParaRPr lang="en-US" sz="750" dirty="0"/>
          </a:p>
        </p:txBody>
      </p:sp>
      <p:sp>
        <p:nvSpPr>
          <p:cNvPr id="81" name="Shape 78"/>
          <p:cNvSpPr/>
          <p:nvPr/>
        </p:nvSpPr>
        <p:spPr>
          <a:xfrm>
            <a:off x="7680960" y="4023360"/>
            <a:ext cx="182880" cy="182880"/>
          </a:xfrm>
          <a:prstGeom prst="diamond">
            <a:avLst/>
          </a:prstGeom>
          <a:solidFill>
            <a:srgbClr val="C5D300"/>
          </a:solidFill>
          <a:ln/>
        </p:spPr>
        <p:txBody>
          <a:bodyPr/>
          <a:p/>
        </p:txBody>
      </p:sp>
      <p:sp>
        <p:nvSpPr>
          <p:cNvPr id="82" name="Text 79"/>
          <p:cNvSpPr/>
          <p:nvPr/>
        </p:nvSpPr>
        <p:spPr>
          <a:xfrm>
            <a:off x="722376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G2: escala</a:t>
            </a:r>
            <a:endParaRPr lang="en-US" sz="7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Cronograma de 4 anos: 2027 a 2030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Do piloto ao programa de dados da TN. Metas propostas para discussão, revistas a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18</a:t>
            </a:r>
            <a:endParaRPr lang="en-US" sz="900" dirty="0"/>
          </a:p>
        </p:txBody>
      </p:sp>
      <p:sp>
        <p:nvSpPr>
          <p:cNvPr id="6" name="Shape 3"/>
          <p:cNvSpPr/>
          <p:nvPr/>
        </p:nvSpPr>
        <p:spPr>
          <a:xfrm>
            <a:off x="1874520" y="1097280"/>
            <a:ext cx="1645920" cy="457200"/>
          </a:xfrm>
          <a:prstGeom prst="rect">
            <a:avLst/>
          </a:prstGeom>
          <a:solidFill>
            <a:srgbClr val="26668F"/>
          </a:solidFill>
          <a:ln/>
        </p:spPr>
        <p:txBody>
          <a:bodyPr/>
          <a:p/>
        </p:txBody>
      </p:sp>
      <p:sp>
        <p:nvSpPr>
          <p:cNvPr id="7" name="Text 4"/>
          <p:cNvSpPr/>
          <p:nvPr/>
        </p:nvSpPr>
        <p:spPr>
          <a:xfrm>
            <a:off x="1874520"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2027</a:t>
            </a:r>
            <a:endParaRPr lang="en-US" sz="1300" dirty="0"/>
          </a:p>
        </p:txBody>
      </p:sp>
      <p:sp>
        <p:nvSpPr>
          <p:cNvPr id="8" name="Text 5"/>
          <p:cNvSpPr/>
          <p:nvPr/>
        </p:nvSpPr>
        <p:spPr>
          <a:xfrm>
            <a:off x="1874520"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Piloto e 20 fazendas</a:t>
            </a:r>
            <a:endParaRPr lang="en-US" sz="850" dirty="0"/>
          </a:p>
        </p:txBody>
      </p:sp>
      <p:sp>
        <p:nvSpPr>
          <p:cNvPr id="9" name="Shape 6"/>
          <p:cNvSpPr/>
          <p:nvPr/>
        </p:nvSpPr>
        <p:spPr>
          <a:xfrm>
            <a:off x="3575304" y="1097280"/>
            <a:ext cx="1645920" cy="457200"/>
          </a:xfrm>
          <a:prstGeom prst="rect">
            <a:avLst/>
          </a:prstGeom>
          <a:solidFill>
            <a:srgbClr val="1B3A8C"/>
          </a:solidFill>
          <a:ln/>
        </p:spPr>
        <p:txBody>
          <a:bodyPr/>
          <a:p/>
        </p:txBody>
      </p:sp>
      <p:sp>
        <p:nvSpPr>
          <p:cNvPr id="10" name="Text 7"/>
          <p:cNvSpPr/>
          <p:nvPr/>
        </p:nvSpPr>
        <p:spPr>
          <a:xfrm>
            <a:off x="3575304"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2028</a:t>
            </a:r>
            <a:endParaRPr lang="en-US" sz="1300" dirty="0"/>
          </a:p>
        </p:txBody>
      </p:sp>
      <p:sp>
        <p:nvSpPr>
          <p:cNvPr id="11" name="Text 8"/>
          <p:cNvSpPr/>
          <p:nvPr/>
        </p:nvSpPr>
        <p:spPr>
          <a:xfrm>
            <a:off x="3575304"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Escala com analistas</a:t>
            </a:r>
            <a:endParaRPr lang="en-US" sz="850" dirty="0"/>
          </a:p>
        </p:txBody>
      </p:sp>
      <p:sp>
        <p:nvSpPr>
          <p:cNvPr id="12" name="Shape 9"/>
          <p:cNvSpPr/>
          <p:nvPr/>
        </p:nvSpPr>
        <p:spPr>
          <a:xfrm>
            <a:off x="5276088" y="1097280"/>
            <a:ext cx="1645920" cy="457200"/>
          </a:xfrm>
          <a:prstGeom prst="rect">
            <a:avLst/>
          </a:prstGeom>
          <a:solidFill>
            <a:srgbClr val="C8106E"/>
          </a:solidFill>
          <a:ln/>
        </p:spPr>
        <p:txBody>
          <a:bodyPr/>
          <a:p/>
        </p:txBody>
      </p:sp>
      <p:sp>
        <p:nvSpPr>
          <p:cNvPr id="13" name="Text 10"/>
          <p:cNvSpPr/>
          <p:nvPr/>
        </p:nvSpPr>
        <p:spPr>
          <a:xfrm>
            <a:off x="5276088"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2029</a:t>
            </a:r>
            <a:endParaRPr lang="en-US" sz="1300" dirty="0"/>
          </a:p>
        </p:txBody>
      </p:sp>
      <p:sp>
        <p:nvSpPr>
          <p:cNvPr id="14" name="Text 11"/>
          <p:cNvSpPr/>
          <p:nvPr/>
        </p:nvSpPr>
        <p:spPr>
          <a:xfrm>
            <a:off x="5276088"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Benchmark e fidelidade</a:t>
            </a:r>
            <a:endParaRPr lang="en-US" sz="850" dirty="0"/>
          </a:p>
        </p:txBody>
      </p:sp>
      <p:sp>
        <p:nvSpPr>
          <p:cNvPr id="15" name="Shape 12"/>
          <p:cNvSpPr/>
          <p:nvPr/>
        </p:nvSpPr>
        <p:spPr>
          <a:xfrm>
            <a:off x="6976872" y="1097280"/>
            <a:ext cx="1645920" cy="457200"/>
          </a:xfrm>
          <a:prstGeom prst="rect">
            <a:avLst/>
          </a:prstGeom>
          <a:solidFill>
            <a:srgbClr val="C5D300"/>
          </a:solidFill>
          <a:ln/>
        </p:spPr>
        <p:txBody>
          <a:bodyPr/>
          <a:p/>
        </p:txBody>
      </p:sp>
      <p:sp>
        <p:nvSpPr>
          <p:cNvPr id="16" name="Text 13"/>
          <p:cNvSpPr/>
          <p:nvPr/>
        </p:nvSpPr>
        <p:spPr>
          <a:xfrm>
            <a:off x="6976872" y="1097280"/>
            <a:ext cx="1645920" cy="24688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2030</a:t>
            </a:r>
            <a:endParaRPr lang="en-US" sz="1300" dirty="0"/>
          </a:p>
        </p:txBody>
      </p:sp>
      <p:sp>
        <p:nvSpPr>
          <p:cNvPr id="17" name="Text 14"/>
          <p:cNvSpPr/>
          <p:nvPr/>
        </p:nvSpPr>
        <p:spPr>
          <a:xfrm>
            <a:off x="6976872" y="1325880"/>
            <a:ext cx="1645920" cy="201168"/>
          </a:xfrm>
          <a:prstGeom prst="rect">
            <a:avLst/>
          </a:prstGeom>
          <a:noFill/>
          <a:ln/>
        </p:spPr>
        <p:txBody>
          <a:bodyPr wrap="square" lIns="0" tIns="0" rIns="0" bIns="0" rtlCol="0" anchor="t"/>
          <a:lstStyle/>
          <a:p>
            <a:pPr algn="ctr" indent="0" marL="0">
              <a:buNone/>
            </a:pPr>
            <a:r>
              <a:rPr lang="en-US" sz="850" dirty="0">
                <a:solidFill>
                  <a:srgbClr val="1B3A8C"/>
                </a:solidFill>
                <a:latin typeface="Calibri" pitchFamily="34" charset="0"/>
                <a:ea typeface="Calibri" pitchFamily="34" charset="-122"/>
                <a:cs typeface="Calibri" pitchFamily="34" charset="-120"/>
              </a:rPr>
              <a:t>Programa de dados</a:t>
            </a:r>
            <a:endParaRPr lang="en-US" sz="850" dirty="0"/>
          </a:p>
        </p:txBody>
      </p:sp>
      <p:sp>
        <p:nvSpPr>
          <p:cNvPr id="18" name="Shape 15"/>
          <p:cNvSpPr/>
          <p:nvPr/>
        </p:nvSpPr>
        <p:spPr>
          <a:xfrm>
            <a:off x="457200" y="1645920"/>
            <a:ext cx="1371600" cy="512064"/>
          </a:xfrm>
          <a:prstGeom prst="rect">
            <a:avLst/>
          </a:prstGeom>
          <a:solidFill>
            <a:srgbClr val="1B3A8C"/>
          </a:solidFill>
          <a:ln/>
        </p:spPr>
        <p:txBody>
          <a:bodyPr/>
          <a:p/>
        </p:txBody>
      </p:sp>
      <p:sp>
        <p:nvSpPr>
          <p:cNvPr id="19" name="Text 16"/>
          <p:cNvSpPr/>
          <p:nvPr/>
        </p:nvSpPr>
        <p:spPr>
          <a:xfrm>
            <a:off x="530352" y="1645920"/>
            <a:ext cx="1261872" cy="51206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Produto</a:t>
            </a:r>
            <a:endParaRPr lang="en-US" sz="950" dirty="0"/>
          </a:p>
        </p:txBody>
      </p:sp>
      <p:sp>
        <p:nvSpPr>
          <p:cNvPr id="20" name="Shape 17"/>
          <p:cNvSpPr/>
          <p:nvPr/>
        </p:nvSpPr>
        <p:spPr>
          <a:xfrm>
            <a:off x="1874520" y="1645920"/>
            <a:ext cx="1645920" cy="512064"/>
          </a:xfrm>
          <a:prstGeom prst="rect">
            <a:avLst/>
          </a:prstGeom>
          <a:solidFill>
            <a:srgbClr val="F4F6F8"/>
          </a:solidFill>
          <a:ln/>
        </p:spPr>
        <p:txBody>
          <a:bodyPr/>
          <a:p/>
        </p:txBody>
      </p:sp>
      <p:sp>
        <p:nvSpPr>
          <p:cNvPr id="21" name="Text 18"/>
          <p:cNvSpPr/>
          <p:nvPr/>
        </p:nvSpPr>
        <p:spPr>
          <a:xfrm>
            <a:off x="1929384"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Produto mínimo e piloto; versão estável</a:t>
            </a:r>
            <a:endParaRPr lang="en-US" sz="850" dirty="0"/>
          </a:p>
        </p:txBody>
      </p:sp>
      <p:sp>
        <p:nvSpPr>
          <p:cNvPr id="22" name="Shape 19"/>
          <p:cNvSpPr/>
          <p:nvPr/>
        </p:nvSpPr>
        <p:spPr>
          <a:xfrm>
            <a:off x="3575304" y="1645920"/>
            <a:ext cx="1645920" cy="512064"/>
          </a:xfrm>
          <a:prstGeom prst="rect">
            <a:avLst/>
          </a:prstGeom>
          <a:solidFill>
            <a:srgbClr val="F4F6F8"/>
          </a:solidFill>
          <a:ln/>
        </p:spPr>
        <p:txBody>
          <a:bodyPr/>
          <a:p/>
        </p:txBody>
      </p:sp>
      <p:sp>
        <p:nvSpPr>
          <p:cNvPr id="23" name="Text 20"/>
          <p:cNvSpPr/>
          <p:nvPr/>
        </p:nvSpPr>
        <p:spPr>
          <a:xfrm>
            <a:off x="3630168"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Integração com balança, vagão e NOA; uso sem sinal</a:t>
            </a:r>
            <a:endParaRPr lang="en-US" sz="850" dirty="0"/>
          </a:p>
        </p:txBody>
      </p:sp>
      <p:sp>
        <p:nvSpPr>
          <p:cNvPr id="24" name="Shape 21"/>
          <p:cNvSpPr/>
          <p:nvPr/>
        </p:nvSpPr>
        <p:spPr>
          <a:xfrm>
            <a:off x="5276088" y="1645920"/>
            <a:ext cx="1645920" cy="512064"/>
          </a:xfrm>
          <a:prstGeom prst="rect">
            <a:avLst/>
          </a:prstGeom>
          <a:solidFill>
            <a:srgbClr val="F4F6F8"/>
          </a:solidFill>
          <a:ln/>
        </p:spPr>
        <p:txBody>
          <a:bodyPr/>
          <a:p/>
        </p:txBody>
      </p:sp>
      <p:sp>
        <p:nvSpPr>
          <p:cNvPr id="25" name="Text 22"/>
          <p:cNvSpPr/>
          <p:nvPr/>
        </p:nvSpPr>
        <p:spPr>
          <a:xfrm>
            <a:off x="5330952"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Painel de benchmark entre fazendas</a:t>
            </a:r>
            <a:endParaRPr lang="en-US" sz="850" dirty="0"/>
          </a:p>
        </p:txBody>
      </p:sp>
      <p:sp>
        <p:nvSpPr>
          <p:cNvPr id="26" name="Shape 23"/>
          <p:cNvSpPr/>
          <p:nvPr/>
        </p:nvSpPr>
        <p:spPr>
          <a:xfrm>
            <a:off x="6976872" y="1645920"/>
            <a:ext cx="1645920" cy="512064"/>
          </a:xfrm>
          <a:prstGeom prst="rect">
            <a:avLst/>
          </a:prstGeom>
          <a:solidFill>
            <a:srgbClr val="F4F6F8"/>
          </a:solidFill>
          <a:ln/>
        </p:spPr>
        <p:txBody>
          <a:bodyPr/>
          <a:p/>
        </p:txBody>
      </p:sp>
      <p:sp>
        <p:nvSpPr>
          <p:cNvPr id="27" name="Text 24"/>
          <p:cNvSpPr/>
          <p:nvPr/>
        </p:nvSpPr>
        <p:spPr>
          <a:xfrm>
            <a:off x="7031736"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Pegada de carbono e recomendação de produto</a:t>
            </a:r>
            <a:endParaRPr lang="en-US" sz="850" dirty="0"/>
          </a:p>
        </p:txBody>
      </p:sp>
      <p:sp>
        <p:nvSpPr>
          <p:cNvPr id="28" name="Shape 25"/>
          <p:cNvSpPr/>
          <p:nvPr/>
        </p:nvSpPr>
        <p:spPr>
          <a:xfrm>
            <a:off x="457200" y="2212848"/>
            <a:ext cx="1371600" cy="512064"/>
          </a:xfrm>
          <a:prstGeom prst="rect">
            <a:avLst/>
          </a:prstGeom>
          <a:solidFill>
            <a:srgbClr val="1B3A8C"/>
          </a:solidFill>
          <a:ln/>
        </p:spPr>
        <p:txBody>
          <a:bodyPr/>
          <a:p/>
        </p:txBody>
      </p:sp>
      <p:sp>
        <p:nvSpPr>
          <p:cNvPr id="29" name="Text 26"/>
          <p:cNvSpPr/>
          <p:nvPr/>
        </p:nvSpPr>
        <p:spPr>
          <a:xfrm>
            <a:off x="530352" y="2212848"/>
            <a:ext cx="1261872" cy="51206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Atendimento técnico</a:t>
            </a:r>
            <a:endParaRPr lang="en-US" sz="950" dirty="0"/>
          </a:p>
        </p:txBody>
      </p:sp>
      <p:sp>
        <p:nvSpPr>
          <p:cNvPr id="30" name="Shape 27"/>
          <p:cNvSpPr/>
          <p:nvPr/>
        </p:nvSpPr>
        <p:spPr>
          <a:xfrm>
            <a:off x="1874520" y="2212848"/>
            <a:ext cx="1645920" cy="512064"/>
          </a:xfrm>
          <a:prstGeom prst="rect">
            <a:avLst/>
          </a:prstGeom>
          <a:solidFill>
            <a:srgbClr val="F4F6F8"/>
          </a:solidFill>
          <a:ln/>
        </p:spPr>
        <p:txBody>
          <a:bodyPr/>
          <a:p/>
        </p:txBody>
      </p:sp>
      <p:sp>
        <p:nvSpPr>
          <p:cNvPr id="31" name="Text 28"/>
          <p:cNvSpPr/>
          <p:nvPr/>
        </p:nvSpPr>
        <p:spPr>
          <a:xfrm>
            <a:off x="1929384"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Rodrigo analisa; técnicos de campo apoiam</a:t>
            </a:r>
            <a:endParaRPr lang="en-US" sz="850" dirty="0"/>
          </a:p>
        </p:txBody>
      </p:sp>
      <p:sp>
        <p:nvSpPr>
          <p:cNvPr id="32" name="Shape 29"/>
          <p:cNvSpPr/>
          <p:nvPr/>
        </p:nvSpPr>
        <p:spPr>
          <a:xfrm>
            <a:off x="3575304" y="2212848"/>
            <a:ext cx="1645920" cy="512064"/>
          </a:xfrm>
          <a:prstGeom prst="rect">
            <a:avLst/>
          </a:prstGeom>
          <a:solidFill>
            <a:srgbClr val="F4F6F8"/>
          </a:solidFill>
          <a:ln/>
        </p:spPr>
        <p:txBody>
          <a:bodyPr/>
          <a:p/>
        </p:txBody>
      </p:sp>
      <p:sp>
        <p:nvSpPr>
          <p:cNvPr id="33" name="Text 30"/>
          <p:cNvSpPr/>
          <p:nvPr/>
        </p:nvSpPr>
        <p:spPr>
          <a:xfrm>
            <a:off x="3630168"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Analistas dedicados (1 para 20 fazendas)</a:t>
            </a:r>
            <a:endParaRPr lang="en-US" sz="850" dirty="0"/>
          </a:p>
        </p:txBody>
      </p:sp>
      <p:sp>
        <p:nvSpPr>
          <p:cNvPr id="34" name="Shape 31"/>
          <p:cNvSpPr/>
          <p:nvPr/>
        </p:nvSpPr>
        <p:spPr>
          <a:xfrm>
            <a:off x="5276088" y="2212848"/>
            <a:ext cx="1645920" cy="512064"/>
          </a:xfrm>
          <a:prstGeom prst="rect">
            <a:avLst/>
          </a:prstGeom>
          <a:solidFill>
            <a:srgbClr val="F4F6F8"/>
          </a:solidFill>
          <a:ln/>
        </p:spPr>
        <p:txBody>
          <a:bodyPr/>
          <a:p/>
        </p:txBody>
      </p:sp>
      <p:sp>
        <p:nvSpPr>
          <p:cNvPr id="35" name="Text 32"/>
          <p:cNvSpPr/>
          <p:nvPr/>
        </p:nvSpPr>
        <p:spPr>
          <a:xfrm>
            <a:off x="5330952"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Núcleo de análise com método padrão</a:t>
            </a:r>
            <a:endParaRPr lang="en-US" sz="850" dirty="0"/>
          </a:p>
        </p:txBody>
      </p:sp>
      <p:sp>
        <p:nvSpPr>
          <p:cNvPr id="36" name="Shape 33"/>
          <p:cNvSpPr/>
          <p:nvPr/>
        </p:nvSpPr>
        <p:spPr>
          <a:xfrm>
            <a:off x="6976872" y="2212848"/>
            <a:ext cx="1645920" cy="512064"/>
          </a:xfrm>
          <a:prstGeom prst="rect">
            <a:avLst/>
          </a:prstGeom>
          <a:solidFill>
            <a:srgbClr val="F4F6F8"/>
          </a:solidFill>
          <a:ln/>
        </p:spPr>
        <p:txBody>
          <a:bodyPr/>
          <a:p/>
        </p:txBody>
      </p:sp>
      <p:sp>
        <p:nvSpPr>
          <p:cNvPr id="37" name="Text 34"/>
          <p:cNvSpPr/>
          <p:nvPr/>
        </p:nvSpPr>
        <p:spPr>
          <a:xfrm>
            <a:off x="7031736"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Análise integrada à oferta comercial</a:t>
            </a:r>
            <a:endParaRPr lang="en-US" sz="850" dirty="0"/>
          </a:p>
        </p:txBody>
      </p:sp>
      <p:sp>
        <p:nvSpPr>
          <p:cNvPr id="38" name="Shape 35"/>
          <p:cNvSpPr/>
          <p:nvPr/>
        </p:nvSpPr>
        <p:spPr>
          <a:xfrm>
            <a:off x="457200" y="2779776"/>
            <a:ext cx="1371600" cy="384048"/>
          </a:xfrm>
          <a:prstGeom prst="rect">
            <a:avLst/>
          </a:prstGeom>
          <a:solidFill>
            <a:srgbClr val="1B3A8C"/>
          </a:solidFill>
          <a:ln/>
        </p:spPr>
        <p:txBody>
          <a:bodyPr/>
          <a:p/>
        </p:txBody>
      </p:sp>
      <p:sp>
        <p:nvSpPr>
          <p:cNvPr id="39" name="Text 36"/>
          <p:cNvSpPr/>
          <p:nvPr/>
        </p:nvSpPr>
        <p:spPr>
          <a:xfrm>
            <a:off x="530352" y="2779776"/>
            <a:ext cx="1261872" cy="38404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Fazendas atendidas</a:t>
            </a:r>
            <a:endParaRPr lang="en-US" sz="950" dirty="0"/>
          </a:p>
        </p:txBody>
      </p:sp>
      <p:sp>
        <p:nvSpPr>
          <p:cNvPr id="40" name="Shape 37"/>
          <p:cNvSpPr/>
          <p:nvPr/>
        </p:nvSpPr>
        <p:spPr>
          <a:xfrm>
            <a:off x="1874520" y="2779776"/>
            <a:ext cx="1645920" cy="384048"/>
          </a:xfrm>
          <a:prstGeom prst="rect">
            <a:avLst/>
          </a:prstGeom>
          <a:solidFill>
            <a:srgbClr val="F4F6F8"/>
          </a:solidFill>
          <a:ln/>
        </p:spPr>
        <p:txBody>
          <a:bodyPr/>
          <a:p/>
        </p:txBody>
      </p:sp>
      <p:sp>
        <p:nvSpPr>
          <p:cNvPr id="41" name="Text 38"/>
          <p:cNvSpPr/>
          <p:nvPr/>
        </p:nvSpPr>
        <p:spPr>
          <a:xfrm>
            <a:off x="1929384"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a:t>
            </a:r>
            <a:endParaRPr lang="en-US" sz="1300" dirty="0"/>
          </a:p>
        </p:txBody>
      </p:sp>
      <p:sp>
        <p:nvSpPr>
          <p:cNvPr id="42" name="Shape 39"/>
          <p:cNvSpPr/>
          <p:nvPr/>
        </p:nvSpPr>
        <p:spPr>
          <a:xfrm>
            <a:off x="3575304" y="2779776"/>
            <a:ext cx="1645920" cy="384048"/>
          </a:xfrm>
          <a:prstGeom prst="rect">
            <a:avLst/>
          </a:prstGeom>
          <a:solidFill>
            <a:srgbClr val="F4F6F8"/>
          </a:solidFill>
          <a:ln/>
        </p:spPr>
        <p:txBody>
          <a:bodyPr/>
          <a:p/>
        </p:txBody>
      </p:sp>
      <p:sp>
        <p:nvSpPr>
          <p:cNvPr id="43" name="Text 40"/>
          <p:cNvSpPr/>
          <p:nvPr/>
        </p:nvSpPr>
        <p:spPr>
          <a:xfrm>
            <a:off x="3630168"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60</a:t>
            </a:r>
            <a:endParaRPr lang="en-US" sz="1300" dirty="0"/>
          </a:p>
        </p:txBody>
      </p:sp>
      <p:sp>
        <p:nvSpPr>
          <p:cNvPr id="44" name="Shape 41"/>
          <p:cNvSpPr/>
          <p:nvPr/>
        </p:nvSpPr>
        <p:spPr>
          <a:xfrm>
            <a:off x="5276088" y="2779776"/>
            <a:ext cx="1645920" cy="384048"/>
          </a:xfrm>
          <a:prstGeom prst="rect">
            <a:avLst/>
          </a:prstGeom>
          <a:solidFill>
            <a:srgbClr val="F4F6F8"/>
          </a:solidFill>
          <a:ln/>
        </p:spPr>
        <p:txBody>
          <a:bodyPr/>
          <a:p/>
        </p:txBody>
      </p:sp>
      <p:sp>
        <p:nvSpPr>
          <p:cNvPr id="45" name="Text 42"/>
          <p:cNvSpPr/>
          <p:nvPr/>
        </p:nvSpPr>
        <p:spPr>
          <a:xfrm>
            <a:off x="5330952"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120</a:t>
            </a:r>
            <a:endParaRPr lang="en-US" sz="1300" dirty="0"/>
          </a:p>
        </p:txBody>
      </p:sp>
      <p:sp>
        <p:nvSpPr>
          <p:cNvPr id="46" name="Shape 43"/>
          <p:cNvSpPr/>
          <p:nvPr/>
        </p:nvSpPr>
        <p:spPr>
          <a:xfrm>
            <a:off x="6976872" y="2779776"/>
            <a:ext cx="1645920" cy="384048"/>
          </a:xfrm>
          <a:prstGeom prst="rect">
            <a:avLst/>
          </a:prstGeom>
          <a:solidFill>
            <a:srgbClr val="F4F6F8"/>
          </a:solidFill>
          <a:ln/>
        </p:spPr>
        <p:txBody>
          <a:bodyPr/>
          <a:p/>
        </p:txBody>
      </p:sp>
      <p:sp>
        <p:nvSpPr>
          <p:cNvPr id="47" name="Text 44"/>
          <p:cNvSpPr/>
          <p:nvPr/>
        </p:nvSpPr>
        <p:spPr>
          <a:xfrm>
            <a:off x="7031736"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200</a:t>
            </a:r>
            <a:endParaRPr lang="en-US" sz="1300" dirty="0"/>
          </a:p>
        </p:txBody>
      </p:sp>
      <p:sp>
        <p:nvSpPr>
          <p:cNvPr id="48" name="Shape 45"/>
          <p:cNvSpPr/>
          <p:nvPr/>
        </p:nvSpPr>
        <p:spPr>
          <a:xfrm>
            <a:off x="457200" y="3218688"/>
            <a:ext cx="1371600" cy="384048"/>
          </a:xfrm>
          <a:prstGeom prst="rect">
            <a:avLst/>
          </a:prstGeom>
          <a:solidFill>
            <a:srgbClr val="1B3A8C"/>
          </a:solidFill>
          <a:ln/>
        </p:spPr>
        <p:txBody>
          <a:bodyPr/>
          <a:p/>
        </p:txBody>
      </p:sp>
      <p:sp>
        <p:nvSpPr>
          <p:cNvPr id="49" name="Text 46"/>
          <p:cNvSpPr/>
          <p:nvPr/>
        </p:nvSpPr>
        <p:spPr>
          <a:xfrm>
            <a:off x="530352" y="3218688"/>
            <a:ext cx="1261872" cy="38404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Analistas dedicados</a:t>
            </a:r>
            <a:endParaRPr lang="en-US" sz="950" dirty="0"/>
          </a:p>
        </p:txBody>
      </p:sp>
      <p:sp>
        <p:nvSpPr>
          <p:cNvPr id="50" name="Shape 47"/>
          <p:cNvSpPr/>
          <p:nvPr/>
        </p:nvSpPr>
        <p:spPr>
          <a:xfrm>
            <a:off x="1874520" y="3218688"/>
            <a:ext cx="1645920" cy="384048"/>
          </a:xfrm>
          <a:prstGeom prst="rect">
            <a:avLst/>
          </a:prstGeom>
          <a:solidFill>
            <a:srgbClr val="F4F6F8"/>
          </a:solidFill>
          <a:ln/>
        </p:spPr>
        <p:txBody>
          <a:bodyPr/>
          <a:p/>
        </p:txBody>
      </p:sp>
      <p:sp>
        <p:nvSpPr>
          <p:cNvPr id="51" name="Text 48"/>
          <p:cNvSpPr/>
          <p:nvPr/>
        </p:nvSpPr>
        <p:spPr>
          <a:xfrm>
            <a:off x="1929384"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0 (Rodrigo)</a:t>
            </a:r>
            <a:endParaRPr lang="en-US" sz="1300" dirty="0"/>
          </a:p>
        </p:txBody>
      </p:sp>
      <p:sp>
        <p:nvSpPr>
          <p:cNvPr id="52" name="Shape 49"/>
          <p:cNvSpPr/>
          <p:nvPr/>
        </p:nvSpPr>
        <p:spPr>
          <a:xfrm>
            <a:off x="3575304" y="3218688"/>
            <a:ext cx="1645920" cy="384048"/>
          </a:xfrm>
          <a:prstGeom prst="rect">
            <a:avLst/>
          </a:prstGeom>
          <a:solidFill>
            <a:srgbClr val="F4F6F8"/>
          </a:solidFill>
          <a:ln/>
        </p:spPr>
        <p:txBody>
          <a:bodyPr/>
          <a:p/>
        </p:txBody>
      </p:sp>
      <p:sp>
        <p:nvSpPr>
          <p:cNvPr id="53" name="Text 50"/>
          <p:cNvSpPr/>
          <p:nvPr/>
        </p:nvSpPr>
        <p:spPr>
          <a:xfrm>
            <a:off x="3630168"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3</a:t>
            </a:r>
            <a:endParaRPr lang="en-US" sz="1300" dirty="0"/>
          </a:p>
        </p:txBody>
      </p:sp>
      <p:sp>
        <p:nvSpPr>
          <p:cNvPr id="54" name="Shape 51"/>
          <p:cNvSpPr/>
          <p:nvPr/>
        </p:nvSpPr>
        <p:spPr>
          <a:xfrm>
            <a:off x="5276088" y="3218688"/>
            <a:ext cx="1645920" cy="384048"/>
          </a:xfrm>
          <a:prstGeom prst="rect">
            <a:avLst/>
          </a:prstGeom>
          <a:solidFill>
            <a:srgbClr val="F4F6F8"/>
          </a:solidFill>
          <a:ln/>
        </p:spPr>
        <p:txBody>
          <a:bodyPr/>
          <a:p/>
        </p:txBody>
      </p:sp>
      <p:sp>
        <p:nvSpPr>
          <p:cNvPr id="55" name="Text 52"/>
          <p:cNvSpPr/>
          <p:nvPr/>
        </p:nvSpPr>
        <p:spPr>
          <a:xfrm>
            <a:off x="5330952"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a:t>
            </a:r>
            <a:endParaRPr lang="en-US" sz="1300" dirty="0"/>
          </a:p>
        </p:txBody>
      </p:sp>
      <p:sp>
        <p:nvSpPr>
          <p:cNvPr id="56" name="Shape 53"/>
          <p:cNvSpPr/>
          <p:nvPr/>
        </p:nvSpPr>
        <p:spPr>
          <a:xfrm>
            <a:off x="6976872" y="3218688"/>
            <a:ext cx="1645920" cy="384048"/>
          </a:xfrm>
          <a:prstGeom prst="rect">
            <a:avLst/>
          </a:prstGeom>
          <a:solidFill>
            <a:srgbClr val="F4F6F8"/>
          </a:solidFill>
          <a:ln/>
        </p:spPr>
        <p:txBody>
          <a:bodyPr/>
          <a:p/>
        </p:txBody>
      </p:sp>
      <p:sp>
        <p:nvSpPr>
          <p:cNvPr id="57" name="Text 54"/>
          <p:cNvSpPr/>
          <p:nvPr/>
        </p:nvSpPr>
        <p:spPr>
          <a:xfrm>
            <a:off x="7031736"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10</a:t>
            </a:r>
            <a:endParaRPr lang="en-US" sz="1300" dirty="0"/>
          </a:p>
        </p:txBody>
      </p:sp>
      <p:sp>
        <p:nvSpPr>
          <p:cNvPr id="58" name="Shape 55"/>
          <p:cNvSpPr/>
          <p:nvPr/>
        </p:nvSpPr>
        <p:spPr>
          <a:xfrm>
            <a:off x="457200" y="3657600"/>
            <a:ext cx="1371600" cy="512064"/>
          </a:xfrm>
          <a:prstGeom prst="rect">
            <a:avLst/>
          </a:prstGeom>
          <a:solidFill>
            <a:srgbClr val="1B3A8C"/>
          </a:solidFill>
          <a:ln/>
        </p:spPr>
        <p:txBody>
          <a:bodyPr/>
          <a:p/>
        </p:txBody>
      </p:sp>
      <p:sp>
        <p:nvSpPr>
          <p:cNvPr id="59" name="Text 56"/>
          <p:cNvSpPr/>
          <p:nvPr/>
        </p:nvSpPr>
        <p:spPr>
          <a:xfrm>
            <a:off x="530352" y="3657600"/>
            <a:ext cx="1261872" cy="51206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Licenças de terceiros</a:t>
            </a:r>
            <a:endParaRPr lang="en-US" sz="950" dirty="0"/>
          </a:p>
        </p:txBody>
      </p:sp>
      <p:sp>
        <p:nvSpPr>
          <p:cNvPr id="60" name="Shape 57"/>
          <p:cNvSpPr/>
          <p:nvPr/>
        </p:nvSpPr>
        <p:spPr>
          <a:xfrm>
            <a:off x="1874520" y="3657600"/>
            <a:ext cx="1645920" cy="512064"/>
          </a:xfrm>
          <a:prstGeom prst="rect">
            <a:avLst/>
          </a:prstGeom>
          <a:solidFill>
            <a:srgbClr val="F4F6F8"/>
          </a:solidFill>
          <a:ln/>
        </p:spPr>
        <p:txBody>
          <a:bodyPr/>
          <a:p/>
        </p:txBody>
      </p:sp>
      <p:sp>
        <p:nvSpPr>
          <p:cNvPr id="61" name="Text 58"/>
          <p:cNvSpPr/>
          <p:nvPr/>
        </p:nvSpPr>
        <p:spPr>
          <a:xfrm>
            <a:off x="1929384"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Migrar o que for web para o TN Manager</a:t>
            </a:r>
            <a:endParaRPr lang="en-US" sz="850" dirty="0"/>
          </a:p>
        </p:txBody>
      </p:sp>
      <p:sp>
        <p:nvSpPr>
          <p:cNvPr id="62" name="Shape 59"/>
          <p:cNvSpPr/>
          <p:nvPr/>
        </p:nvSpPr>
        <p:spPr>
          <a:xfrm>
            <a:off x="3575304" y="3657600"/>
            <a:ext cx="1645920" cy="512064"/>
          </a:xfrm>
          <a:prstGeom prst="rect">
            <a:avLst/>
          </a:prstGeom>
          <a:solidFill>
            <a:srgbClr val="F4F6F8"/>
          </a:solidFill>
          <a:ln/>
        </p:spPr>
        <p:txBody>
          <a:bodyPr/>
          <a:p/>
        </p:txBody>
      </p:sp>
      <p:sp>
        <p:nvSpPr>
          <p:cNvPr id="63" name="Text 60"/>
          <p:cNvSpPr/>
          <p:nvPr/>
        </p:nvSpPr>
        <p:spPr>
          <a:xfrm>
            <a:off x="3630168"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PecCode só para automação</a:t>
            </a:r>
            <a:endParaRPr lang="en-US" sz="850" dirty="0"/>
          </a:p>
        </p:txBody>
      </p:sp>
      <p:sp>
        <p:nvSpPr>
          <p:cNvPr id="64" name="Shape 61"/>
          <p:cNvSpPr/>
          <p:nvPr/>
        </p:nvSpPr>
        <p:spPr>
          <a:xfrm>
            <a:off x="5276088" y="3657600"/>
            <a:ext cx="1645920" cy="512064"/>
          </a:xfrm>
          <a:prstGeom prst="rect">
            <a:avLst/>
          </a:prstGeom>
          <a:solidFill>
            <a:srgbClr val="F4F6F8"/>
          </a:solidFill>
          <a:ln/>
        </p:spPr>
        <p:txBody>
          <a:bodyPr/>
          <a:p/>
        </p:txBody>
      </p:sp>
      <p:sp>
        <p:nvSpPr>
          <p:cNvPr id="65" name="Text 62"/>
          <p:cNvSpPr/>
          <p:nvPr/>
        </p:nvSpPr>
        <p:spPr>
          <a:xfrm>
            <a:off x="5330952"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TGC só onde houver integração</a:t>
            </a:r>
            <a:endParaRPr lang="en-US" sz="850" dirty="0"/>
          </a:p>
        </p:txBody>
      </p:sp>
      <p:sp>
        <p:nvSpPr>
          <p:cNvPr id="66" name="Shape 63"/>
          <p:cNvSpPr/>
          <p:nvPr/>
        </p:nvSpPr>
        <p:spPr>
          <a:xfrm>
            <a:off x="6976872" y="3657600"/>
            <a:ext cx="1645920" cy="512064"/>
          </a:xfrm>
          <a:prstGeom prst="rect">
            <a:avLst/>
          </a:prstGeom>
          <a:solidFill>
            <a:srgbClr val="F4F6F8"/>
          </a:solidFill>
          <a:ln/>
        </p:spPr>
        <p:txBody>
          <a:bodyPr/>
          <a:p/>
        </p:txBody>
      </p:sp>
      <p:sp>
        <p:nvSpPr>
          <p:cNvPr id="67" name="Text 64"/>
          <p:cNvSpPr/>
          <p:nvPr/>
        </p:nvSpPr>
        <p:spPr>
          <a:xfrm>
            <a:off x="7031736"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Licença só para automação</a:t>
            </a:r>
            <a:endParaRPr lang="en-US" sz="850" dirty="0"/>
          </a:p>
        </p:txBody>
      </p:sp>
      <p:sp>
        <p:nvSpPr>
          <p:cNvPr id="68" name="Text 65"/>
          <p:cNvSpPr/>
          <p:nvPr/>
        </p:nvSpPr>
        <p:spPr>
          <a:xfrm>
            <a:off x="457200" y="4224528"/>
            <a:ext cx="4023360" cy="274320"/>
          </a:xfrm>
          <a:prstGeom prst="rect">
            <a:avLst/>
          </a:prstGeom>
          <a:noFill/>
          <a:ln/>
        </p:spPr>
        <p:txBody>
          <a:bodyPr wrap="square" lIns="0" tIns="0" rIns="0" bIns="0" rtlCol="0" anchor="t"/>
          <a:lstStyle/>
          <a:p>
            <a:pPr indent="0" marL="0">
              <a:buNone/>
            </a:pPr>
            <a:r>
              <a:rPr lang="en-US" sz="850" i="1" dirty="0">
                <a:solidFill>
                  <a:srgbClr val="1B3A8C"/>
                </a:solidFill>
                <a:latin typeface="Calibri" pitchFamily="34" charset="0"/>
                <a:ea typeface="Calibri" pitchFamily="34" charset="-122"/>
                <a:cs typeface="Calibri" pitchFamily="34" charset="-120"/>
              </a:rPr>
              <a:t>Antes, em 2026: business case, pesquisa com 30 fazendas, imersão técnica e PRDs (out a dez).</a:t>
            </a:r>
            <a:endParaRPr lang="en-US" sz="8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457200" y="274320"/>
            <a:ext cx="8229600" cy="4572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Decisões e próximos passos</a:t>
            </a:r>
            <a:endParaRPr lang="en-US" sz="2400" dirty="0"/>
          </a:p>
        </p:txBody>
      </p:sp>
      <p:sp>
        <p:nvSpPr>
          <p:cNvPr id="4" name="Text 2"/>
          <p:cNvSpPr/>
          <p:nvPr/>
        </p:nvSpPr>
        <p:spPr>
          <a:xfrm>
            <a:off x="457200" y="731520"/>
            <a:ext cx="7863840" cy="274320"/>
          </a:xfrm>
          <a:prstGeom prst="rect">
            <a:avLst/>
          </a:prstGeom>
          <a:noFill/>
          <a:ln/>
        </p:spPr>
        <p:txBody>
          <a:bodyPr wrap="square" lIns="0" tIns="0" rIns="0" bIns="0" rtlCol="0" anchor="t"/>
          <a:lstStyle/>
          <a:p>
            <a:pPr indent="0" marL="0">
              <a:buNone/>
            </a:pPr>
            <a:r>
              <a:rPr lang="en-US" sz="1300" i="1" dirty="0">
                <a:solidFill>
                  <a:srgbClr val="D6DCEB"/>
                </a:solidFill>
                <a:latin typeface="Calibri" pitchFamily="34" charset="0"/>
                <a:ea typeface="Calibri" pitchFamily="34" charset="-122"/>
                <a:cs typeface="Calibri" pitchFamily="34" charset="-120"/>
              </a:rPr>
              <a:t>O que precisamos aprovar hoje para seguir com a pesquisa e a imersão técnica.</a:t>
            </a:r>
            <a:endParaRPr lang="en-US" sz="1300" dirty="0"/>
          </a:p>
        </p:txBody>
      </p:sp>
      <p:sp>
        <p:nvSpPr>
          <p:cNvPr id="5" name="Text 3"/>
          <p:cNvSpPr/>
          <p:nvPr/>
        </p:nvSpPr>
        <p:spPr>
          <a:xfrm>
            <a:off x="457200" y="1188720"/>
            <a:ext cx="365760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DECISÕES PARA HOJE</a:t>
            </a:r>
            <a:endParaRPr lang="en-US" sz="900" dirty="0"/>
          </a:p>
        </p:txBody>
      </p:sp>
      <p:sp>
        <p:nvSpPr>
          <p:cNvPr id="6" name="Shape 4"/>
          <p:cNvSpPr/>
          <p:nvPr/>
        </p:nvSpPr>
        <p:spPr>
          <a:xfrm>
            <a:off x="457200" y="1481328"/>
            <a:ext cx="310896" cy="310896"/>
          </a:xfrm>
          <a:prstGeom prst="ellipse">
            <a:avLst/>
          </a:prstGeom>
          <a:solidFill>
            <a:srgbClr val="C8106E"/>
          </a:solidFill>
          <a:ln/>
        </p:spPr>
        <p:txBody>
          <a:bodyPr/>
          <a:p/>
        </p:txBody>
      </p:sp>
      <p:pic>
        <p:nvPicPr>
          <p:cNvPr id="7" name="Image 0" descr="preencoded.png">    </p:cNvPr>
          <p:cNvPicPr>
            <a:picLocks noChangeAspect="1"/>
          </p:cNvPicPr>
          <p:nvPr/>
        </p:nvPicPr>
        <p:blipFill>
          <a:blip r:embed="rId2"/>
          <a:stretch>
            <a:fillRect/>
          </a:stretch>
        </p:blipFill>
        <p:spPr>
          <a:xfrm>
            <a:off x="530352" y="1554480"/>
            <a:ext cx="164592" cy="164592"/>
          </a:xfrm>
          <a:prstGeom prst="rect">
            <a:avLst/>
          </a:prstGeom>
        </p:spPr>
      </p:pic>
      <p:sp>
        <p:nvSpPr>
          <p:cNvPr id="8" name="Text 5"/>
          <p:cNvSpPr/>
          <p:nvPr/>
        </p:nvSpPr>
        <p:spPr>
          <a:xfrm>
            <a:off x="896112" y="1481328"/>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foco em confinamentos de 200 a 2.000 cabeças</a:t>
            </a:r>
            <a:endParaRPr lang="en-US" sz="1100" dirty="0"/>
          </a:p>
        </p:txBody>
      </p:sp>
      <p:sp>
        <p:nvSpPr>
          <p:cNvPr id="9" name="Shape 6"/>
          <p:cNvSpPr/>
          <p:nvPr/>
        </p:nvSpPr>
        <p:spPr>
          <a:xfrm>
            <a:off x="457200" y="1956816"/>
            <a:ext cx="310896" cy="310896"/>
          </a:xfrm>
          <a:prstGeom prst="ellipse">
            <a:avLst/>
          </a:prstGeom>
          <a:solidFill>
            <a:srgbClr val="C8106E"/>
          </a:solidFill>
          <a:ln/>
        </p:spPr>
        <p:txBody>
          <a:bodyPr/>
          <a:p/>
        </p:txBody>
      </p:sp>
      <p:pic>
        <p:nvPicPr>
          <p:cNvPr id="10" name="Image 1" descr="preencoded.png">    </p:cNvPr>
          <p:cNvPicPr>
            <a:picLocks noChangeAspect="1"/>
          </p:cNvPicPr>
          <p:nvPr/>
        </p:nvPicPr>
        <p:blipFill>
          <a:blip r:embed="rId2"/>
          <a:stretch>
            <a:fillRect/>
          </a:stretch>
        </p:blipFill>
        <p:spPr>
          <a:xfrm>
            <a:off x="530352" y="2029968"/>
            <a:ext cx="164592" cy="164592"/>
          </a:xfrm>
          <a:prstGeom prst="rect">
            <a:avLst/>
          </a:prstGeom>
        </p:spPr>
      </p:pic>
      <p:sp>
        <p:nvSpPr>
          <p:cNvPr id="11" name="Text 7"/>
          <p:cNvSpPr/>
          <p:nvPr/>
        </p:nvSpPr>
        <p:spPr>
          <a:xfrm>
            <a:off x="896112" y="1956816"/>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roadmap de 15 meses com os gates G0 a G2</a:t>
            </a:r>
            <a:endParaRPr lang="en-US" sz="1100" dirty="0"/>
          </a:p>
        </p:txBody>
      </p:sp>
      <p:sp>
        <p:nvSpPr>
          <p:cNvPr id="12" name="Shape 8"/>
          <p:cNvSpPr/>
          <p:nvPr/>
        </p:nvSpPr>
        <p:spPr>
          <a:xfrm>
            <a:off x="457200" y="2432304"/>
            <a:ext cx="310896" cy="310896"/>
          </a:xfrm>
          <a:prstGeom prst="ellipse">
            <a:avLst/>
          </a:prstGeom>
          <a:solidFill>
            <a:srgbClr val="C8106E"/>
          </a:solidFill>
          <a:ln/>
        </p:spPr>
        <p:txBody>
          <a:bodyPr/>
          <a:p/>
        </p:txBody>
      </p:sp>
      <p:pic>
        <p:nvPicPr>
          <p:cNvPr id="13" name="Image 2" descr="preencoded.png">    </p:cNvPr>
          <p:cNvPicPr>
            <a:picLocks noChangeAspect="1"/>
          </p:cNvPicPr>
          <p:nvPr/>
        </p:nvPicPr>
        <p:blipFill>
          <a:blip r:embed="rId2"/>
          <a:stretch>
            <a:fillRect/>
          </a:stretch>
        </p:blipFill>
        <p:spPr>
          <a:xfrm>
            <a:off x="530352" y="2505456"/>
            <a:ext cx="164592" cy="164592"/>
          </a:xfrm>
          <a:prstGeom prst="rect">
            <a:avLst/>
          </a:prstGeom>
        </p:spPr>
      </p:pic>
      <p:sp>
        <p:nvSpPr>
          <p:cNvPr id="14" name="Text 9"/>
          <p:cNvSpPr/>
          <p:nvPr/>
        </p:nvSpPr>
        <p:spPr>
          <a:xfrm>
            <a:off x="896112" y="2432304"/>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modelo: Rodrigo atende 20 fazendas; analistas após o G2</a:t>
            </a:r>
            <a:endParaRPr lang="en-US" sz="1100" dirty="0"/>
          </a:p>
        </p:txBody>
      </p:sp>
      <p:sp>
        <p:nvSpPr>
          <p:cNvPr id="15" name="Shape 10"/>
          <p:cNvSpPr/>
          <p:nvPr/>
        </p:nvSpPr>
        <p:spPr>
          <a:xfrm>
            <a:off x="457200" y="2907792"/>
            <a:ext cx="310896" cy="310896"/>
          </a:xfrm>
          <a:prstGeom prst="ellipse">
            <a:avLst/>
          </a:prstGeom>
          <a:solidFill>
            <a:srgbClr val="C8106E"/>
          </a:solidFill>
          <a:ln/>
        </p:spPr>
        <p:txBody>
          <a:bodyPr/>
          <a:p/>
        </p:txBody>
      </p:sp>
      <p:pic>
        <p:nvPicPr>
          <p:cNvPr id="16" name="Image 3" descr="preencoded.png">    </p:cNvPr>
          <p:cNvPicPr>
            <a:picLocks noChangeAspect="1"/>
          </p:cNvPicPr>
          <p:nvPr/>
        </p:nvPicPr>
        <p:blipFill>
          <a:blip r:embed="rId2"/>
          <a:stretch>
            <a:fillRect/>
          </a:stretch>
        </p:blipFill>
        <p:spPr>
          <a:xfrm>
            <a:off x="530352" y="2980944"/>
            <a:ext cx="164592" cy="164592"/>
          </a:xfrm>
          <a:prstGeom prst="rect">
            <a:avLst/>
          </a:prstGeom>
        </p:spPr>
      </p:pic>
      <p:sp>
        <p:nvSpPr>
          <p:cNvPr id="17" name="Text 11"/>
          <p:cNvSpPr/>
          <p:nvPr/>
        </p:nvSpPr>
        <p:spPr>
          <a:xfrm>
            <a:off x="896112" y="290779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Autorizar a imersão técnica e o orçamento com a Dreamer</a:t>
            </a:r>
            <a:endParaRPr lang="en-US" sz="1100" dirty="0"/>
          </a:p>
        </p:txBody>
      </p:sp>
      <p:sp>
        <p:nvSpPr>
          <p:cNvPr id="18" name="Shape 12"/>
          <p:cNvSpPr/>
          <p:nvPr/>
        </p:nvSpPr>
        <p:spPr>
          <a:xfrm>
            <a:off x="457200" y="3383280"/>
            <a:ext cx="310896" cy="310896"/>
          </a:xfrm>
          <a:prstGeom prst="ellipse">
            <a:avLst/>
          </a:prstGeom>
          <a:solidFill>
            <a:srgbClr val="C8106E"/>
          </a:solidFill>
          <a:ln/>
        </p:spPr>
        <p:txBody>
          <a:bodyPr/>
          <a:p/>
        </p:txBody>
      </p:sp>
      <p:pic>
        <p:nvPicPr>
          <p:cNvPr id="19" name="Image 4" descr="preencoded.png">    </p:cNvPr>
          <p:cNvPicPr>
            <a:picLocks noChangeAspect="1"/>
          </p:cNvPicPr>
          <p:nvPr/>
        </p:nvPicPr>
        <p:blipFill>
          <a:blip r:embed="rId2"/>
          <a:stretch>
            <a:fillRect/>
          </a:stretch>
        </p:blipFill>
        <p:spPr>
          <a:xfrm>
            <a:off x="530352" y="3456432"/>
            <a:ext cx="164592" cy="164592"/>
          </a:xfrm>
          <a:prstGeom prst="rect">
            <a:avLst/>
          </a:prstGeom>
        </p:spPr>
      </p:pic>
      <p:sp>
        <p:nvSpPr>
          <p:cNvPr id="20" name="Text 13"/>
          <p:cNvSpPr/>
          <p:nvPr/>
        </p:nvSpPr>
        <p:spPr>
          <a:xfrm>
            <a:off x="896112" y="3383280"/>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Indicar um patrocinador na diretoria</a:t>
            </a:r>
            <a:endParaRPr lang="en-US" sz="1100" dirty="0"/>
          </a:p>
        </p:txBody>
      </p:sp>
      <p:sp>
        <p:nvSpPr>
          <p:cNvPr id="21" name="Shape 14"/>
          <p:cNvSpPr/>
          <p:nvPr/>
        </p:nvSpPr>
        <p:spPr>
          <a:xfrm>
            <a:off x="4846320" y="1143000"/>
            <a:ext cx="3886200" cy="3200400"/>
          </a:xfrm>
          <a:prstGeom prst="rect">
            <a:avLst/>
          </a:prstGeom>
          <a:solidFill>
            <a:srgbClr val="12295F"/>
          </a:solidFill>
          <a:ln/>
        </p:spPr>
        <p:txBody>
          <a:bodyPr/>
          <a:p/>
        </p:txBody>
      </p:sp>
      <p:sp>
        <p:nvSpPr>
          <p:cNvPr id="22" name="Text 15"/>
          <p:cNvSpPr/>
          <p:nvPr/>
        </p:nvSpPr>
        <p:spPr>
          <a:xfrm>
            <a:off x="5029200" y="1234440"/>
            <a:ext cx="347472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PRÓXIMAS SEMANAS</a:t>
            </a:r>
            <a:endParaRPr lang="en-US" sz="900" dirty="0"/>
          </a:p>
        </p:txBody>
      </p:sp>
      <p:sp>
        <p:nvSpPr>
          <p:cNvPr id="23" name="Text 16"/>
          <p:cNvSpPr/>
          <p:nvPr/>
        </p:nvSpPr>
        <p:spPr>
          <a:xfrm>
            <a:off x="5029200" y="150876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até 23/10</a:t>
            </a:r>
            <a:endParaRPr lang="en-US" sz="950" dirty="0"/>
          </a:p>
        </p:txBody>
      </p:sp>
      <p:sp>
        <p:nvSpPr>
          <p:cNvPr id="24" name="Text 17"/>
          <p:cNvSpPr/>
          <p:nvPr/>
        </p:nvSpPr>
        <p:spPr>
          <a:xfrm>
            <a:off x="6126480" y="150876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Entrevistas internas e benchmark (inclui Tecnobeef)</a:t>
            </a:r>
            <a:endParaRPr lang="en-US" sz="950" dirty="0"/>
          </a:p>
        </p:txBody>
      </p:sp>
      <p:sp>
        <p:nvSpPr>
          <p:cNvPr id="25" name="Text 18"/>
          <p:cNvSpPr/>
          <p:nvPr/>
        </p:nvSpPr>
        <p:spPr>
          <a:xfrm>
            <a:off x="5029200" y="189280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19 a 23/10</a:t>
            </a:r>
            <a:endParaRPr lang="en-US" sz="950" dirty="0"/>
          </a:p>
        </p:txBody>
      </p:sp>
      <p:sp>
        <p:nvSpPr>
          <p:cNvPr id="26" name="Text 19"/>
          <p:cNvSpPr/>
          <p:nvPr/>
        </p:nvSpPr>
        <p:spPr>
          <a:xfrm>
            <a:off x="6126480" y="189280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Rascunho do formulário</a:t>
            </a:r>
            <a:endParaRPr lang="en-US" sz="950" dirty="0"/>
          </a:p>
        </p:txBody>
      </p:sp>
      <p:sp>
        <p:nvSpPr>
          <p:cNvPr id="27" name="Text 20"/>
          <p:cNvSpPr/>
          <p:nvPr/>
        </p:nvSpPr>
        <p:spPr>
          <a:xfrm>
            <a:off x="5029200" y="2276856"/>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26/10 a 06/11</a:t>
            </a:r>
            <a:endParaRPr lang="en-US" sz="950" dirty="0"/>
          </a:p>
        </p:txBody>
      </p:sp>
      <p:sp>
        <p:nvSpPr>
          <p:cNvPr id="28" name="Text 21"/>
          <p:cNvSpPr/>
          <p:nvPr/>
        </p:nvSpPr>
        <p:spPr>
          <a:xfrm>
            <a:off x="6126480" y="2276856"/>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Revisão com Kátia Sato e teste</a:t>
            </a:r>
            <a:endParaRPr lang="en-US" sz="950" dirty="0"/>
          </a:p>
        </p:txBody>
      </p:sp>
      <p:sp>
        <p:nvSpPr>
          <p:cNvPr id="29" name="Text 22"/>
          <p:cNvSpPr/>
          <p:nvPr/>
        </p:nvSpPr>
        <p:spPr>
          <a:xfrm>
            <a:off x="5029200" y="2660904"/>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09 a 27/11</a:t>
            </a:r>
            <a:endParaRPr lang="en-US" sz="950" dirty="0"/>
          </a:p>
        </p:txBody>
      </p:sp>
      <p:sp>
        <p:nvSpPr>
          <p:cNvPr id="30" name="Text 23"/>
          <p:cNvSpPr/>
          <p:nvPr/>
        </p:nvSpPr>
        <p:spPr>
          <a:xfrm>
            <a:off x="6126480" y="2660904"/>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Respostas das fazendas (meta: 30)</a:t>
            </a:r>
            <a:endParaRPr lang="en-US" sz="950" dirty="0"/>
          </a:p>
        </p:txBody>
      </p:sp>
      <p:sp>
        <p:nvSpPr>
          <p:cNvPr id="31" name="Text 24"/>
          <p:cNvSpPr/>
          <p:nvPr/>
        </p:nvSpPr>
        <p:spPr>
          <a:xfrm>
            <a:off x="5029200" y="3044952"/>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16 a 27/11</a:t>
            </a:r>
            <a:endParaRPr lang="en-US" sz="950" dirty="0"/>
          </a:p>
        </p:txBody>
      </p:sp>
      <p:sp>
        <p:nvSpPr>
          <p:cNvPr id="32" name="Text 25"/>
          <p:cNvSpPr/>
          <p:nvPr/>
        </p:nvSpPr>
        <p:spPr>
          <a:xfrm>
            <a:off x="6126480" y="3044952"/>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Imersão técnica com a Dreamer</a:t>
            </a:r>
            <a:endParaRPr lang="en-US" sz="950" dirty="0"/>
          </a:p>
        </p:txBody>
      </p:sp>
      <p:sp>
        <p:nvSpPr>
          <p:cNvPr id="33" name="Text 26"/>
          <p:cNvSpPr/>
          <p:nvPr/>
        </p:nvSpPr>
        <p:spPr>
          <a:xfrm>
            <a:off x="5029200" y="342900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07 a 18/12</a:t>
            </a:r>
            <a:endParaRPr lang="en-US" sz="950" dirty="0"/>
          </a:p>
        </p:txBody>
      </p:sp>
      <p:sp>
        <p:nvSpPr>
          <p:cNvPr id="34" name="Text 27"/>
          <p:cNvSpPr/>
          <p:nvPr/>
        </p:nvSpPr>
        <p:spPr>
          <a:xfrm>
            <a:off x="6126480" y="342900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Diagnóstico e PRDs (G0)</a:t>
            </a:r>
            <a:endParaRPr lang="en-US" sz="950" dirty="0"/>
          </a:p>
        </p:txBody>
      </p:sp>
      <p:sp>
        <p:nvSpPr>
          <p:cNvPr id="35" name="Text 28"/>
          <p:cNvSpPr/>
          <p:nvPr/>
        </p:nvSpPr>
        <p:spPr>
          <a:xfrm>
            <a:off x="5029200" y="381304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01 a 05/02</a:t>
            </a:r>
            <a:endParaRPr lang="en-US" sz="950" dirty="0"/>
          </a:p>
        </p:txBody>
      </p:sp>
      <p:sp>
        <p:nvSpPr>
          <p:cNvPr id="36" name="Text 29"/>
          <p:cNvSpPr/>
          <p:nvPr/>
        </p:nvSpPr>
        <p:spPr>
          <a:xfrm>
            <a:off x="6126480" y="381304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Apresentação final e investimento</a:t>
            </a:r>
            <a:endParaRPr lang="en-US" sz="95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Raio-X do confinamento no Brasil (2025)</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mercado cresce rápido e se concentra nos grandes, mas a maioria das fazendas ainda é pequena.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88720"/>
            <a:ext cx="2011680" cy="914400"/>
          </a:xfrm>
          <a:prstGeom prst="rect">
            <a:avLst/>
          </a:prstGeom>
          <a:solidFill>
            <a:srgbClr val="F4F6F8"/>
          </a:solidFill>
          <a:ln/>
        </p:spPr>
        <p:txBody>
          <a:bodyPr/>
          <a:p/>
        </p:txBody>
      </p:sp>
      <p:sp>
        <p:nvSpPr>
          <p:cNvPr id="8" name="Shape 5"/>
          <p:cNvSpPr/>
          <p:nvPr/>
        </p:nvSpPr>
        <p:spPr>
          <a:xfrm>
            <a:off x="457200" y="1188720"/>
            <a:ext cx="54864" cy="914400"/>
          </a:xfrm>
          <a:prstGeom prst="rect">
            <a:avLst/>
          </a:prstGeom>
          <a:solidFill>
            <a:srgbClr val="1B3A8C"/>
          </a:solidFill>
          <a:ln/>
        </p:spPr>
        <p:txBody>
          <a:bodyPr/>
          <a:p/>
        </p:txBody>
      </p:sp>
      <p:sp>
        <p:nvSpPr>
          <p:cNvPr id="9" name="Text 6"/>
          <p:cNvSpPr/>
          <p:nvPr/>
        </p:nvSpPr>
        <p:spPr>
          <a:xfrm>
            <a:off x="621792" y="1261872"/>
            <a:ext cx="1783080" cy="384048"/>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9,25 mi</a:t>
            </a:r>
            <a:endParaRPr lang="en-US" sz="2200" dirty="0"/>
          </a:p>
        </p:txBody>
      </p:sp>
      <p:sp>
        <p:nvSpPr>
          <p:cNvPr id="10" name="Text 7"/>
          <p:cNvSpPr/>
          <p:nvPr/>
        </p:nvSpPr>
        <p:spPr>
          <a:xfrm>
            <a:off x="621792" y="1645920"/>
            <a:ext cx="1783080" cy="43891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cabeças confinadas em 2025, alta de 16% sobre 2024</a:t>
            </a:r>
            <a:endParaRPr lang="en-US" sz="900" dirty="0"/>
          </a:p>
        </p:txBody>
      </p:sp>
      <p:sp>
        <p:nvSpPr>
          <p:cNvPr id="11" name="Shape 8"/>
          <p:cNvSpPr/>
          <p:nvPr/>
        </p:nvSpPr>
        <p:spPr>
          <a:xfrm>
            <a:off x="457200" y="2212848"/>
            <a:ext cx="2011680" cy="914400"/>
          </a:xfrm>
          <a:prstGeom prst="rect">
            <a:avLst/>
          </a:prstGeom>
          <a:solidFill>
            <a:srgbClr val="F4F6F8"/>
          </a:solidFill>
          <a:ln/>
        </p:spPr>
        <p:txBody>
          <a:bodyPr/>
          <a:p/>
        </p:txBody>
      </p:sp>
      <p:sp>
        <p:nvSpPr>
          <p:cNvPr id="12" name="Shape 9"/>
          <p:cNvSpPr/>
          <p:nvPr/>
        </p:nvSpPr>
        <p:spPr>
          <a:xfrm>
            <a:off x="457200" y="2212848"/>
            <a:ext cx="54864" cy="914400"/>
          </a:xfrm>
          <a:prstGeom prst="rect">
            <a:avLst/>
          </a:prstGeom>
          <a:solidFill>
            <a:srgbClr val="26668F"/>
          </a:solidFill>
          <a:ln/>
        </p:spPr>
        <p:txBody>
          <a:bodyPr/>
          <a:p/>
        </p:txBody>
      </p:sp>
      <p:sp>
        <p:nvSpPr>
          <p:cNvPr id="13" name="Text 10"/>
          <p:cNvSpPr/>
          <p:nvPr/>
        </p:nvSpPr>
        <p:spPr>
          <a:xfrm>
            <a:off x="621792" y="2286000"/>
            <a:ext cx="1783080" cy="384048"/>
          </a:xfrm>
          <a:prstGeom prst="rect">
            <a:avLst/>
          </a:prstGeom>
          <a:noFill/>
          <a:ln/>
        </p:spPr>
        <p:txBody>
          <a:bodyPr wrap="square" lIns="0" tIns="0" rIns="0" bIns="0" rtlCol="0" anchor="t"/>
          <a:lstStyle/>
          <a:p>
            <a:pPr indent="0" marL="0">
              <a:buNone/>
            </a:pPr>
            <a:r>
              <a:rPr lang="en-US" sz="2200" b="1" dirty="0">
                <a:solidFill>
                  <a:srgbClr val="26668F"/>
                </a:solidFill>
                <a:latin typeface="Calibri" pitchFamily="34" charset="0"/>
                <a:ea typeface="Calibri" pitchFamily="34" charset="-122"/>
                <a:cs typeface="Calibri" pitchFamily="34" charset="-120"/>
              </a:rPr>
              <a:t>2.445</a:t>
            </a:r>
            <a:endParaRPr lang="en-US" sz="2200" dirty="0"/>
          </a:p>
        </p:txBody>
      </p:sp>
      <p:sp>
        <p:nvSpPr>
          <p:cNvPr id="14" name="Text 11"/>
          <p:cNvSpPr/>
          <p:nvPr/>
        </p:nvSpPr>
        <p:spPr>
          <a:xfrm>
            <a:off x="621792" y="2670048"/>
            <a:ext cx="1783080" cy="43891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propriedades mapeadas em 1.095 municípios</a:t>
            </a:r>
            <a:endParaRPr lang="en-US" sz="900" dirty="0"/>
          </a:p>
        </p:txBody>
      </p:sp>
      <p:sp>
        <p:nvSpPr>
          <p:cNvPr id="15" name="Shape 12"/>
          <p:cNvSpPr/>
          <p:nvPr/>
        </p:nvSpPr>
        <p:spPr>
          <a:xfrm>
            <a:off x="457200" y="3236976"/>
            <a:ext cx="2011680" cy="914400"/>
          </a:xfrm>
          <a:prstGeom prst="rect">
            <a:avLst/>
          </a:prstGeom>
          <a:solidFill>
            <a:srgbClr val="F4F6F8"/>
          </a:solidFill>
          <a:ln/>
        </p:spPr>
        <p:txBody>
          <a:bodyPr/>
          <a:p/>
        </p:txBody>
      </p:sp>
      <p:sp>
        <p:nvSpPr>
          <p:cNvPr id="16" name="Shape 13"/>
          <p:cNvSpPr/>
          <p:nvPr/>
        </p:nvSpPr>
        <p:spPr>
          <a:xfrm>
            <a:off x="457200" y="3236976"/>
            <a:ext cx="54864" cy="914400"/>
          </a:xfrm>
          <a:prstGeom prst="rect">
            <a:avLst/>
          </a:prstGeom>
          <a:solidFill>
            <a:srgbClr val="C8106E"/>
          </a:solidFill>
          <a:ln/>
        </p:spPr>
        <p:txBody>
          <a:bodyPr/>
          <a:p/>
        </p:txBody>
      </p:sp>
      <p:sp>
        <p:nvSpPr>
          <p:cNvPr id="17" name="Text 14"/>
          <p:cNvSpPr/>
          <p:nvPr/>
        </p:nvSpPr>
        <p:spPr>
          <a:xfrm>
            <a:off x="621792" y="3310128"/>
            <a:ext cx="1783080" cy="384048"/>
          </a:xfrm>
          <a:prstGeom prst="rect">
            <a:avLst/>
          </a:prstGeom>
          <a:noFill/>
          <a:ln/>
        </p:spPr>
        <p:txBody>
          <a:bodyPr wrap="square" lIns="0" tIns="0" rIns="0" bIns="0" rtlCol="0" anchor="t"/>
          <a:lstStyle/>
          <a:p>
            <a:pPr indent="0" marL="0">
              <a:buNone/>
            </a:pPr>
            <a:r>
              <a:rPr lang="en-US" sz="2200" b="1" dirty="0">
                <a:solidFill>
                  <a:srgbClr val="C8106E"/>
                </a:solidFill>
                <a:latin typeface="Calibri" pitchFamily="34" charset="0"/>
                <a:ea typeface="Calibri" pitchFamily="34" charset="-122"/>
                <a:cs typeface="Calibri" pitchFamily="34" charset="-120"/>
              </a:rPr>
              <a:t>45%</a:t>
            </a:r>
            <a:endParaRPr lang="en-US" sz="2200" dirty="0"/>
          </a:p>
        </p:txBody>
      </p:sp>
      <p:sp>
        <p:nvSpPr>
          <p:cNvPr id="18" name="Text 15"/>
          <p:cNvSpPr/>
          <p:nvPr/>
        </p:nvSpPr>
        <p:spPr>
          <a:xfrm>
            <a:off x="621792" y="3694176"/>
            <a:ext cx="1783080" cy="43891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das cabeças estão nos 100 maiores confinamentos</a:t>
            </a:r>
            <a:endParaRPr lang="en-US" sz="900" dirty="0"/>
          </a:p>
        </p:txBody>
      </p:sp>
      <p:sp>
        <p:nvSpPr>
          <p:cNvPr id="19" name="Text 16"/>
          <p:cNvSpPr/>
          <p:nvPr/>
        </p:nvSpPr>
        <p:spPr>
          <a:xfrm>
            <a:off x="2697480" y="1115568"/>
            <a:ext cx="3108960" cy="228600"/>
          </a:xfrm>
          <a:prstGeom prst="rect">
            <a:avLst/>
          </a:prstGeom>
          <a:noFill/>
          <a:ln/>
        </p:spPr>
        <p:txBody>
          <a:bodyPr wrap="square" lIns="0" tIns="0" rIns="0" bIns="0" rtlCol="0" anchor="t"/>
          <a:lstStyle/>
          <a:p>
            <a:pPr algn="ctr" indent="0" marL="0">
              <a:buNone/>
            </a:pPr>
            <a:r>
              <a:rPr lang="en-US" sz="1100" b="1" dirty="0">
                <a:solidFill>
                  <a:srgbClr val="1B3A8C"/>
                </a:solidFill>
                <a:latin typeface="Calibri" pitchFamily="34" charset="0"/>
                <a:ea typeface="Calibri" pitchFamily="34" charset="-122"/>
                <a:cs typeface="Calibri" pitchFamily="34" charset="-120"/>
              </a:rPr>
              <a:t>Propriedades por porte</a:t>
            </a:r>
            <a:endParaRPr lang="en-US" sz="1100" dirty="0"/>
          </a:p>
        </p:txBody>
      </p:sp>
      <p:sp>
        <p:nvSpPr>
          <p:cNvPr id="20" name="Shape 17"/>
          <p:cNvSpPr/>
          <p:nvPr/>
        </p:nvSpPr>
        <p:spPr>
          <a:xfrm>
            <a:off x="3566160" y="1389888"/>
            <a:ext cx="1371600" cy="731520"/>
          </a:xfrm>
          <a:prstGeom prst="rect">
            <a:avLst/>
          </a:prstGeom>
          <a:solidFill>
            <a:srgbClr val="1B3A8C"/>
          </a:solidFill>
          <a:ln/>
        </p:spPr>
        <p:txBody>
          <a:bodyPr/>
          <a:p/>
        </p:txBody>
      </p:sp>
      <p:sp>
        <p:nvSpPr>
          <p:cNvPr id="21" name="Text 18"/>
          <p:cNvSpPr/>
          <p:nvPr/>
        </p:nvSpPr>
        <p:spPr>
          <a:xfrm>
            <a:off x="3566160" y="1481328"/>
            <a:ext cx="1371600"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100 maiores</a:t>
            </a:r>
            <a:endParaRPr lang="en-US" sz="1200" dirty="0"/>
          </a:p>
        </p:txBody>
      </p:sp>
      <p:sp>
        <p:nvSpPr>
          <p:cNvPr id="22" name="Text 19"/>
          <p:cNvSpPr/>
          <p:nvPr/>
        </p:nvSpPr>
        <p:spPr>
          <a:xfrm>
            <a:off x="3566160" y="1773936"/>
            <a:ext cx="1371600" cy="25603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45% das cabeças</a:t>
            </a:r>
            <a:endParaRPr lang="en-US" sz="900" dirty="0"/>
          </a:p>
        </p:txBody>
      </p:sp>
      <p:sp>
        <p:nvSpPr>
          <p:cNvPr id="23" name="Shape 20"/>
          <p:cNvSpPr/>
          <p:nvPr/>
        </p:nvSpPr>
        <p:spPr>
          <a:xfrm>
            <a:off x="3108960" y="2176272"/>
            <a:ext cx="2286000" cy="731520"/>
          </a:xfrm>
          <a:prstGeom prst="rect">
            <a:avLst/>
          </a:prstGeom>
          <a:solidFill>
            <a:srgbClr val="26668F"/>
          </a:solidFill>
          <a:ln/>
        </p:spPr>
        <p:txBody>
          <a:bodyPr/>
          <a:p/>
        </p:txBody>
      </p:sp>
      <p:sp>
        <p:nvSpPr>
          <p:cNvPr id="24" name="Text 21"/>
          <p:cNvSpPr/>
          <p:nvPr/>
        </p:nvSpPr>
        <p:spPr>
          <a:xfrm>
            <a:off x="3108960" y="2267712"/>
            <a:ext cx="2286000"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cerca de 1.200</a:t>
            </a:r>
            <a:endParaRPr lang="en-US" sz="1200" dirty="0"/>
          </a:p>
        </p:txBody>
      </p:sp>
      <p:sp>
        <p:nvSpPr>
          <p:cNvPr id="25" name="Text 22"/>
          <p:cNvSpPr/>
          <p:nvPr/>
        </p:nvSpPr>
        <p:spPr>
          <a:xfrm>
            <a:off x="3108960" y="2560320"/>
            <a:ext cx="2286000" cy="25603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1.000 cabeças ou mais</a:t>
            </a:r>
            <a:endParaRPr lang="en-US" sz="900" dirty="0"/>
          </a:p>
        </p:txBody>
      </p:sp>
      <p:sp>
        <p:nvSpPr>
          <p:cNvPr id="26" name="Shape 23"/>
          <p:cNvSpPr/>
          <p:nvPr/>
        </p:nvSpPr>
        <p:spPr>
          <a:xfrm>
            <a:off x="2697480" y="2962656"/>
            <a:ext cx="3108960" cy="731520"/>
          </a:xfrm>
          <a:prstGeom prst="rect">
            <a:avLst/>
          </a:prstGeom>
          <a:solidFill>
            <a:srgbClr val="C8106E"/>
          </a:solidFill>
          <a:ln/>
        </p:spPr>
        <p:txBody>
          <a:bodyPr/>
          <a:p/>
        </p:txBody>
      </p:sp>
      <p:sp>
        <p:nvSpPr>
          <p:cNvPr id="27" name="Text 24"/>
          <p:cNvSpPr/>
          <p:nvPr/>
        </p:nvSpPr>
        <p:spPr>
          <a:xfrm>
            <a:off x="2697480" y="3054096"/>
            <a:ext cx="3108960"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1.131 propriedades</a:t>
            </a:r>
            <a:endParaRPr lang="en-US" sz="1200" dirty="0"/>
          </a:p>
        </p:txBody>
      </p:sp>
      <p:sp>
        <p:nvSpPr>
          <p:cNvPr id="28" name="Text 25"/>
          <p:cNvSpPr/>
          <p:nvPr/>
        </p:nvSpPr>
        <p:spPr>
          <a:xfrm>
            <a:off x="2697480" y="3346704"/>
            <a:ext cx="3108960" cy="25603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menos de 1.000 cabeças (46%)</a:t>
            </a:r>
            <a:endParaRPr lang="en-US" sz="900" dirty="0"/>
          </a:p>
        </p:txBody>
      </p:sp>
      <p:sp>
        <p:nvSpPr>
          <p:cNvPr id="29" name="Shape 26"/>
          <p:cNvSpPr/>
          <p:nvPr/>
        </p:nvSpPr>
        <p:spPr>
          <a:xfrm>
            <a:off x="2697480" y="3822192"/>
            <a:ext cx="3108960" cy="274320"/>
          </a:xfrm>
          <a:prstGeom prst="roundRect">
            <a:avLst>
              <a:gd name="adj" fmla="val 50000"/>
            </a:avLst>
          </a:prstGeom>
          <a:solidFill>
            <a:srgbClr val="C5D300"/>
          </a:solidFill>
          <a:ln/>
        </p:spPr>
        <p:txBody>
          <a:bodyPr/>
          <a:p/>
        </p:txBody>
      </p:sp>
      <p:sp>
        <p:nvSpPr>
          <p:cNvPr id="30" name="Text 27"/>
          <p:cNvSpPr/>
          <p:nvPr/>
        </p:nvSpPr>
        <p:spPr>
          <a:xfrm>
            <a:off x="2697480" y="3822192"/>
            <a:ext cx="3108960" cy="274320"/>
          </a:xfrm>
          <a:prstGeom prst="rect">
            <a:avLst/>
          </a:prstGeom>
          <a:noFill/>
          <a:ln/>
        </p:spPr>
        <p:txBody>
          <a:bodyPr wrap="square" lIns="0" tIns="0" rIns="0" bIns="0" rtlCol="0" anchor="ctr"/>
          <a:lstStyle/>
          <a:p>
            <a:pPr algn="ctr" indent="0" marL="0">
              <a:buNone/>
            </a:pPr>
            <a:r>
              <a:rPr lang="en-US" sz="950" b="1" dirty="0">
                <a:solidFill>
                  <a:srgbClr val="1B3A8C"/>
                </a:solidFill>
                <a:latin typeface="Calibri" pitchFamily="34" charset="0"/>
                <a:ea typeface="Calibri" pitchFamily="34" charset="-122"/>
                <a:cs typeface="Calibri" pitchFamily="34" charset="-120"/>
              </a:rPr>
              <a:t>Faixa do TN Manager Web: 200 a 2.000 cabeças</a:t>
            </a:r>
            <a:endParaRPr lang="en-US" sz="950" dirty="0"/>
          </a:p>
        </p:txBody>
      </p:sp>
      <p:sp>
        <p:nvSpPr>
          <p:cNvPr id="31" name="Text 28"/>
          <p:cNvSpPr/>
          <p:nvPr/>
        </p:nvSpPr>
        <p:spPr>
          <a:xfrm>
            <a:off x="6035040" y="1115568"/>
            <a:ext cx="2743200" cy="228600"/>
          </a:xfrm>
          <a:prstGeom prst="rect">
            <a:avLst/>
          </a:prstGeom>
          <a:noFill/>
          <a:ln/>
        </p:spPr>
        <p:txBody>
          <a:bodyPr wrap="square" lIns="0" tIns="0" rIns="0" bIns="0" rtlCol="0" anchor="t"/>
          <a:lstStyle/>
          <a:p>
            <a:pPr indent="0" marL="0">
              <a:buNone/>
            </a:pPr>
            <a:r>
              <a:rPr lang="en-US" sz="1100" b="1" dirty="0">
                <a:solidFill>
                  <a:srgbClr val="1B3A8C"/>
                </a:solidFill>
                <a:latin typeface="Calibri" pitchFamily="34" charset="0"/>
                <a:ea typeface="Calibri" pitchFamily="34" charset="-122"/>
                <a:cs typeface="Calibri" pitchFamily="34" charset="-120"/>
              </a:rPr>
              <a:t>Cabeças confinadas por estado (milhões)</a:t>
            </a:r>
            <a:endParaRPr lang="en-US" sz="1100" dirty="0"/>
          </a:p>
        </p:txBody>
      </p:sp>
      <p:sp>
        <p:nvSpPr>
          <p:cNvPr id="32" name="Text 29"/>
          <p:cNvSpPr/>
          <p:nvPr/>
        </p:nvSpPr>
        <p:spPr>
          <a:xfrm>
            <a:off x="6035040" y="141732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MT</a:t>
            </a:r>
            <a:endParaRPr lang="en-US" sz="1000" dirty="0"/>
          </a:p>
        </p:txBody>
      </p:sp>
      <p:sp>
        <p:nvSpPr>
          <p:cNvPr id="33" name="Shape 30"/>
          <p:cNvSpPr/>
          <p:nvPr/>
        </p:nvSpPr>
        <p:spPr>
          <a:xfrm>
            <a:off x="6583680" y="1444752"/>
            <a:ext cx="1470074" cy="219456"/>
          </a:xfrm>
          <a:prstGeom prst="rect">
            <a:avLst/>
          </a:prstGeom>
          <a:solidFill>
            <a:srgbClr val="C8106E"/>
          </a:solidFill>
          <a:ln/>
        </p:spPr>
        <p:txBody>
          <a:bodyPr/>
          <a:p/>
        </p:txBody>
      </p:sp>
      <p:sp>
        <p:nvSpPr>
          <p:cNvPr id="34" name="Text 31"/>
          <p:cNvSpPr/>
          <p:nvPr/>
        </p:nvSpPr>
        <p:spPr>
          <a:xfrm>
            <a:off x="8099474" y="141732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2,2</a:t>
            </a:r>
            <a:endParaRPr lang="en-US" sz="950" dirty="0"/>
          </a:p>
        </p:txBody>
      </p:sp>
      <p:sp>
        <p:nvSpPr>
          <p:cNvPr id="35" name="Text 32"/>
          <p:cNvSpPr/>
          <p:nvPr/>
        </p:nvSpPr>
        <p:spPr>
          <a:xfrm>
            <a:off x="6035040" y="178308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SP</a:t>
            </a:r>
            <a:endParaRPr lang="en-US" sz="1000" dirty="0"/>
          </a:p>
        </p:txBody>
      </p:sp>
      <p:sp>
        <p:nvSpPr>
          <p:cNvPr id="36" name="Shape 33"/>
          <p:cNvSpPr/>
          <p:nvPr/>
        </p:nvSpPr>
        <p:spPr>
          <a:xfrm>
            <a:off x="6583680" y="1810512"/>
            <a:ext cx="935502" cy="219456"/>
          </a:xfrm>
          <a:prstGeom prst="rect">
            <a:avLst/>
          </a:prstGeom>
          <a:solidFill>
            <a:srgbClr val="1B3A8C"/>
          </a:solidFill>
          <a:ln/>
        </p:spPr>
        <p:txBody>
          <a:bodyPr/>
          <a:p/>
        </p:txBody>
      </p:sp>
      <p:sp>
        <p:nvSpPr>
          <p:cNvPr id="37" name="Text 34"/>
          <p:cNvSpPr/>
          <p:nvPr/>
        </p:nvSpPr>
        <p:spPr>
          <a:xfrm>
            <a:off x="7564902" y="178308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38" name="Text 35"/>
          <p:cNvSpPr/>
          <p:nvPr/>
        </p:nvSpPr>
        <p:spPr>
          <a:xfrm>
            <a:off x="6035040" y="214884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GO</a:t>
            </a:r>
            <a:endParaRPr lang="en-US" sz="1000" dirty="0"/>
          </a:p>
        </p:txBody>
      </p:sp>
      <p:sp>
        <p:nvSpPr>
          <p:cNvPr id="39" name="Shape 36"/>
          <p:cNvSpPr/>
          <p:nvPr/>
        </p:nvSpPr>
        <p:spPr>
          <a:xfrm>
            <a:off x="6583680" y="2176272"/>
            <a:ext cx="935502" cy="219456"/>
          </a:xfrm>
          <a:prstGeom prst="rect">
            <a:avLst/>
          </a:prstGeom>
          <a:solidFill>
            <a:srgbClr val="1B3A8C"/>
          </a:solidFill>
          <a:ln/>
        </p:spPr>
        <p:txBody>
          <a:bodyPr/>
          <a:p/>
        </p:txBody>
      </p:sp>
      <p:sp>
        <p:nvSpPr>
          <p:cNvPr id="40" name="Text 37"/>
          <p:cNvSpPr/>
          <p:nvPr/>
        </p:nvSpPr>
        <p:spPr>
          <a:xfrm>
            <a:off x="7564902" y="214884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41" name="Text 38"/>
          <p:cNvSpPr/>
          <p:nvPr/>
        </p:nvSpPr>
        <p:spPr>
          <a:xfrm>
            <a:off x="6035040" y="251460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MS</a:t>
            </a:r>
            <a:endParaRPr lang="en-US" sz="1000" dirty="0"/>
          </a:p>
        </p:txBody>
      </p:sp>
      <p:sp>
        <p:nvSpPr>
          <p:cNvPr id="42" name="Shape 39"/>
          <p:cNvSpPr/>
          <p:nvPr/>
        </p:nvSpPr>
        <p:spPr>
          <a:xfrm>
            <a:off x="6583680" y="2542032"/>
            <a:ext cx="601394" cy="219456"/>
          </a:xfrm>
          <a:prstGeom prst="rect">
            <a:avLst/>
          </a:prstGeom>
          <a:solidFill>
            <a:srgbClr val="1B3A8C"/>
          </a:solidFill>
          <a:ln/>
        </p:spPr>
        <p:txBody>
          <a:bodyPr/>
          <a:p/>
        </p:txBody>
      </p:sp>
      <p:sp>
        <p:nvSpPr>
          <p:cNvPr id="43" name="Text 40"/>
          <p:cNvSpPr/>
          <p:nvPr/>
        </p:nvSpPr>
        <p:spPr>
          <a:xfrm>
            <a:off x="7230794" y="251460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0,9</a:t>
            </a:r>
            <a:endParaRPr lang="en-US" sz="950" dirty="0"/>
          </a:p>
        </p:txBody>
      </p:sp>
      <p:sp>
        <p:nvSpPr>
          <p:cNvPr id="44" name="Text 41"/>
          <p:cNvSpPr/>
          <p:nvPr/>
        </p:nvSpPr>
        <p:spPr>
          <a:xfrm>
            <a:off x="6035040" y="288036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MG</a:t>
            </a:r>
            <a:endParaRPr lang="en-US" sz="1000" dirty="0"/>
          </a:p>
        </p:txBody>
      </p:sp>
      <p:sp>
        <p:nvSpPr>
          <p:cNvPr id="45" name="Shape 42"/>
          <p:cNvSpPr/>
          <p:nvPr/>
        </p:nvSpPr>
        <p:spPr>
          <a:xfrm>
            <a:off x="6583680" y="2907792"/>
            <a:ext cx="534572" cy="219456"/>
          </a:xfrm>
          <a:prstGeom prst="rect">
            <a:avLst/>
          </a:prstGeom>
          <a:solidFill>
            <a:srgbClr val="1B3A8C"/>
          </a:solidFill>
          <a:ln/>
        </p:spPr>
        <p:txBody>
          <a:bodyPr/>
          <a:p/>
        </p:txBody>
      </p:sp>
      <p:sp>
        <p:nvSpPr>
          <p:cNvPr id="46" name="Text 43"/>
          <p:cNvSpPr/>
          <p:nvPr/>
        </p:nvSpPr>
        <p:spPr>
          <a:xfrm>
            <a:off x="7163972" y="288036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0,8</a:t>
            </a:r>
            <a:endParaRPr lang="en-US" sz="950" dirty="0"/>
          </a:p>
        </p:txBody>
      </p:sp>
      <p:sp>
        <p:nvSpPr>
          <p:cNvPr id="47" name="Text 44"/>
          <p:cNvSpPr/>
          <p:nvPr/>
        </p:nvSpPr>
        <p:spPr>
          <a:xfrm>
            <a:off x="6035040" y="324612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Outros</a:t>
            </a:r>
            <a:endParaRPr lang="en-US" sz="1000" dirty="0"/>
          </a:p>
        </p:txBody>
      </p:sp>
      <p:sp>
        <p:nvSpPr>
          <p:cNvPr id="48" name="Shape 45"/>
          <p:cNvSpPr/>
          <p:nvPr/>
        </p:nvSpPr>
        <p:spPr>
          <a:xfrm>
            <a:off x="6583680" y="3273552"/>
            <a:ext cx="1703949" cy="219456"/>
          </a:xfrm>
          <a:prstGeom prst="rect">
            <a:avLst/>
          </a:prstGeom>
          <a:solidFill>
            <a:srgbClr val="0096B4"/>
          </a:solidFill>
          <a:ln/>
        </p:spPr>
        <p:txBody>
          <a:bodyPr/>
          <a:p/>
        </p:txBody>
      </p:sp>
      <p:sp>
        <p:nvSpPr>
          <p:cNvPr id="49" name="Text 46"/>
          <p:cNvSpPr/>
          <p:nvPr/>
        </p:nvSpPr>
        <p:spPr>
          <a:xfrm>
            <a:off x="8333349" y="324612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2,55</a:t>
            </a:r>
            <a:endParaRPr lang="en-US" sz="950" dirty="0"/>
          </a:p>
        </p:txBody>
      </p:sp>
      <p:sp>
        <p:nvSpPr>
          <p:cNvPr id="50" name="Text 47"/>
          <p:cNvSpPr/>
          <p:nvPr/>
        </p:nvSpPr>
        <p:spPr>
          <a:xfrm>
            <a:off x="6035040" y="3675888"/>
            <a:ext cx="2743200" cy="411480"/>
          </a:xfrm>
          <a:prstGeom prst="rect">
            <a:avLst/>
          </a:prstGeom>
          <a:noFill/>
          <a:ln/>
        </p:spPr>
        <p:txBody>
          <a:bodyPr wrap="square" lIns="0" tIns="0" rIns="0" bIns="0" rtlCol="0" anchor="t"/>
          <a:lstStyle/>
          <a:p>
            <a:pPr indent="0" marL="0">
              <a:buNone/>
            </a:pPr>
            <a:r>
              <a:rPr lang="en-US" sz="900" i="1" dirty="0">
                <a:solidFill>
                  <a:srgbClr val="4A5560"/>
                </a:solidFill>
                <a:latin typeface="Calibri" pitchFamily="34" charset="0"/>
                <a:ea typeface="Calibri" pitchFamily="34" charset="-122"/>
                <a:cs typeface="Calibri" pitchFamily="34" charset="-120"/>
              </a:rPr>
              <a:t>5 estados somam 72%. Centro-Oeste e o bioma Cerrado concentram a maior parte.</a:t>
            </a:r>
            <a:endParaRPr lang="en-US" sz="9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Estamos no caminho certo?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Sim, com uma ressalva: o público é o maior em número de fazendas, mas menor em volume de cabeças.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43000"/>
            <a:ext cx="2606040" cy="384048"/>
          </a:xfrm>
          <a:prstGeom prst="rect">
            <a:avLst/>
          </a:prstGeom>
          <a:solidFill>
            <a:srgbClr val="1B3A8C"/>
          </a:solidFill>
          <a:ln/>
        </p:spPr>
        <p:txBody>
          <a:bodyPr/>
          <a:p/>
        </p:txBody>
      </p:sp>
      <p:sp>
        <p:nvSpPr>
          <p:cNvPr id="8" name="Text 5"/>
          <p:cNvSpPr/>
          <p:nvPr/>
        </p:nvSpPr>
        <p:spPr>
          <a:xfrm>
            <a:off x="566928" y="1143000"/>
            <a:ext cx="2386584"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 que os dados confirmam</a:t>
            </a:r>
            <a:endParaRPr lang="en-US" sz="1200" dirty="0"/>
          </a:p>
        </p:txBody>
      </p:sp>
      <p:sp>
        <p:nvSpPr>
          <p:cNvPr id="9" name="Shape 6"/>
          <p:cNvSpPr/>
          <p:nvPr/>
        </p:nvSpPr>
        <p:spPr>
          <a:xfrm>
            <a:off x="457200" y="1527048"/>
            <a:ext cx="2606040" cy="2130552"/>
          </a:xfrm>
          <a:prstGeom prst="rect">
            <a:avLst/>
          </a:prstGeom>
          <a:solidFill>
            <a:srgbClr val="F4F6F8"/>
          </a:solidFill>
          <a:ln/>
        </p:spPr>
        <p:txBody>
          <a:bodyPr/>
          <a:p/>
        </p:txBody>
      </p:sp>
      <p:sp>
        <p:nvSpPr>
          <p:cNvPr id="10" name="Text 7"/>
          <p:cNvSpPr/>
          <p:nvPr/>
        </p:nvSpPr>
        <p:spPr>
          <a:xfrm>
            <a:off x="53035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pequenos são a maioria: 11.194 confinamentos de até 1.500 cabeças, 85% dos classificados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grandes já estão concentrados e disputados: os 100 maiores têm 45% das cabeças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adoção digital cresce com escala e consultoria (Embrapa): o pequeno fica sem ferramenta, e o técnico TN é o elo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Embrapa indica que o vagão forrageiro se justifica a partir de cerca de 200 cabeças: coerente com o nosso piso</a:t>
            </a:r>
            <a:endParaRPr lang="en-US" sz="950" dirty="0"/>
          </a:p>
        </p:txBody>
      </p:sp>
      <p:sp>
        <p:nvSpPr>
          <p:cNvPr id="11" name="Shape 8"/>
          <p:cNvSpPr/>
          <p:nvPr/>
        </p:nvSpPr>
        <p:spPr>
          <a:xfrm>
            <a:off x="3246120" y="1143000"/>
            <a:ext cx="2606040" cy="384048"/>
          </a:xfrm>
          <a:prstGeom prst="rect">
            <a:avLst/>
          </a:prstGeom>
          <a:solidFill>
            <a:srgbClr val="C8106E"/>
          </a:solidFill>
          <a:ln/>
        </p:spPr>
        <p:txBody>
          <a:bodyPr/>
          <a:p/>
        </p:txBody>
      </p:sp>
      <p:sp>
        <p:nvSpPr>
          <p:cNvPr id="12" name="Text 9"/>
          <p:cNvSpPr/>
          <p:nvPr/>
        </p:nvSpPr>
        <p:spPr>
          <a:xfrm>
            <a:off x="3355848" y="1143000"/>
            <a:ext cx="2386584"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 que pede cuidado</a:t>
            </a:r>
            <a:endParaRPr lang="en-US" sz="1200" dirty="0"/>
          </a:p>
        </p:txBody>
      </p:sp>
      <p:sp>
        <p:nvSpPr>
          <p:cNvPr id="13" name="Shape 10"/>
          <p:cNvSpPr/>
          <p:nvPr/>
        </p:nvSpPr>
        <p:spPr>
          <a:xfrm>
            <a:off x="3246120" y="1527048"/>
            <a:ext cx="2606040" cy="2130552"/>
          </a:xfrm>
          <a:prstGeom prst="rect">
            <a:avLst/>
          </a:prstGeom>
          <a:solidFill>
            <a:srgbClr val="F4F6F8"/>
          </a:solidFill>
          <a:ln/>
        </p:spPr>
        <p:txBody>
          <a:bodyPr/>
          <a:p/>
        </p:txBody>
      </p:sp>
      <p:sp>
        <p:nvSpPr>
          <p:cNvPr id="14" name="Text 11"/>
          <p:cNvSpPr/>
          <p:nvPr/>
        </p:nvSpPr>
        <p:spPr>
          <a:xfrm>
            <a:off x="331927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Em volume, o pequeno pesa menos: 23% da capacidade estática projetada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Abaixo de 10 mil cabeças o volume ficou estável em 2024 (3,3 mi), enquanto os grandes cresceram</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 valor vem do número de fazendas e da fidelização, não do Sales Profit por cliente</a:t>
            </a:r>
            <a:endParaRPr lang="en-US" sz="950" dirty="0"/>
          </a:p>
        </p:txBody>
      </p:sp>
      <p:sp>
        <p:nvSpPr>
          <p:cNvPr id="15" name="Shape 12"/>
          <p:cNvSpPr/>
          <p:nvPr/>
        </p:nvSpPr>
        <p:spPr>
          <a:xfrm>
            <a:off x="6035040" y="1143000"/>
            <a:ext cx="2606040" cy="384048"/>
          </a:xfrm>
          <a:prstGeom prst="rect">
            <a:avLst/>
          </a:prstGeom>
          <a:solidFill>
            <a:srgbClr val="26668F"/>
          </a:solidFill>
          <a:ln/>
        </p:spPr>
        <p:txBody>
          <a:bodyPr/>
          <a:p/>
        </p:txBody>
      </p:sp>
      <p:sp>
        <p:nvSpPr>
          <p:cNvPr id="16" name="Text 13"/>
          <p:cNvSpPr/>
          <p:nvPr/>
        </p:nvSpPr>
        <p:spPr>
          <a:xfrm>
            <a:off x="6144768" y="1143000"/>
            <a:ext cx="2386584"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 que ainda não sabemos</a:t>
            </a:r>
            <a:endParaRPr lang="en-US" sz="1200" dirty="0"/>
          </a:p>
        </p:txBody>
      </p:sp>
      <p:sp>
        <p:nvSpPr>
          <p:cNvPr id="17" name="Shape 14"/>
          <p:cNvSpPr/>
          <p:nvPr/>
        </p:nvSpPr>
        <p:spPr>
          <a:xfrm>
            <a:off x="6035040" y="1527048"/>
            <a:ext cx="2606040" cy="2130552"/>
          </a:xfrm>
          <a:prstGeom prst="rect">
            <a:avLst/>
          </a:prstGeom>
          <a:solidFill>
            <a:srgbClr val="F4F6F8"/>
          </a:solidFill>
          <a:ln/>
        </p:spPr>
        <p:txBody>
          <a:bodyPr/>
          <a:p/>
        </p:txBody>
      </p:sp>
      <p:sp>
        <p:nvSpPr>
          <p:cNvPr id="18" name="Text 15"/>
          <p:cNvSpPr/>
          <p:nvPr/>
        </p:nvSpPr>
        <p:spPr>
          <a:xfrm>
            <a:off x="610819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Percentual nacional de confinamentos com automação: não há dado público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As fontes divergem no total: 2.445 no censo dsm-firmenich e 14.014 no Bússola Farm. Entender a diferença de método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Recorte de 1.000 a 2.000 cabeças e distribuição por bioma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pesquisa com 30 fazendas preenche essas lacunas</a:t>
            </a:r>
            <a:endParaRPr lang="en-US" sz="950" dirty="0"/>
          </a:p>
        </p:txBody>
      </p:sp>
      <p:sp>
        <p:nvSpPr>
          <p:cNvPr id="19" name="Shape 16"/>
          <p:cNvSpPr/>
          <p:nvPr/>
        </p:nvSpPr>
        <p:spPr>
          <a:xfrm>
            <a:off x="457200" y="3749040"/>
            <a:ext cx="8229600" cy="530352"/>
          </a:xfrm>
          <a:prstGeom prst="rect">
            <a:avLst/>
          </a:prstGeom>
          <a:solidFill>
            <a:srgbClr val="1B3A8C"/>
          </a:solidFill>
          <a:ln/>
        </p:spPr>
        <p:txBody>
          <a:bodyPr/>
          <a:p/>
        </p:txBody>
      </p:sp>
      <p:sp>
        <p:nvSpPr>
          <p:cNvPr id="20" name="Text 17"/>
          <p:cNvSpPr/>
          <p:nvPr/>
        </p:nvSpPr>
        <p:spPr>
          <a:xfrm>
            <a:off x="621792" y="3749040"/>
            <a:ext cx="7955280" cy="530352"/>
          </a:xfrm>
          <a:prstGeom prst="rect">
            <a:avLst/>
          </a:prstGeom>
          <a:noFill/>
          <a:ln/>
        </p:spPr>
        <p:txBody>
          <a:bodyPr wrap="square" lIns="0" tIns="0" rIns="0" bIns="0" rtlCol="0" anchor="ctr"/>
          <a:lstStyle/>
          <a:p>
            <a:pPr indent="0" marL="0">
              <a:buNone/>
            </a:pPr>
            <a:r>
              <a:rPr lang="en-US" sz="1100" b="1" dirty="0">
                <a:solidFill>
                  <a:srgbClr val="C5D300"/>
                </a:solidFill>
                <a:latin typeface="Calibri" pitchFamily="34" charset="0"/>
                <a:ea typeface="Calibri" pitchFamily="34" charset="-122"/>
                <a:cs typeface="Calibri" pitchFamily="34" charset="-120"/>
              </a:rPr>
              <a:t>Conclusão: </a:t>
            </a:r>
            <a:pPr indent="0" marL="0">
              <a:buNone/>
            </a:pPr>
            <a:r>
              <a:rPr lang="en-US" sz="1100" dirty="0">
                <a:solidFill>
                  <a:srgbClr val="FFFFFF"/>
                </a:solidFill>
                <a:latin typeface="Calibri" pitchFamily="34" charset="0"/>
                <a:ea typeface="Calibri" pitchFamily="34" charset="-122"/>
                <a:cs typeface="Calibri" pitchFamily="34" charset="-120"/>
              </a:rPr>
              <a:t>o público de 200 a 2.000 cabeças é o maior em número de fazendas e o menos atendido. O caso se sustenta com custo baixo por cliente e escala de fazendas.</a:t>
            </a:r>
            <a:endParaRPr lang="en-US" sz="11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Bússola Farm 2025: 14.014 confinamentos no Brasil</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85% são pequenos. Juntos, têm só 23% da capacidade estática: muitas fazendas, pouco volume cada.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 Bússola Farm 2025. Percentuais sobre os 13.214 confinamentos com faixa informada e 15 milhões de cabeças de capacidade estática projetada.</a:t>
            </a:r>
            <a:endParaRPr lang="en-US" sz="800" dirty="0"/>
          </a:p>
        </p:txBody>
      </p:sp>
      <p:sp>
        <p:nvSpPr>
          <p:cNvPr id="7" name="Text 4"/>
          <p:cNvSpPr/>
          <p:nvPr/>
        </p:nvSpPr>
        <p:spPr>
          <a:xfrm>
            <a:off x="45720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Faixa</a:t>
            </a:r>
            <a:endParaRPr lang="en-US" sz="900" dirty="0"/>
          </a:p>
        </p:txBody>
      </p:sp>
      <p:sp>
        <p:nvSpPr>
          <p:cNvPr id="8" name="Text 5"/>
          <p:cNvSpPr/>
          <p:nvPr/>
        </p:nvSpPr>
        <p:spPr>
          <a:xfrm>
            <a:off x="274320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Confinamentos</a:t>
            </a:r>
            <a:endParaRPr lang="en-US" sz="900" dirty="0"/>
          </a:p>
        </p:txBody>
      </p:sp>
      <p:sp>
        <p:nvSpPr>
          <p:cNvPr id="9" name="Text 6"/>
          <p:cNvSpPr/>
          <p:nvPr/>
        </p:nvSpPr>
        <p:spPr>
          <a:xfrm>
            <a:off x="406908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Capacidade estática</a:t>
            </a:r>
            <a:endParaRPr lang="en-US" sz="900" dirty="0"/>
          </a:p>
        </p:txBody>
      </p:sp>
      <p:sp>
        <p:nvSpPr>
          <p:cNvPr id="10" name="Text 7"/>
          <p:cNvSpPr/>
          <p:nvPr/>
        </p:nvSpPr>
        <p:spPr>
          <a:xfrm>
            <a:off x="548640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 dos confinamentos e % da capacidade</a:t>
            </a:r>
            <a:endParaRPr lang="en-US" sz="900" dirty="0"/>
          </a:p>
        </p:txBody>
      </p:sp>
      <p:sp>
        <p:nvSpPr>
          <p:cNvPr id="11" name="Shape 8"/>
          <p:cNvSpPr/>
          <p:nvPr/>
        </p:nvSpPr>
        <p:spPr>
          <a:xfrm>
            <a:off x="457200" y="1344168"/>
            <a:ext cx="8229600" cy="749808"/>
          </a:xfrm>
          <a:prstGeom prst="rect">
            <a:avLst/>
          </a:prstGeom>
          <a:solidFill>
            <a:srgbClr val="FBE7F1"/>
          </a:solidFill>
          <a:ln/>
        </p:spPr>
        <p:txBody>
          <a:bodyPr/>
          <a:p/>
        </p:txBody>
      </p:sp>
      <p:sp>
        <p:nvSpPr>
          <p:cNvPr id="12" name="Shape 9"/>
          <p:cNvSpPr/>
          <p:nvPr/>
        </p:nvSpPr>
        <p:spPr>
          <a:xfrm>
            <a:off x="457200" y="1344168"/>
            <a:ext cx="64008" cy="749808"/>
          </a:xfrm>
          <a:prstGeom prst="rect">
            <a:avLst/>
          </a:prstGeom>
          <a:solidFill>
            <a:srgbClr val="C8106E"/>
          </a:solidFill>
          <a:ln/>
        </p:spPr>
        <p:txBody>
          <a:bodyPr/>
          <a:p/>
        </p:txBody>
      </p:sp>
      <p:sp>
        <p:nvSpPr>
          <p:cNvPr id="13" name="Text 10"/>
          <p:cNvSpPr/>
          <p:nvPr/>
        </p:nvSpPr>
        <p:spPr>
          <a:xfrm>
            <a:off x="621792" y="1453896"/>
            <a:ext cx="2103120" cy="256032"/>
          </a:xfrm>
          <a:prstGeom prst="rect">
            <a:avLst/>
          </a:prstGeom>
          <a:noFill/>
          <a:ln/>
        </p:spPr>
        <p:txBody>
          <a:bodyPr wrap="square" lIns="0" tIns="0" rIns="0" bIns="0" rtlCol="0" anchor="t"/>
          <a:lstStyle/>
          <a:p>
            <a:pPr indent="0" marL="0">
              <a:buNone/>
            </a:pPr>
            <a:r>
              <a:rPr lang="en-US" sz="1250" b="1" dirty="0">
                <a:solidFill>
                  <a:srgbClr val="C8106E"/>
                </a:solidFill>
                <a:latin typeface="Calibri" pitchFamily="34" charset="0"/>
                <a:ea typeface="Calibri" pitchFamily="34" charset="-122"/>
                <a:cs typeface="Calibri" pitchFamily="34" charset="-120"/>
              </a:rPr>
              <a:t>Faixa 1: pequenos</a:t>
            </a:r>
            <a:endParaRPr lang="en-US" sz="1250" dirty="0"/>
          </a:p>
        </p:txBody>
      </p:sp>
      <p:sp>
        <p:nvSpPr>
          <p:cNvPr id="14" name="Text 11"/>
          <p:cNvSpPr/>
          <p:nvPr/>
        </p:nvSpPr>
        <p:spPr>
          <a:xfrm>
            <a:off x="621792" y="1709928"/>
            <a:ext cx="2057400" cy="34747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até 1.500 cabeças; unidades até 2,4 ha</a:t>
            </a:r>
            <a:endParaRPr lang="en-US" sz="850" dirty="0"/>
          </a:p>
        </p:txBody>
      </p:sp>
      <p:sp>
        <p:nvSpPr>
          <p:cNvPr id="15" name="Text 12"/>
          <p:cNvSpPr/>
          <p:nvPr/>
        </p:nvSpPr>
        <p:spPr>
          <a:xfrm>
            <a:off x="2743200" y="1453896"/>
            <a:ext cx="1280160" cy="365760"/>
          </a:xfrm>
          <a:prstGeom prst="rect">
            <a:avLst/>
          </a:prstGeom>
          <a:noFill/>
          <a:ln/>
        </p:spPr>
        <p:txBody>
          <a:bodyPr wrap="square" lIns="0" tIns="0" rIns="0" bIns="0" rtlCol="0" anchor="t"/>
          <a:lstStyle/>
          <a:p>
            <a:pPr indent="0" marL="0">
              <a:buNone/>
            </a:pPr>
            <a:r>
              <a:rPr lang="en-US" sz="2200" b="1" dirty="0">
                <a:solidFill>
                  <a:srgbClr val="C8106E"/>
                </a:solidFill>
                <a:latin typeface="Calibri" pitchFamily="34" charset="0"/>
                <a:ea typeface="Calibri" pitchFamily="34" charset="-122"/>
                <a:cs typeface="Calibri" pitchFamily="34" charset="-120"/>
              </a:rPr>
              <a:t>11.194</a:t>
            </a:r>
            <a:endParaRPr lang="en-US" sz="2200" dirty="0"/>
          </a:p>
        </p:txBody>
      </p:sp>
      <p:sp>
        <p:nvSpPr>
          <p:cNvPr id="16" name="Text 13"/>
          <p:cNvSpPr/>
          <p:nvPr/>
        </p:nvSpPr>
        <p:spPr>
          <a:xfrm>
            <a:off x="2743200" y="1819656"/>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17" name="Text 14"/>
          <p:cNvSpPr/>
          <p:nvPr/>
        </p:nvSpPr>
        <p:spPr>
          <a:xfrm>
            <a:off x="4069080" y="1453896"/>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3,5 mi</a:t>
            </a:r>
            <a:endParaRPr lang="en-US" sz="2200" dirty="0"/>
          </a:p>
        </p:txBody>
      </p:sp>
      <p:sp>
        <p:nvSpPr>
          <p:cNvPr id="18" name="Text 15"/>
          <p:cNvSpPr/>
          <p:nvPr/>
        </p:nvSpPr>
        <p:spPr>
          <a:xfrm>
            <a:off x="4069080" y="1819656"/>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19" name="Shape 16"/>
          <p:cNvSpPr/>
          <p:nvPr/>
        </p:nvSpPr>
        <p:spPr>
          <a:xfrm>
            <a:off x="5486400" y="1499616"/>
            <a:ext cx="2013692" cy="182880"/>
          </a:xfrm>
          <a:prstGeom prst="rect">
            <a:avLst/>
          </a:prstGeom>
          <a:solidFill>
            <a:srgbClr val="C8106E"/>
          </a:solidFill>
          <a:ln/>
        </p:spPr>
        <p:txBody>
          <a:bodyPr/>
          <a:p/>
        </p:txBody>
      </p:sp>
      <p:sp>
        <p:nvSpPr>
          <p:cNvPr id="20" name="Text 17"/>
          <p:cNvSpPr/>
          <p:nvPr/>
        </p:nvSpPr>
        <p:spPr>
          <a:xfrm>
            <a:off x="5559552" y="1481328"/>
            <a:ext cx="1554480"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85% dos confinamentos</a:t>
            </a:r>
            <a:endParaRPr lang="en-US" sz="850" dirty="0"/>
          </a:p>
        </p:txBody>
      </p:sp>
      <p:sp>
        <p:nvSpPr>
          <p:cNvPr id="21" name="Shape 18"/>
          <p:cNvSpPr/>
          <p:nvPr/>
        </p:nvSpPr>
        <p:spPr>
          <a:xfrm>
            <a:off x="5486400" y="1755648"/>
            <a:ext cx="546811" cy="182880"/>
          </a:xfrm>
          <a:prstGeom prst="rect">
            <a:avLst/>
          </a:prstGeom>
          <a:solidFill>
            <a:srgbClr val="9AA3AC"/>
          </a:solidFill>
          <a:ln/>
        </p:spPr>
        <p:txBody>
          <a:bodyPr/>
          <a:p/>
        </p:txBody>
      </p:sp>
      <p:sp>
        <p:nvSpPr>
          <p:cNvPr id="22" name="Text 19"/>
          <p:cNvSpPr/>
          <p:nvPr/>
        </p:nvSpPr>
        <p:spPr>
          <a:xfrm>
            <a:off x="6088075" y="1737360"/>
            <a:ext cx="1554480" cy="219456"/>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23% da capacidade</a:t>
            </a:r>
            <a:endParaRPr lang="en-US" sz="850" dirty="0"/>
          </a:p>
        </p:txBody>
      </p:sp>
      <p:sp>
        <p:nvSpPr>
          <p:cNvPr id="23" name="Shape 20"/>
          <p:cNvSpPr/>
          <p:nvPr/>
        </p:nvSpPr>
        <p:spPr>
          <a:xfrm>
            <a:off x="457200" y="2185416"/>
            <a:ext cx="8229600" cy="749808"/>
          </a:xfrm>
          <a:prstGeom prst="rect">
            <a:avLst/>
          </a:prstGeom>
          <a:solidFill>
            <a:srgbClr val="F4F6F8"/>
          </a:solidFill>
          <a:ln/>
        </p:spPr>
        <p:txBody>
          <a:bodyPr/>
          <a:p/>
        </p:txBody>
      </p:sp>
      <p:sp>
        <p:nvSpPr>
          <p:cNvPr id="24" name="Shape 21"/>
          <p:cNvSpPr/>
          <p:nvPr/>
        </p:nvSpPr>
        <p:spPr>
          <a:xfrm>
            <a:off x="457200" y="2185416"/>
            <a:ext cx="64008" cy="749808"/>
          </a:xfrm>
          <a:prstGeom prst="rect">
            <a:avLst/>
          </a:prstGeom>
          <a:solidFill>
            <a:srgbClr val="26668F"/>
          </a:solidFill>
          <a:ln/>
        </p:spPr>
        <p:txBody>
          <a:bodyPr/>
          <a:p/>
        </p:txBody>
      </p:sp>
      <p:sp>
        <p:nvSpPr>
          <p:cNvPr id="25" name="Text 22"/>
          <p:cNvSpPr/>
          <p:nvPr/>
        </p:nvSpPr>
        <p:spPr>
          <a:xfrm>
            <a:off x="621792" y="2295144"/>
            <a:ext cx="2103120" cy="256032"/>
          </a:xfrm>
          <a:prstGeom prst="rect">
            <a:avLst/>
          </a:prstGeom>
          <a:noFill/>
          <a:ln/>
        </p:spPr>
        <p:txBody>
          <a:bodyPr wrap="square" lIns="0" tIns="0" rIns="0" bIns="0" rtlCol="0" anchor="t"/>
          <a:lstStyle/>
          <a:p>
            <a:pPr indent="0" marL="0">
              <a:buNone/>
            </a:pPr>
            <a:r>
              <a:rPr lang="en-US" sz="1250" b="1" dirty="0">
                <a:solidFill>
                  <a:srgbClr val="26668F"/>
                </a:solidFill>
                <a:latin typeface="Calibri" pitchFamily="34" charset="0"/>
                <a:ea typeface="Calibri" pitchFamily="34" charset="-122"/>
                <a:cs typeface="Calibri" pitchFamily="34" charset="-120"/>
              </a:rPr>
              <a:t>Faixa 2: médios</a:t>
            </a:r>
            <a:endParaRPr lang="en-US" sz="1250" dirty="0"/>
          </a:p>
        </p:txBody>
      </p:sp>
      <p:sp>
        <p:nvSpPr>
          <p:cNvPr id="26" name="Text 23"/>
          <p:cNvSpPr/>
          <p:nvPr/>
        </p:nvSpPr>
        <p:spPr>
          <a:xfrm>
            <a:off x="621792" y="2551176"/>
            <a:ext cx="2057400" cy="34747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até 6.900 cabeças; unidades até 9 ha</a:t>
            </a:r>
            <a:endParaRPr lang="en-US" sz="850" dirty="0"/>
          </a:p>
        </p:txBody>
      </p:sp>
      <p:sp>
        <p:nvSpPr>
          <p:cNvPr id="27" name="Text 24"/>
          <p:cNvSpPr/>
          <p:nvPr/>
        </p:nvSpPr>
        <p:spPr>
          <a:xfrm>
            <a:off x="2743200" y="2295144"/>
            <a:ext cx="1280160" cy="365760"/>
          </a:xfrm>
          <a:prstGeom prst="rect">
            <a:avLst/>
          </a:prstGeom>
          <a:noFill/>
          <a:ln/>
        </p:spPr>
        <p:txBody>
          <a:bodyPr wrap="square" lIns="0" tIns="0" rIns="0" bIns="0" rtlCol="0" anchor="t"/>
          <a:lstStyle/>
          <a:p>
            <a:pPr indent="0" marL="0">
              <a:buNone/>
            </a:pPr>
            <a:r>
              <a:rPr lang="en-US" sz="2200" b="1" dirty="0">
                <a:solidFill>
                  <a:srgbClr val="26668F"/>
                </a:solidFill>
                <a:latin typeface="Calibri" pitchFamily="34" charset="0"/>
                <a:ea typeface="Calibri" pitchFamily="34" charset="-122"/>
                <a:cs typeface="Calibri" pitchFamily="34" charset="-120"/>
              </a:rPr>
              <a:t>1.664</a:t>
            </a:r>
            <a:endParaRPr lang="en-US" sz="2200" dirty="0"/>
          </a:p>
        </p:txBody>
      </p:sp>
      <p:sp>
        <p:nvSpPr>
          <p:cNvPr id="28" name="Text 25"/>
          <p:cNvSpPr/>
          <p:nvPr/>
        </p:nvSpPr>
        <p:spPr>
          <a:xfrm>
            <a:off x="2743200" y="2660904"/>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29" name="Text 26"/>
          <p:cNvSpPr/>
          <p:nvPr/>
        </p:nvSpPr>
        <p:spPr>
          <a:xfrm>
            <a:off x="4069080" y="2295144"/>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5,5 mi</a:t>
            </a:r>
            <a:endParaRPr lang="en-US" sz="2200" dirty="0"/>
          </a:p>
        </p:txBody>
      </p:sp>
      <p:sp>
        <p:nvSpPr>
          <p:cNvPr id="30" name="Text 27"/>
          <p:cNvSpPr/>
          <p:nvPr/>
        </p:nvSpPr>
        <p:spPr>
          <a:xfrm>
            <a:off x="4069080" y="2660904"/>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31" name="Shape 28"/>
          <p:cNvSpPr/>
          <p:nvPr/>
        </p:nvSpPr>
        <p:spPr>
          <a:xfrm>
            <a:off x="5486400" y="2340864"/>
            <a:ext cx="299557" cy="182880"/>
          </a:xfrm>
          <a:prstGeom prst="rect">
            <a:avLst/>
          </a:prstGeom>
          <a:solidFill>
            <a:srgbClr val="26668F"/>
          </a:solidFill>
          <a:ln/>
        </p:spPr>
        <p:txBody>
          <a:bodyPr/>
          <a:p/>
        </p:txBody>
      </p:sp>
      <p:sp>
        <p:nvSpPr>
          <p:cNvPr id="32" name="Text 29"/>
          <p:cNvSpPr/>
          <p:nvPr/>
        </p:nvSpPr>
        <p:spPr>
          <a:xfrm>
            <a:off x="5840821" y="2322576"/>
            <a:ext cx="1554480" cy="219456"/>
          </a:xfrm>
          <a:prstGeom prst="rect">
            <a:avLst/>
          </a:prstGeom>
          <a:noFill/>
          <a:ln/>
        </p:spPr>
        <p:txBody>
          <a:bodyPr wrap="square" lIns="0" tIns="0" rIns="0" bIns="0" rtlCol="0" anchor="ctr"/>
          <a:lstStyle/>
          <a:p>
            <a:pPr indent="0" marL="0">
              <a:buNone/>
            </a:pPr>
            <a:r>
              <a:rPr lang="en-US" sz="850" b="1" dirty="0">
                <a:solidFill>
                  <a:srgbClr val="4A5560"/>
                </a:solidFill>
                <a:latin typeface="Calibri" pitchFamily="34" charset="0"/>
                <a:ea typeface="Calibri" pitchFamily="34" charset="-122"/>
                <a:cs typeface="Calibri" pitchFamily="34" charset="-120"/>
              </a:rPr>
              <a:t>13% dos confinamentos</a:t>
            </a:r>
            <a:endParaRPr lang="en-US" sz="850" dirty="0"/>
          </a:p>
        </p:txBody>
      </p:sp>
      <p:sp>
        <p:nvSpPr>
          <p:cNvPr id="33" name="Shape 30"/>
          <p:cNvSpPr/>
          <p:nvPr/>
        </p:nvSpPr>
        <p:spPr>
          <a:xfrm>
            <a:off x="5486400" y="2596896"/>
            <a:ext cx="879653" cy="182880"/>
          </a:xfrm>
          <a:prstGeom prst="rect">
            <a:avLst/>
          </a:prstGeom>
          <a:solidFill>
            <a:srgbClr val="9AA3AC"/>
          </a:solidFill>
          <a:ln/>
        </p:spPr>
        <p:txBody>
          <a:bodyPr/>
          <a:p/>
        </p:txBody>
      </p:sp>
      <p:sp>
        <p:nvSpPr>
          <p:cNvPr id="34" name="Text 31"/>
          <p:cNvSpPr/>
          <p:nvPr/>
        </p:nvSpPr>
        <p:spPr>
          <a:xfrm>
            <a:off x="6420917" y="2578608"/>
            <a:ext cx="1554480" cy="219456"/>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37% da capacidade</a:t>
            </a:r>
            <a:endParaRPr lang="en-US" sz="850" dirty="0"/>
          </a:p>
        </p:txBody>
      </p:sp>
      <p:sp>
        <p:nvSpPr>
          <p:cNvPr id="35" name="Shape 32"/>
          <p:cNvSpPr/>
          <p:nvPr/>
        </p:nvSpPr>
        <p:spPr>
          <a:xfrm>
            <a:off x="457200" y="3026664"/>
            <a:ext cx="8229600" cy="749808"/>
          </a:xfrm>
          <a:prstGeom prst="rect">
            <a:avLst/>
          </a:prstGeom>
          <a:solidFill>
            <a:srgbClr val="F4F6F8"/>
          </a:solidFill>
          <a:ln/>
        </p:spPr>
        <p:txBody>
          <a:bodyPr/>
          <a:p/>
        </p:txBody>
      </p:sp>
      <p:sp>
        <p:nvSpPr>
          <p:cNvPr id="36" name="Shape 33"/>
          <p:cNvSpPr/>
          <p:nvPr/>
        </p:nvSpPr>
        <p:spPr>
          <a:xfrm>
            <a:off x="457200" y="3026664"/>
            <a:ext cx="64008" cy="749808"/>
          </a:xfrm>
          <a:prstGeom prst="rect">
            <a:avLst/>
          </a:prstGeom>
          <a:solidFill>
            <a:srgbClr val="1B3A8C"/>
          </a:solidFill>
          <a:ln/>
        </p:spPr>
        <p:txBody>
          <a:bodyPr/>
          <a:p/>
        </p:txBody>
      </p:sp>
      <p:sp>
        <p:nvSpPr>
          <p:cNvPr id="37" name="Text 34"/>
          <p:cNvSpPr/>
          <p:nvPr/>
        </p:nvSpPr>
        <p:spPr>
          <a:xfrm>
            <a:off x="621792" y="3136392"/>
            <a:ext cx="2103120" cy="256032"/>
          </a:xfrm>
          <a:prstGeom prst="rect">
            <a:avLst/>
          </a:prstGeom>
          <a:noFill/>
          <a:ln/>
        </p:spPr>
        <p:txBody>
          <a:bodyPr wrap="square" lIns="0" tIns="0" rIns="0" bIns="0" rtlCol="0" anchor="t"/>
          <a:lstStyle/>
          <a:p>
            <a:pPr indent="0" marL="0">
              <a:buNone/>
            </a:pPr>
            <a:r>
              <a:rPr lang="en-US" sz="1250" b="1" dirty="0">
                <a:solidFill>
                  <a:srgbClr val="1B3A8C"/>
                </a:solidFill>
                <a:latin typeface="Calibri" pitchFamily="34" charset="0"/>
                <a:ea typeface="Calibri" pitchFamily="34" charset="-122"/>
                <a:cs typeface="Calibri" pitchFamily="34" charset="-120"/>
              </a:rPr>
              <a:t>Faixa 3: grandes</a:t>
            </a:r>
            <a:endParaRPr lang="en-US" sz="1250" dirty="0"/>
          </a:p>
        </p:txBody>
      </p:sp>
      <p:sp>
        <p:nvSpPr>
          <p:cNvPr id="38" name="Text 35"/>
          <p:cNvSpPr/>
          <p:nvPr/>
        </p:nvSpPr>
        <p:spPr>
          <a:xfrm>
            <a:off x="621792" y="3392424"/>
            <a:ext cx="2057400" cy="34747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mais de 7.000 cabeças (média de 16 mil); acima de 10 ha</a:t>
            </a:r>
            <a:endParaRPr lang="en-US" sz="850" dirty="0"/>
          </a:p>
        </p:txBody>
      </p:sp>
      <p:sp>
        <p:nvSpPr>
          <p:cNvPr id="39" name="Text 36"/>
          <p:cNvSpPr/>
          <p:nvPr/>
        </p:nvSpPr>
        <p:spPr>
          <a:xfrm>
            <a:off x="2743200" y="3136392"/>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356</a:t>
            </a:r>
            <a:endParaRPr lang="en-US" sz="2200" dirty="0"/>
          </a:p>
        </p:txBody>
      </p:sp>
      <p:sp>
        <p:nvSpPr>
          <p:cNvPr id="40" name="Text 37"/>
          <p:cNvSpPr/>
          <p:nvPr/>
        </p:nvSpPr>
        <p:spPr>
          <a:xfrm>
            <a:off x="2743200" y="3502152"/>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41" name="Text 38"/>
          <p:cNvSpPr/>
          <p:nvPr/>
        </p:nvSpPr>
        <p:spPr>
          <a:xfrm>
            <a:off x="4069080" y="3136392"/>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6,0 mi</a:t>
            </a:r>
            <a:endParaRPr lang="en-US" sz="2200" dirty="0"/>
          </a:p>
        </p:txBody>
      </p:sp>
      <p:sp>
        <p:nvSpPr>
          <p:cNvPr id="42" name="Text 39"/>
          <p:cNvSpPr/>
          <p:nvPr/>
        </p:nvSpPr>
        <p:spPr>
          <a:xfrm>
            <a:off x="4069080" y="3502152"/>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43" name="Shape 40"/>
          <p:cNvSpPr/>
          <p:nvPr/>
        </p:nvSpPr>
        <p:spPr>
          <a:xfrm>
            <a:off x="5486400" y="3182112"/>
            <a:ext cx="64191" cy="182880"/>
          </a:xfrm>
          <a:prstGeom prst="rect">
            <a:avLst/>
          </a:prstGeom>
          <a:solidFill>
            <a:srgbClr val="1B3A8C"/>
          </a:solidFill>
          <a:ln/>
        </p:spPr>
        <p:txBody>
          <a:bodyPr/>
          <a:p/>
        </p:txBody>
      </p:sp>
      <p:sp>
        <p:nvSpPr>
          <p:cNvPr id="44" name="Text 41"/>
          <p:cNvSpPr/>
          <p:nvPr/>
        </p:nvSpPr>
        <p:spPr>
          <a:xfrm>
            <a:off x="5605455" y="3163824"/>
            <a:ext cx="1554480" cy="219456"/>
          </a:xfrm>
          <a:prstGeom prst="rect">
            <a:avLst/>
          </a:prstGeom>
          <a:noFill/>
          <a:ln/>
        </p:spPr>
        <p:txBody>
          <a:bodyPr wrap="square" lIns="0" tIns="0" rIns="0" bIns="0" rtlCol="0" anchor="ctr"/>
          <a:lstStyle/>
          <a:p>
            <a:pPr indent="0" marL="0">
              <a:buNone/>
            </a:pPr>
            <a:r>
              <a:rPr lang="en-US" sz="850" b="1" dirty="0">
                <a:solidFill>
                  <a:srgbClr val="4A5560"/>
                </a:solidFill>
                <a:latin typeface="Calibri" pitchFamily="34" charset="0"/>
                <a:ea typeface="Calibri" pitchFamily="34" charset="-122"/>
                <a:cs typeface="Calibri" pitchFamily="34" charset="-120"/>
              </a:rPr>
              <a:t>3% dos confinamentos</a:t>
            </a:r>
            <a:endParaRPr lang="en-US" sz="850" dirty="0"/>
          </a:p>
        </p:txBody>
      </p:sp>
      <p:sp>
        <p:nvSpPr>
          <p:cNvPr id="45" name="Shape 42"/>
          <p:cNvSpPr/>
          <p:nvPr/>
        </p:nvSpPr>
        <p:spPr>
          <a:xfrm>
            <a:off x="5486400" y="3438144"/>
            <a:ext cx="950976" cy="182880"/>
          </a:xfrm>
          <a:prstGeom prst="rect">
            <a:avLst/>
          </a:prstGeom>
          <a:solidFill>
            <a:srgbClr val="9AA3AC"/>
          </a:solidFill>
          <a:ln/>
        </p:spPr>
        <p:txBody>
          <a:bodyPr/>
          <a:p/>
        </p:txBody>
      </p:sp>
      <p:sp>
        <p:nvSpPr>
          <p:cNvPr id="46" name="Text 43"/>
          <p:cNvSpPr/>
          <p:nvPr/>
        </p:nvSpPr>
        <p:spPr>
          <a:xfrm>
            <a:off x="6492240" y="3419856"/>
            <a:ext cx="1554480" cy="219456"/>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40% da capacidade</a:t>
            </a:r>
            <a:endParaRPr lang="en-US" sz="850" dirty="0"/>
          </a:p>
        </p:txBody>
      </p:sp>
      <p:sp>
        <p:nvSpPr>
          <p:cNvPr id="47" name="Shape 44"/>
          <p:cNvSpPr/>
          <p:nvPr/>
        </p:nvSpPr>
        <p:spPr>
          <a:xfrm>
            <a:off x="457200" y="3913632"/>
            <a:ext cx="3931920" cy="292608"/>
          </a:xfrm>
          <a:prstGeom prst="roundRect">
            <a:avLst>
              <a:gd name="adj" fmla="val 50000"/>
            </a:avLst>
          </a:prstGeom>
          <a:solidFill>
            <a:srgbClr val="C5D300"/>
          </a:solidFill>
          <a:ln/>
        </p:spPr>
        <p:txBody>
          <a:bodyPr/>
          <a:p/>
        </p:txBody>
      </p:sp>
      <p:sp>
        <p:nvSpPr>
          <p:cNvPr id="48" name="Text 45"/>
          <p:cNvSpPr/>
          <p:nvPr/>
        </p:nvSpPr>
        <p:spPr>
          <a:xfrm>
            <a:off x="457200" y="3913632"/>
            <a:ext cx="3931920" cy="292608"/>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Público do TN Manager Web: Faixa 1 e início da Faixa 2</a:t>
            </a:r>
            <a:endParaRPr lang="en-US" sz="10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Onde estão os confinadores: 2.796 em 24 estados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Rondônia, São Paulo e Mato Grosso somam 65% da base.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 base de confinadores, out/2025 a jan/2026. Mapa: @svg-maps/brazil (CC BY 4.0).</a:t>
            </a:r>
            <a:endParaRPr lang="en-US" sz="800" dirty="0"/>
          </a:p>
        </p:txBody>
      </p:sp>
      <p:pic>
        <p:nvPicPr>
          <p:cNvPr id="7" name="Image 1" descr="/tmp/claude-0/-home-user-projetos-rodrigo-agro/75ea8577-07ab-56ed-800f-dbd18240b1a3/scratchpad/build/mapa-brasil.png">    </p:cNvPr>
          <p:cNvPicPr>
            <a:picLocks noChangeAspect="1"/>
          </p:cNvPicPr>
          <p:nvPr/>
        </p:nvPicPr>
        <p:blipFill>
          <a:blip r:embed="rId3"/>
          <a:stretch>
            <a:fillRect/>
          </a:stretch>
        </p:blipFill>
        <p:spPr>
          <a:xfrm>
            <a:off x="411480" y="1005840"/>
            <a:ext cx="3520440" cy="3669757"/>
          </a:xfrm>
          <a:prstGeom prst="rect">
            <a:avLst/>
          </a:prstGeom>
        </p:spPr>
      </p:pic>
      <p:sp>
        <p:nvSpPr>
          <p:cNvPr id="8" name="Shape 4"/>
          <p:cNvSpPr/>
          <p:nvPr/>
        </p:nvSpPr>
        <p:spPr>
          <a:xfrm>
            <a:off x="1038724" y="2333070"/>
            <a:ext cx="749808" cy="246888"/>
          </a:xfrm>
          <a:prstGeom prst="roundRect">
            <a:avLst>
              <a:gd name="adj" fmla="val 18519"/>
            </a:avLst>
          </a:prstGeom>
          <a:solidFill>
            <a:srgbClr val="FFFFFF"/>
          </a:solidFill>
          <a:ln w="15875">
            <a:solidFill>
              <a:srgbClr val="D7263D"/>
            </a:solidFill>
            <a:prstDash val="solid"/>
          </a:ln>
        </p:spPr>
        <p:txBody>
          <a:bodyPr/>
          <a:p/>
        </p:txBody>
      </p:sp>
      <p:sp>
        <p:nvSpPr>
          <p:cNvPr id="9" name="Text 5"/>
          <p:cNvSpPr/>
          <p:nvPr/>
        </p:nvSpPr>
        <p:spPr>
          <a:xfrm>
            <a:off x="1038724" y="2333070"/>
            <a:ext cx="749808" cy="246888"/>
          </a:xfrm>
          <a:prstGeom prst="rect">
            <a:avLst/>
          </a:prstGeom>
          <a:noFill/>
          <a:ln/>
        </p:spPr>
        <p:txBody>
          <a:bodyPr wrap="square" lIns="0" tIns="0" rIns="0" bIns="0" rtlCol="0" anchor="ctr"/>
          <a:lstStyle/>
          <a:p>
            <a:pPr algn="ctr" indent="0" marL="0">
              <a:buNone/>
            </a:pPr>
            <a:r>
              <a:rPr lang="en-US" sz="1200" b="1" dirty="0">
                <a:solidFill>
                  <a:srgbClr val="1B3A8C"/>
                </a:solidFill>
                <a:latin typeface="Calibri" pitchFamily="34" charset="0"/>
                <a:ea typeface="Calibri" pitchFamily="34" charset="-122"/>
                <a:cs typeface="Calibri" pitchFamily="34" charset="-120"/>
              </a:rPr>
              <a:t>RO </a:t>
            </a:r>
            <a:pPr algn="ctr" indent="0" marL="0">
              <a:buNone/>
            </a:pPr>
            <a:r>
              <a:rPr lang="en-US" sz="1200" b="1" dirty="0">
                <a:solidFill>
                  <a:srgbClr val="D7263D"/>
                </a:solidFill>
                <a:latin typeface="Calibri" pitchFamily="34" charset="0"/>
                <a:ea typeface="Calibri" pitchFamily="34" charset="-122"/>
                <a:cs typeface="Calibri" pitchFamily="34" charset="-120"/>
              </a:rPr>
              <a:t>1.022</a:t>
            </a:r>
            <a:endParaRPr lang="en-US" sz="1200" dirty="0"/>
          </a:p>
        </p:txBody>
      </p:sp>
      <p:sp>
        <p:nvSpPr>
          <p:cNvPr id="10" name="Shape 6"/>
          <p:cNvSpPr/>
          <p:nvPr/>
        </p:nvSpPr>
        <p:spPr>
          <a:xfrm>
            <a:off x="2416656" y="3401262"/>
            <a:ext cx="594360" cy="246888"/>
          </a:xfrm>
          <a:prstGeom prst="roundRect">
            <a:avLst>
              <a:gd name="adj" fmla="val 18519"/>
            </a:avLst>
          </a:prstGeom>
          <a:solidFill>
            <a:srgbClr val="FFFFFF"/>
          </a:solidFill>
          <a:ln w="15875">
            <a:solidFill>
              <a:srgbClr val="D7263D"/>
            </a:solidFill>
            <a:prstDash val="solid"/>
          </a:ln>
        </p:spPr>
        <p:txBody>
          <a:bodyPr/>
          <a:p/>
        </p:txBody>
      </p:sp>
      <p:sp>
        <p:nvSpPr>
          <p:cNvPr id="11" name="Text 7"/>
          <p:cNvSpPr/>
          <p:nvPr/>
        </p:nvSpPr>
        <p:spPr>
          <a:xfrm>
            <a:off x="2416656" y="3401262"/>
            <a:ext cx="594360" cy="246888"/>
          </a:xfrm>
          <a:prstGeom prst="rect">
            <a:avLst/>
          </a:prstGeom>
          <a:noFill/>
          <a:ln/>
        </p:spPr>
        <p:txBody>
          <a:bodyPr wrap="square" lIns="0" tIns="0" rIns="0" bIns="0" rtlCol="0" anchor="ctr"/>
          <a:lstStyle/>
          <a:p>
            <a:pPr algn="ctr" indent="0" marL="0">
              <a:buNone/>
            </a:pPr>
            <a:r>
              <a:rPr lang="en-US" sz="1200" b="1" dirty="0">
                <a:solidFill>
                  <a:srgbClr val="1B3A8C"/>
                </a:solidFill>
                <a:latin typeface="Calibri" pitchFamily="34" charset="0"/>
                <a:ea typeface="Calibri" pitchFamily="34" charset="-122"/>
                <a:cs typeface="Calibri" pitchFamily="34" charset="-120"/>
              </a:rPr>
              <a:t>SP </a:t>
            </a:r>
            <a:pPr algn="ctr" indent="0" marL="0">
              <a:buNone/>
            </a:pPr>
            <a:r>
              <a:rPr lang="en-US" sz="1200" b="1" dirty="0">
                <a:solidFill>
                  <a:srgbClr val="D7263D"/>
                </a:solidFill>
                <a:latin typeface="Calibri" pitchFamily="34" charset="0"/>
                <a:ea typeface="Calibri" pitchFamily="34" charset="-122"/>
                <a:cs typeface="Calibri" pitchFamily="34" charset="-120"/>
              </a:rPr>
              <a:t>461</a:t>
            </a:r>
            <a:endParaRPr lang="en-US" sz="1200" dirty="0"/>
          </a:p>
        </p:txBody>
      </p:sp>
      <p:sp>
        <p:nvSpPr>
          <p:cNvPr id="12" name="Shape 8"/>
          <p:cNvSpPr/>
          <p:nvPr/>
        </p:nvSpPr>
        <p:spPr>
          <a:xfrm>
            <a:off x="1736689" y="2521439"/>
            <a:ext cx="594360" cy="246888"/>
          </a:xfrm>
          <a:prstGeom prst="roundRect">
            <a:avLst>
              <a:gd name="adj" fmla="val 18519"/>
            </a:avLst>
          </a:prstGeom>
          <a:solidFill>
            <a:srgbClr val="FFFFFF"/>
          </a:solidFill>
          <a:ln w="15875">
            <a:solidFill>
              <a:srgbClr val="D7263D"/>
            </a:solidFill>
            <a:prstDash val="solid"/>
          </a:ln>
        </p:spPr>
        <p:txBody>
          <a:bodyPr/>
          <a:p/>
        </p:txBody>
      </p:sp>
      <p:sp>
        <p:nvSpPr>
          <p:cNvPr id="13" name="Text 9"/>
          <p:cNvSpPr/>
          <p:nvPr/>
        </p:nvSpPr>
        <p:spPr>
          <a:xfrm>
            <a:off x="1736689" y="2521439"/>
            <a:ext cx="594360" cy="246888"/>
          </a:xfrm>
          <a:prstGeom prst="rect">
            <a:avLst/>
          </a:prstGeom>
          <a:noFill/>
          <a:ln/>
        </p:spPr>
        <p:txBody>
          <a:bodyPr wrap="square" lIns="0" tIns="0" rIns="0" bIns="0" rtlCol="0" anchor="ctr"/>
          <a:lstStyle/>
          <a:p>
            <a:pPr algn="ctr" indent="0" marL="0">
              <a:buNone/>
            </a:pPr>
            <a:r>
              <a:rPr lang="en-US" sz="1200" b="1" dirty="0">
                <a:solidFill>
                  <a:srgbClr val="1B3A8C"/>
                </a:solidFill>
                <a:latin typeface="Calibri" pitchFamily="34" charset="0"/>
                <a:ea typeface="Calibri" pitchFamily="34" charset="-122"/>
                <a:cs typeface="Calibri" pitchFamily="34" charset="-120"/>
              </a:rPr>
              <a:t>MT </a:t>
            </a:r>
            <a:pPr algn="ctr" indent="0" marL="0">
              <a:buNone/>
            </a:pPr>
            <a:r>
              <a:rPr lang="en-US" sz="1200" b="1" dirty="0">
                <a:solidFill>
                  <a:srgbClr val="D7263D"/>
                </a:solidFill>
                <a:latin typeface="Calibri" pitchFamily="34" charset="0"/>
                <a:ea typeface="Calibri" pitchFamily="34" charset="-122"/>
                <a:cs typeface="Calibri" pitchFamily="34" charset="-120"/>
              </a:rPr>
              <a:t>341</a:t>
            </a:r>
            <a:endParaRPr lang="en-US" sz="1200" dirty="0"/>
          </a:p>
        </p:txBody>
      </p:sp>
      <p:sp>
        <p:nvSpPr>
          <p:cNvPr id="14" name="Shape 10"/>
          <p:cNvSpPr/>
          <p:nvPr/>
        </p:nvSpPr>
        <p:spPr>
          <a:xfrm>
            <a:off x="2831672" y="3013522"/>
            <a:ext cx="512064" cy="210312"/>
          </a:xfrm>
          <a:prstGeom prst="roundRect">
            <a:avLst>
              <a:gd name="adj" fmla="val 21739"/>
            </a:avLst>
          </a:prstGeom>
          <a:solidFill>
            <a:srgbClr val="FFFFFF"/>
          </a:solidFill>
          <a:ln w="9525">
            <a:solidFill>
              <a:srgbClr val="B8C2CC"/>
            </a:solidFill>
            <a:prstDash val="solid"/>
          </a:ln>
        </p:spPr>
        <p:txBody>
          <a:bodyPr/>
          <a:p/>
        </p:txBody>
      </p:sp>
      <p:sp>
        <p:nvSpPr>
          <p:cNvPr id="15" name="Text 11"/>
          <p:cNvSpPr/>
          <p:nvPr/>
        </p:nvSpPr>
        <p:spPr>
          <a:xfrm>
            <a:off x="2831672" y="3013522"/>
            <a:ext cx="512064"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MG </a:t>
            </a:r>
            <a:pPr algn="ctr" indent="0" marL="0">
              <a:buNone/>
            </a:pPr>
            <a:r>
              <a:rPr lang="en-US" sz="1000" b="1" dirty="0">
                <a:solidFill>
                  <a:srgbClr val="D7263D"/>
                </a:solidFill>
                <a:latin typeface="Calibri" pitchFamily="34" charset="0"/>
                <a:ea typeface="Calibri" pitchFamily="34" charset="-122"/>
                <a:cs typeface="Calibri" pitchFamily="34" charset="-120"/>
              </a:rPr>
              <a:t>200</a:t>
            </a:r>
            <a:endParaRPr lang="en-US" sz="1000" dirty="0"/>
          </a:p>
        </p:txBody>
      </p:sp>
      <p:sp>
        <p:nvSpPr>
          <p:cNvPr id="16" name="Shape 12"/>
          <p:cNvSpPr/>
          <p:nvPr/>
        </p:nvSpPr>
        <p:spPr>
          <a:xfrm>
            <a:off x="1875467" y="3224864"/>
            <a:ext cx="512064" cy="210312"/>
          </a:xfrm>
          <a:prstGeom prst="roundRect">
            <a:avLst>
              <a:gd name="adj" fmla="val 21739"/>
            </a:avLst>
          </a:prstGeom>
          <a:solidFill>
            <a:srgbClr val="FFFFFF"/>
          </a:solidFill>
          <a:ln w="9525">
            <a:solidFill>
              <a:srgbClr val="B8C2CC"/>
            </a:solidFill>
            <a:prstDash val="solid"/>
          </a:ln>
        </p:spPr>
        <p:txBody>
          <a:bodyPr/>
          <a:p/>
        </p:txBody>
      </p:sp>
      <p:sp>
        <p:nvSpPr>
          <p:cNvPr id="17" name="Text 13"/>
          <p:cNvSpPr/>
          <p:nvPr/>
        </p:nvSpPr>
        <p:spPr>
          <a:xfrm>
            <a:off x="1875467" y="3224864"/>
            <a:ext cx="512064"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MS </a:t>
            </a:r>
            <a:pPr algn="ctr" indent="0" marL="0">
              <a:buNone/>
            </a:pPr>
            <a:r>
              <a:rPr lang="en-US" sz="1000" b="1" dirty="0">
                <a:solidFill>
                  <a:srgbClr val="D7263D"/>
                </a:solidFill>
                <a:latin typeface="Calibri" pitchFamily="34" charset="0"/>
                <a:ea typeface="Calibri" pitchFamily="34" charset="-122"/>
                <a:cs typeface="Calibri" pitchFamily="34" charset="-120"/>
              </a:rPr>
              <a:t>161</a:t>
            </a:r>
            <a:endParaRPr lang="en-US" sz="1000" dirty="0"/>
          </a:p>
        </p:txBody>
      </p:sp>
      <p:sp>
        <p:nvSpPr>
          <p:cNvPr id="18" name="Shape 14"/>
          <p:cNvSpPr/>
          <p:nvPr/>
        </p:nvSpPr>
        <p:spPr>
          <a:xfrm>
            <a:off x="3086085" y="2494358"/>
            <a:ext cx="512064" cy="210312"/>
          </a:xfrm>
          <a:prstGeom prst="roundRect">
            <a:avLst>
              <a:gd name="adj" fmla="val 21739"/>
            </a:avLst>
          </a:prstGeom>
          <a:solidFill>
            <a:srgbClr val="FFFFFF"/>
          </a:solidFill>
          <a:ln w="9525">
            <a:solidFill>
              <a:srgbClr val="B8C2CC"/>
            </a:solidFill>
            <a:prstDash val="solid"/>
          </a:ln>
        </p:spPr>
        <p:txBody>
          <a:bodyPr/>
          <a:p/>
        </p:txBody>
      </p:sp>
      <p:sp>
        <p:nvSpPr>
          <p:cNvPr id="19" name="Text 15"/>
          <p:cNvSpPr/>
          <p:nvPr/>
        </p:nvSpPr>
        <p:spPr>
          <a:xfrm>
            <a:off x="3086085" y="2494358"/>
            <a:ext cx="512064"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BA </a:t>
            </a:r>
            <a:pPr algn="ctr" indent="0" marL="0">
              <a:buNone/>
            </a:pPr>
            <a:r>
              <a:rPr lang="en-US" sz="1000" b="1" dirty="0">
                <a:solidFill>
                  <a:srgbClr val="D7263D"/>
                </a:solidFill>
                <a:latin typeface="Calibri" pitchFamily="34" charset="0"/>
                <a:ea typeface="Calibri" pitchFamily="34" charset="-122"/>
                <a:cs typeface="Calibri" pitchFamily="34" charset="-120"/>
              </a:rPr>
              <a:t>117</a:t>
            </a:r>
            <a:endParaRPr lang="en-US" sz="1000" dirty="0"/>
          </a:p>
        </p:txBody>
      </p:sp>
      <p:sp>
        <p:nvSpPr>
          <p:cNvPr id="20" name="Shape 16"/>
          <p:cNvSpPr/>
          <p:nvPr/>
        </p:nvSpPr>
        <p:spPr>
          <a:xfrm>
            <a:off x="2195194" y="3638357"/>
            <a:ext cx="448056" cy="210312"/>
          </a:xfrm>
          <a:prstGeom prst="roundRect">
            <a:avLst>
              <a:gd name="adj" fmla="val 21739"/>
            </a:avLst>
          </a:prstGeom>
          <a:solidFill>
            <a:srgbClr val="FFFFFF"/>
          </a:solidFill>
          <a:ln w="9525">
            <a:solidFill>
              <a:srgbClr val="B8C2CC"/>
            </a:solidFill>
            <a:prstDash val="solid"/>
          </a:ln>
        </p:spPr>
        <p:txBody>
          <a:bodyPr/>
          <a:p/>
        </p:txBody>
      </p:sp>
      <p:sp>
        <p:nvSpPr>
          <p:cNvPr id="21" name="Text 17"/>
          <p:cNvSpPr/>
          <p:nvPr/>
        </p:nvSpPr>
        <p:spPr>
          <a:xfrm>
            <a:off x="2195194" y="3638357"/>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PR </a:t>
            </a:r>
            <a:pPr algn="ctr" indent="0" marL="0">
              <a:buNone/>
            </a:pPr>
            <a:r>
              <a:rPr lang="en-US" sz="1000" b="1" dirty="0">
                <a:solidFill>
                  <a:srgbClr val="D7263D"/>
                </a:solidFill>
                <a:latin typeface="Calibri" pitchFamily="34" charset="0"/>
                <a:ea typeface="Calibri" pitchFamily="34" charset="-122"/>
                <a:cs typeface="Calibri" pitchFamily="34" charset="-120"/>
              </a:rPr>
              <a:t>94</a:t>
            </a:r>
            <a:endParaRPr lang="en-US" sz="1000" dirty="0"/>
          </a:p>
        </p:txBody>
      </p:sp>
      <p:sp>
        <p:nvSpPr>
          <p:cNvPr id="22" name="Shape 18"/>
          <p:cNvSpPr/>
          <p:nvPr/>
        </p:nvSpPr>
        <p:spPr>
          <a:xfrm>
            <a:off x="2319242" y="2875691"/>
            <a:ext cx="448056" cy="210312"/>
          </a:xfrm>
          <a:prstGeom prst="roundRect">
            <a:avLst>
              <a:gd name="adj" fmla="val 21739"/>
            </a:avLst>
          </a:prstGeom>
          <a:solidFill>
            <a:srgbClr val="FFFFFF"/>
          </a:solidFill>
          <a:ln w="9525">
            <a:solidFill>
              <a:srgbClr val="B8C2CC"/>
            </a:solidFill>
            <a:prstDash val="solid"/>
          </a:ln>
        </p:spPr>
        <p:txBody>
          <a:bodyPr/>
          <a:p/>
        </p:txBody>
      </p:sp>
      <p:sp>
        <p:nvSpPr>
          <p:cNvPr id="23" name="Text 19"/>
          <p:cNvSpPr/>
          <p:nvPr/>
        </p:nvSpPr>
        <p:spPr>
          <a:xfrm>
            <a:off x="2319242" y="2875691"/>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GO </a:t>
            </a:r>
            <a:pPr algn="ctr" indent="0" marL="0">
              <a:buNone/>
            </a:pPr>
            <a:r>
              <a:rPr lang="en-US" sz="1000" b="1" dirty="0">
                <a:solidFill>
                  <a:srgbClr val="D7263D"/>
                </a:solidFill>
                <a:latin typeface="Calibri" pitchFamily="34" charset="0"/>
                <a:ea typeface="Calibri" pitchFamily="34" charset="-122"/>
                <a:cs typeface="Calibri" pitchFamily="34" charset="-120"/>
              </a:rPr>
              <a:t>93</a:t>
            </a:r>
            <a:endParaRPr lang="en-US" sz="1000" dirty="0"/>
          </a:p>
        </p:txBody>
      </p:sp>
      <p:sp>
        <p:nvSpPr>
          <p:cNvPr id="24" name="Shape 20"/>
          <p:cNvSpPr/>
          <p:nvPr/>
        </p:nvSpPr>
        <p:spPr>
          <a:xfrm>
            <a:off x="505038" y="2204338"/>
            <a:ext cx="448056" cy="210312"/>
          </a:xfrm>
          <a:prstGeom prst="roundRect">
            <a:avLst>
              <a:gd name="adj" fmla="val 21739"/>
            </a:avLst>
          </a:prstGeom>
          <a:solidFill>
            <a:srgbClr val="FFFFFF"/>
          </a:solidFill>
          <a:ln w="9525">
            <a:solidFill>
              <a:srgbClr val="B8C2CC"/>
            </a:solidFill>
            <a:prstDash val="solid"/>
          </a:ln>
        </p:spPr>
        <p:txBody>
          <a:bodyPr/>
          <a:p/>
        </p:txBody>
      </p:sp>
      <p:sp>
        <p:nvSpPr>
          <p:cNvPr id="25" name="Text 21"/>
          <p:cNvSpPr/>
          <p:nvPr/>
        </p:nvSpPr>
        <p:spPr>
          <a:xfrm>
            <a:off x="505038" y="2204338"/>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AC </a:t>
            </a:r>
            <a:pPr algn="ctr" indent="0" marL="0">
              <a:buNone/>
            </a:pPr>
            <a:r>
              <a:rPr lang="en-US" sz="1000" b="1" dirty="0">
                <a:solidFill>
                  <a:srgbClr val="D7263D"/>
                </a:solidFill>
                <a:latin typeface="Calibri" pitchFamily="34" charset="0"/>
                <a:ea typeface="Calibri" pitchFamily="34" charset="-122"/>
                <a:cs typeface="Calibri" pitchFamily="34" charset="-120"/>
              </a:rPr>
              <a:t>78</a:t>
            </a:r>
            <a:endParaRPr lang="en-US" sz="1000" dirty="0"/>
          </a:p>
        </p:txBody>
      </p:sp>
      <p:sp>
        <p:nvSpPr>
          <p:cNvPr id="26" name="Shape 22"/>
          <p:cNvSpPr/>
          <p:nvPr/>
        </p:nvSpPr>
        <p:spPr>
          <a:xfrm>
            <a:off x="2047600" y="1804053"/>
            <a:ext cx="448056" cy="210312"/>
          </a:xfrm>
          <a:prstGeom prst="roundRect">
            <a:avLst>
              <a:gd name="adj" fmla="val 21739"/>
            </a:avLst>
          </a:prstGeom>
          <a:solidFill>
            <a:srgbClr val="FFFFFF"/>
          </a:solidFill>
          <a:ln w="9525">
            <a:solidFill>
              <a:srgbClr val="B8C2CC"/>
            </a:solidFill>
            <a:prstDash val="solid"/>
          </a:ln>
        </p:spPr>
        <p:txBody>
          <a:bodyPr/>
          <a:p/>
        </p:txBody>
      </p:sp>
      <p:sp>
        <p:nvSpPr>
          <p:cNvPr id="27" name="Text 23"/>
          <p:cNvSpPr/>
          <p:nvPr/>
        </p:nvSpPr>
        <p:spPr>
          <a:xfrm>
            <a:off x="2047600" y="1804053"/>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PA </a:t>
            </a:r>
            <a:pPr algn="ctr" indent="0" marL="0">
              <a:buNone/>
            </a:pPr>
            <a:r>
              <a:rPr lang="en-US" sz="1000" b="1" dirty="0">
                <a:solidFill>
                  <a:srgbClr val="D7263D"/>
                </a:solidFill>
                <a:latin typeface="Calibri" pitchFamily="34" charset="0"/>
                <a:ea typeface="Calibri" pitchFamily="34" charset="-122"/>
                <a:cs typeface="Calibri" pitchFamily="34" charset="-120"/>
              </a:rPr>
              <a:t>77</a:t>
            </a:r>
            <a:endParaRPr lang="en-US" sz="1000" dirty="0"/>
          </a:p>
        </p:txBody>
      </p:sp>
      <p:sp>
        <p:nvSpPr>
          <p:cNvPr id="28" name="Shape 24"/>
          <p:cNvSpPr/>
          <p:nvPr/>
        </p:nvSpPr>
        <p:spPr>
          <a:xfrm>
            <a:off x="1021331" y="1804053"/>
            <a:ext cx="448056" cy="210312"/>
          </a:xfrm>
          <a:prstGeom prst="roundRect">
            <a:avLst>
              <a:gd name="adj" fmla="val 21739"/>
            </a:avLst>
          </a:prstGeom>
          <a:solidFill>
            <a:srgbClr val="FFFFFF"/>
          </a:solidFill>
          <a:ln w="9525">
            <a:solidFill>
              <a:srgbClr val="B8C2CC"/>
            </a:solidFill>
            <a:prstDash val="solid"/>
          </a:ln>
        </p:spPr>
        <p:txBody>
          <a:bodyPr/>
          <a:p/>
        </p:txBody>
      </p:sp>
      <p:sp>
        <p:nvSpPr>
          <p:cNvPr id="29" name="Text 25"/>
          <p:cNvSpPr/>
          <p:nvPr/>
        </p:nvSpPr>
        <p:spPr>
          <a:xfrm>
            <a:off x="1021331" y="1804053"/>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AM </a:t>
            </a:r>
            <a:pPr algn="ctr" indent="0" marL="0">
              <a:buNone/>
            </a:pP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0" name="Shape 26"/>
          <p:cNvSpPr/>
          <p:nvPr/>
        </p:nvSpPr>
        <p:spPr>
          <a:xfrm>
            <a:off x="2490957" y="2279571"/>
            <a:ext cx="448056" cy="210312"/>
          </a:xfrm>
          <a:prstGeom prst="roundRect">
            <a:avLst>
              <a:gd name="adj" fmla="val 21739"/>
            </a:avLst>
          </a:prstGeom>
          <a:solidFill>
            <a:srgbClr val="FFFFFF"/>
          </a:solidFill>
          <a:ln w="9525">
            <a:solidFill>
              <a:srgbClr val="B8C2CC"/>
            </a:solidFill>
            <a:prstDash val="solid"/>
          </a:ln>
        </p:spPr>
        <p:txBody>
          <a:bodyPr/>
          <a:p/>
        </p:txBody>
      </p:sp>
      <p:sp>
        <p:nvSpPr>
          <p:cNvPr id="31" name="Text 27"/>
          <p:cNvSpPr/>
          <p:nvPr/>
        </p:nvSpPr>
        <p:spPr>
          <a:xfrm>
            <a:off x="2490957" y="2279571"/>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TO </a:t>
            </a:r>
            <a:pPr algn="ctr" indent="0" marL="0">
              <a:buNone/>
            </a:pP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2" name="Shape 28"/>
          <p:cNvSpPr/>
          <p:nvPr/>
        </p:nvSpPr>
        <p:spPr>
          <a:xfrm>
            <a:off x="2295696" y="3897365"/>
            <a:ext cx="448056" cy="210312"/>
          </a:xfrm>
          <a:prstGeom prst="roundRect">
            <a:avLst>
              <a:gd name="adj" fmla="val 21739"/>
            </a:avLst>
          </a:prstGeom>
          <a:solidFill>
            <a:srgbClr val="FFFFFF"/>
          </a:solidFill>
          <a:ln w="9525">
            <a:solidFill>
              <a:srgbClr val="B8C2CC"/>
            </a:solidFill>
            <a:prstDash val="solid"/>
          </a:ln>
        </p:spPr>
        <p:txBody>
          <a:bodyPr/>
          <a:p/>
        </p:txBody>
      </p:sp>
      <p:sp>
        <p:nvSpPr>
          <p:cNvPr id="33" name="Text 29"/>
          <p:cNvSpPr/>
          <p:nvPr/>
        </p:nvSpPr>
        <p:spPr>
          <a:xfrm>
            <a:off x="2295696" y="3897365"/>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SC </a:t>
            </a:r>
            <a:pPr algn="ctr" indent="0" marL="0">
              <a:buNone/>
            </a:pPr>
            <a:r>
              <a:rPr lang="en-US" sz="1000" b="1" dirty="0">
                <a:solidFill>
                  <a:srgbClr val="D7263D"/>
                </a:solidFill>
                <a:latin typeface="Calibri" pitchFamily="34" charset="0"/>
                <a:ea typeface="Calibri" pitchFamily="34" charset="-122"/>
                <a:cs typeface="Calibri" pitchFamily="34" charset="-120"/>
              </a:rPr>
              <a:t>18</a:t>
            </a:r>
            <a:endParaRPr lang="en-US" sz="1000" dirty="0"/>
          </a:p>
        </p:txBody>
      </p:sp>
      <p:sp>
        <p:nvSpPr>
          <p:cNvPr id="34" name="Shape 30"/>
          <p:cNvSpPr/>
          <p:nvPr/>
        </p:nvSpPr>
        <p:spPr>
          <a:xfrm>
            <a:off x="2120953" y="4151779"/>
            <a:ext cx="384048" cy="210312"/>
          </a:xfrm>
          <a:prstGeom prst="roundRect">
            <a:avLst>
              <a:gd name="adj" fmla="val 21739"/>
            </a:avLst>
          </a:prstGeom>
          <a:solidFill>
            <a:srgbClr val="FFFFFF"/>
          </a:solidFill>
          <a:ln w="9525">
            <a:solidFill>
              <a:srgbClr val="B8C2CC"/>
            </a:solidFill>
            <a:prstDash val="solid"/>
          </a:ln>
        </p:spPr>
        <p:txBody>
          <a:bodyPr/>
          <a:p/>
        </p:txBody>
      </p:sp>
      <p:sp>
        <p:nvSpPr>
          <p:cNvPr id="35" name="Text 31"/>
          <p:cNvSpPr/>
          <p:nvPr/>
        </p:nvSpPr>
        <p:spPr>
          <a:xfrm>
            <a:off x="2120953" y="4151779"/>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RS </a:t>
            </a:r>
            <a:pPr algn="ctr" indent="0" marL="0">
              <a:buNone/>
            </a:pP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6" name="Shape 32"/>
          <p:cNvSpPr/>
          <p:nvPr/>
        </p:nvSpPr>
        <p:spPr>
          <a:xfrm>
            <a:off x="1350821" y="1187832"/>
            <a:ext cx="384048" cy="210312"/>
          </a:xfrm>
          <a:prstGeom prst="roundRect">
            <a:avLst>
              <a:gd name="adj" fmla="val 21739"/>
            </a:avLst>
          </a:prstGeom>
          <a:solidFill>
            <a:srgbClr val="FFFFFF"/>
          </a:solidFill>
          <a:ln w="9525">
            <a:solidFill>
              <a:srgbClr val="B8C2CC"/>
            </a:solidFill>
            <a:prstDash val="solid"/>
          </a:ln>
        </p:spPr>
        <p:txBody>
          <a:bodyPr/>
          <a:p/>
        </p:txBody>
      </p:sp>
      <p:sp>
        <p:nvSpPr>
          <p:cNvPr id="37" name="Text 33"/>
          <p:cNvSpPr/>
          <p:nvPr/>
        </p:nvSpPr>
        <p:spPr>
          <a:xfrm>
            <a:off x="1350821" y="1187832"/>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RR </a:t>
            </a:r>
            <a:pPr algn="ctr" indent="0" marL="0">
              <a:buNone/>
            </a:pP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8" name="Shape 34"/>
          <p:cNvSpPr/>
          <p:nvPr/>
        </p:nvSpPr>
        <p:spPr>
          <a:xfrm>
            <a:off x="2736599" y="1850571"/>
            <a:ext cx="384048" cy="210312"/>
          </a:xfrm>
          <a:prstGeom prst="roundRect">
            <a:avLst>
              <a:gd name="adj" fmla="val 21739"/>
            </a:avLst>
          </a:prstGeom>
          <a:solidFill>
            <a:srgbClr val="FFFFFF"/>
          </a:solidFill>
          <a:ln w="9525">
            <a:solidFill>
              <a:srgbClr val="B8C2CC"/>
            </a:solidFill>
            <a:prstDash val="solid"/>
          </a:ln>
        </p:spPr>
        <p:txBody>
          <a:bodyPr/>
          <a:p/>
        </p:txBody>
      </p:sp>
      <p:sp>
        <p:nvSpPr>
          <p:cNvPr id="39" name="Text 35"/>
          <p:cNvSpPr/>
          <p:nvPr/>
        </p:nvSpPr>
        <p:spPr>
          <a:xfrm>
            <a:off x="2736599" y="1850571"/>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MA </a:t>
            </a:r>
            <a:pPr algn="ctr" indent="0" marL="0">
              <a:buNone/>
            </a:pP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40" name="Shape 36"/>
          <p:cNvSpPr/>
          <p:nvPr/>
        </p:nvSpPr>
        <p:spPr>
          <a:xfrm>
            <a:off x="2979527" y="2067655"/>
            <a:ext cx="384048" cy="210312"/>
          </a:xfrm>
          <a:prstGeom prst="roundRect">
            <a:avLst>
              <a:gd name="adj" fmla="val 21739"/>
            </a:avLst>
          </a:prstGeom>
          <a:solidFill>
            <a:srgbClr val="FFFFFF"/>
          </a:solidFill>
          <a:ln w="9525">
            <a:solidFill>
              <a:srgbClr val="B8C2CC"/>
            </a:solidFill>
            <a:prstDash val="solid"/>
          </a:ln>
        </p:spPr>
        <p:txBody>
          <a:bodyPr/>
          <a:p/>
        </p:txBody>
      </p:sp>
      <p:sp>
        <p:nvSpPr>
          <p:cNvPr id="41" name="Text 37"/>
          <p:cNvSpPr/>
          <p:nvPr/>
        </p:nvSpPr>
        <p:spPr>
          <a:xfrm>
            <a:off x="2979527" y="2067655"/>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PI </a:t>
            </a:r>
            <a:pPr algn="ctr" indent="0" marL="0">
              <a:buNone/>
            </a:pP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42" name="Shape 38"/>
          <p:cNvSpPr/>
          <p:nvPr/>
        </p:nvSpPr>
        <p:spPr>
          <a:xfrm>
            <a:off x="3758482" y="1998799"/>
            <a:ext cx="283166" cy="914"/>
          </a:xfrm>
          <a:prstGeom prst="line">
            <a:avLst/>
          </a:prstGeom>
          <a:noFill/>
          <a:ln w="9525">
            <a:solidFill>
              <a:srgbClr val="8A939C"/>
            </a:solidFill>
            <a:prstDash val="solid"/>
          </a:ln>
        </p:spPr>
        <p:txBody>
          <a:bodyPr/>
          <a:p/>
        </p:txBody>
      </p:sp>
      <p:sp>
        <p:nvSpPr>
          <p:cNvPr id="43" name="Shape 39"/>
          <p:cNvSpPr/>
          <p:nvPr/>
        </p:nvSpPr>
        <p:spPr>
          <a:xfrm>
            <a:off x="3731050" y="1971367"/>
            <a:ext cx="54864" cy="54864"/>
          </a:xfrm>
          <a:prstGeom prst="ellipse">
            <a:avLst/>
          </a:prstGeom>
          <a:solidFill>
            <a:srgbClr val="D7263D"/>
          </a:solidFill>
          <a:ln/>
        </p:spPr>
        <p:txBody>
          <a:bodyPr/>
          <a:p/>
        </p:txBody>
      </p:sp>
      <p:sp>
        <p:nvSpPr>
          <p:cNvPr id="44" name="Shape 40"/>
          <p:cNvSpPr/>
          <p:nvPr/>
        </p:nvSpPr>
        <p:spPr>
          <a:xfrm>
            <a:off x="4101084" y="1893643"/>
            <a:ext cx="448056" cy="210312"/>
          </a:xfrm>
          <a:prstGeom prst="roundRect">
            <a:avLst>
              <a:gd name="adj" fmla="val 21739"/>
            </a:avLst>
          </a:prstGeom>
          <a:solidFill>
            <a:srgbClr val="FFFFFF"/>
          </a:solidFill>
          <a:ln w="9525">
            <a:solidFill>
              <a:srgbClr val="B8C2CC"/>
            </a:solidFill>
            <a:prstDash val="solid"/>
          </a:ln>
        </p:spPr>
        <p:txBody>
          <a:bodyPr/>
          <a:p/>
        </p:txBody>
      </p:sp>
      <p:sp>
        <p:nvSpPr>
          <p:cNvPr id="45" name="Text 41"/>
          <p:cNvSpPr/>
          <p:nvPr/>
        </p:nvSpPr>
        <p:spPr>
          <a:xfrm>
            <a:off x="4101084" y="1893643"/>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RN </a:t>
            </a:r>
            <a:pPr algn="ctr" indent="0" marL="0">
              <a:buNone/>
            </a:pP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46" name="Shape 42"/>
          <p:cNvSpPr/>
          <p:nvPr/>
        </p:nvSpPr>
        <p:spPr>
          <a:xfrm>
            <a:off x="3641326" y="2221627"/>
            <a:ext cx="400322" cy="33205"/>
          </a:xfrm>
          <a:prstGeom prst="line">
            <a:avLst/>
          </a:prstGeom>
          <a:noFill/>
          <a:ln w="9525">
            <a:solidFill>
              <a:srgbClr val="8A939C"/>
            </a:solidFill>
            <a:prstDash val="solid"/>
          </a:ln>
        </p:spPr>
        <p:txBody>
          <a:bodyPr/>
          <a:p/>
        </p:txBody>
      </p:sp>
      <p:sp>
        <p:nvSpPr>
          <p:cNvPr id="47" name="Shape 43"/>
          <p:cNvSpPr/>
          <p:nvPr/>
        </p:nvSpPr>
        <p:spPr>
          <a:xfrm>
            <a:off x="3613894" y="2194195"/>
            <a:ext cx="54864" cy="54864"/>
          </a:xfrm>
          <a:prstGeom prst="ellipse">
            <a:avLst/>
          </a:prstGeom>
          <a:solidFill>
            <a:srgbClr val="D7263D"/>
          </a:solidFill>
          <a:ln/>
        </p:spPr>
        <p:txBody>
          <a:bodyPr/>
          <a:p/>
        </p:txBody>
      </p:sp>
      <p:sp>
        <p:nvSpPr>
          <p:cNvPr id="48" name="Shape 44"/>
          <p:cNvSpPr/>
          <p:nvPr/>
        </p:nvSpPr>
        <p:spPr>
          <a:xfrm>
            <a:off x="4133088" y="2149675"/>
            <a:ext cx="384048" cy="210312"/>
          </a:xfrm>
          <a:prstGeom prst="roundRect">
            <a:avLst>
              <a:gd name="adj" fmla="val 21739"/>
            </a:avLst>
          </a:prstGeom>
          <a:solidFill>
            <a:srgbClr val="FFFFFF"/>
          </a:solidFill>
          <a:ln w="9525">
            <a:solidFill>
              <a:srgbClr val="B8C2CC"/>
            </a:solidFill>
            <a:prstDash val="solid"/>
          </a:ln>
        </p:spPr>
        <p:txBody>
          <a:bodyPr/>
          <a:p/>
        </p:txBody>
      </p:sp>
      <p:sp>
        <p:nvSpPr>
          <p:cNvPr id="49" name="Text 45"/>
          <p:cNvSpPr/>
          <p:nvPr/>
        </p:nvSpPr>
        <p:spPr>
          <a:xfrm>
            <a:off x="4133088" y="2149675"/>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PE </a:t>
            </a:r>
            <a:pPr algn="ctr" indent="0" marL="0">
              <a:buNone/>
            </a:pP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0" name="Shape 46"/>
          <p:cNvSpPr/>
          <p:nvPr/>
        </p:nvSpPr>
        <p:spPr>
          <a:xfrm>
            <a:off x="3763077" y="2328446"/>
            <a:ext cx="278571" cy="182418"/>
          </a:xfrm>
          <a:prstGeom prst="line">
            <a:avLst/>
          </a:prstGeom>
          <a:noFill/>
          <a:ln w="9525">
            <a:solidFill>
              <a:srgbClr val="8A939C"/>
            </a:solidFill>
            <a:prstDash val="solid"/>
          </a:ln>
        </p:spPr>
        <p:txBody>
          <a:bodyPr/>
          <a:p/>
        </p:txBody>
      </p:sp>
      <p:sp>
        <p:nvSpPr>
          <p:cNvPr id="51" name="Shape 47"/>
          <p:cNvSpPr/>
          <p:nvPr/>
        </p:nvSpPr>
        <p:spPr>
          <a:xfrm>
            <a:off x="3735645" y="2301014"/>
            <a:ext cx="54864" cy="54864"/>
          </a:xfrm>
          <a:prstGeom prst="ellipse">
            <a:avLst/>
          </a:prstGeom>
          <a:solidFill>
            <a:srgbClr val="D7263D"/>
          </a:solidFill>
          <a:ln/>
        </p:spPr>
        <p:txBody>
          <a:bodyPr/>
          <a:p/>
        </p:txBody>
      </p:sp>
      <p:sp>
        <p:nvSpPr>
          <p:cNvPr id="52" name="Shape 48"/>
          <p:cNvSpPr/>
          <p:nvPr/>
        </p:nvSpPr>
        <p:spPr>
          <a:xfrm>
            <a:off x="4133088" y="2405707"/>
            <a:ext cx="384048" cy="210312"/>
          </a:xfrm>
          <a:prstGeom prst="roundRect">
            <a:avLst>
              <a:gd name="adj" fmla="val 21739"/>
            </a:avLst>
          </a:prstGeom>
          <a:solidFill>
            <a:srgbClr val="FFFFFF"/>
          </a:solidFill>
          <a:ln w="9525">
            <a:solidFill>
              <a:srgbClr val="B8C2CC"/>
            </a:solidFill>
            <a:prstDash val="solid"/>
          </a:ln>
        </p:spPr>
        <p:txBody>
          <a:bodyPr/>
          <a:p/>
        </p:txBody>
      </p:sp>
      <p:sp>
        <p:nvSpPr>
          <p:cNvPr id="53" name="Text 49"/>
          <p:cNvSpPr/>
          <p:nvPr/>
        </p:nvSpPr>
        <p:spPr>
          <a:xfrm>
            <a:off x="4133088" y="2405707"/>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AL </a:t>
            </a:r>
            <a:pPr algn="ctr" indent="0" marL="0">
              <a:buNone/>
            </a:pP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4" name="Shape 50"/>
          <p:cNvSpPr/>
          <p:nvPr/>
        </p:nvSpPr>
        <p:spPr>
          <a:xfrm>
            <a:off x="3689567" y="2424928"/>
            <a:ext cx="352081" cy="341968"/>
          </a:xfrm>
          <a:prstGeom prst="line">
            <a:avLst/>
          </a:prstGeom>
          <a:noFill/>
          <a:ln w="9525">
            <a:solidFill>
              <a:srgbClr val="8A939C"/>
            </a:solidFill>
            <a:prstDash val="solid"/>
          </a:ln>
        </p:spPr>
        <p:txBody>
          <a:bodyPr/>
          <a:p/>
        </p:txBody>
      </p:sp>
      <p:sp>
        <p:nvSpPr>
          <p:cNvPr id="55" name="Shape 51"/>
          <p:cNvSpPr/>
          <p:nvPr/>
        </p:nvSpPr>
        <p:spPr>
          <a:xfrm>
            <a:off x="3662135" y="2397496"/>
            <a:ext cx="54864" cy="54864"/>
          </a:xfrm>
          <a:prstGeom prst="ellipse">
            <a:avLst/>
          </a:prstGeom>
          <a:solidFill>
            <a:srgbClr val="D7263D"/>
          </a:solidFill>
          <a:ln/>
        </p:spPr>
        <p:txBody>
          <a:bodyPr/>
          <a:p/>
        </p:txBody>
      </p:sp>
      <p:sp>
        <p:nvSpPr>
          <p:cNvPr id="56" name="Shape 52"/>
          <p:cNvSpPr/>
          <p:nvPr/>
        </p:nvSpPr>
        <p:spPr>
          <a:xfrm>
            <a:off x="4133088" y="2661739"/>
            <a:ext cx="384048" cy="210312"/>
          </a:xfrm>
          <a:prstGeom prst="roundRect">
            <a:avLst>
              <a:gd name="adj" fmla="val 21739"/>
            </a:avLst>
          </a:prstGeom>
          <a:solidFill>
            <a:srgbClr val="FFFFFF"/>
          </a:solidFill>
          <a:ln w="9525">
            <a:solidFill>
              <a:srgbClr val="B8C2CC"/>
            </a:solidFill>
            <a:prstDash val="solid"/>
          </a:ln>
        </p:spPr>
        <p:txBody>
          <a:bodyPr/>
          <a:p/>
        </p:txBody>
      </p:sp>
      <p:sp>
        <p:nvSpPr>
          <p:cNvPr id="57" name="Text 53"/>
          <p:cNvSpPr/>
          <p:nvPr/>
        </p:nvSpPr>
        <p:spPr>
          <a:xfrm>
            <a:off x="4133088" y="2661739"/>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SE </a:t>
            </a:r>
            <a:pPr algn="ctr" indent="0" marL="0">
              <a:buNone/>
            </a:pPr>
            <a:r>
              <a:rPr lang="en-US" sz="1000" b="1" dirty="0">
                <a:solidFill>
                  <a:srgbClr val="D7263D"/>
                </a:solidFill>
                <a:latin typeface="Calibri" pitchFamily="34" charset="0"/>
                <a:ea typeface="Calibri" pitchFamily="34" charset="-122"/>
                <a:cs typeface="Calibri" pitchFamily="34" charset="-120"/>
              </a:rPr>
              <a:t>5</a:t>
            </a:r>
            <a:endParaRPr lang="en-US" sz="1000" dirty="0"/>
          </a:p>
        </p:txBody>
      </p:sp>
      <p:sp>
        <p:nvSpPr>
          <p:cNvPr id="58" name="Shape 54"/>
          <p:cNvSpPr/>
          <p:nvPr/>
        </p:nvSpPr>
        <p:spPr>
          <a:xfrm>
            <a:off x="2762652" y="2899871"/>
            <a:ext cx="1278996" cy="123056"/>
          </a:xfrm>
          <a:prstGeom prst="line">
            <a:avLst/>
          </a:prstGeom>
          <a:noFill/>
          <a:ln w="9525">
            <a:solidFill>
              <a:srgbClr val="8A939C"/>
            </a:solidFill>
            <a:prstDash val="solid"/>
          </a:ln>
        </p:spPr>
        <p:txBody>
          <a:bodyPr/>
          <a:p/>
        </p:txBody>
      </p:sp>
      <p:sp>
        <p:nvSpPr>
          <p:cNvPr id="59" name="Shape 55"/>
          <p:cNvSpPr/>
          <p:nvPr/>
        </p:nvSpPr>
        <p:spPr>
          <a:xfrm>
            <a:off x="2735220" y="2872439"/>
            <a:ext cx="54864" cy="54864"/>
          </a:xfrm>
          <a:prstGeom prst="ellipse">
            <a:avLst/>
          </a:prstGeom>
          <a:solidFill>
            <a:srgbClr val="D7263D"/>
          </a:solidFill>
          <a:ln/>
        </p:spPr>
        <p:txBody>
          <a:bodyPr/>
          <a:p/>
        </p:txBody>
      </p:sp>
      <p:sp>
        <p:nvSpPr>
          <p:cNvPr id="60" name="Shape 56"/>
          <p:cNvSpPr/>
          <p:nvPr/>
        </p:nvSpPr>
        <p:spPr>
          <a:xfrm>
            <a:off x="4133088" y="2917771"/>
            <a:ext cx="384048" cy="210312"/>
          </a:xfrm>
          <a:prstGeom prst="roundRect">
            <a:avLst>
              <a:gd name="adj" fmla="val 21739"/>
            </a:avLst>
          </a:prstGeom>
          <a:solidFill>
            <a:srgbClr val="FFFFFF"/>
          </a:solidFill>
          <a:ln w="9525">
            <a:solidFill>
              <a:srgbClr val="B8C2CC"/>
            </a:solidFill>
            <a:prstDash val="solid"/>
          </a:ln>
        </p:spPr>
        <p:txBody>
          <a:bodyPr/>
          <a:p/>
        </p:txBody>
      </p:sp>
      <p:sp>
        <p:nvSpPr>
          <p:cNvPr id="61" name="Text 57"/>
          <p:cNvSpPr/>
          <p:nvPr/>
        </p:nvSpPr>
        <p:spPr>
          <a:xfrm>
            <a:off x="4133088" y="2917771"/>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DF </a:t>
            </a:r>
            <a:pPr algn="ctr" indent="0" marL="0">
              <a:buNone/>
            </a:pPr>
            <a:r>
              <a:rPr lang="en-US" sz="1000" b="1" dirty="0">
                <a:solidFill>
                  <a:srgbClr val="D7263D"/>
                </a:solidFill>
                <a:latin typeface="Calibri" pitchFamily="34" charset="0"/>
                <a:ea typeface="Calibri" pitchFamily="34" charset="-122"/>
                <a:cs typeface="Calibri" pitchFamily="34" charset="-120"/>
              </a:rPr>
              <a:t>4</a:t>
            </a:r>
            <a:endParaRPr lang="en-US" sz="1000" dirty="0"/>
          </a:p>
        </p:txBody>
      </p:sp>
      <p:sp>
        <p:nvSpPr>
          <p:cNvPr id="62" name="Shape 58"/>
          <p:cNvSpPr/>
          <p:nvPr/>
        </p:nvSpPr>
        <p:spPr>
          <a:xfrm>
            <a:off x="3400695" y="3255935"/>
            <a:ext cx="640953" cy="23024"/>
          </a:xfrm>
          <a:prstGeom prst="line">
            <a:avLst/>
          </a:prstGeom>
          <a:noFill/>
          <a:ln w="9525">
            <a:solidFill>
              <a:srgbClr val="8A939C"/>
            </a:solidFill>
            <a:prstDash val="solid"/>
          </a:ln>
        </p:spPr>
        <p:txBody>
          <a:bodyPr/>
          <a:p/>
        </p:txBody>
      </p:sp>
      <p:sp>
        <p:nvSpPr>
          <p:cNvPr id="63" name="Shape 59"/>
          <p:cNvSpPr/>
          <p:nvPr/>
        </p:nvSpPr>
        <p:spPr>
          <a:xfrm>
            <a:off x="3373263" y="3228503"/>
            <a:ext cx="54864" cy="54864"/>
          </a:xfrm>
          <a:prstGeom prst="ellipse">
            <a:avLst/>
          </a:prstGeom>
          <a:solidFill>
            <a:srgbClr val="D7263D"/>
          </a:solidFill>
          <a:ln/>
        </p:spPr>
        <p:txBody>
          <a:bodyPr/>
          <a:p/>
        </p:txBody>
      </p:sp>
      <p:sp>
        <p:nvSpPr>
          <p:cNvPr id="64" name="Shape 60"/>
          <p:cNvSpPr/>
          <p:nvPr/>
        </p:nvSpPr>
        <p:spPr>
          <a:xfrm>
            <a:off x="4101084" y="3173803"/>
            <a:ext cx="448056" cy="210312"/>
          </a:xfrm>
          <a:prstGeom prst="roundRect">
            <a:avLst>
              <a:gd name="adj" fmla="val 21739"/>
            </a:avLst>
          </a:prstGeom>
          <a:solidFill>
            <a:srgbClr val="FFFFFF"/>
          </a:solidFill>
          <a:ln w="9525">
            <a:solidFill>
              <a:srgbClr val="B8C2CC"/>
            </a:solidFill>
            <a:prstDash val="solid"/>
          </a:ln>
        </p:spPr>
        <p:txBody>
          <a:bodyPr/>
          <a:p/>
        </p:txBody>
      </p:sp>
      <p:sp>
        <p:nvSpPr>
          <p:cNvPr id="65" name="Text 61"/>
          <p:cNvSpPr/>
          <p:nvPr/>
        </p:nvSpPr>
        <p:spPr>
          <a:xfrm>
            <a:off x="4101084" y="3173803"/>
            <a:ext cx="448056"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ES </a:t>
            </a:r>
            <a:pPr algn="ctr" indent="0" marL="0">
              <a:buNone/>
            </a:pPr>
            <a:r>
              <a:rPr lang="en-US" sz="1000" b="1" dirty="0">
                <a:solidFill>
                  <a:srgbClr val="D7263D"/>
                </a:solidFill>
                <a:latin typeface="Calibri" pitchFamily="34" charset="0"/>
                <a:ea typeface="Calibri" pitchFamily="34" charset="-122"/>
                <a:cs typeface="Calibri" pitchFamily="34" charset="-120"/>
              </a:rPr>
              <a:t>13</a:t>
            </a:r>
            <a:endParaRPr lang="en-US" sz="1000" dirty="0"/>
          </a:p>
        </p:txBody>
      </p:sp>
      <p:sp>
        <p:nvSpPr>
          <p:cNvPr id="66" name="Shape 62"/>
          <p:cNvSpPr/>
          <p:nvPr/>
        </p:nvSpPr>
        <p:spPr>
          <a:xfrm>
            <a:off x="3222663" y="3505180"/>
            <a:ext cx="818985" cy="29811"/>
          </a:xfrm>
          <a:prstGeom prst="line">
            <a:avLst/>
          </a:prstGeom>
          <a:noFill/>
          <a:ln w="9525">
            <a:solidFill>
              <a:srgbClr val="8A939C"/>
            </a:solidFill>
            <a:prstDash val="solid"/>
          </a:ln>
        </p:spPr>
        <p:txBody>
          <a:bodyPr/>
          <a:p/>
        </p:txBody>
      </p:sp>
      <p:sp>
        <p:nvSpPr>
          <p:cNvPr id="67" name="Shape 63"/>
          <p:cNvSpPr/>
          <p:nvPr/>
        </p:nvSpPr>
        <p:spPr>
          <a:xfrm>
            <a:off x="3195231" y="3477748"/>
            <a:ext cx="54864" cy="54864"/>
          </a:xfrm>
          <a:prstGeom prst="ellipse">
            <a:avLst/>
          </a:prstGeom>
          <a:solidFill>
            <a:srgbClr val="D7263D"/>
          </a:solidFill>
          <a:ln/>
        </p:spPr>
        <p:txBody>
          <a:bodyPr/>
          <a:p/>
        </p:txBody>
      </p:sp>
      <p:sp>
        <p:nvSpPr>
          <p:cNvPr id="68" name="Shape 64"/>
          <p:cNvSpPr/>
          <p:nvPr/>
        </p:nvSpPr>
        <p:spPr>
          <a:xfrm>
            <a:off x="4133088" y="3429835"/>
            <a:ext cx="384048" cy="210312"/>
          </a:xfrm>
          <a:prstGeom prst="roundRect">
            <a:avLst>
              <a:gd name="adj" fmla="val 21739"/>
            </a:avLst>
          </a:prstGeom>
          <a:solidFill>
            <a:srgbClr val="FFFFFF"/>
          </a:solidFill>
          <a:ln w="9525">
            <a:solidFill>
              <a:srgbClr val="B8C2CC"/>
            </a:solidFill>
            <a:prstDash val="solid"/>
          </a:ln>
        </p:spPr>
        <p:txBody>
          <a:bodyPr/>
          <a:p/>
        </p:txBody>
      </p:sp>
      <p:sp>
        <p:nvSpPr>
          <p:cNvPr id="69" name="Text 65"/>
          <p:cNvSpPr/>
          <p:nvPr/>
        </p:nvSpPr>
        <p:spPr>
          <a:xfrm>
            <a:off x="4133088" y="3429835"/>
            <a:ext cx="384048" cy="210312"/>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RJ </a:t>
            </a:r>
            <a:pPr algn="ctr" indent="0" marL="0">
              <a:buNone/>
            </a:pP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70" name="Shape 66"/>
          <p:cNvSpPr/>
          <p:nvPr/>
        </p:nvSpPr>
        <p:spPr>
          <a:xfrm>
            <a:off x="411480" y="3840480"/>
            <a:ext cx="219456" cy="118872"/>
          </a:xfrm>
          <a:prstGeom prst="rect">
            <a:avLst/>
          </a:prstGeom>
          <a:solidFill>
            <a:srgbClr val="1B3A8C"/>
          </a:solidFill>
          <a:ln/>
        </p:spPr>
        <p:txBody>
          <a:bodyPr/>
          <a:p/>
        </p:txBody>
      </p:sp>
      <p:sp>
        <p:nvSpPr>
          <p:cNvPr id="71" name="Text 67"/>
          <p:cNvSpPr/>
          <p:nvPr/>
        </p:nvSpPr>
        <p:spPr>
          <a:xfrm>
            <a:off x="685800" y="3813048"/>
            <a:ext cx="914400" cy="164592"/>
          </a:xfrm>
          <a:prstGeom prst="rect">
            <a:avLst/>
          </a:prstGeom>
          <a:noFill/>
          <a:ln/>
        </p:spPr>
        <p:txBody>
          <a:bodyPr wrap="square" lIns="0" tIns="0" rIns="0" bIns="0" rtlCol="0" anchor="ctr"/>
          <a:lstStyle/>
          <a:p>
            <a:pPr indent="0" marL="0">
              <a:buNone/>
            </a:pPr>
            <a:r>
              <a:rPr lang="en-US" sz="800" dirty="0">
                <a:solidFill>
                  <a:srgbClr val="4A5560"/>
                </a:solidFill>
                <a:latin typeface="Calibri" pitchFamily="34" charset="0"/>
                <a:ea typeface="Calibri" pitchFamily="34" charset="-122"/>
                <a:cs typeface="Calibri" pitchFamily="34" charset="-120"/>
              </a:rPr>
              <a:t>mais de 300</a:t>
            </a:r>
            <a:endParaRPr lang="en-US" sz="800" dirty="0"/>
          </a:p>
        </p:txBody>
      </p:sp>
      <p:sp>
        <p:nvSpPr>
          <p:cNvPr id="72" name="Shape 68"/>
          <p:cNvSpPr/>
          <p:nvPr/>
        </p:nvSpPr>
        <p:spPr>
          <a:xfrm>
            <a:off x="411480" y="3995928"/>
            <a:ext cx="219456" cy="118872"/>
          </a:xfrm>
          <a:prstGeom prst="rect">
            <a:avLst/>
          </a:prstGeom>
          <a:solidFill>
            <a:srgbClr val="4A79BF"/>
          </a:solidFill>
          <a:ln/>
        </p:spPr>
        <p:txBody>
          <a:bodyPr/>
          <a:p/>
        </p:txBody>
      </p:sp>
      <p:sp>
        <p:nvSpPr>
          <p:cNvPr id="73" name="Text 69"/>
          <p:cNvSpPr/>
          <p:nvPr/>
        </p:nvSpPr>
        <p:spPr>
          <a:xfrm>
            <a:off x="685800" y="3968496"/>
            <a:ext cx="914400" cy="164592"/>
          </a:xfrm>
          <a:prstGeom prst="rect">
            <a:avLst/>
          </a:prstGeom>
          <a:noFill/>
          <a:ln/>
        </p:spPr>
        <p:txBody>
          <a:bodyPr wrap="square" lIns="0" tIns="0" rIns="0" bIns="0" rtlCol="0" anchor="ctr"/>
          <a:lstStyle/>
          <a:p>
            <a:pPr indent="0" marL="0">
              <a:buNone/>
            </a:pPr>
            <a:r>
              <a:rPr lang="en-US" sz="800" dirty="0">
                <a:solidFill>
                  <a:srgbClr val="4A5560"/>
                </a:solidFill>
                <a:latin typeface="Calibri" pitchFamily="34" charset="0"/>
                <a:ea typeface="Calibri" pitchFamily="34" charset="-122"/>
                <a:cs typeface="Calibri" pitchFamily="34" charset="-120"/>
              </a:rPr>
              <a:t>101 a 300</a:t>
            </a:r>
            <a:endParaRPr lang="en-US" sz="800" dirty="0"/>
          </a:p>
        </p:txBody>
      </p:sp>
      <p:sp>
        <p:nvSpPr>
          <p:cNvPr id="74" name="Shape 70"/>
          <p:cNvSpPr/>
          <p:nvPr/>
        </p:nvSpPr>
        <p:spPr>
          <a:xfrm>
            <a:off x="411480" y="4151376"/>
            <a:ext cx="219456" cy="118872"/>
          </a:xfrm>
          <a:prstGeom prst="rect">
            <a:avLst/>
          </a:prstGeom>
          <a:solidFill>
            <a:srgbClr val="9DBBDF"/>
          </a:solidFill>
          <a:ln/>
        </p:spPr>
        <p:txBody>
          <a:bodyPr/>
          <a:p/>
        </p:txBody>
      </p:sp>
      <p:sp>
        <p:nvSpPr>
          <p:cNvPr id="75" name="Text 71"/>
          <p:cNvSpPr/>
          <p:nvPr/>
        </p:nvSpPr>
        <p:spPr>
          <a:xfrm>
            <a:off x="685800" y="4123944"/>
            <a:ext cx="914400" cy="164592"/>
          </a:xfrm>
          <a:prstGeom prst="rect">
            <a:avLst/>
          </a:prstGeom>
          <a:noFill/>
          <a:ln/>
        </p:spPr>
        <p:txBody>
          <a:bodyPr wrap="square" lIns="0" tIns="0" rIns="0" bIns="0" rtlCol="0" anchor="ctr"/>
          <a:lstStyle/>
          <a:p>
            <a:pPr indent="0" marL="0">
              <a:buNone/>
            </a:pPr>
            <a:r>
              <a:rPr lang="en-US" sz="800" dirty="0">
                <a:solidFill>
                  <a:srgbClr val="4A5560"/>
                </a:solidFill>
                <a:latin typeface="Calibri" pitchFamily="34" charset="0"/>
                <a:ea typeface="Calibri" pitchFamily="34" charset="-122"/>
                <a:cs typeface="Calibri" pitchFamily="34" charset="-120"/>
              </a:rPr>
              <a:t>21 a 100</a:t>
            </a:r>
            <a:endParaRPr lang="en-US" sz="800" dirty="0"/>
          </a:p>
        </p:txBody>
      </p:sp>
      <p:sp>
        <p:nvSpPr>
          <p:cNvPr id="76" name="Shape 72"/>
          <p:cNvSpPr/>
          <p:nvPr/>
        </p:nvSpPr>
        <p:spPr>
          <a:xfrm>
            <a:off x="411480" y="4306824"/>
            <a:ext cx="219456" cy="118872"/>
          </a:xfrm>
          <a:prstGeom prst="rect">
            <a:avLst/>
          </a:prstGeom>
          <a:solidFill>
            <a:srgbClr val="DCE7F3"/>
          </a:solidFill>
          <a:ln/>
        </p:spPr>
        <p:txBody>
          <a:bodyPr/>
          <a:p/>
        </p:txBody>
      </p:sp>
      <p:sp>
        <p:nvSpPr>
          <p:cNvPr id="77" name="Text 73"/>
          <p:cNvSpPr/>
          <p:nvPr/>
        </p:nvSpPr>
        <p:spPr>
          <a:xfrm>
            <a:off x="685800" y="4279392"/>
            <a:ext cx="914400" cy="164592"/>
          </a:xfrm>
          <a:prstGeom prst="rect">
            <a:avLst/>
          </a:prstGeom>
          <a:noFill/>
          <a:ln/>
        </p:spPr>
        <p:txBody>
          <a:bodyPr wrap="square" lIns="0" tIns="0" rIns="0" bIns="0" rtlCol="0" anchor="ctr"/>
          <a:lstStyle/>
          <a:p>
            <a:pPr indent="0" marL="0">
              <a:buNone/>
            </a:pPr>
            <a:r>
              <a:rPr lang="en-US" sz="800" dirty="0">
                <a:solidFill>
                  <a:srgbClr val="4A5560"/>
                </a:solidFill>
                <a:latin typeface="Calibri" pitchFamily="34" charset="0"/>
                <a:ea typeface="Calibri" pitchFamily="34" charset="-122"/>
                <a:cs typeface="Calibri" pitchFamily="34" charset="-120"/>
              </a:rPr>
              <a:t>1 a 20</a:t>
            </a:r>
            <a:endParaRPr lang="en-US" sz="800" dirty="0"/>
          </a:p>
        </p:txBody>
      </p:sp>
      <p:sp>
        <p:nvSpPr>
          <p:cNvPr id="78" name="Shape 74"/>
          <p:cNvSpPr/>
          <p:nvPr/>
        </p:nvSpPr>
        <p:spPr>
          <a:xfrm>
            <a:off x="411480" y="4462272"/>
            <a:ext cx="219456" cy="118872"/>
          </a:xfrm>
          <a:prstGeom prst="rect">
            <a:avLst/>
          </a:prstGeom>
          <a:solidFill>
            <a:srgbClr val="EEF0F3"/>
          </a:solidFill>
          <a:ln/>
        </p:spPr>
        <p:txBody>
          <a:bodyPr/>
          <a:p/>
        </p:txBody>
      </p:sp>
      <p:sp>
        <p:nvSpPr>
          <p:cNvPr id="79" name="Text 75"/>
          <p:cNvSpPr/>
          <p:nvPr/>
        </p:nvSpPr>
        <p:spPr>
          <a:xfrm>
            <a:off x="685800" y="4434840"/>
            <a:ext cx="914400" cy="164592"/>
          </a:xfrm>
          <a:prstGeom prst="rect">
            <a:avLst/>
          </a:prstGeom>
          <a:noFill/>
          <a:ln/>
        </p:spPr>
        <p:txBody>
          <a:bodyPr wrap="square" lIns="0" tIns="0" rIns="0" bIns="0" rtlCol="0" anchor="ctr"/>
          <a:lstStyle/>
          <a:p>
            <a:pPr indent="0" marL="0">
              <a:buNone/>
            </a:pPr>
            <a:r>
              <a:rPr lang="en-US" sz="800" dirty="0">
                <a:solidFill>
                  <a:srgbClr val="4A5560"/>
                </a:solidFill>
                <a:latin typeface="Calibri" pitchFamily="34" charset="0"/>
                <a:ea typeface="Calibri" pitchFamily="34" charset="-122"/>
                <a:cs typeface="Calibri" pitchFamily="34" charset="-120"/>
              </a:rPr>
              <a:t>sem dado</a:t>
            </a:r>
            <a:endParaRPr lang="en-US" sz="800" dirty="0"/>
          </a:p>
        </p:txBody>
      </p:sp>
      <p:sp>
        <p:nvSpPr>
          <p:cNvPr id="80" name="Shape 76"/>
          <p:cNvSpPr/>
          <p:nvPr/>
        </p:nvSpPr>
        <p:spPr>
          <a:xfrm>
            <a:off x="4846320" y="1097280"/>
            <a:ext cx="3840480" cy="658368"/>
          </a:xfrm>
          <a:prstGeom prst="rect">
            <a:avLst/>
          </a:prstGeom>
          <a:solidFill>
            <a:srgbClr val="1B3A8C"/>
          </a:solidFill>
          <a:ln/>
        </p:spPr>
        <p:txBody>
          <a:bodyPr/>
          <a:p/>
        </p:txBody>
      </p:sp>
      <p:sp>
        <p:nvSpPr>
          <p:cNvPr id="81" name="Text 77"/>
          <p:cNvSpPr/>
          <p:nvPr/>
        </p:nvSpPr>
        <p:spPr>
          <a:xfrm>
            <a:off x="4983480" y="1097280"/>
            <a:ext cx="146304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2.796</a:t>
            </a:r>
            <a:endParaRPr lang="en-US" sz="3000" dirty="0"/>
          </a:p>
        </p:txBody>
      </p:sp>
      <p:sp>
        <p:nvSpPr>
          <p:cNvPr id="82" name="Text 78"/>
          <p:cNvSpPr/>
          <p:nvPr/>
        </p:nvSpPr>
        <p:spPr>
          <a:xfrm>
            <a:off x="6446520" y="1097280"/>
            <a:ext cx="214884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confinadores mapeados em 24 estados</a:t>
            </a:r>
            <a:endParaRPr lang="en-US" sz="1100" dirty="0"/>
          </a:p>
        </p:txBody>
      </p:sp>
      <p:sp>
        <p:nvSpPr>
          <p:cNvPr id="83" name="Text 79"/>
          <p:cNvSpPr/>
          <p:nvPr/>
        </p:nvSpPr>
        <p:spPr>
          <a:xfrm>
            <a:off x="4846320" y="1847088"/>
            <a:ext cx="2286000" cy="201168"/>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Maiores estados</a:t>
            </a:r>
            <a:endParaRPr lang="en-US" sz="1000" dirty="0"/>
          </a:p>
        </p:txBody>
      </p:sp>
      <p:sp>
        <p:nvSpPr>
          <p:cNvPr id="84" name="Text 80"/>
          <p:cNvSpPr/>
          <p:nvPr/>
        </p:nvSpPr>
        <p:spPr>
          <a:xfrm>
            <a:off x="4846320" y="20848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RO</a:t>
            </a:r>
            <a:endParaRPr lang="en-US" sz="950" dirty="0"/>
          </a:p>
        </p:txBody>
      </p:sp>
      <p:sp>
        <p:nvSpPr>
          <p:cNvPr id="85" name="Shape 81"/>
          <p:cNvSpPr/>
          <p:nvPr/>
        </p:nvSpPr>
        <p:spPr>
          <a:xfrm>
            <a:off x="5577840" y="2112264"/>
            <a:ext cx="2194560" cy="146304"/>
          </a:xfrm>
          <a:prstGeom prst="rect">
            <a:avLst/>
          </a:prstGeom>
          <a:solidFill>
            <a:srgbClr val="1B3A8C"/>
          </a:solidFill>
          <a:ln/>
        </p:spPr>
        <p:txBody>
          <a:bodyPr/>
          <a:p/>
        </p:txBody>
      </p:sp>
      <p:sp>
        <p:nvSpPr>
          <p:cNvPr id="86" name="Text 82"/>
          <p:cNvSpPr/>
          <p:nvPr/>
        </p:nvSpPr>
        <p:spPr>
          <a:xfrm>
            <a:off x="7818120" y="20848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1.022</a:t>
            </a:r>
            <a:endParaRPr lang="en-US" sz="950" dirty="0"/>
          </a:p>
        </p:txBody>
      </p:sp>
      <p:sp>
        <p:nvSpPr>
          <p:cNvPr id="87" name="Text 83"/>
          <p:cNvSpPr/>
          <p:nvPr/>
        </p:nvSpPr>
        <p:spPr>
          <a:xfrm>
            <a:off x="4846320" y="23134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SP</a:t>
            </a:r>
            <a:endParaRPr lang="en-US" sz="950" dirty="0"/>
          </a:p>
        </p:txBody>
      </p:sp>
      <p:sp>
        <p:nvSpPr>
          <p:cNvPr id="88" name="Shape 84"/>
          <p:cNvSpPr/>
          <p:nvPr/>
        </p:nvSpPr>
        <p:spPr>
          <a:xfrm>
            <a:off x="5577840" y="2340864"/>
            <a:ext cx="989914" cy="146304"/>
          </a:xfrm>
          <a:prstGeom prst="rect">
            <a:avLst/>
          </a:prstGeom>
          <a:solidFill>
            <a:srgbClr val="1B3A8C"/>
          </a:solidFill>
          <a:ln/>
        </p:spPr>
        <p:txBody>
          <a:bodyPr/>
          <a:p/>
        </p:txBody>
      </p:sp>
      <p:sp>
        <p:nvSpPr>
          <p:cNvPr id="89" name="Text 85"/>
          <p:cNvSpPr/>
          <p:nvPr/>
        </p:nvSpPr>
        <p:spPr>
          <a:xfrm>
            <a:off x="6613474" y="23134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461</a:t>
            </a:r>
            <a:endParaRPr lang="en-US" sz="950" dirty="0"/>
          </a:p>
        </p:txBody>
      </p:sp>
      <p:sp>
        <p:nvSpPr>
          <p:cNvPr id="90" name="Text 86"/>
          <p:cNvSpPr/>
          <p:nvPr/>
        </p:nvSpPr>
        <p:spPr>
          <a:xfrm>
            <a:off x="4846320" y="25420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MT</a:t>
            </a:r>
            <a:endParaRPr lang="en-US" sz="950" dirty="0"/>
          </a:p>
        </p:txBody>
      </p:sp>
      <p:sp>
        <p:nvSpPr>
          <p:cNvPr id="91" name="Shape 87"/>
          <p:cNvSpPr/>
          <p:nvPr/>
        </p:nvSpPr>
        <p:spPr>
          <a:xfrm>
            <a:off x="5577840" y="2569464"/>
            <a:ext cx="732236" cy="146304"/>
          </a:xfrm>
          <a:prstGeom prst="rect">
            <a:avLst/>
          </a:prstGeom>
          <a:solidFill>
            <a:srgbClr val="1B3A8C"/>
          </a:solidFill>
          <a:ln/>
        </p:spPr>
        <p:txBody>
          <a:bodyPr/>
          <a:p/>
        </p:txBody>
      </p:sp>
      <p:sp>
        <p:nvSpPr>
          <p:cNvPr id="92" name="Text 88"/>
          <p:cNvSpPr/>
          <p:nvPr/>
        </p:nvSpPr>
        <p:spPr>
          <a:xfrm>
            <a:off x="6355796" y="25420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341</a:t>
            </a:r>
            <a:endParaRPr lang="en-US" sz="950" dirty="0"/>
          </a:p>
        </p:txBody>
      </p:sp>
      <p:sp>
        <p:nvSpPr>
          <p:cNvPr id="93" name="Text 89"/>
          <p:cNvSpPr/>
          <p:nvPr/>
        </p:nvSpPr>
        <p:spPr>
          <a:xfrm>
            <a:off x="4846320" y="27706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MG</a:t>
            </a:r>
            <a:endParaRPr lang="en-US" sz="950" dirty="0"/>
          </a:p>
        </p:txBody>
      </p:sp>
      <p:sp>
        <p:nvSpPr>
          <p:cNvPr id="94" name="Shape 90"/>
          <p:cNvSpPr/>
          <p:nvPr/>
        </p:nvSpPr>
        <p:spPr>
          <a:xfrm>
            <a:off x="5577840" y="2798064"/>
            <a:ext cx="429464" cy="146304"/>
          </a:xfrm>
          <a:prstGeom prst="rect">
            <a:avLst/>
          </a:prstGeom>
          <a:solidFill>
            <a:srgbClr val="4A79BF"/>
          </a:solidFill>
          <a:ln/>
        </p:spPr>
        <p:txBody>
          <a:bodyPr/>
          <a:p/>
        </p:txBody>
      </p:sp>
      <p:sp>
        <p:nvSpPr>
          <p:cNvPr id="95" name="Text 91"/>
          <p:cNvSpPr/>
          <p:nvPr/>
        </p:nvSpPr>
        <p:spPr>
          <a:xfrm>
            <a:off x="6053024" y="27706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200</a:t>
            </a:r>
            <a:endParaRPr lang="en-US" sz="950" dirty="0"/>
          </a:p>
        </p:txBody>
      </p:sp>
      <p:sp>
        <p:nvSpPr>
          <p:cNvPr id="96" name="Text 92"/>
          <p:cNvSpPr/>
          <p:nvPr/>
        </p:nvSpPr>
        <p:spPr>
          <a:xfrm>
            <a:off x="4846320" y="29992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MS</a:t>
            </a:r>
            <a:endParaRPr lang="en-US" sz="950" dirty="0"/>
          </a:p>
        </p:txBody>
      </p:sp>
      <p:sp>
        <p:nvSpPr>
          <p:cNvPr id="97" name="Shape 93"/>
          <p:cNvSpPr/>
          <p:nvPr/>
        </p:nvSpPr>
        <p:spPr>
          <a:xfrm>
            <a:off x="5577840" y="3026664"/>
            <a:ext cx="345718" cy="146304"/>
          </a:xfrm>
          <a:prstGeom prst="rect">
            <a:avLst/>
          </a:prstGeom>
          <a:solidFill>
            <a:srgbClr val="4A79BF"/>
          </a:solidFill>
          <a:ln/>
        </p:spPr>
        <p:txBody>
          <a:bodyPr/>
          <a:p/>
        </p:txBody>
      </p:sp>
      <p:sp>
        <p:nvSpPr>
          <p:cNvPr id="98" name="Text 94"/>
          <p:cNvSpPr/>
          <p:nvPr/>
        </p:nvSpPr>
        <p:spPr>
          <a:xfrm>
            <a:off x="5969278" y="29992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161</a:t>
            </a:r>
            <a:endParaRPr lang="en-US" sz="950" dirty="0"/>
          </a:p>
        </p:txBody>
      </p:sp>
      <p:sp>
        <p:nvSpPr>
          <p:cNvPr id="99" name="Text 95"/>
          <p:cNvSpPr/>
          <p:nvPr/>
        </p:nvSpPr>
        <p:spPr>
          <a:xfrm>
            <a:off x="4846320" y="32278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BA</a:t>
            </a:r>
            <a:endParaRPr lang="en-US" sz="950" dirty="0"/>
          </a:p>
        </p:txBody>
      </p:sp>
      <p:sp>
        <p:nvSpPr>
          <p:cNvPr id="100" name="Shape 96"/>
          <p:cNvSpPr/>
          <p:nvPr/>
        </p:nvSpPr>
        <p:spPr>
          <a:xfrm>
            <a:off x="5577840" y="3255264"/>
            <a:ext cx="251236" cy="146304"/>
          </a:xfrm>
          <a:prstGeom prst="rect">
            <a:avLst/>
          </a:prstGeom>
          <a:solidFill>
            <a:srgbClr val="4A79BF"/>
          </a:solidFill>
          <a:ln/>
        </p:spPr>
        <p:txBody>
          <a:bodyPr/>
          <a:p/>
        </p:txBody>
      </p:sp>
      <p:sp>
        <p:nvSpPr>
          <p:cNvPr id="101" name="Text 97"/>
          <p:cNvSpPr/>
          <p:nvPr/>
        </p:nvSpPr>
        <p:spPr>
          <a:xfrm>
            <a:off x="5874796" y="32278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117</a:t>
            </a:r>
            <a:endParaRPr lang="en-US" sz="950" dirty="0"/>
          </a:p>
        </p:txBody>
      </p:sp>
      <p:sp>
        <p:nvSpPr>
          <p:cNvPr id="102" name="Text 98"/>
          <p:cNvSpPr/>
          <p:nvPr/>
        </p:nvSpPr>
        <p:spPr>
          <a:xfrm>
            <a:off x="4846320" y="3456432"/>
            <a:ext cx="731520" cy="201168"/>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Outros 18</a:t>
            </a:r>
            <a:endParaRPr lang="en-US" sz="950" dirty="0"/>
          </a:p>
        </p:txBody>
      </p:sp>
      <p:sp>
        <p:nvSpPr>
          <p:cNvPr id="103" name="Shape 99"/>
          <p:cNvSpPr/>
          <p:nvPr/>
        </p:nvSpPr>
        <p:spPr>
          <a:xfrm>
            <a:off x="5577840" y="3483864"/>
            <a:ext cx="1062923" cy="146304"/>
          </a:xfrm>
          <a:prstGeom prst="rect">
            <a:avLst/>
          </a:prstGeom>
          <a:solidFill>
            <a:srgbClr val="0096B4"/>
          </a:solidFill>
          <a:ln/>
        </p:spPr>
        <p:txBody>
          <a:bodyPr/>
          <a:p/>
        </p:txBody>
      </p:sp>
      <p:sp>
        <p:nvSpPr>
          <p:cNvPr id="104" name="Text 100"/>
          <p:cNvSpPr/>
          <p:nvPr/>
        </p:nvSpPr>
        <p:spPr>
          <a:xfrm>
            <a:off x="6686483" y="3456432"/>
            <a:ext cx="548640" cy="201168"/>
          </a:xfrm>
          <a:prstGeom prst="rect">
            <a:avLst/>
          </a:prstGeom>
          <a:noFill/>
          <a:ln/>
        </p:spPr>
        <p:txBody>
          <a:bodyPr wrap="square" lIns="0" tIns="0" rIns="0" bIns="0" rtlCol="0" anchor="ctr"/>
          <a:lstStyle/>
          <a:p>
            <a:pPr indent="0" marL="0">
              <a:buNone/>
            </a:pPr>
            <a:r>
              <a:rPr lang="en-US" sz="950" b="1" dirty="0">
                <a:solidFill>
                  <a:srgbClr val="D7263D"/>
                </a:solidFill>
                <a:latin typeface="Calibri" pitchFamily="34" charset="0"/>
                <a:ea typeface="Calibri" pitchFamily="34" charset="-122"/>
                <a:cs typeface="Calibri" pitchFamily="34" charset="-120"/>
              </a:rPr>
              <a:t>495</a:t>
            </a:r>
            <a:endParaRPr lang="en-US" sz="950" dirty="0"/>
          </a:p>
        </p:txBody>
      </p:sp>
      <p:sp>
        <p:nvSpPr>
          <p:cNvPr id="105" name="Shape 101"/>
          <p:cNvSpPr/>
          <p:nvPr/>
        </p:nvSpPr>
        <p:spPr>
          <a:xfrm>
            <a:off x="4846320" y="3749040"/>
            <a:ext cx="3840480" cy="566928"/>
          </a:xfrm>
          <a:prstGeom prst="rect">
            <a:avLst/>
          </a:prstGeom>
          <a:solidFill>
            <a:srgbClr val="FBE7F1"/>
          </a:solidFill>
          <a:ln/>
        </p:spPr>
        <p:txBody>
          <a:bodyPr/>
          <a:p/>
        </p:txBody>
      </p:sp>
      <p:sp>
        <p:nvSpPr>
          <p:cNvPr id="106" name="Shape 102"/>
          <p:cNvSpPr/>
          <p:nvPr/>
        </p:nvSpPr>
        <p:spPr>
          <a:xfrm>
            <a:off x="4846320" y="3749040"/>
            <a:ext cx="54864" cy="566928"/>
          </a:xfrm>
          <a:prstGeom prst="rect">
            <a:avLst/>
          </a:prstGeom>
          <a:solidFill>
            <a:srgbClr val="C8106E"/>
          </a:solidFill>
          <a:ln/>
        </p:spPr>
        <p:txBody>
          <a:bodyPr/>
          <a:p/>
        </p:txBody>
      </p:sp>
      <p:sp>
        <p:nvSpPr>
          <p:cNvPr id="107" name="Text 103"/>
          <p:cNvSpPr/>
          <p:nvPr/>
        </p:nvSpPr>
        <p:spPr>
          <a:xfrm>
            <a:off x="4983480" y="3749040"/>
            <a:ext cx="3657600" cy="566928"/>
          </a:xfrm>
          <a:prstGeom prst="rect">
            <a:avLst/>
          </a:prstGeom>
          <a:noFill/>
          <a:ln/>
        </p:spPr>
        <p:txBody>
          <a:bodyPr wrap="square" lIns="0" tIns="0" rIns="0" bIns="0" rtlCol="0" anchor="ctr"/>
          <a:lstStyle/>
          <a:p>
            <a:pPr indent="0" marL="0">
              <a:buNone/>
            </a:pPr>
            <a:r>
              <a:rPr lang="en-US" sz="900" b="1" dirty="0">
                <a:solidFill>
                  <a:srgbClr val="C8106E"/>
                </a:solidFill>
                <a:latin typeface="Calibri" pitchFamily="34" charset="0"/>
                <a:ea typeface="Calibri" pitchFamily="34" charset="-122"/>
                <a:cs typeface="Calibri" pitchFamily="34" charset="-120"/>
              </a:rPr>
              <a:t>Leitura: </a:t>
            </a:r>
            <a:pPr indent="0" marL="0">
              <a:buNone/>
            </a:pPr>
            <a:r>
              <a:rPr lang="en-US" sz="900" dirty="0">
                <a:solidFill>
                  <a:srgbClr val="4A5560"/>
                </a:solidFill>
                <a:latin typeface="Calibri" pitchFamily="34" charset="0"/>
                <a:ea typeface="Calibri" pitchFamily="34" charset="-122"/>
                <a:cs typeface="Calibri" pitchFamily="34" charset="-120"/>
              </a:rPr>
              <a:t>Rondônia tem 37% dos confinadores, mas não está entre os 5 estados com mais cabeças confinadas. São operações menores, o perfil do TN Manager Web.</a:t>
            </a:r>
            <a:endParaRPr lang="en-US" sz="9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640080" y="1737360"/>
            <a:ext cx="7315200" cy="274320"/>
          </a:xfrm>
          <a:prstGeom prst="rect">
            <a:avLst/>
          </a:prstGeom>
          <a:noFill/>
          <a:ln/>
        </p:spPr>
        <p:txBody>
          <a:bodyPr wrap="square" lIns="0" tIns="0" rIns="0" bIns="0" rtlCol="0" anchor="t"/>
          <a:lstStyle/>
          <a:p>
            <a:pPr indent="0" marL="0">
              <a:buNone/>
            </a:pPr>
            <a:r>
              <a:rPr lang="en-US" sz="1200" b="1" spc="400" kern="0" dirty="0">
                <a:solidFill>
                  <a:srgbClr val="C5D300"/>
                </a:solidFill>
                <a:latin typeface="Calibri" pitchFamily="34" charset="0"/>
                <a:ea typeface="Calibri" pitchFamily="34" charset="-122"/>
                <a:cs typeface="Calibri" pitchFamily="34" charset="-120"/>
              </a:rPr>
              <a:t>ANEXO</a:t>
            </a:r>
            <a:endParaRPr lang="en-US" sz="1200" dirty="0"/>
          </a:p>
        </p:txBody>
      </p:sp>
      <p:sp>
        <p:nvSpPr>
          <p:cNvPr id="4" name="Text 2"/>
          <p:cNvSpPr/>
          <p:nvPr/>
        </p:nvSpPr>
        <p:spPr>
          <a:xfrm>
            <a:off x="640080" y="2011680"/>
            <a:ext cx="7315200" cy="6400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Material de apoio</a:t>
            </a:r>
            <a:endParaRPr lang="en-US" sz="3400" dirty="0"/>
          </a:p>
        </p:txBody>
      </p:sp>
      <p:sp>
        <p:nvSpPr>
          <p:cNvPr id="5" name="Text 3"/>
          <p:cNvSpPr/>
          <p:nvPr/>
        </p:nvSpPr>
        <p:spPr>
          <a:xfrm>
            <a:off x="640080" y="2743200"/>
            <a:ext cx="6949440" cy="640080"/>
          </a:xfrm>
          <a:prstGeom prst="rect">
            <a:avLst/>
          </a:prstGeom>
          <a:noFill/>
          <a:ln/>
        </p:spPr>
        <p:txBody>
          <a:bodyPr wrap="square" lIns="0" tIns="0" rIns="0" bIns="0" rtlCol="0" anchor="t"/>
          <a:lstStyle/>
          <a:p>
            <a:pPr indent="0" marL="0">
              <a:buNone/>
            </a:pPr>
            <a:r>
              <a:rPr lang="en-US" sz="1200" dirty="0">
                <a:solidFill>
                  <a:srgbClr val="D6DCEB"/>
                </a:solidFill>
                <a:latin typeface="Calibri" pitchFamily="34" charset="0"/>
                <a:ea typeface="Calibri" pitchFamily="34" charset="-122"/>
                <a:cs typeface="Calibri" pitchFamily="34" charset="-120"/>
              </a:rPr>
              <a:t>Para usar se a diretoria perguntar: problema de negócio, mapa de valor, perfil do piloto, objetivos, produto mínimo, pesquisa com 30 fazendas, critérios de avanço, riscos e stakeholders.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6290</TotalTime>
  <Words>3616</Words>
  <Application>Microsoft Office PowerPoint</Application>
  <PresentationFormat>Apresentação na tela (16:9)</PresentationFormat>
  <Paragraphs>561</Paragraphs>
  <Slides>31</Slides>
  <Notes>19</Notes>
  <HiddenSlides>5</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31</vt:i4>
      </vt:variant>
    </vt:vector>
  </HeadingPairs>
  <TitlesOfParts>
    <vt:vector size="35" baseType="lpstr">
      <vt:lpstr>Arial</vt:lpstr>
      <vt:lpstr>Calibri</vt:lpstr>
      <vt:lpstr>Calibri Light</vt:lpstr>
      <vt:lpstr>Office Theme</vt:lpstr>
      <vt:lpstr>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Case v2.0 TN Manager e TN Manager Web</dc:title>
  <dc:subject>PptxGenJS Presentation</dc:subject>
  <dc:creator>Rodrigo Gennari</dc:creator>
  <cp:lastModifiedBy>Rodrigo Da Silva Gennari</cp:lastModifiedBy>
  <cp:revision>11</cp:revision>
  <dcterms:created xsi:type="dcterms:W3CDTF">2026-10-07T20:43:28Z</dcterms:created>
  <dcterms:modified xsi:type="dcterms:W3CDTF">2026-10-20T18:28:38Z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de8be1-d189-4942-ac4d-e73ca8d25762_Enabled">
    <vt:lpwstr>true</vt:lpwstr>
  </property>
  <property fmtid="{D5CDD505-2E9C-101B-9397-08002B2CF9AE}" pid="3" name="MSIP_Label_36de8be1-d189-4942-ac4d-e73ca8d25762_SetDate">
    <vt:lpwstr>2026-10-16T09:33:55Z</vt:lpwstr>
  </property>
  <property fmtid="{D5CDD505-2E9C-101B-9397-08002B2CF9AE}" pid="4" name="MSIP_Label_36de8be1-d189-4942-ac4d-e73ca8d25762_Method">
    <vt:lpwstr>Privileged</vt:lpwstr>
  </property>
  <property fmtid="{D5CDD505-2E9C-101B-9397-08002B2CF9AE}" pid="5" name="MSIP_Label_36de8be1-d189-4942-ac4d-e73ca8d25762_Name">
    <vt:lpwstr>Public</vt:lpwstr>
  </property>
  <property fmtid="{D5CDD505-2E9C-101B-9397-08002B2CF9AE}" pid="6" name="MSIP_Label_36de8be1-d189-4942-ac4d-e73ca8d25762_SiteId">
    <vt:lpwstr>aaace049-6505-453e-94a3-c70dcacf2984</vt:lpwstr>
  </property>
  <property fmtid="{D5CDD505-2E9C-101B-9397-08002B2CF9AE}" pid="7" name="MSIP_Label_36de8be1-d189-4942-ac4d-e73ca8d25762_ActionId">
    <vt:lpwstr>49bb33d2-cc89-4221-8ff2-c54442898523</vt:lpwstr>
  </property>
  <property fmtid="{D5CDD505-2E9C-101B-9397-08002B2CF9AE}" pid="8" name="MSIP_Label_36de8be1-d189-4942-ac4d-e73ca8d25762_ContentBits">
    <vt:lpwstr>0</vt:lpwstr>
  </property>
  <property fmtid="{D5CDD505-2E9C-101B-9397-08002B2CF9AE}" pid="9" name="MSIP_Label_36de8be1-d189-4942-ac4d-e73ca8d25762_Tag">
    <vt:lpwstr>10, 0, 1, 1</vt:lpwstr>
  </property>
</Properties>
</file>